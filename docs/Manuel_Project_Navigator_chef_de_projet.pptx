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5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10" r:id="rId67"/>
    <p:sldId id="311" r:id="rId68"/>
    <p:sldId id="312" r:id="rId69"/>
    <p:sldId id="313" r:id="rId70"/>
    <p:sldId id="314" r:id="rId71"/>
  </p:sldIdLst>
  <p:sldSz cx="9144000" cy="5143500" type="screen16x9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E39F4BF-0341-AFAC-5855-B26460CBBB83}" name="LASAGNI Sandra" initials="" userId="S::sandra.lasagni@lfb.fr::e0f77007-77bf-4b17-b508-8ab4747f542e" providerId="AD"/>
  <p188:author id="{D2C424F3-3822-045C-2FA4-A186F71A2E74}" name="LASSAUGE Antoine" initials="AL" userId="S::antoine.lassauge@lfb.fr::084dd7b9-c075-4e44-b110-7ae25ba4373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59"/>
    <a:srgbClr val="B69C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yle moyen 1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Style moyen 1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216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8/10/relationships/authors" Target="author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Relationship Id="rId61" Type="http://schemas.openxmlformats.org/officeDocument/2006/relationships/slide" Target="slides/slide49.xml"/><Relationship Id="rId62" Type="http://schemas.openxmlformats.org/officeDocument/2006/relationships/slide" Target="slides/slide50.xml"/><Relationship Id="rId63" Type="http://schemas.openxmlformats.org/officeDocument/2006/relationships/slide" Target="slides/slide51.xml"/><Relationship Id="rId64" Type="http://schemas.openxmlformats.org/officeDocument/2006/relationships/slide" Target="slides/slide52.xml"/><Relationship Id="rId65" Type="http://schemas.openxmlformats.org/officeDocument/2006/relationships/slide" Target="slides/slide53.xml"/><Relationship Id="rId66" Type="http://schemas.openxmlformats.org/officeDocument/2006/relationships/slide" Target="slides/slide54.xml"/><Relationship Id="rId67" Type="http://schemas.openxmlformats.org/officeDocument/2006/relationships/slide" Target="slides/slide55.xml"/><Relationship Id="rId68" Type="http://schemas.openxmlformats.org/officeDocument/2006/relationships/slide" Target="slides/slide56.xml"/><Relationship Id="rId69" Type="http://schemas.openxmlformats.org/officeDocument/2006/relationships/slide" Target="slides/slide57.xml"/><Relationship Id="rId70" Type="http://schemas.openxmlformats.org/officeDocument/2006/relationships/slide" Target="slides/slide58.xml"/><Relationship Id="rId71" Type="http://schemas.openxmlformats.org/officeDocument/2006/relationships/slide" Target="slides/slide5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SSAUGE Antoine" userId="084dd7b9-c075-4e44-b110-7ae25ba4373a" providerId="ADAL" clId="{8167A0E6-82FA-4EE2-BC68-10136220967F}"/>
    <pc:docChg chg="delSld delMainMaster delSection modSection">
      <pc:chgData name="LASSAUGE Antoine" userId="084dd7b9-c075-4e44-b110-7ae25ba4373a" providerId="ADAL" clId="{8167A0E6-82FA-4EE2-BC68-10136220967F}" dt="2026-10-16T07:54:22.126" v="0" actId="47"/>
      <pc:docMkLst>
        <pc:docMk/>
      </pc:docMkLst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1727656303" sldId="283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074527865" sldId="284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852779469" sldId="285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1462667797" sldId="286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126581385" sldId="287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1804289858" sldId="288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742957264" sldId="289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406218306" sldId="290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4018586193" sldId="2147479300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986270846" sldId="2147479307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222404018" sldId="2147479312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1943243117" sldId="2147479314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838209721" sldId="2147479389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033411034" sldId="2147479390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590609980" sldId="2147479391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402276802" sldId="2147479392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2428582466" sldId="2147479394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641549490" sldId="2147479399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2744668011" sldId="2147479403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879977954" sldId="2147479404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1913670971" sldId="2147479405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996878766" sldId="2147479406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1286861412" sldId="2147479407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4222817383" sldId="2147479408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902284328" sldId="2147479409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275799596" sldId="2147479411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566936073" sldId="2147479413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524303922" sldId="2147479414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1767667957" sldId="2147479415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215411923" sldId="2147479417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803320857" sldId="2147479418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2648614323" sldId="2147479419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4068224638" sldId="2147479420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207808926" sldId="2147479421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516514924" sldId="2147479422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4037628817" sldId="2147479424"/>
        </pc:sldMkLst>
      </pc:sldChg>
      <pc:sldMasterChg chg="del delSldLayout">
        <pc:chgData name="LASSAUGE Antoine" userId="084dd7b9-c075-4e44-b110-7ae25ba4373a" providerId="ADAL" clId="{8167A0E6-82FA-4EE2-BC68-10136220967F}" dt="2026-10-16T07:54:22.126" v="0" actId="47"/>
        <pc:sldMasterMkLst>
          <pc:docMk/>
          <pc:sldMasterMk cId="0" sldId="2147483648"/>
        </pc:sldMasterMkLst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0" sldId="2147483661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0" sldId="2147483662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0" sldId="2147483663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0" sldId="2147483664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0" sldId="2147483665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822688767" sldId="2147483666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1591790522" sldId="2147483667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1136847957" sldId="2147483668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1905338765" sldId="2147483669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2371480725" sldId="2147483670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1437568387" sldId="2147483671"/>
          </pc:sldLayoutMkLst>
        </pc:sldLayoutChg>
      </pc:sldMasterChg>
      <pc:sldMasterChg chg="del delSldLayout">
        <pc:chgData name="LASSAUGE Antoine" userId="084dd7b9-c075-4e44-b110-7ae25ba4373a" providerId="ADAL" clId="{8167A0E6-82FA-4EE2-BC68-10136220967F}" dt="2026-10-16T07:54:22.126" v="0" actId="47"/>
        <pc:sldMasterMkLst>
          <pc:docMk/>
          <pc:sldMasterMk cId="3565061637" sldId="2147483673"/>
        </pc:sldMasterMkLst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67581825" sldId="2147483674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1926560265" sldId="2147483675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1786875924" sldId="2147483676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2043020610" sldId="2147483677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795548132" sldId="2147483678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661145824" sldId="2147483679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1104001246" sldId="2147483680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49163691" sldId="2147483681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2586393979" sldId="2147483682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4023830793" sldId="2147483683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2705388760" sldId="2147483684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3795012147" sldId="2147483685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639740493" sldId="2147483686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1594440989" sldId="2147483687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3574059817" sldId="2147483688"/>
          </pc:sldLayoutMkLst>
        </pc:sldLayoutChg>
      </pc:sldMasterChg>
      <pc:sldMasterChg chg="del delSldLayout">
        <pc:chgData name="LASSAUGE Antoine" userId="084dd7b9-c075-4e44-b110-7ae25ba4373a" providerId="ADAL" clId="{8167A0E6-82FA-4EE2-BC68-10136220967F}" dt="2026-10-16T07:54:22.126" v="0" actId="47"/>
        <pc:sldMasterMkLst>
          <pc:docMk/>
          <pc:sldMasterMk cId="2285304288" sldId="2147483689"/>
        </pc:sldMasterMkLst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938981352" sldId="2147483690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4201397024" sldId="2147483691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2578132580" sldId="2147483692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709305364" sldId="2147483693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263762396" sldId="2147483694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188653734" sldId="2147483695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3045208015" sldId="2147483696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3465556572" sldId="2147483697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3467903136" sldId="2147483698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4112855140" sldId="2147483699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1719654944" sldId="2147483700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2957045087" sldId="2147483701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2531793074" sldId="2147483702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557571389" sldId="2147483703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1027591501" sldId="2147483704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117714072" sldId="2147483719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2CE7B6D-F95D-2D22-BE43-7FF4085629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32D6A0B-14D2-2229-8487-3FB60739A90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A404C1-B096-4F23-BBD3-2A961249D839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415B24E-325C-CD04-0024-8620E8FA69B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00258C6-E311-196B-54D6-6EA51B823B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6339A6-0A49-4036-A30D-EA8393A9D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651637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5BBAB1-F7A1-481C-B2C4-C67D719ACC75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E41B19-7CA3-44B0-834C-F69EE93D8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018938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pré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3BC9315-5B51-B82E-C9EE-D6D33B4389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F93D73F-6B7A-ADF0-C3B7-C61F97F901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602DCA-E586-7608-A3BF-E293439D096B}"/>
              </a:ext>
            </a:extLst>
          </p:cNvPr>
          <p:cNvSpPr/>
          <p:nvPr userDrawn="1"/>
        </p:nvSpPr>
        <p:spPr>
          <a:xfrm>
            <a:off x="0" y="4691178"/>
            <a:ext cx="9144000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B7DCAC-2F30-3770-92F4-B7D496BA75CF}"/>
              </a:ext>
            </a:extLst>
          </p:cNvPr>
          <p:cNvSpPr/>
          <p:nvPr userDrawn="1"/>
        </p:nvSpPr>
        <p:spPr>
          <a:xfrm>
            <a:off x="7620000" y="0"/>
            <a:ext cx="1524000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itre 14">
            <a:extLst>
              <a:ext uri="{FF2B5EF4-FFF2-40B4-BE49-F238E27FC236}">
                <a16:creationId xmlns:a16="http://schemas.microsoft.com/office/drawing/2014/main" id="{5B4E63CF-2376-B72A-875A-CE5CFD4148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8692" y="1807943"/>
            <a:ext cx="4748219" cy="1527284"/>
          </a:xfrm>
        </p:spPr>
        <p:txBody>
          <a:bodyPr anchor="ctr" anchorCtr="0"/>
          <a:lstStyle>
            <a:lvl1pPr>
              <a:defRPr sz="3500" b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r>
              <a:rPr lang="fr-FR"/>
              <a:t>Cliquez </a:t>
            </a:r>
            <a:br>
              <a:rPr lang="fr-FR"/>
            </a:br>
            <a:r>
              <a:rPr lang="fr-FR"/>
              <a:t>pour modifier</a:t>
            </a:r>
            <a:br>
              <a:rPr lang="fr-FR"/>
            </a:br>
            <a:r>
              <a:rPr lang="fr-FR"/>
              <a:t>le titre</a:t>
            </a:r>
          </a:p>
        </p:txBody>
      </p:sp>
      <p:sp>
        <p:nvSpPr>
          <p:cNvPr id="30" name="Espace réservé du texte 29">
            <a:extLst>
              <a:ext uri="{FF2B5EF4-FFF2-40B4-BE49-F238E27FC236}">
                <a16:creationId xmlns:a16="http://schemas.microsoft.com/office/drawing/2014/main" id="{D0FA12C8-4E1D-0751-DB3C-8BEC539492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8692" y="4324350"/>
            <a:ext cx="2578100" cy="277953"/>
          </a:xfrm>
        </p:spPr>
        <p:txBody>
          <a:bodyPr anchor="b" anchorCtr="0"/>
          <a:lstStyle>
            <a:lvl1pPr>
              <a:defRPr sz="1200" cap="none" baseline="0">
                <a:solidFill>
                  <a:schemeClr val="tx2"/>
                </a:solidFill>
                <a:latin typeface="Roboto Bold" panose="02000000000000000000" pitchFamily="2" charset="0"/>
              </a:defRPr>
            </a:lvl1pPr>
          </a:lstStyle>
          <a:p>
            <a:pPr lvl="0"/>
            <a:r>
              <a:rPr lang="fr-FR"/>
              <a:t>Date ici</a:t>
            </a:r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1A8BA232-1762-24CE-92C9-1C4E61E8D216}"/>
              </a:ext>
            </a:extLst>
          </p:cNvPr>
          <p:cNvSpPr/>
          <p:nvPr/>
        </p:nvSpPr>
        <p:spPr>
          <a:xfrm>
            <a:off x="0" y="541198"/>
            <a:ext cx="536575" cy="1073150"/>
          </a:xfrm>
          <a:custGeom>
            <a:avLst/>
            <a:gdLst/>
            <a:ahLst/>
            <a:cxnLst/>
            <a:rect l="l" t="t" r="r" b="b"/>
            <a:pathLst>
              <a:path w="536575" h="1073150">
                <a:moveTo>
                  <a:pt x="536397" y="536397"/>
                </a:moveTo>
                <a:lnTo>
                  <a:pt x="5105" y="536397"/>
                </a:lnTo>
                <a:lnTo>
                  <a:pt x="0" y="536397"/>
                </a:lnTo>
                <a:lnTo>
                  <a:pt x="0" y="1072667"/>
                </a:lnTo>
                <a:lnTo>
                  <a:pt x="53454" y="1070597"/>
                </a:lnTo>
                <a:lnTo>
                  <a:pt x="100596" y="1064158"/>
                </a:lnTo>
                <a:lnTo>
                  <a:pt x="146342" y="1053630"/>
                </a:lnTo>
                <a:lnTo>
                  <a:pt x="190487" y="1039241"/>
                </a:lnTo>
                <a:lnTo>
                  <a:pt x="232854" y="1021143"/>
                </a:lnTo>
                <a:lnTo>
                  <a:pt x="273253" y="999566"/>
                </a:lnTo>
                <a:lnTo>
                  <a:pt x="311505" y="974661"/>
                </a:lnTo>
                <a:lnTo>
                  <a:pt x="347408" y="946645"/>
                </a:lnTo>
                <a:lnTo>
                  <a:pt x="380784" y="915682"/>
                </a:lnTo>
                <a:lnTo>
                  <a:pt x="411441" y="881989"/>
                </a:lnTo>
                <a:lnTo>
                  <a:pt x="439191" y="845743"/>
                </a:lnTo>
                <a:lnTo>
                  <a:pt x="463854" y="807123"/>
                </a:lnTo>
                <a:lnTo>
                  <a:pt x="485241" y="766343"/>
                </a:lnTo>
                <a:lnTo>
                  <a:pt x="503148" y="723557"/>
                </a:lnTo>
                <a:lnTo>
                  <a:pt x="517410" y="678992"/>
                </a:lnTo>
                <a:lnTo>
                  <a:pt x="527837" y="632815"/>
                </a:lnTo>
                <a:lnTo>
                  <a:pt x="534225" y="585216"/>
                </a:lnTo>
                <a:lnTo>
                  <a:pt x="536397" y="536397"/>
                </a:lnTo>
                <a:close/>
              </a:path>
              <a:path w="536575" h="1073150">
                <a:moveTo>
                  <a:pt x="536397" y="0"/>
                </a:moveTo>
                <a:lnTo>
                  <a:pt x="0" y="0"/>
                </a:lnTo>
                <a:lnTo>
                  <a:pt x="0" y="536270"/>
                </a:lnTo>
                <a:lnTo>
                  <a:pt x="5105" y="536397"/>
                </a:lnTo>
                <a:lnTo>
                  <a:pt x="53454" y="534200"/>
                </a:lnTo>
                <a:lnTo>
                  <a:pt x="100596" y="527748"/>
                </a:lnTo>
                <a:lnTo>
                  <a:pt x="146342" y="517232"/>
                </a:lnTo>
                <a:lnTo>
                  <a:pt x="190487" y="502831"/>
                </a:lnTo>
                <a:lnTo>
                  <a:pt x="232854" y="484746"/>
                </a:lnTo>
                <a:lnTo>
                  <a:pt x="273253" y="463156"/>
                </a:lnTo>
                <a:lnTo>
                  <a:pt x="311505" y="438264"/>
                </a:lnTo>
                <a:lnTo>
                  <a:pt x="347408" y="410235"/>
                </a:lnTo>
                <a:lnTo>
                  <a:pt x="380784" y="379285"/>
                </a:lnTo>
                <a:lnTo>
                  <a:pt x="411441" y="345592"/>
                </a:lnTo>
                <a:lnTo>
                  <a:pt x="439191" y="309333"/>
                </a:lnTo>
                <a:lnTo>
                  <a:pt x="463854" y="270725"/>
                </a:lnTo>
                <a:lnTo>
                  <a:pt x="485241" y="229933"/>
                </a:lnTo>
                <a:lnTo>
                  <a:pt x="503148" y="187159"/>
                </a:lnTo>
                <a:lnTo>
                  <a:pt x="517410" y="142595"/>
                </a:lnTo>
                <a:lnTo>
                  <a:pt x="527837" y="96418"/>
                </a:lnTo>
                <a:lnTo>
                  <a:pt x="534225" y="48818"/>
                </a:lnTo>
                <a:lnTo>
                  <a:pt x="536397" y="0"/>
                </a:lnTo>
                <a:close/>
              </a:path>
            </a:pathLst>
          </a:custGeom>
          <a:solidFill>
            <a:srgbClr val="E5E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id="{E87A0883-9331-5D02-4631-0D71DB709C5F}"/>
              </a:ext>
            </a:extLst>
          </p:cNvPr>
          <p:cNvSpPr/>
          <p:nvPr/>
        </p:nvSpPr>
        <p:spPr>
          <a:xfrm>
            <a:off x="2727693" y="541186"/>
            <a:ext cx="260350" cy="2030730"/>
          </a:xfrm>
          <a:custGeom>
            <a:avLst/>
            <a:gdLst/>
            <a:ahLst/>
            <a:cxnLst/>
            <a:rect l="l" t="t" r="r" b="b"/>
            <a:pathLst>
              <a:path w="260350" h="2030730">
                <a:moveTo>
                  <a:pt x="260311" y="0"/>
                </a:moveTo>
                <a:lnTo>
                  <a:pt x="0" y="0"/>
                </a:lnTo>
                <a:lnTo>
                  <a:pt x="0" y="2030399"/>
                </a:lnTo>
                <a:lnTo>
                  <a:pt x="260311" y="2030399"/>
                </a:lnTo>
                <a:lnTo>
                  <a:pt x="260311" y="0"/>
                </a:lnTo>
                <a:close/>
              </a:path>
            </a:pathLst>
          </a:custGeom>
          <a:solidFill>
            <a:srgbClr val="0030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4">
            <a:extLst>
              <a:ext uri="{FF2B5EF4-FFF2-40B4-BE49-F238E27FC236}">
                <a16:creationId xmlns:a16="http://schemas.microsoft.com/office/drawing/2014/main" id="{8F881973-DA93-3507-4631-E8D204C84E39}"/>
              </a:ext>
            </a:extLst>
          </p:cNvPr>
          <p:cNvSpPr/>
          <p:nvPr/>
        </p:nvSpPr>
        <p:spPr>
          <a:xfrm>
            <a:off x="2727693" y="2571585"/>
            <a:ext cx="260350" cy="2030730"/>
          </a:xfrm>
          <a:custGeom>
            <a:avLst/>
            <a:gdLst/>
            <a:ahLst/>
            <a:cxnLst/>
            <a:rect l="l" t="t" r="r" b="b"/>
            <a:pathLst>
              <a:path w="260350" h="2030729">
                <a:moveTo>
                  <a:pt x="260311" y="0"/>
                </a:moveTo>
                <a:lnTo>
                  <a:pt x="0" y="0"/>
                </a:lnTo>
                <a:lnTo>
                  <a:pt x="0" y="2030399"/>
                </a:lnTo>
                <a:lnTo>
                  <a:pt x="260311" y="2030399"/>
                </a:lnTo>
                <a:lnTo>
                  <a:pt x="260311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5">
            <a:extLst>
              <a:ext uri="{FF2B5EF4-FFF2-40B4-BE49-F238E27FC236}">
                <a16:creationId xmlns:a16="http://schemas.microsoft.com/office/drawing/2014/main" id="{CB58EE91-9F66-698E-9351-E8224C8422C2}"/>
              </a:ext>
            </a:extLst>
          </p:cNvPr>
          <p:cNvSpPr/>
          <p:nvPr/>
        </p:nvSpPr>
        <p:spPr>
          <a:xfrm>
            <a:off x="0" y="1613993"/>
            <a:ext cx="540385" cy="2988310"/>
          </a:xfrm>
          <a:custGeom>
            <a:avLst/>
            <a:gdLst/>
            <a:ahLst/>
            <a:cxnLst/>
            <a:rect l="l" t="t" r="r" b="b"/>
            <a:pathLst>
              <a:path w="540385" h="2988310">
                <a:moveTo>
                  <a:pt x="540004" y="0"/>
                </a:moveTo>
                <a:lnTo>
                  <a:pt x="0" y="0"/>
                </a:lnTo>
                <a:lnTo>
                  <a:pt x="0" y="2987992"/>
                </a:lnTo>
                <a:lnTo>
                  <a:pt x="540004" y="2987992"/>
                </a:lnTo>
                <a:lnTo>
                  <a:pt x="540004" y="0"/>
                </a:lnTo>
                <a:close/>
              </a:path>
            </a:pathLst>
          </a:custGeom>
          <a:solidFill>
            <a:srgbClr val="E8DD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Espace réservé pour une image  89">
            <a:extLst>
              <a:ext uri="{FF2B5EF4-FFF2-40B4-BE49-F238E27FC236}">
                <a16:creationId xmlns:a16="http://schemas.microsoft.com/office/drawing/2014/main" id="{DD4D3EE9-6092-1071-706C-5E442A3B5B34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533400" y="541186"/>
            <a:ext cx="2198103" cy="4061118"/>
          </a:xfrm>
        </p:spPr>
        <p:txBody>
          <a:bodyPr/>
          <a:lstStyle/>
          <a:p>
            <a:endParaRPr lang="fr-FR"/>
          </a:p>
        </p:txBody>
      </p:sp>
      <p:pic>
        <p:nvPicPr>
          <p:cNvPr id="22" name="Image 21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98193FC7-55B3-095B-8EEC-DBF2B6E0A5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53" y="539991"/>
            <a:ext cx="1123353" cy="315087"/>
          </a:xfrm>
          <a:prstGeom prst="rect">
            <a:avLst/>
          </a:prstGeom>
        </p:spPr>
      </p:pic>
      <p:pic>
        <p:nvPicPr>
          <p:cNvPr id="2" name="Espace réservé pour une image  7" descr="Une image contenant personne, habits, Visage humain, sourire&#10;&#10;Le contenu généré par l’IA peut être incorrect.">
            <a:extLst>
              <a:ext uri="{FF2B5EF4-FFF2-40B4-BE49-F238E27FC236}">
                <a16:creationId xmlns:a16="http://schemas.microsoft.com/office/drawing/2014/main" id="{9528A68B-83C1-2AD5-BD91-DDB7C03934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7" t="-90" r="21104" b="90"/>
          <a:stretch>
            <a:fillRect/>
          </a:stretch>
        </p:blipFill>
        <p:spPr>
          <a:xfrm>
            <a:off x="533400" y="541185"/>
            <a:ext cx="2198104" cy="406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363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E94F234-E42C-3145-F800-46F86EF1A17A}"/>
              </a:ext>
            </a:extLst>
          </p:cNvPr>
          <p:cNvSpPr/>
          <p:nvPr userDrawn="1"/>
        </p:nvSpPr>
        <p:spPr>
          <a:xfrm>
            <a:off x="7620000" y="0"/>
            <a:ext cx="1524000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Espace réservé du texte 105">
            <a:extLst>
              <a:ext uri="{FF2B5EF4-FFF2-40B4-BE49-F238E27FC236}">
                <a16:creationId xmlns:a16="http://schemas.microsoft.com/office/drawing/2014/main" id="{AFC3790F-95A4-FE3A-9007-21495798CE32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55994" y="2296343"/>
            <a:ext cx="2873006" cy="27404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07" name="Espace réservé du texte 105">
            <a:extLst>
              <a:ext uri="{FF2B5EF4-FFF2-40B4-BE49-F238E27FC236}">
                <a16:creationId xmlns:a16="http://schemas.microsoft.com/office/drawing/2014/main" id="{47E54E45-A80B-F4EF-0528-1E66CA4C5FFE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429000" y="2303306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08" name="Espace réservé du texte 105">
            <a:extLst>
              <a:ext uri="{FF2B5EF4-FFF2-40B4-BE49-F238E27FC236}">
                <a16:creationId xmlns:a16="http://schemas.microsoft.com/office/drawing/2014/main" id="{E64ACC75-D2EF-FEC1-4D08-441A7B97984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55994" y="2749256"/>
            <a:ext cx="2873006" cy="27404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2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09" name="Espace réservé du texte 105">
            <a:extLst>
              <a:ext uri="{FF2B5EF4-FFF2-40B4-BE49-F238E27FC236}">
                <a16:creationId xmlns:a16="http://schemas.microsoft.com/office/drawing/2014/main" id="{D1CCC70D-372A-86D5-2597-8E5C0B36BAFF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3429000" y="2756219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10" name="Espace réservé du texte 105">
            <a:extLst>
              <a:ext uri="{FF2B5EF4-FFF2-40B4-BE49-F238E27FC236}">
                <a16:creationId xmlns:a16="http://schemas.microsoft.com/office/drawing/2014/main" id="{8D65A185-5084-FB2D-5067-F51092665620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55994" y="3209132"/>
            <a:ext cx="2873006" cy="27404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3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11" name="Espace réservé du texte 105">
            <a:extLst>
              <a:ext uri="{FF2B5EF4-FFF2-40B4-BE49-F238E27FC236}">
                <a16:creationId xmlns:a16="http://schemas.microsoft.com/office/drawing/2014/main" id="{BE029831-9CFB-95BE-3748-974465291047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429000" y="3216095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12" name="Espace réservé du texte 105">
            <a:extLst>
              <a:ext uri="{FF2B5EF4-FFF2-40B4-BE49-F238E27FC236}">
                <a16:creationId xmlns:a16="http://schemas.microsoft.com/office/drawing/2014/main" id="{B55C7AB3-52F6-62F3-B0E3-6A4F2520A19D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55994" y="3637780"/>
            <a:ext cx="2873006" cy="27404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4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13" name="Espace réservé du texte 105">
            <a:extLst>
              <a:ext uri="{FF2B5EF4-FFF2-40B4-BE49-F238E27FC236}">
                <a16:creationId xmlns:a16="http://schemas.microsoft.com/office/drawing/2014/main" id="{8E1AF094-4A70-E6FE-DF85-918DCDBB13FD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3429000" y="3644743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14" name="Espace réservé du texte 105">
            <a:extLst>
              <a:ext uri="{FF2B5EF4-FFF2-40B4-BE49-F238E27FC236}">
                <a16:creationId xmlns:a16="http://schemas.microsoft.com/office/drawing/2014/main" id="{76E4D111-CC39-D743-67B1-48B1B121E5A3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5219700" y="2296342"/>
            <a:ext cx="2856322" cy="27909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5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15" name="Espace réservé du texte 105">
            <a:extLst>
              <a:ext uri="{FF2B5EF4-FFF2-40B4-BE49-F238E27FC236}">
                <a16:creationId xmlns:a16="http://schemas.microsoft.com/office/drawing/2014/main" id="{F4FB5A0E-2175-5868-C394-6245612A9DEC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076022" y="2306101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16" name="Espace réservé du texte 105">
            <a:extLst>
              <a:ext uri="{FF2B5EF4-FFF2-40B4-BE49-F238E27FC236}">
                <a16:creationId xmlns:a16="http://schemas.microsoft.com/office/drawing/2014/main" id="{E2E6260F-363A-57B7-23BF-D9123A1532F3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5219700" y="2749256"/>
            <a:ext cx="2856322" cy="27909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6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17" name="Espace réservé du texte 105">
            <a:extLst>
              <a:ext uri="{FF2B5EF4-FFF2-40B4-BE49-F238E27FC236}">
                <a16:creationId xmlns:a16="http://schemas.microsoft.com/office/drawing/2014/main" id="{25EA6477-4019-2F41-55A3-085B7971C8F4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8076022" y="2759015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18" name="Espace réservé du texte 105">
            <a:extLst>
              <a:ext uri="{FF2B5EF4-FFF2-40B4-BE49-F238E27FC236}">
                <a16:creationId xmlns:a16="http://schemas.microsoft.com/office/drawing/2014/main" id="{41E19886-1FCB-C0CB-B499-8B3BFA8EBEBD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5219700" y="3209132"/>
            <a:ext cx="2856322" cy="27909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7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19" name="Espace réservé du texte 105">
            <a:extLst>
              <a:ext uri="{FF2B5EF4-FFF2-40B4-BE49-F238E27FC236}">
                <a16:creationId xmlns:a16="http://schemas.microsoft.com/office/drawing/2014/main" id="{A40ED9E4-19CA-79F7-F897-80052FFF5A92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8076022" y="3218891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20" name="Espace réservé du texte 105">
            <a:extLst>
              <a:ext uri="{FF2B5EF4-FFF2-40B4-BE49-F238E27FC236}">
                <a16:creationId xmlns:a16="http://schemas.microsoft.com/office/drawing/2014/main" id="{0E31F892-7816-6952-89E6-B43965C4C226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5219700" y="3637779"/>
            <a:ext cx="2856322" cy="27909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8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21" name="Espace réservé du texte 105">
            <a:extLst>
              <a:ext uri="{FF2B5EF4-FFF2-40B4-BE49-F238E27FC236}">
                <a16:creationId xmlns:a16="http://schemas.microsoft.com/office/drawing/2014/main" id="{F99C2A6E-9E00-1A0F-0288-5D885C6AE328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8076022" y="3647538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25" name="Espace réservé du pied de page 124">
            <a:extLst>
              <a:ext uri="{FF2B5EF4-FFF2-40B4-BE49-F238E27FC236}">
                <a16:creationId xmlns:a16="http://schemas.microsoft.com/office/drawing/2014/main" id="{BF974446-D450-AF9B-B7CA-62F468FED316}"/>
              </a:ext>
            </a:extLst>
          </p:cNvPr>
          <p:cNvSpPr>
            <a:spLocks noGrp="1"/>
          </p:cNvSpPr>
          <p:nvPr userDrawn="1">
            <p:ph type="ftr" sz="quarter" idx="28"/>
          </p:nvPr>
        </p:nvSpPr>
        <p:spPr/>
        <p:txBody>
          <a:bodyPr/>
          <a:lstStyle/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</a:p>
        </p:txBody>
      </p:sp>
      <p:sp>
        <p:nvSpPr>
          <p:cNvPr id="126" name="Espace réservé du numéro de diapositive 125">
            <a:extLst>
              <a:ext uri="{FF2B5EF4-FFF2-40B4-BE49-F238E27FC236}">
                <a16:creationId xmlns:a16="http://schemas.microsoft.com/office/drawing/2014/main" id="{7C502C72-215E-C49D-2060-58E72CA97A3B}"/>
              </a:ext>
            </a:extLst>
          </p:cNvPr>
          <p:cNvSpPr>
            <a:spLocks noGrp="1"/>
          </p:cNvSpPr>
          <p:nvPr userDrawn="1">
            <p:ph type="sldNum" sz="quarter" idx="29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4" name="object 12">
            <a:extLst>
              <a:ext uri="{FF2B5EF4-FFF2-40B4-BE49-F238E27FC236}">
                <a16:creationId xmlns:a16="http://schemas.microsoft.com/office/drawing/2014/main" id="{51A9525E-DFC5-4ACE-9666-35BE515C9387}"/>
              </a:ext>
            </a:extLst>
          </p:cNvPr>
          <p:cNvSpPr/>
          <p:nvPr/>
        </p:nvSpPr>
        <p:spPr>
          <a:xfrm>
            <a:off x="0" y="-12"/>
            <a:ext cx="260350" cy="2570480"/>
          </a:xfrm>
          <a:custGeom>
            <a:avLst/>
            <a:gdLst/>
            <a:ahLst/>
            <a:cxnLst/>
            <a:rect l="l" t="t" r="r" b="b"/>
            <a:pathLst>
              <a:path w="260350" h="2570480">
                <a:moveTo>
                  <a:pt x="260311" y="0"/>
                </a:moveTo>
                <a:lnTo>
                  <a:pt x="0" y="0"/>
                </a:lnTo>
                <a:lnTo>
                  <a:pt x="0" y="2570403"/>
                </a:lnTo>
                <a:lnTo>
                  <a:pt x="260311" y="2570403"/>
                </a:lnTo>
                <a:lnTo>
                  <a:pt x="260311" y="0"/>
                </a:lnTo>
                <a:close/>
              </a:path>
            </a:pathLst>
          </a:custGeom>
          <a:solidFill>
            <a:srgbClr val="0030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3">
            <a:extLst>
              <a:ext uri="{FF2B5EF4-FFF2-40B4-BE49-F238E27FC236}">
                <a16:creationId xmlns:a16="http://schemas.microsoft.com/office/drawing/2014/main" id="{739E489F-EBE7-7CE1-8930-FB823BE693FF}"/>
              </a:ext>
            </a:extLst>
          </p:cNvPr>
          <p:cNvSpPr/>
          <p:nvPr/>
        </p:nvSpPr>
        <p:spPr>
          <a:xfrm>
            <a:off x="0" y="2570390"/>
            <a:ext cx="260350" cy="2570480"/>
          </a:xfrm>
          <a:custGeom>
            <a:avLst/>
            <a:gdLst/>
            <a:ahLst/>
            <a:cxnLst/>
            <a:rect l="l" t="t" r="r" b="b"/>
            <a:pathLst>
              <a:path w="260350" h="2570479">
                <a:moveTo>
                  <a:pt x="260311" y="0"/>
                </a:moveTo>
                <a:lnTo>
                  <a:pt x="0" y="0"/>
                </a:lnTo>
                <a:lnTo>
                  <a:pt x="0" y="2570403"/>
                </a:lnTo>
                <a:lnTo>
                  <a:pt x="260311" y="2570403"/>
                </a:lnTo>
                <a:lnTo>
                  <a:pt x="260311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Image 25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9C5B991F-6F2F-F8EC-033E-1CE0AE6B04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53" y="539991"/>
            <a:ext cx="1123353" cy="315087"/>
          </a:xfrm>
          <a:prstGeom prst="rect">
            <a:avLst/>
          </a:prstGeom>
        </p:spPr>
      </p:pic>
      <p:sp>
        <p:nvSpPr>
          <p:cNvPr id="27" name="Titre 26">
            <a:extLst>
              <a:ext uri="{FF2B5EF4-FFF2-40B4-BE49-F238E27FC236}">
                <a16:creationId xmlns:a16="http://schemas.microsoft.com/office/drawing/2014/main" id="{917B67AB-E45C-7BB4-6A94-FCC6F5893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438150"/>
            <a:ext cx="6610350" cy="925737"/>
          </a:xfrm>
        </p:spPr>
        <p:txBody>
          <a:bodyPr/>
          <a:lstStyle>
            <a:lvl1pPr>
              <a:defRPr sz="3500"/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514281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part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ECF011-D9F0-4847-2A8C-39F75C9914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0" y="2724150"/>
            <a:ext cx="3870060" cy="1153340"/>
          </a:xfrm>
        </p:spPr>
        <p:txBody>
          <a:bodyPr anchor="b" anchorCtr="0">
            <a:noAutofit/>
          </a:bodyPr>
          <a:lstStyle>
            <a:lvl1pPr>
              <a:defRPr sz="3000">
                <a:latin typeface="Roboto Bold" panose="02000000000000000000" pitchFamily="2" charset="0"/>
                <a:ea typeface="Roboto Bold" panose="02000000000000000000" pitchFamily="2" charset="0"/>
              </a:defRPr>
            </a:lvl1pPr>
          </a:lstStyle>
          <a:p>
            <a:r>
              <a:rPr lang="fr-FR"/>
              <a:t>Cliquez pour </a:t>
            </a:r>
            <a:br>
              <a:rPr lang="fr-FR"/>
            </a:br>
            <a:r>
              <a:rPr lang="fr-FR"/>
              <a:t>modifier le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FE5D49-97A3-75C7-8361-79FE27302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696FE2E-462E-B964-8974-C167AD4C84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200" y="1123950"/>
            <a:ext cx="2895600" cy="1378500"/>
          </a:xfrm>
        </p:spPr>
        <p:txBody>
          <a:bodyPr anchor="ctr" anchorCtr="0">
            <a:noAutofit/>
          </a:bodyPr>
          <a:lstStyle>
            <a:lvl1pPr>
              <a:defRPr sz="9000">
                <a:latin typeface="Roboto Thin" panose="02000000000000000000" pitchFamily="2" charset="0"/>
                <a:ea typeface="Roboto Thin" panose="02000000000000000000" pitchFamily="2" charset="0"/>
              </a:defRPr>
            </a:lvl1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68042C-91C7-9E1B-DC50-E26BF7BB846F}"/>
              </a:ext>
            </a:extLst>
          </p:cNvPr>
          <p:cNvSpPr/>
          <p:nvPr userDrawn="1"/>
        </p:nvSpPr>
        <p:spPr>
          <a:xfrm>
            <a:off x="7620000" y="0"/>
            <a:ext cx="1524000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CCEFD188-7B52-61F9-3B20-3871DFEB37C7}"/>
              </a:ext>
            </a:extLst>
          </p:cNvPr>
          <p:cNvSpPr/>
          <p:nvPr userDrawn="1"/>
        </p:nvSpPr>
        <p:spPr>
          <a:xfrm>
            <a:off x="539991" y="540003"/>
            <a:ext cx="1612900" cy="806450"/>
          </a:xfrm>
          <a:custGeom>
            <a:avLst/>
            <a:gdLst/>
            <a:ahLst/>
            <a:cxnLst/>
            <a:rect l="l" t="t" r="r" b="b"/>
            <a:pathLst>
              <a:path w="1612900" h="806450">
                <a:moveTo>
                  <a:pt x="806399" y="798728"/>
                </a:moveTo>
                <a:lnTo>
                  <a:pt x="804926" y="750074"/>
                </a:lnTo>
                <a:lnTo>
                  <a:pt x="800569" y="702183"/>
                </a:lnTo>
                <a:lnTo>
                  <a:pt x="793407" y="655154"/>
                </a:lnTo>
                <a:lnTo>
                  <a:pt x="783526" y="609066"/>
                </a:lnTo>
                <a:lnTo>
                  <a:pt x="771017" y="563994"/>
                </a:lnTo>
                <a:lnTo>
                  <a:pt x="755954" y="520026"/>
                </a:lnTo>
                <a:lnTo>
                  <a:pt x="738416" y="477253"/>
                </a:lnTo>
                <a:lnTo>
                  <a:pt x="718515" y="435737"/>
                </a:lnTo>
                <a:lnTo>
                  <a:pt x="696302" y="395592"/>
                </a:lnTo>
                <a:lnTo>
                  <a:pt x="671880" y="356882"/>
                </a:lnTo>
                <a:lnTo>
                  <a:pt x="645337" y="319697"/>
                </a:lnTo>
                <a:lnTo>
                  <a:pt x="616750" y="284111"/>
                </a:lnTo>
                <a:lnTo>
                  <a:pt x="586193" y="250228"/>
                </a:lnTo>
                <a:lnTo>
                  <a:pt x="553770" y="218109"/>
                </a:lnTo>
                <a:lnTo>
                  <a:pt x="519557" y="187845"/>
                </a:lnTo>
                <a:lnTo>
                  <a:pt x="483628" y="159524"/>
                </a:lnTo>
                <a:lnTo>
                  <a:pt x="446087" y="133235"/>
                </a:lnTo>
                <a:lnTo>
                  <a:pt x="407009" y="109042"/>
                </a:lnTo>
                <a:lnTo>
                  <a:pt x="366471" y="87058"/>
                </a:lnTo>
                <a:lnTo>
                  <a:pt x="324573" y="67335"/>
                </a:lnTo>
                <a:lnTo>
                  <a:pt x="281381" y="49974"/>
                </a:lnTo>
                <a:lnTo>
                  <a:pt x="236994" y="35052"/>
                </a:lnTo>
                <a:lnTo>
                  <a:pt x="191490" y="22656"/>
                </a:lnTo>
                <a:lnTo>
                  <a:pt x="144957" y="12865"/>
                </a:lnTo>
                <a:lnTo>
                  <a:pt x="97472" y="5778"/>
                </a:lnTo>
                <a:lnTo>
                  <a:pt x="49123" y="1460"/>
                </a:lnTo>
                <a:lnTo>
                  <a:pt x="0" y="0"/>
                </a:lnTo>
                <a:lnTo>
                  <a:pt x="0" y="806399"/>
                </a:lnTo>
                <a:lnTo>
                  <a:pt x="806208" y="806399"/>
                </a:lnTo>
                <a:lnTo>
                  <a:pt x="806399" y="798728"/>
                </a:lnTo>
                <a:close/>
              </a:path>
              <a:path w="1612900" h="806450">
                <a:moveTo>
                  <a:pt x="1612798" y="798728"/>
                </a:moveTo>
                <a:lnTo>
                  <a:pt x="1611325" y="750074"/>
                </a:lnTo>
                <a:lnTo>
                  <a:pt x="1606969" y="702183"/>
                </a:lnTo>
                <a:lnTo>
                  <a:pt x="1599806" y="655154"/>
                </a:lnTo>
                <a:lnTo>
                  <a:pt x="1589925" y="609066"/>
                </a:lnTo>
                <a:lnTo>
                  <a:pt x="1577416" y="563994"/>
                </a:lnTo>
                <a:lnTo>
                  <a:pt x="1562354" y="520026"/>
                </a:lnTo>
                <a:lnTo>
                  <a:pt x="1544815" y="477253"/>
                </a:lnTo>
                <a:lnTo>
                  <a:pt x="1524914" y="435737"/>
                </a:lnTo>
                <a:lnTo>
                  <a:pt x="1502702" y="395592"/>
                </a:lnTo>
                <a:lnTo>
                  <a:pt x="1478280" y="356882"/>
                </a:lnTo>
                <a:lnTo>
                  <a:pt x="1451737" y="319697"/>
                </a:lnTo>
                <a:lnTo>
                  <a:pt x="1423149" y="284111"/>
                </a:lnTo>
                <a:lnTo>
                  <a:pt x="1392593" y="250228"/>
                </a:lnTo>
                <a:lnTo>
                  <a:pt x="1360170" y="218109"/>
                </a:lnTo>
                <a:lnTo>
                  <a:pt x="1325956" y="187845"/>
                </a:lnTo>
                <a:lnTo>
                  <a:pt x="1290027" y="159524"/>
                </a:lnTo>
                <a:lnTo>
                  <a:pt x="1252486" y="133235"/>
                </a:lnTo>
                <a:lnTo>
                  <a:pt x="1213408" y="109042"/>
                </a:lnTo>
                <a:lnTo>
                  <a:pt x="1172870" y="87058"/>
                </a:lnTo>
                <a:lnTo>
                  <a:pt x="1130973" y="67335"/>
                </a:lnTo>
                <a:lnTo>
                  <a:pt x="1087780" y="49974"/>
                </a:lnTo>
                <a:lnTo>
                  <a:pt x="1043393" y="35052"/>
                </a:lnTo>
                <a:lnTo>
                  <a:pt x="997889" y="22656"/>
                </a:lnTo>
                <a:lnTo>
                  <a:pt x="951357" y="12865"/>
                </a:lnTo>
                <a:lnTo>
                  <a:pt x="903871" y="5778"/>
                </a:lnTo>
                <a:lnTo>
                  <a:pt x="855522" y="1460"/>
                </a:lnTo>
                <a:lnTo>
                  <a:pt x="806399" y="0"/>
                </a:lnTo>
                <a:lnTo>
                  <a:pt x="806399" y="798728"/>
                </a:lnTo>
                <a:lnTo>
                  <a:pt x="806399" y="806399"/>
                </a:lnTo>
                <a:lnTo>
                  <a:pt x="1612607" y="806399"/>
                </a:lnTo>
                <a:lnTo>
                  <a:pt x="1612798" y="798728"/>
                </a:lnTo>
                <a:close/>
              </a:path>
            </a:pathLst>
          </a:custGeom>
          <a:solidFill>
            <a:srgbClr val="E5E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E514093A-5094-D8D6-C2B6-EC249AACCE59}"/>
              </a:ext>
            </a:extLst>
          </p:cNvPr>
          <p:cNvSpPr/>
          <p:nvPr userDrawn="1"/>
        </p:nvSpPr>
        <p:spPr>
          <a:xfrm>
            <a:off x="2152802" y="3794391"/>
            <a:ext cx="835660" cy="806450"/>
          </a:xfrm>
          <a:custGeom>
            <a:avLst/>
            <a:gdLst/>
            <a:ahLst/>
            <a:cxnLst/>
            <a:rect l="l" t="t" r="r" b="b"/>
            <a:pathLst>
              <a:path w="835660" h="806450">
                <a:moveTo>
                  <a:pt x="835202" y="0"/>
                </a:moveTo>
                <a:lnTo>
                  <a:pt x="0" y="0"/>
                </a:lnTo>
                <a:lnTo>
                  <a:pt x="0" y="806399"/>
                </a:lnTo>
                <a:lnTo>
                  <a:pt x="835202" y="806399"/>
                </a:lnTo>
                <a:lnTo>
                  <a:pt x="835202" y="0"/>
                </a:lnTo>
                <a:close/>
              </a:path>
            </a:pathLst>
          </a:custGeom>
          <a:solidFill>
            <a:srgbClr val="E8DDC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Image 8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1710EE12-1647-E901-C0AC-40AA73947D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53" y="539991"/>
            <a:ext cx="1123353" cy="315087"/>
          </a:xfrm>
          <a:prstGeom prst="rect">
            <a:avLst/>
          </a:prstGeom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60E539D7-2272-5F7F-5773-3A41F143A1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9991" y="1346454"/>
            <a:ext cx="2448471" cy="2447937"/>
          </a:xfrm>
        </p:spPr>
        <p:txBody>
          <a:bodyPr/>
          <a:lstStyle/>
          <a:p>
            <a:endParaRPr lang="fr-FR"/>
          </a:p>
        </p:txBody>
      </p:sp>
      <p:pic>
        <p:nvPicPr>
          <p:cNvPr id="5" name="Espace réservé pour une image  7">
            <a:extLst>
              <a:ext uri="{FF2B5EF4-FFF2-40B4-BE49-F238E27FC236}">
                <a16:creationId xmlns:a16="http://schemas.microsoft.com/office/drawing/2014/main" id="{FD366B24-6D5A-0E2C-7FFD-A72BD2ADE3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647" r="7647"/>
          <a:stretch/>
        </p:blipFill>
        <p:spPr>
          <a:xfrm>
            <a:off x="539991" y="1346453"/>
            <a:ext cx="2448471" cy="244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65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part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ECF011-D9F0-4847-2A8C-39F75C9914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0" y="2724150"/>
            <a:ext cx="3870060" cy="1153340"/>
          </a:xfrm>
        </p:spPr>
        <p:txBody>
          <a:bodyPr anchor="b" anchorCtr="0">
            <a:noAutofit/>
          </a:bodyPr>
          <a:lstStyle>
            <a:lvl1pPr>
              <a:defRPr sz="3000">
                <a:latin typeface="Roboto Bold" panose="02000000000000000000" pitchFamily="2" charset="0"/>
                <a:ea typeface="Roboto Bold" panose="02000000000000000000" pitchFamily="2" charset="0"/>
              </a:defRPr>
            </a:lvl1pPr>
          </a:lstStyle>
          <a:p>
            <a:r>
              <a:rPr lang="fr-FR"/>
              <a:t>Cliquez pour </a:t>
            </a:r>
            <a:br>
              <a:rPr lang="fr-FR"/>
            </a:br>
            <a:r>
              <a:rPr lang="fr-FR"/>
              <a:t>modifier le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FE5D49-97A3-75C7-8361-79FE27302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696FE2E-462E-B964-8974-C167AD4C84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200" y="1123950"/>
            <a:ext cx="2895600" cy="1378500"/>
          </a:xfrm>
        </p:spPr>
        <p:txBody>
          <a:bodyPr anchor="ctr" anchorCtr="0">
            <a:noAutofit/>
          </a:bodyPr>
          <a:lstStyle>
            <a:lvl1pPr>
              <a:defRPr sz="9000">
                <a:latin typeface="Roboto Thin" panose="02000000000000000000" pitchFamily="2" charset="0"/>
                <a:ea typeface="Roboto Thin" panose="02000000000000000000" pitchFamily="2" charset="0"/>
              </a:defRPr>
            </a:lvl1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68042C-91C7-9E1B-DC50-E26BF7BB846F}"/>
              </a:ext>
            </a:extLst>
          </p:cNvPr>
          <p:cNvSpPr/>
          <p:nvPr userDrawn="1"/>
        </p:nvSpPr>
        <p:spPr>
          <a:xfrm>
            <a:off x="7620000" y="0"/>
            <a:ext cx="1524000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CCEFD188-7B52-61F9-3B20-3871DFEB37C7}"/>
              </a:ext>
            </a:extLst>
          </p:cNvPr>
          <p:cNvSpPr/>
          <p:nvPr userDrawn="1"/>
        </p:nvSpPr>
        <p:spPr>
          <a:xfrm>
            <a:off x="539991" y="540003"/>
            <a:ext cx="1612900" cy="806450"/>
          </a:xfrm>
          <a:custGeom>
            <a:avLst/>
            <a:gdLst/>
            <a:ahLst/>
            <a:cxnLst/>
            <a:rect l="l" t="t" r="r" b="b"/>
            <a:pathLst>
              <a:path w="1612900" h="806450">
                <a:moveTo>
                  <a:pt x="806399" y="798728"/>
                </a:moveTo>
                <a:lnTo>
                  <a:pt x="804926" y="750074"/>
                </a:lnTo>
                <a:lnTo>
                  <a:pt x="800569" y="702183"/>
                </a:lnTo>
                <a:lnTo>
                  <a:pt x="793407" y="655154"/>
                </a:lnTo>
                <a:lnTo>
                  <a:pt x="783526" y="609066"/>
                </a:lnTo>
                <a:lnTo>
                  <a:pt x="771017" y="563994"/>
                </a:lnTo>
                <a:lnTo>
                  <a:pt x="755954" y="520026"/>
                </a:lnTo>
                <a:lnTo>
                  <a:pt x="738416" y="477253"/>
                </a:lnTo>
                <a:lnTo>
                  <a:pt x="718515" y="435737"/>
                </a:lnTo>
                <a:lnTo>
                  <a:pt x="696302" y="395592"/>
                </a:lnTo>
                <a:lnTo>
                  <a:pt x="671880" y="356882"/>
                </a:lnTo>
                <a:lnTo>
                  <a:pt x="645337" y="319697"/>
                </a:lnTo>
                <a:lnTo>
                  <a:pt x="616750" y="284111"/>
                </a:lnTo>
                <a:lnTo>
                  <a:pt x="586193" y="250228"/>
                </a:lnTo>
                <a:lnTo>
                  <a:pt x="553770" y="218109"/>
                </a:lnTo>
                <a:lnTo>
                  <a:pt x="519557" y="187845"/>
                </a:lnTo>
                <a:lnTo>
                  <a:pt x="483628" y="159524"/>
                </a:lnTo>
                <a:lnTo>
                  <a:pt x="446087" y="133235"/>
                </a:lnTo>
                <a:lnTo>
                  <a:pt x="407009" y="109042"/>
                </a:lnTo>
                <a:lnTo>
                  <a:pt x="366471" y="87058"/>
                </a:lnTo>
                <a:lnTo>
                  <a:pt x="324573" y="67335"/>
                </a:lnTo>
                <a:lnTo>
                  <a:pt x="281381" y="49974"/>
                </a:lnTo>
                <a:lnTo>
                  <a:pt x="236994" y="35052"/>
                </a:lnTo>
                <a:lnTo>
                  <a:pt x="191490" y="22656"/>
                </a:lnTo>
                <a:lnTo>
                  <a:pt x="144957" y="12865"/>
                </a:lnTo>
                <a:lnTo>
                  <a:pt x="97472" y="5778"/>
                </a:lnTo>
                <a:lnTo>
                  <a:pt x="49123" y="1460"/>
                </a:lnTo>
                <a:lnTo>
                  <a:pt x="0" y="0"/>
                </a:lnTo>
                <a:lnTo>
                  <a:pt x="0" y="806399"/>
                </a:lnTo>
                <a:lnTo>
                  <a:pt x="806208" y="806399"/>
                </a:lnTo>
                <a:lnTo>
                  <a:pt x="806399" y="798728"/>
                </a:lnTo>
                <a:close/>
              </a:path>
              <a:path w="1612900" h="806450">
                <a:moveTo>
                  <a:pt x="1612798" y="798728"/>
                </a:moveTo>
                <a:lnTo>
                  <a:pt x="1611325" y="750074"/>
                </a:lnTo>
                <a:lnTo>
                  <a:pt x="1606969" y="702183"/>
                </a:lnTo>
                <a:lnTo>
                  <a:pt x="1599806" y="655154"/>
                </a:lnTo>
                <a:lnTo>
                  <a:pt x="1589925" y="609066"/>
                </a:lnTo>
                <a:lnTo>
                  <a:pt x="1577416" y="563994"/>
                </a:lnTo>
                <a:lnTo>
                  <a:pt x="1562354" y="520026"/>
                </a:lnTo>
                <a:lnTo>
                  <a:pt x="1544815" y="477253"/>
                </a:lnTo>
                <a:lnTo>
                  <a:pt x="1524914" y="435737"/>
                </a:lnTo>
                <a:lnTo>
                  <a:pt x="1502702" y="395592"/>
                </a:lnTo>
                <a:lnTo>
                  <a:pt x="1478280" y="356882"/>
                </a:lnTo>
                <a:lnTo>
                  <a:pt x="1451737" y="319697"/>
                </a:lnTo>
                <a:lnTo>
                  <a:pt x="1423149" y="284111"/>
                </a:lnTo>
                <a:lnTo>
                  <a:pt x="1392593" y="250228"/>
                </a:lnTo>
                <a:lnTo>
                  <a:pt x="1360170" y="218109"/>
                </a:lnTo>
                <a:lnTo>
                  <a:pt x="1325956" y="187845"/>
                </a:lnTo>
                <a:lnTo>
                  <a:pt x="1290027" y="159524"/>
                </a:lnTo>
                <a:lnTo>
                  <a:pt x="1252486" y="133235"/>
                </a:lnTo>
                <a:lnTo>
                  <a:pt x="1213408" y="109042"/>
                </a:lnTo>
                <a:lnTo>
                  <a:pt x="1172870" y="87058"/>
                </a:lnTo>
                <a:lnTo>
                  <a:pt x="1130973" y="67335"/>
                </a:lnTo>
                <a:lnTo>
                  <a:pt x="1087780" y="49974"/>
                </a:lnTo>
                <a:lnTo>
                  <a:pt x="1043393" y="35052"/>
                </a:lnTo>
                <a:lnTo>
                  <a:pt x="997889" y="22656"/>
                </a:lnTo>
                <a:lnTo>
                  <a:pt x="951357" y="12865"/>
                </a:lnTo>
                <a:lnTo>
                  <a:pt x="903871" y="5778"/>
                </a:lnTo>
                <a:lnTo>
                  <a:pt x="855522" y="1460"/>
                </a:lnTo>
                <a:lnTo>
                  <a:pt x="806399" y="0"/>
                </a:lnTo>
                <a:lnTo>
                  <a:pt x="806399" y="798728"/>
                </a:lnTo>
                <a:lnTo>
                  <a:pt x="806399" y="806399"/>
                </a:lnTo>
                <a:lnTo>
                  <a:pt x="1612607" y="806399"/>
                </a:lnTo>
                <a:lnTo>
                  <a:pt x="1612798" y="798728"/>
                </a:lnTo>
                <a:close/>
              </a:path>
            </a:pathLst>
          </a:custGeom>
          <a:solidFill>
            <a:srgbClr val="E5E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E514093A-5094-D8D6-C2B6-EC249AACCE59}"/>
              </a:ext>
            </a:extLst>
          </p:cNvPr>
          <p:cNvSpPr/>
          <p:nvPr userDrawn="1"/>
        </p:nvSpPr>
        <p:spPr>
          <a:xfrm>
            <a:off x="2152802" y="3794391"/>
            <a:ext cx="835660" cy="806450"/>
          </a:xfrm>
          <a:custGeom>
            <a:avLst/>
            <a:gdLst/>
            <a:ahLst/>
            <a:cxnLst/>
            <a:rect l="l" t="t" r="r" b="b"/>
            <a:pathLst>
              <a:path w="835660" h="806450">
                <a:moveTo>
                  <a:pt x="835202" y="0"/>
                </a:moveTo>
                <a:lnTo>
                  <a:pt x="0" y="0"/>
                </a:lnTo>
                <a:lnTo>
                  <a:pt x="0" y="806399"/>
                </a:lnTo>
                <a:lnTo>
                  <a:pt x="835202" y="806399"/>
                </a:lnTo>
                <a:lnTo>
                  <a:pt x="835202" y="0"/>
                </a:lnTo>
                <a:close/>
              </a:path>
            </a:pathLst>
          </a:custGeom>
          <a:solidFill>
            <a:srgbClr val="E8DDC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Image 8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1710EE12-1647-E901-C0AC-40AA73947D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53" y="539991"/>
            <a:ext cx="1123353" cy="315087"/>
          </a:xfrm>
          <a:prstGeom prst="rect">
            <a:avLst/>
          </a:prstGeom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60E539D7-2272-5F7F-5773-3A41F143A1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9991" y="1346454"/>
            <a:ext cx="2448471" cy="2447937"/>
          </a:xfrm>
        </p:spPr>
        <p:txBody>
          <a:bodyPr/>
          <a:lstStyle/>
          <a:p>
            <a:endParaRPr lang="fr-FR"/>
          </a:p>
        </p:txBody>
      </p:sp>
      <p:pic>
        <p:nvPicPr>
          <p:cNvPr id="5" name="Espace réservé pour une image  7">
            <a:extLst>
              <a:ext uri="{FF2B5EF4-FFF2-40B4-BE49-F238E27FC236}">
                <a16:creationId xmlns:a16="http://schemas.microsoft.com/office/drawing/2014/main" id="{FD366B24-6D5A-0E2C-7FFD-A72BD2ADE3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647" r="7647"/>
          <a:stretch/>
        </p:blipFill>
        <p:spPr>
          <a:xfrm>
            <a:off x="539991" y="1346453"/>
            <a:ext cx="2448471" cy="244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36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parti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ECF011-D9F0-4847-2A8C-39F75C9914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0" y="2724150"/>
            <a:ext cx="3870060" cy="1153340"/>
          </a:xfrm>
        </p:spPr>
        <p:txBody>
          <a:bodyPr anchor="b" anchorCtr="0">
            <a:noAutofit/>
          </a:bodyPr>
          <a:lstStyle>
            <a:lvl1pPr>
              <a:defRPr sz="3000">
                <a:latin typeface="Roboto Bold" panose="02000000000000000000" pitchFamily="2" charset="0"/>
                <a:ea typeface="Roboto Bold" panose="02000000000000000000" pitchFamily="2" charset="0"/>
              </a:defRPr>
            </a:lvl1pPr>
          </a:lstStyle>
          <a:p>
            <a:r>
              <a:rPr lang="fr-FR"/>
              <a:t>Cliquez pour </a:t>
            </a:r>
            <a:br>
              <a:rPr lang="fr-FR"/>
            </a:br>
            <a:r>
              <a:rPr lang="fr-FR"/>
              <a:t>modifier le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FE5D49-97A3-75C7-8361-79FE27302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696FE2E-462E-B964-8974-C167AD4C84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200" y="1123950"/>
            <a:ext cx="2895600" cy="1378500"/>
          </a:xfrm>
        </p:spPr>
        <p:txBody>
          <a:bodyPr anchor="ctr" anchorCtr="0">
            <a:noAutofit/>
          </a:bodyPr>
          <a:lstStyle>
            <a:lvl1pPr>
              <a:defRPr sz="9000">
                <a:latin typeface="Roboto Thin" panose="02000000000000000000" pitchFamily="2" charset="0"/>
                <a:ea typeface="Roboto Thin" panose="02000000000000000000" pitchFamily="2" charset="0"/>
              </a:defRPr>
            </a:lvl1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68042C-91C7-9E1B-DC50-E26BF7BB846F}"/>
              </a:ext>
            </a:extLst>
          </p:cNvPr>
          <p:cNvSpPr/>
          <p:nvPr userDrawn="1"/>
        </p:nvSpPr>
        <p:spPr>
          <a:xfrm>
            <a:off x="7620000" y="0"/>
            <a:ext cx="1524000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CCEFD188-7B52-61F9-3B20-3871DFEB37C7}"/>
              </a:ext>
            </a:extLst>
          </p:cNvPr>
          <p:cNvSpPr/>
          <p:nvPr userDrawn="1"/>
        </p:nvSpPr>
        <p:spPr>
          <a:xfrm>
            <a:off x="539991" y="540003"/>
            <a:ext cx="1612900" cy="806450"/>
          </a:xfrm>
          <a:custGeom>
            <a:avLst/>
            <a:gdLst/>
            <a:ahLst/>
            <a:cxnLst/>
            <a:rect l="l" t="t" r="r" b="b"/>
            <a:pathLst>
              <a:path w="1612900" h="806450">
                <a:moveTo>
                  <a:pt x="806399" y="798728"/>
                </a:moveTo>
                <a:lnTo>
                  <a:pt x="804926" y="750074"/>
                </a:lnTo>
                <a:lnTo>
                  <a:pt x="800569" y="702183"/>
                </a:lnTo>
                <a:lnTo>
                  <a:pt x="793407" y="655154"/>
                </a:lnTo>
                <a:lnTo>
                  <a:pt x="783526" y="609066"/>
                </a:lnTo>
                <a:lnTo>
                  <a:pt x="771017" y="563994"/>
                </a:lnTo>
                <a:lnTo>
                  <a:pt x="755954" y="520026"/>
                </a:lnTo>
                <a:lnTo>
                  <a:pt x="738416" y="477253"/>
                </a:lnTo>
                <a:lnTo>
                  <a:pt x="718515" y="435737"/>
                </a:lnTo>
                <a:lnTo>
                  <a:pt x="696302" y="395592"/>
                </a:lnTo>
                <a:lnTo>
                  <a:pt x="671880" y="356882"/>
                </a:lnTo>
                <a:lnTo>
                  <a:pt x="645337" y="319697"/>
                </a:lnTo>
                <a:lnTo>
                  <a:pt x="616750" y="284111"/>
                </a:lnTo>
                <a:lnTo>
                  <a:pt x="586193" y="250228"/>
                </a:lnTo>
                <a:lnTo>
                  <a:pt x="553770" y="218109"/>
                </a:lnTo>
                <a:lnTo>
                  <a:pt x="519557" y="187845"/>
                </a:lnTo>
                <a:lnTo>
                  <a:pt x="483628" y="159524"/>
                </a:lnTo>
                <a:lnTo>
                  <a:pt x="446087" y="133235"/>
                </a:lnTo>
                <a:lnTo>
                  <a:pt x="407009" y="109042"/>
                </a:lnTo>
                <a:lnTo>
                  <a:pt x="366471" y="87058"/>
                </a:lnTo>
                <a:lnTo>
                  <a:pt x="324573" y="67335"/>
                </a:lnTo>
                <a:lnTo>
                  <a:pt x="281381" y="49974"/>
                </a:lnTo>
                <a:lnTo>
                  <a:pt x="236994" y="35052"/>
                </a:lnTo>
                <a:lnTo>
                  <a:pt x="191490" y="22656"/>
                </a:lnTo>
                <a:lnTo>
                  <a:pt x="144957" y="12865"/>
                </a:lnTo>
                <a:lnTo>
                  <a:pt x="97472" y="5778"/>
                </a:lnTo>
                <a:lnTo>
                  <a:pt x="49123" y="1460"/>
                </a:lnTo>
                <a:lnTo>
                  <a:pt x="0" y="0"/>
                </a:lnTo>
                <a:lnTo>
                  <a:pt x="0" y="806399"/>
                </a:lnTo>
                <a:lnTo>
                  <a:pt x="806208" y="806399"/>
                </a:lnTo>
                <a:lnTo>
                  <a:pt x="806399" y="798728"/>
                </a:lnTo>
                <a:close/>
              </a:path>
              <a:path w="1612900" h="806450">
                <a:moveTo>
                  <a:pt x="1612798" y="798728"/>
                </a:moveTo>
                <a:lnTo>
                  <a:pt x="1611325" y="750074"/>
                </a:lnTo>
                <a:lnTo>
                  <a:pt x="1606969" y="702183"/>
                </a:lnTo>
                <a:lnTo>
                  <a:pt x="1599806" y="655154"/>
                </a:lnTo>
                <a:lnTo>
                  <a:pt x="1589925" y="609066"/>
                </a:lnTo>
                <a:lnTo>
                  <a:pt x="1577416" y="563994"/>
                </a:lnTo>
                <a:lnTo>
                  <a:pt x="1562354" y="520026"/>
                </a:lnTo>
                <a:lnTo>
                  <a:pt x="1544815" y="477253"/>
                </a:lnTo>
                <a:lnTo>
                  <a:pt x="1524914" y="435737"/>
                </a:lnTo>
                <a:lnTo>
                  <a:pt x="1502702" y="395592"/>
                </a:lnTo>
                <a:lnTo>
                  <a:pt x="1478280" y="356882"/>
                </a:lnTo>
                <a:lnTo>
                  <a:pt x="1451737" y="319697"/>
                </a:lnTo>
                <a:lnTo>
                  <a:pt x="1423149" y="284111"/>
                </a:lnTo>
                <a:lnTo>
                  <a:pt x="1392593" y="250228"/>
                </a:lnTo>
                <a:lnTo>
                  <a:pt x="1360170" y="218109"/>
                </a:lnTo>
                <a:lnTo>
                  <a:pt x="1325956" y="187845"/>
                </a:lnTo>
                <a:lnTo>
                  <a:pt x="1290027" y="159524"/>
                </a:lnTo>
                <a:lnTo>
                  <a:pt x="1252486" y="133235"/>
                </a:lnTo>
                <a:lnTo>
                  <a:pt x="1213408" y="109042"/>
                </a:lnTo>
                <a:lnTo>
                  <a:pt x="1172870" y="87058"/>
                </a:lnTo>
                <a:lnTo>
                  <a:pt x="1130973" y="67335"/>
                </a:lnTo>
                <a:lnTo>
                  <a:pt x="1087780" y="49974"/>
                </a:lnTo>
                <a:lnTo>
                  <a:pt x="1043393" y="35052"/>
                </a:lnTo>
                <a:lnTo>
                  <a:pt x="997889" y="22656"/>
                </a:lnTo>
                <a:lnTo>
                  <a:pt x="951357" y="12865"/>
                </a:lnTo>
                <a:lnTo>
                  <a:pt x="903871" y="5778"/>
                </a:lnTo>
                <a:lnTo>
                  <a:pt x="855522" y="1460"/>
                </a:lnTo>
                <a:lnTo>
                  <a:pt x="806399" y="0"/>
                </a:lnTo>
                <a:lnTo>
                  <a:pt x="806399" y="798728"/>
                </a:lnTo>
                <a:lnTo>
                  <a:pt x="806399" y="806399"/>
                </a:lnTo>
                <a:lnTo>
                  <a:pt x="1612607" y="806399"/>
                </a:lnTo>
                <a:lnTo>
                  <a:pt x="1612798" y="798728"/>
                </a:lnTo>
                <a:close/>
              </a:path>
            </a:pathLst>
          </a:custGeom>
          <a:solidFill>
            <a:srgbClr val="E5E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E514093A-5094-D8D6-C2B6-EC249AACCE59}"/>
              </a:ext>
            </a:extLst>
          </p:cNvPr>
          <p:cNvSpPr/>
          <p:nvPr userDrawn="1"/>
        </p:nvSpPr>
        <p:spPr>
          <a:xfrm>
            <a:off x="2152802" y="3794391"/>
            <a:ext cx="835660" cy="806450"/>
          </a:xfrm>
          <a:custGeom>
            <a:avLst/>
            <a:gdLst/>
            <a:ahLst/>
            <a:cxnLst/>
            <a:rect l="l" t="t" r="r" b="b"/>
            <a:pathLst>
              <a:path w="835660" h="806450">
                <a:moveTo>
                  <a:pt x="835202" y="0"/>
                </a:moveTo>
                <a:lnTo>
                  <a:pt x="0" y="0"/>
                </a:lnTo>
                <a:lnTo>
                  <a:pt x="0" y="806399"/>
                </a:lnTo>
                <a:lnTo>
                  <a:pt x="835202" y="806399"/>
                </a:lnTo>
                <a:lnTo>
                  <a:pt x="835202" y="0"/>
                </a:lnTo>
                <a:close/>
              </a:path>
            </a:pathLst>
          </a:custGeom>
          <a:solidFill>
            <a:srgbClr val="E8DDC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Image 8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1710EE12-1647-E901-C0AC-40AA73947D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53" y="539991"/>
            <a:ext cx="1123353" cy="315087"/>
          </a:xfrm>
          <a:prstGeom prst="rect">
            <a:avLst/>
          </a:prstGeom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60E539D7-2272-5F7F-5773-3A41F143A1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9991" y="1346454"/>
            <a:ext cx="2448471" cy="2447937"/>
          </a:xfrm>
        </p:spPr>
        <p:txBody>
          <a:bodyPr/>
          <a:lstStyle/>
          <a:p>
            <a:endParaRPr lang="fr-FR"/>
          </a:p>
        </p:txBody>
      </p:sp>
      <p:pic>
        <p:nvPicPr>
          <p:cNvPr id="5" name="Espace réservé pour une image  7">
            <a:extLst>
              <a:ext uri="{FF2B5EF4-FFF2-40B4-BE49-F238E27FC236}">
                <a16:creationId xmlns:a16="http://schemas.microsoft.com/office/drawing/2014/main" id="{FD366B24-6D5A-0E2C-7FFD-A72BD2ADE3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647" r="7647"/>
          <a:stretch/>
        </p:blipFill>
        <p:spPr>
          <a:xfrm>
            <a:off x="539991" y="1346453"/>
            <a:ext cx="2448471" cy="244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387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u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78C4E6-BB2A-1515-1203-534297937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B9E89C33-9F7B-B54F-C142-EFACF9FCA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" y="1352550"/>
            <a:ext cx="7989376" cy="32438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fr-FR" sz="14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buFont typeface="Arial" panose="020B0604020202020204" pitchFamily="34" charset="0"/>
              <a:buNone/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355600" indent="-169863"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625475" indent="-169863">
              <a:buFont typeface="Wingdings" panose="05000000000000000000" pitchFamily="2" charset="2"/>
              <a:buChar char="ü"/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lvl="2"/>
            <a:r>
              <a:rPr lang="fr-FR"/>
              <a:t> 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7509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-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78C4E6-BB2A-1515-1203-534297937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867355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>
            <a:extLst>
              <a:ext uri="{FF2B5EF4-FFF2-40B4-BE49-F238E27FC236}">
                <a16:creationId xmlns:a16="http://schemas.microsoft.com/office/drawing/2014/main" id="{10ABCF8B-9D49-DCB1-47AD-F507F3159BAD}"/>
              </a:ext>
            </a:extLst>
          </p:cNvPr>
          <p:cNvSpPr/>
          <p:nvPr userDrawn="1"/>
        </p:nvSpPr>
        <p:spPr>
          <a:xfrm>
            <a:off x="538675" y="1660500"/>
            <a:ext cx="0" cy="2616518"/>
          </a:xfrm>
          <a:custGeom>
            <a:avLst/>
            <a:gdLst/>
            <a:ahLst/>
            <a:cxnLst/>
            <a:rect l="l" t="t" r="r" b="b"/>
            <a:pathLst>
              <a:path h="3488690">
                <a:moveTo>
                  <a:pt x="0" y="0"/>
                </a:moveTo>
                <a:lnTo>
                  <a:pt x="0" y="3488677"/>
                </a:lnTo>
              </a:path>
            </a:pathLst>
          </a:custGeom>
          <a:ln w="12700">
            <a:solidFill>
              <a:srgbClr val="E5D1A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F0DB024A-E023-95B8-0A52-384CC4439887}"/>
              </a:ext>
            </a:extLst>
          </p:cNvPr>
          <p:cNvSpPr/>
          <p:nvPr userDrawn="1"/>
        </p:nvSpPr>
        <p:spPr>
          <a:xfrm>
            <a:off x="3330108" y="1660500"/>
            <a:ext cx="0" cy="2616518"/>
          </a:xfrm>
          <a:custGeom>
            <a:avLst/>
            <a:gdLst/>
            <a:ahLst/>
            <a:cxnLst/>
            <a:rect l="l" t="t" r="r" b="b"/>
            <a:pathLst>
              <a:path h="3488690">
                <a:moveTo>
                  <a:pt x="0" y="0"/>
                </a:moveTo>
                <a:lnTo>
                  <a:pt x="0" y="3488677"/>
                </a:lnTo>
              </a:path>
            </a:pathLst>
          </a:custGeom>
          <a:ln w="12700">
            <a:solidFill>
              <a:srgbClr val="E5D1A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18107B72-76A4-39CA-6BBC-5ED7150AA812}"/>
              </a:ext>
            </a:extLst>
          </p:cNvPr>
          <p:cNvSpPr/>
          <p:nvPr userDrawn="1"/>
        </p:nvSpPr>
        <p:spPr>
          <a:xfrm>
            <a:off x="6121541" y="1660500"/>
            <a:ext cx="0" cy="2616518"/>
          </a:xfrm>
          <a:custGeom>
            <a:avLst/>
            <a:gdLst/>
            <a:ahLst/>
            <a:cxnLst/>
            <a:rect l="l" t="t" r="r" b="b"/>
            <a:pathLst>
              <a:path h="3488690">
                <a:moveTo>
                  <a:pt x="0" y="0"/>
                </a:moveTo>
                <a:lnTo>
                  <a:pt x="0" y="3488677"/>
                </a:lnTo>
              </a:path>
            </a:pathLst>
          </a:custGeom>
          <a:ln w="12700">
            <a:solidFill>
              <a:srgbClr val="E5D1A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Espace réservé du texte 35">
            <a:extLst>
              <a:ext uri="{FF2B5EF4-FFF2-40B4-BE49-F238E27FC236}">
                <a16:creationId xmlns:a16="http://schemas.microsoft.com/office/drawing/2014/main" id="{021D7BB4-BA97-15AC-44BD-A45FE0639B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4144" y="1676337"/>
            <a:ext cx="2420495" cy="2600681"/>
          </a:xfrm>
          <a:prstGeom prst="rect">
            <a:avLst/>
          </a:prstGeom>
        </p:spPr>
        <p:txBody>
          <a:bodyPr/>
          <a:lstStyle>
            <a:lvl1pPr>
              <a:defRPr sz="1400" b="0" cap="none" baseline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355600" indent="-169863">
              <a:buFont typeface="Times New Roman" panose="02020603050405020304" pitchFamily="18" charset="0"/>
              <a:buChar char="→"/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538163" indent="-169863">
              <a:buFont typeface="Wingdings" panose="05000000000000000000" pitchFamily="2" charset="2"/>
              <a:buChar char="ü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fr-FR"/>
              <a:t>Cliquez pour modifier </a:t>
            </a:r>
            <a:br>
              <a:rPr lang="fr-FR"/>
            </a:br>
            <a:r>
              <a:rPr lang="fr-FR"/>
              <a:t>les styles 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54" name="Espace réservé du pied de page 53">
            <a:extLst>
              <a:ext uri="{FF2B5EF4-FFF2-40B4-BE49-F238E27FC236}">
                <a16:creationId xmlns:a16="http://schemas.microsoft.com/office/drawing/2014/main" id="{6071AE48-3798-4B3E-2DBB-784904DF6AE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5" name="Espace réservé du numéro de diapositive 54">
            <a:extLst>
              <a:ext uri="{FF2B5EF4-FFF2-40B4-BE49-F238E27FC236}">
                <a16:creationId xmlns:a16="http://schemas.microsoft.com/office/drawing/2014/main" id="{391B25DF-AAF5-9BCE-022C-031BDAFAA0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8" name="Espace réservé du texte 35">
            <a:extLst>
              <a:ext uri="{FF2B5EF4-FFF2-40B4-BE49-F238E27FC236}">
                <a16:creationId xmlns:a16="http://schemas.microsoft.com/office/drawing/2014/main" id="{DFDDC45F-E6B0-DF04-4F24-AA0E7283E5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5577" y="1678980"/>
            <a:ext cx="2420495" cy="2598036"/>
          </a:xfrm>
          <a:prstGeom prst="rect">
            <a:avLst/>
          </a:prstGeom>
        </p:spPr>
        <p:txBody>
          <a:bodyPr/>
          <a:lstStyle>
            <a:lvl1pPr>
              <a:defRPr lang="fr-FR" sz="14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71446" indent="-171446">
              <a:buClr>
                <a:schemeClr val="accent5"/>
              </a:buClr>
              <a:buFont typeface="Arial" panose="020B0604020202020204" pitchFamily="34" charset="0"/>
              <a:buChar char="•"/>
              <a:defRPr lang="fr-FR" sz="1200" b="0" cap="none" baseline="0" dirty="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351442" indent="-171446">
              <a:buFont typeface="Arial" panose="020B0604020202020204" pitchFamily="34" charset="0"/>
              <a:buChar char="•"/>
              <a:defRPr lang="fr-FR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fr-FR"/>
              <a:t>Cliquez pour modifier </a:t>
            </a:r>
            <a:br>
              <a:rPr lang="fr-FR"/>
            </a:br>
            <a:r>
              <a:rPr lang="fr-FR"/>
              <a:t>les styles 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marL="355600" lvl="2" indent="-169863">
              <a:buClr>
                <a:schemeClr val="accent5"/>
              </a:buClr>
              <a:buFont typeface="Times New Roman" panose="02020603050405020304" pitchFamily="18" charset="0"/>
              <a:buChar char="→"/>
            </a:pPr>
            <a:r>
              <a:rPr lang="fr-FR"/>
              <a:t>Troisième niveau</a:t>
            </a:r>
          </a:p>
          <a:p>
            <a:pPr marL="538163" lvl="3" indent="-169863">
              <a:buClr>
                <a:schemeClr val="accent5"/>
              </a:buClr>
              <a:buFont typeface="Wingdings" panose="05000000000000000000" pitchFamily="2" charset="2"/>
              <a:buChar char="ü"/>
            </a:pPr>
            <a:r>
              <a:rPr lang="fr-FR"/>
              <a:t>Quatrième niveau</a:t>
            </a:r>
          </a:p>
        </p:txBody>
      </p:sp>
      <p:sp>
        <p:nvSpPr>
          <p:cNvPr id="59" name="Espace réservé du texte 35">
            <a:extLst>
              <a:ext uri="{FF2B5EF4-FFF2-40B4-BE49-F238E27FC236}">
                <a16:creationId xmlns:a16="http://schemas.microsoft.com/office/drawing/2014/main" id="{4210277C-2A66-C749-F50A-FAA3F137C6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7008" y="1676337"/>
            <a:ext cx="2420495" cy="2600681"/>
          </a:xfrm>
          <a:prstGeom prst="rect">
            <a:avLst/>
          </a:prstGeom>
        </p:spPr>
        <p:txBody>
          <a:bodyPr/>
          <a:lstStyle>
            <a:lvl1pPr>
              <a:defRPr lang="fr-FR" sz="14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71446" indent="-171446">
              <a:buClr>
                <a:schemeClr val="accent5"/>
              </a:buClr>
              <a:buFont typeface="Arial" panose="020B0604020202020204" pitchFamily="34" charset="0"/>
              <a:buChar char="•"/>
              <a:defRPr lang="fr-FR" sz="1200" b="0" cap="none" baseline="0" dirty="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351442" indent="-171446">
              <a:buFont typeface="Arial" panose="020B0604020202020204" pitchFamily="34" charset="0"/>
              <a:buChar char="•"/>
              <a:defRPr lang="fr-FR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fr-FR"/>
              <a:t>Cliquez pour modifier </a:t>
            </a:r>
            <a:br>
              <a:rPr lang="fr-FR"/>
            </a:br>
            <a:r>
              <a:rPr lang="fr-FR"/>
              <a:t>les styles 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marL="355600" lvl="2" indent="-169863">
              <a:buClr>
                <a:schemeClr val="accent5"/>
              </a:buClr>
              <a:buFont typeface="Times New Roman" panose="02020603050405020304" pitchFamily="18" charset="0"/>
              <a:buChar char="→"/>
            </a:pPr>
            <a:r>
              <a:rPr lang="fr-FR"/>
              <a:t>Troisième niveau</a:t>
            </a:r>
          </a:p>
          <a:p>
            <a:pPr marL="538163" lvl="3" indent="-169863">
              <a:buClr>
                <a:schemeClr val="accent5"/>
              </a:buClr>
              <a:buFont typeface="Wingdings" panose="05000000000000000000" pitchFamily="2" charset="2"/>
              <a:buChar char="ü"/>
            </a:pPr>
            <a:r>
              <a:rPr lang="fr-FR"/>
              <a:t>Quatrième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F37916-2FC1-A62B-278F-6266F2663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285386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>
            <a:extLst>
              <a:ext uri="{FF2B5EF4-FFF2-40B4-BE49-F238E27FC236}">
                <a16:creationId xmlns:a16="http://schemas.microsoft.com/office/drawing/2014/main" id="{10ABCF8B-9D49-DCB1-47AD-F507F3159BAD}"/>
              </a:ext>
            </a:extLst>
          </p:cNvPr>
          <p:cNvSpPr/>
          <p:nvPr userDrawn="1"/>
        </p:nvSpPr>
        <p:spPr>
          <a:xfrm>
            <a:off x="538675" y="1660500"/>
            <a:ext cx="0" cy="2616518"/>
          </a:xfrm>
          <a:custGeom>
            <a:avLst/>
            <a:gdLst/>
            <a:ahLst/>
            <a:cxnLst/>
            <a:rect l="l" t="t" r="r" b="b"/>
            <a:pathLst>
              <a:path h="3488690">
                <a:moveTo>
                  <a:pt x="0" y="0"/>
                </a:moveTo>
                <a:lnTo>
                  <a:pt x="0" y="3488677"/>
                </a:lnTo>
              </a:path>
            </a:pathLst>
          </a:custGeom>
          <a:ln w="12700">
            <a:solidFill>
              <a:srgbClr val="E5D1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Espace réservé du texte 35">
            <a:extLst>
              <a:ext uri="{FF2B5EF4-FFF2-40B4-BE49-F238E27FC236}">
                <a16:creationId xmlns:a16="http://schemas.microsoft.com/office/drawing/2014/main" id="{021D7BB4-BA97-15AC-44BD-A45FE0639B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3708" y="1676337"/>
            <a:ext cx="4706495" cy="2600681"/>
          </a:xfrm>
          <a:prstGeom prst="rect">
            <a:avLst/>
          </a:prstGeom>
        </p:spPr>
        <p:txBody>
          <a:bodyPr/>
          <a:lstStyle>
            <a:lvl1pPr>
              <a:defRPr lang="fr-FR" sz="14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355600" indent="-169863">
              <a:buFont typeface="Times New Roman" panose="02020603050405020304" pitchFamily="18" charset="0"/>
              <a:buChar char="→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538163" indent="-169863">
              <a:buFont typeface="Wingdings" panose="05000000000000000000" pitchFamily="2" charset="2"/>
              <a:buChar char="ü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marL="0" lvl="0"/>
            <a:r>
              <a:rPr lang="fr-FR"/>
              <a:t>Cliquez pour modifier les styles 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54" name="Espace réservé du pied de page 53">
            <a:extLst>
              <a:ext uri="{FF2B5EF4-FFF2-40B4-BE49-F238E27FC236}">
                <a16:creationId xmlns:a16="http://schemas.microsoft.com/office/drawing/2014/main" id="{6071AE48-3798-4B3E-2DBB-784904DF6AE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</a:p>
        </p:txBody>
      </p:sp>
      <p:sp>
        <p:nvSpPr>
          <p:cNvPr id="55" name="Espace réservé du numéro de diapositive 54">
            <a:extLst>
              <a:ext uri="{FF2B5EF4-FFF2-40B4-BE49-F238E27FC236}">
                <a16:creationId xmlns:a16="http://schemas.microsoft.com/office/drawing/2014/main" id="{391B25DF-AAF5-9BCE-022C-031BDAFAA0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DB92B57-7DFD-D1E2-7312-D2CC485C0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7">
            <a:extLst>
              <a:ext uri="{FF2B5EF4-FFF2-40B4-BE49-F238E27FC236}">
                <a16:creationId xmlns:a16="http://schemas.microsoft.com/office/drawing/2014/main" id="{C238880B-D635-9C63-7125-A57ACC4334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27848" y="1386776"/>
            <a:ext cx="2776149" cy="3214370"/>
          </a:xfr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7631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C347D6D-18B2-F726-E6ED-ED308011FF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F210E11-5AD9-CBD3-751C-9E0A26E5EB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4B151FC6-C560-C453-6BFC-E362236F5D83}"/>
              </a:ext>
            </a:extLst>
          </p:cNvPr>
          <p:cNvSpPr/>
          <p:nvPr userDrawn="1"/>
        </p:nvSpPr>
        <p:spPr>
          <a:xfrm>
            <a:off x="538675" y="1660500"/>
            <a:ext cx="0" cy="2616518"/>
          </a:xfrm>
          <a:custGeom>
            <a:avLst/>
            <a:gdLst/>
            <a:ahLst/>
            <a:cxnLst/>
            <a:rect l="l" t="t" r="r" b="b"/>
            <a:pathLst>
              <a:path h="3488690">
                <a:moveTo>
                  <a:pt x="0" y="0"/>
                </a:moveTo>
                <a:lnTo>
                  <a:pt x="0" y="3488677"/>
                </a:lnTo>
              </a:path>
            </a:pathLst>
          </a:custGeom>
          <a:ln w="12700">
            <a:solidFill>
              <a:srgbClr val="E5D1AA"/>
            </a:solidFill>
          </a:ln>
        </p:spPr>
        <p:txBody>
          <a:bodyPr wrap="square" lIns="0" tIns="0" rIns="0" bIns="0" rtlCol="0"/>
          <a:lstStyle/>
          <a:p>
            <a:endParaRPr sz="3600"/>
          </a:p>
        </p:txBody>
      </p:sp>
      <p:sp>
        <p:nvSpPr>
          <p:cNvPr id="12" name="Espace réservé du texte 35">
            <a:extLst>
              <a:ext uri="{FF2B5EF4-FFF2-40B4-BE49-F238E27FC236}">
                <a16:creationId xmlns:a16="http://schemas.microsoft.com/office/drawing/2014/main" id="{69D18321-49D4-CD25-7C98-8147F235FC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706" y="1676337"/>
            <a:ext cx="3639693" cy="2600681"/>
          </a:xfrm>
          <a:prstGeom prst="rect">
            <a:avLst/>
          </a:prstGeom>
        </p:spPr>
        <p:txBody>
          <a:bodyPr/>
          <a:lstStyle>
            <a:lvl1pPr>
              <a:defRPr lang="fr-FR" sz="14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>
              <a:defRPr lang="fr-FR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355600" indent="-169863">
              <a:buFont typeface="Times New Roman" panose="02020603050405020304" pitchFamily="18" charset="0"/>
              <a:buChar char="→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538163" indent="-169863">
              <a:buFont typeface="Wingdings" panose="05000000000000000000" pitchFamily="2" charset="2"/>
              <a:buChar char="ü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marL="0" lvl="0"/>
            <a:r>
              <a:rPr lang="fr-FR"/>
              <a:t>Cliquez pour modifier les styles </a:t>
            </a:r>
            <a:br>
              <a:rPr lang="fr-FR"/>
            </a:br>
            <a:r>
              <a:rPr lang="fr-FR"/>
              <a:t>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7BE3115B-6BA7-5A00-B8A0-6D4E1F14BAF7}"/>
              </a:ext>
            </a:extLst>
          </p:cNvPr>
          <p:cNvSpPr/>
          <p:nvPr userDrawn="1"/>
        </p:nvSpPr>
        <p:spPr>
          <a:xfrm>
            <a:off x="4729678" y="1660500"/>
            <a:ext cx="0" cy="2616518"/>
          </a:xfrm>
          <a:custGeom>
            <a:avLst/>
            <a:gdLst/>
            <a:ahLst/>
            <a:cxnLst/>
            <a:rect l="l" t="t" r="r" b="b"/>
            <a:pathLst>
              <a:path h="3488690">
                <a:moveTo>
                  <a:pt x="0" y="0"/>
                </a:moveTo>
                <a:lnTo>
                  <a:pt x="0" y="3488677"/>
                </a:lnTo>
              </a:path>
            </a:pathLst>
          </a:custGeom>
          <a:ln w="12700">
            <a:solidFill>
              <a:srgbClr val="E5D1AA"/>
            </a:solidFill>
          </a:ln>
        </p:spPr>
        <p:txBody>
          <a:bodyPr wrap="square" lIns="0" tIns="0" rIns="0" bIns="0" rtlCol="0"/>
          <a:lstStyle/>
          <a:p>
            <a:endParaRPr sz="3600"/>
          </a:p>
        </p:txBody>
      </p:sp>
      <p:sp>
        <p:nvSpPr>
          <p:cNvPr id="14" name="Espace réservé du texte 35">
            <a:extLst>
              <a:ext uri="{FF2B5EF4-FFF2-40B4-BE49-F238E27FC236}">
                <a16:creationId xmlns:a16="http://schemas.microsoft.com/office/drawing/2014/main" id="{9A4705F5-9F76-569D-8520-B447AD2884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4710" y="1676337"/>
            <a:ext cx="3639693" cy="2600681"/>
          </a:xfrm>
          <a:prstGeom prst="rect">
            <a:avLst/>
          </a:prstGeom>
        </p:spPr>
        <p:txBody>
          <a:bodyPr/>
          <a:lstStyle>
            <a:lvl1pPr>
              <a:defRPr lang="fr-FR" sz="14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>
              <a:defRPr lang="fr-FR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355600" indent="-169863">
              <a:buFont typeface="Times New Roman" panose="02020603050405020304" pitchFamily="18" charset="0"/>
              <a:buChar char="→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538163" indent="-169863">
              <a:buFont typeface="Wingdings" panose="05000000000000000000" pitchFamily="2" charset="2"/>
              <a:buChar char="ü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marL="0" lvl="0"/>
            <a:r>
              <a:rPr lang="fr-FR"/>
              <a:t>Cliquez pour modifier les styles </a:t>
            </a:r>
            <a:br>
              <a:rPr lang="fr-FR"/>
            </a:br>
            <a:r>
              <a:rPr lang="fr-FR"/>
              <a:t>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78B762-6A11-1EA5-75A7-21E4BA211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15333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pour une image  14">
            <a:extLst>
              <a:ext uri="{FF2B5EF4-FFF2-40B4-BE49-F238E27FC236}">
                <a16:creationId xmlns:a16="http://schemas.microsoft.com/office/drawing/2014/main" id="{E9A31D0E-43FF-8E56-EE40-5C7AD56B93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51992" y="539991"/>
            <a:ext cx="6432550" cy="4060825"/>
          </a:xfrm>
        </p:spPr>
        <p:txBody>
          <a:bodyPr/>
          <a:lstStyle/>
          <a:p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DFB6A741-EC1D-A0C0-90DB-264445411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362B28A-24FA-EA61-797D-F9031AF2EF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object 12">
            <a:extLst>
              <a:ext uri="{FF2B5EF4-FFF2-40B4-BE49-F238E27FC236}">
                <a16:creationId xmlns:a16="http://schemas.microsoft.com/office/drawing/2014/main" id="{BE6E5EEF-5B45-4175-15E6-9C384CE51260}"/>
              </a:ext>
            </a:extLst>
          </p:cNvPr>
          <p:cNvSpPr/>
          <p:nvPr userDrawn="1"/>
        </p:nvSpPr>
        <p:spPr>
          <a:xfrm>
            <a:off x="6084000" y="2848499"/>
            <a:ext cx="2537439" cy="1952102"/>
          </a:xfrm>
          <a:custGeom>
            <a:avLst/>
            <a:gdLst/>
            <a:ahLst/>
            <a:cxnLst/>
            <a:rect l="l" t="t" r="r" b="b"/>
            <a:pathLst>
              <a:path w="2520315" h="2520315">
                <a:moveTo>
                  <a:pt x="2519997" y="0"/>
                </a:moveTo>
                <a:lnTo>
                  <a:pt x="0" y="0"/>
                </a:lnTo>
                <a:lnTo>
                  <a:pt x="0" y="2519997"/>
                </a:lnTo>
                <a:lnTo>
                  <a:pt x="2519997" y="2519997"/>
                </a:lnTo>
                <a:lnTo>
                  <a:pt x="2519997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AFF982BE-C331-C0BA-FC7F-3160C62595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18319" y="3314464"/>
            <a:ext cx="2103118" cy="857487"/>
          </a:xfrm>
        </p:spPr>
        <p:txBody>
          <a:bodyPr>
            <a:noAutofit/>
          </a:bodyPr>
          <a:lstStyle>
            <a:lvl1pPr marL="171446" indent="-171446">
              <a:buClr>
                <a:schemeClr val="accent5"/>
              </a:buClr>
              <a:buFont typeface="Times New Roman" panose="02020603050405020304" pitchFamily="18" charset="0"/>
              <a:buChar char="→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Légende de la photo ici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6B0CA141-2DE3-43CA-D1E3-95B2C6E8FE2A}"/>
              </a:ext>
            </a:extLst>
          </p:cNvPr>
          <p:cNvSpPr/>
          <p:nvPr userDrawn="1"/>
        </p:nvSpPr>
        <p:spPr>
          <a:xfrm>
            <a:off x="539991" y="540003"/>
            <a:ext cx="612140" cy="1224280"/>
          </a:xfrm>
          <a:custGeom>
            <a:avLst/>
            <a:gdLst/>
            <a:ahLst/>
            <a:cxnLst/>
            <a:rect l="l" t="t" r="r" b="b"/>
            <a:pathLst>
              <a:path w="612140" h="1224280">
                <a:moveTo>
                  <a:pt x="612000" y="612000"/>
                </a:moveTo>
                <a:lnTo>
                  <a:pt x="5816" y="612000"/>
                </a:lnTo>
                <a:lnTo>
                  <a:pt x="0" y="612000"/>
                </a:lnTo>
                <a:lnTo>
                  <a:pt x="0" y="1223848"/>
                </a:lnTo>
                <a:lnTo>
                  <a:pt x="53187" y="1222159"/>
                </a:lnTo>
                <a:lnTo>
                  <a:pt x="99568" y="1216723"/>
                </a:lnTo>
                <a:lnTo>
                  <a:pt x="144805" y="1207833"/>
                </a:lnTo>
                <a:lnTo>
                  <a:pt x="188785" y="1195628"/>
                </a:lnTo>
                <a:lnTo>
                  <a:pt x="231368" y="1180236"/>
                </a:lnTo>
                <a:lnTo>
                  <a:pt x="272402" y="1161796"/>
                </a:lnTo>
                <a:lnTo>
                  <a:pt x="311772" y="1140447"/>
                </a:lnTo>
                <a:lnTo>
                  <a:pt x="349338" y="1116317"/>
                </a:lnTo>
                <a:lnTo>
                  <a:pt x="384949" y="1089545"/>
                </a:lnTo>
                <a:lnTo>
                  <a:pt x="418503" y="1060272"/>
                </a:lnTo>
                <a:lnTo>
                  <a:pt x="449834" y="1028636"/>
                </a:lnTo>
                <a:lnTo>
                  <a:pt x="478828" y="994778"/>
                </a:lnTo>
                <a:lnTo>
                  <a:pt x="505345" y="958811"/>
                </a:lnTo>
                <a:lnTo>
                  <a:pt x="529234" y="920889"/>
                </a:lnTo>
                <a:lnTo>
                  <a:pt x="550392" y="881138"/>
                </a:lnTo>
                <a:lnTo>
                  <a:pt x="568655" y="839711"/>
                </a:lnTo>
                <a:lnTo>
                  <a:pt x="583895" y="796721"/>
                </a:lnTo>
                <a:lnTo>
                  <a:pt x="595998" y="752322"/>
                </a:lnTo>
                <a:lnTo>
                  <a:pt x="604799" y="706640"/>
                </a:lnTo>
                <a:lnTo>
                  <a:pt x="610184" y="659828"/>
                </a:lnTo>
                <a:lnTo>
                  <a:pt x="612000" y="612000"/>
                </a:lnTo>
                <a:close/>
              </a:path>
              <a:path w="612140" h="1224280">
                <a:moveTo>
                  <a:pt x="612000" y="0"/>
                </a:moveTo>
                <a:lnTo>
                  <a:pt x="0" y="0"/>
                </a:lnTo>
                <a:lnTo>
                  <a:pt x="0" y="611847"/>
                </a:lnTo>
                <a:lnTo>
                  <a:pt x="5816" y="612000"/>
                </a:lnTo>
                <a:lnTo>
                  <a:pt x="53187" y="610158"/>
                </a:lnTo>
                <a:lnTo>
                  <a:pt x="99568" y="604723"/>
                </a:lnTo>
                <a:lnTo>
                  <a:pt x="144805" y="595833"/>
                </a:lnTo>
                <a:lnTo>
                  <a:pt x="188785" y="583628"/>
                </a:lnTo>
                <a:lnTo>
                  <a:pt x="231368" y="568236"/>
                </a:lnTo>
                <a:lnTo>
                  <a:pt x="272402" y="549795"/>
                </a:lnTo>
                <a:lnTo>
                  <a:pt x="311772" y="528447"/>
                </a:lnTo>
                <a:lnTo>
                  <a:pt x="349338" y="504317"/>
                </a:lnTo>
                <a:lnTo>
                  <a:pt x="384949" y="477545"/>
                </a:lnTo>
                <a:lnTo>
                  <a:pt x="418503" y="448271"/>
                </a:lnTo>
                <a:lnTo>
                  <a:pt x="449834" y="416636"/>
                </a:lnTo>
                <a:lnTo>
                  <a:pt x="478828" y="382778"/>
                </a:lnTo>
                <a:lnTo>
                  <a:pt x="505345" y="346811"/>
                </a:lnTo>
                <a:lnTo>
                  <a:pt x="529234" y="308889"/>
                </a:lnTo>
                <a:lnTo>
                  <a:pt x="550392" y="269138"/>
                </a:lnTo>
                <a:lnTo>
                  <a:pt x="568655" y="227711"/>
                </a:lnTo>
                <a:lnTo>
                  <a:pt x="583895" y="184721"/>
                </a:lnTo>
                <a:lnTo>
                  <a:pt x="595998" y="140322"/>
                </a:lnTo>
                <a:lnTo>
                  <a:pt x="604799" y="94640"/>
                </a:lnTo>
                <a:lnTo>
                  <a:pt x="610184" y="47828"/>
                </a:lnTo>
                <a:lnTo>
                  <a:pt x="612000" y="0"/>
                </a:lnTo>
                <a:close/>
              </a:path>
            </a:pathLst>
          </a:custGeom>
          <a:solidFill>
            <a:srgbClr val="E5EDF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4327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F4F04665-EC1D-7124-8547-0BAF536273F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86636" y="539991"/>
            <a:ext cx="4441212" cy="3214166"/>
          </a:xfrm>
        </p:spPr>
        <p:txBody>
          <a:bodyPr/>
          <a:lstStyle/>
          <a:p>
            <a:endParaRPr lang="fr-FR"/>
          </a:p>
        </p:txBody>
      </p:sp>
      <p:sp>
        <p:nvSpPr>
          <p:cNvPr id="9" name="Espace réservé pour une image  7">
            <a:extLst>
              <a:ext uri="{FF2B5EF4-FFF2-40B4-BE49-F238E27FC236}">
                <a16:creationId xmlns:a16="http://schemas.microsoft.com/office/drawing/2014/main" id="{CB4D253E-9C4B-3E40-4084-2EAF07D19D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27848" y="1386776"/>
            <a:ext cx="2776149" cy="3214370"/>
          </a:xfr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A0E5A1-EDCD-58E2-9FCE-14F6A42845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75E72C-508E-6160-EC92-C2842A49CF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18A08401-5028-38F6-789B-7CEB8B25FE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1" y="590550"/>
            <a:ext cx="1828799" cy="609600"/>
          </a:xfrm>
        </p:spPr>
        <p:txBody>
          <a:bodyPr anchor="ctr" anchorCtr="0">
            <a:noAutofit/>
          </a:bodyPr>
          <a:lstStyle>
            <a:lvl1pPr marL="171446" indent="-171446">
              <a:buClr>
                <a:schemeClr val="accent5"/>
              </a:buClr>
              <a:buFont typeface="Times New Roman" panose="02020603050405020304" pitchFamily="18" charset="0"/>
              <a:buChar char="→"/>
              <a:defRPr sz="12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Légende de la photo ici</a:t>
            </a:r>
          </a:p>
        </p:txBody>
      </p:sp>
      <p:sp>
        <p:nvSpPr>
          <p:cNvPr id="13" name="Espace réservé du texte 11">
            <a:extLst>
              <a:ext uri="{FF2B5EF4-FFF2-40B4-BE49-F238E27FC236}">
                <a16:creationId xmlns:a16="http://schemas.microsoft.com/office/drawing/2014/main" id="{0C3927A3-6C37-4A87-E507-4473611DF5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52600" y="3931838"/>
            <a:ext cx="3086100" cy="533400"/>
          </a:xfrm>
        </p:spPr>
        <p:txBody>
          <a:bodyPr anchor="ctr" anchorCtr="0">
            <a:noAutofit/>
          </a:bodyPr>
          <a:lstStyle>
            <a:lvl1pPr marL="171446" indent="-171446">
              <a:buClr>
                <a:schemeClr val="accent5"/>
              </a:buClr>
              <a:buFont typeface="Times New Roman" panose="02020603050405020304" pitchFamily="18" charset="0"/>
              <a:buChar char="→"/>
              <a:defRPr sz="12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Légende de la photo ici</a:t>
            </a:r>
          </a:p>
        </p:txBody>
      </p:sp>
      <p:sp>
        <p:nvSpPr>
          <p:cNvPr id="2" name="bg object 22">
            <a:extLst>
              <a:ext uri="{FF2B5EF4-FFF2-40B4-BE49-F238E27FC236}">
                <a16:creationId xmlns:a16="http://schemas.microsoft.com/office/drawing/2014/main" id="{C5A279D9-1F56-2241-4684-7D52D7199CFA}"/>
              </a:ext>
            </a:extLst>
          </p:cNvPr>
          <p:cNvSpPr/>
          <p:nvPr userDrawn="1"/>
        </p:nvSpPr>
        <p:spPr>
          <a:xfrm>
            <a:off x="540004" y="3754157"/>
            <a:ext cx="847090" cy="847090"/>
          </a:xfrm>
          <a:custGeom>
            <a:avLst/>
            <a:gdLst/>
            <a:ahLst/>
            <a:cxnLst/>
            <a:rect l="l" t="t" r="r" b="b"/>
            <a:pathLst>
              <a:path w="847090" h="847089">
                <a:moveTo>
                  <a:pt x="846632" y="0"/>
                </a:moveTo>
                <a:lnTo>
                  <a:pt x="0" y="0"/>
                </a:lnTo>
                <a:lnTo>
                  <a:pt x="0" y="846632"/>
                </a:lnTo>
                <a:lnTo>
                  <a:pt x="846632" y="846632"/>
                </a:lnTo>
                <a:lnTo>
                  <a:pt x="846632" y="0"/>
                </a:lnTo>
                <a:close/>
              </a:path>
            </a:pathLst>
          </a:custGeom>
          <a:solidFill>
            <a:srgbClr val="E8DD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bg object 23">
            <a:extLst>
              <a:ext uri="{FF2B5EF4-FFF2-40B4-BE49-F238E27FC236}">
                <a16:creationId xmlns:a16="http://schemas.microsoft.com/office/drawing/2014/main" id="{FC661207-C5A0-5A8B-9FEE-625BFC54EED5}"/>
              </a:ext>
            </a:extLst>
          </p:cNvPr>
          <p:cNvSpPr/>
          <p:nvPr userDrawn="1"/>
        </p:nvSpPr>
        <p:spPr>
          <a:xfrm>
            <a:off x="539991" y="540003"/>
            <a:ext cx="847090" cy="1693545"/>
          </a:xfrm>
          <a:custGeom>
            <a:avLst/>
            <a:gdLst/>
            <a:ahLst/>
            <a:cxnLst/>
            <a:rect l="l" t="t" r="r" b="b"/>
            <a:pathLst>
              <a:path w="847090" h="1693545">
                <a:moveTo>
                  <a:pt x="846632" y="846632"/>
                </a:moveTo>
                <a:lnTo>
                  <a:pt x="8051" y="846632"/>
                </a:lnTo>
                <a:lnTo>
                  <a:pt x="0" y="846632"/>
                </a:lnTo>
                <a:lnTo>
                  <a:pt x="0" y="1693062"/>
                </a:lnTo>
                <a:lnTo>
                  <a:pt x="55638" y="1691919"/>
                </a:lnTo>
                <a:lnTo>
                  <a:pt x="102527" y="1687957"/>
                </a:lnTo>
                <a:lnTo>
                  <a:pt x="148653" y="1681416"/>
                </a:lnTo>
                <a:lnTo>
                  <a:pt x="193941" y="1672399"/>
                </a:lnTo>
                <a:lnTo>
                  <a:pt x="238315" y="1660956"/>
                </a:lnTo>
                <a:lnTo>
                  <a:pt x="281711" y="1647164"/>
                </a:lnTo>
                <a:lnTo>
                  <a:pt x="324053" y="1631099"/>
                </a:lnTo>
                <a:lnTo>
                  <a:pt x="365277" y="1612823"/>
                </a:lnTo>
                <a:lnTo>
                  <a:pt x="405307" y="1592427"/>
                </a:lnTo>
                <a:lnTo>
                  <a:pt x="444080" y="1569961"/>
                </a:lnTo>
                <a:lnTo>
                  <a:pt x="481520" y="1545513"/>
                </a:lnTo>
                <a:lnTo>
                  <a:pt x="517550" y="1519148"/>
                </a:lnTo>
                <a:lnTo>
                  <a:pt x="552107" y="1490929"/>
                </a:lnTo>
                <a:lnTo>
                  <a:pt x="585114" y="1460931"/>
                </a:lnTo>
                <a:lnTo>
                  <a:pt x="616508" y="1429232"/>
                </a:lnTo>
                <a:lnTo>
                  <a:pt x="646214" y="1395907"/>
                </a:lnTo>
                <a:lnTo>
                  <a:pt x="674166" y="1361020"/>
                </a:lnTo>
                <a:lnTo>
                  <a:pt x="700290" y="1324648"/>
                </a:lnTo>
                <a:lnTo>
                  <a:pt x="724509" y="1286852"/>
                </a:lnTo>
                <a:lnTo>
                  <a:pt x="746760" y="1247711"/>
                </a:lnTo>
                <a:lnTo>
                  <a:pt x="766965" y="1207287"/>
                </a:lnTo>
                <a:lnTo>
                  <a:pt x="785063" y="1165669"/>
                </a:lnTo>
                <a:lnTo>
                  <a:pt x="800976" y="1122921"/>
                </a:lnTo>
                <a:lnTo>
                  <a:pt x="814628" y="1079106"/>
                </a:lnTo>
                <a:lnTo>
                  <a:pt x="825969" y="1034300"/>
                </a:lnTo>
                <a:lnTo>
                  <a:pt x="834898" y="988580"/>
                </a:lnTo>
                <a:lnTo>
                  <a:pt x="841375" y="942022"/>
                </a:lnTo>
                <a:lnTo>
                  <a:pt x="845312" y="894676"/>
                </a:lnTo>
                <a:lnTo>
                  <a:pt x="846632" y="846632"/>
                </a:lnTo>
                <a:close/>
              </a:path>
              <a:path w="847090" h="1693545">
                <a:moveTo>
                  <a:pt x="846632" y="0"/>
                </a:moveTo>
                <a:lnTo>
                  <a:pt x="0" y="0"/>
                </a:lnTo>
                <a:lnTo>
                  <a:pt x="0" y="846429"/>
                </a:lnTo>
                <a:lnTo>
                  <a:pt x="8051" y="846632"/>
                </a:lnTo>
                <a:lnTo>
                  <a:pt x="55638" y="845286"/>
                </a:lnTo>
                <a:lnTo>
                  <a:pt x="102527" y="841311"/>
                </a:lnTo>
                <a:lnTo>
                  <a:pt x="148653" y="834783"/>
                </a:lnTo>
                <a:lnTo>
                  <a:pt x="193941" y="825754"/>
                </a:lnTo>
                <a:lnTo>
                  <a:pt x="238315" y="814311"/>
                </a:lnTo>
                <a:lnTo>
                  <a:pt x="281711" y="800531"/>
                </a:lnTo>
                <a:lnTo>
                  <a:pt x="324053" y="784466"/>
                </a:lnTo>
                <a:lnTo>
                  <a:pt x="365277" y="766191"/>
                </a:lnTo>
                <a:lnTo>
                  <a:pt x="405307" y="745794"/>
                </a:lnTo>
                <a:lnTo>
                  <a:pt x="444080" y="723328"/>
                </a:lnTo>
                <a:lnTo>
                  <a:pt x="481520" y="698881"/>
                </a:lnTo>
                <a:lnTo>
                  <a:pt x="517550" y="672503"/>
                </a:lnTo>
                <a:lnTo>
                  <a:pt x="552107" y="644296"/>
                </a:lnTo>
                <a:lnTo>
                  <a:pt x="585114" y="614299"/>
                </a:lnTo>
                <a:lnTo>
                  <a:pt x="616508" y="582599"/>
                </a:lnTo>
                <a:lnTo>
                  <a:pt x="646214" y="549275"/>
                </a:lnTo>
                <a:lnTo>
                  <a:pt x="674166" y="514388"/>
                </a:lnTo>
                <a:lnTo>
                  <a:pt x="700290" y="478015"/>
                </a:lnTo>
                <a:lnTo>
                  <a:pt x="724509" y="440207"/>
                </a:lnTo>
                <a:lnTo>
                  <a:pt x="746760" y="401066"/>
                </a:lnTo>
                <a:lnTo>
                  <a:pt x="766965" y="360654"/>
                </a:lnTo>
                <a:lnTo>
                  <a:pt x="785063" y="319036"/>
                </a:lnTo>
                <a:lnTo>
                  <a:pt x="800976" y="276275"/>
                </a:lnTo>
                <a:lnTo>
                  <a:pt x="814628" y="232473"/>
                </a:lnTo>
                <a:lnTo>
                  <a:pt x="825969" y="187667"/>
                </a:lnTo>
                <a:lnTo>
                  <a:pt x="834898" y="141947"/>
                </a:lnTo>
                <a:lnTo>
                  <a:pt x="841375" y="95377"/>
                </a:lnTo>
                <a:lnTo>
                  <a:pt x="845312" y="48044"/>
                </a:lnTo>
                <a:lnTo>
                  <a:pt x="846632" y="0"/>
                </a:lnTo>
                <a:close/>
              </a:path>
            </a:pathLst>
          </a:custGeom>
          <a:solidFill>
            <a:srgbClr val="E5EDF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8894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object 2">
            <a:extLst>
              <a:ext uri="{FF2B5EF4-FFF2-40B4-BE49-F238E27FC236}">
                <a16:creationId xmlns:a16="http://schemas.microsoft.com/office/drawing/2014/main" id="{2EECF248-B093-FD0D-A5E7-B8F9405C81AF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6858000"/>
          </a:xfrm>
        </p:grpSpPr>
        <p:sp>
          <p:nvSpPr>
            <p:cNvPr id="26" name="object 3">
              <a:extLst>
                <a:ext uri="{FF2B5EF4-FFF2-40B4-BE49-F238E27FC236}">
                  <a16:creationId xmlns:a16="http://schemas.microsoft.com/office/drawing/2014/main" id="{7B95FBB6-C41D-D0A3-1C1D-4BB42911525F}"/>
                </a:ext>
              </a:extLst>
            </p:cNvPr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6327000" y="6792760"/>
                  </a:moveTo>
                  <a:lnTo>
                    <a:pt x="6326759" y="6736550"/>
                  </a:lnTo>
                  <a:lnTo>
                    <a:pt x="6326073" y="6680441"/>
                  </a:lnTo>
                  <a:lnTo>
                    <a:pt x="6324930" y="6624434"/>
                  </a:lnTo>
                  <a:lnTo>
                    <a:pt x="6323330" y="6568541"/>
                  </a:lnTo>
                  <a:lnTo>
                    <a:pt x="6321272" y="6512763"/>
                  </a:lnTo>
                  <a:lnTo>
                    <a:pt x="6318771" y="6457112"/>
                  </a:lnTo>
                  <a:lnTo>
                    <a:pt x="6315811" y="6401562"/>
                  </a:lnTo>
                  <a:lnTo>
                    <a:pt x="6312408" y="6346139"/>
                  </a:lnTo>
                  <a:lnTo>
                    <a:pt x="6308560" y="6290830"/>
                  </a:lnTo>
                  <a:lnTo>
                    <a:pt x="6304254" y="6235649"/>
                  </a:lnTo>
                  <a:lnTo>
                    <a:pt x="6299517" y="6180594"/>
                  </a:lnTo>
                  <a:lnTo>
                    <a:pt x="6294336" y="6125667"/>
                  </a:lnTo>
                  <a:lnTo>
                    <a:pt x="6288722" y="6070854"/>
                  </a:lnTo>
                  <a:lnTo>
                    <a:pt x="6282664" y="6016180"/>
                  </a:lnTo>
                  <a:lnTo>
                    <a:pt x="6276175" y="5961634"/>
                  </a:lnTo>
                  <a:lnTo>
                    <a:pt x="6269240" y="5907227"/>
                  </a:lnTo>
                  <a:lnTo>
                    <a:pt x="6261887" y="5852947"/>
                  </a:lnTo>
                  <a:lnTo>
                    <a:pt x="6254102" y="5798807"/>
                  </a:lnTo>
                  <a:lnTo>
                    <a:pt x="6245885" y="5744807"/>
                  </a:lnTo>
                  <a:lnTo>
                    <a:pt x="6237236" y="5690946"/>
                  </a:lnTo>
                  <a:lnTo>
                    <a:pt x="6228169" y="5637225"/>
                  </a:lnTo>
                  <a:lnTo>
                    <a:pt x="6218669" y="5583644"/>
                  </a:lnTo>
                  <a:lnTo>
                    <a:pt x="6208750" y="5530215"/>
                  </a:lnTo>
                  <a:lnTo>
                    <a:pt x="6198413" y="5476926"/>
                  </a:lnTo>
                  <a:lnTo>
                    <a:pt x="6187668" y="5423789"/>
                  </a:lnTo>
                  <a:lnTo>
                    <a:pt x="6176492" y="5370804"/>
                  </a:lnTo>
                  <a:lnTo>
                    <a:pt x="6164910" y="5317960"/>
                  </a:lnTo>
                  <a:lnTo>
                    <a:pt x="6152908" y="5265280"/>
                  </a:lnTo>
                  <a:lnTo>
                    <a:pt x="6140501" y="5212753"/>
                  </a:lnTo>
                  <a:lnTo>
                    <a:pt x="6127686" y="5160391"/>
                  </a:lnTo>
                  <a:lnTo>
                    <a:pt x="6114453" y="5108181"/>
                  </a:lnTo>
                  <a:lnTo>
                    <a:pt x="6100826" y="5056124"/>
                  </a:lnTo>
                  <a:lnTo>
                    <a:pt x="6086792" y="5004244"/>
                  </a:lnTo>
                  <a:lnTo>
                    <a:pt x="6072352" y="4952517"/>
                  </a:lnTo>
                  <a:lnTo>
                    <a:pt x="6057506" y="4900955"/>
                  </a:lnTo>
                  <a:lnTo>
                    <a:pt x="6042279" y="4849571"/>
                  </a:lnTo>
                  <a:lnTo>
                    <a:pt x="6026632" y="4798352"/>
                  </a:lnTo>
                  <a:lnTo>
                    <a:pt x="6010605" y="4747298"/>
                  </a:lnTo>
                  <a:lnTo>
                    <a:pt x="5994184" y="4696422"/>
                  </a:lnTo>
                  <a:lnTo>
                    <a:pt x="5977369" y="4645723"/>
                  </a:lnTo>
                  <a:lnTo>
                    <a:pt x="5960161" y="4595203"/>
                  </a:lnTo>
                  <a:lnTo>
                    <a:pt x="5942571" y="4544860"/>
                  </a:lnTo>
                  <a:lnTo>
                    <a:pt x="5924588" y="4494695"/>
                  </a:lnTo>
                  <a:lnTo>
                    <a:pt x="5906224" y="4444708"/>
                  </a:lnTo>
                  <a:lnTo>
                    <a:pt x="5887478" y="4394911"/>
                  </a:lnTo>
                  <a:lnTo>
                    <a:pt x="5868352" y="4345292"/>
                  </a:lnTo>
                  <a:lnTo>
                    <a:pt x="5848845" y="4295864"/>
                  </a:lnTo>
                  <a:lnTo>
                    <a:pt x="5828957" y="4246626"/>
                  </a:lnTo>
                  <a:lnTo>
                    <a:pt x="5808700" y="4197578"/>
                  </a:lnTo>
                  <a:lnTo>
                    <a:pt x="5788063" y="4148721"/>
                  </a:lnTo>
                  <a:lnTo>
                    <a:pt x="5767044" y="4100055"/>
                  </a:lnTo>
                  <a:lnTo>
                    <a:pt x="5745670" y="4051579"/>
                  </a:lnTo>
                  <a:lnTo>
                    <a:pt x="5723928" y="4003319"/>
                  </a:lnTo>
                  <a:lnTo>
                    <a:pt x="5701804" y="3955250"/>
                  </a:lnTo>
                  <a:lnTo>
                    <a:pt x="5679325" y="3907371"/>
                  </a:lnTo>
                  <a:lnTo>
                    <a:pt x="5656491" y="3859707"/>
                  </a:lnTo>
                  <a:lnTo>
                    <a:pt x="5633288" y="3812248"/>
                  </a:lnTo>
                  <a:lnTo>
                    <a:pt x="5609717" y="3764991"/>
                  </a:lnTo>
                  <a:lnTo>
                    <a:pt x="5585790" y="3717937"/>
                  </a:lnTo>
                  <a:lnTo>
                    <a:pt x="5561520" y="3671100"/>
                  </a:lnTo>
                  <a:lnTo>
                    <a:pt x="5536882" y="3624478"/>
                  </a:lnTo>
                  <a:lnTo>
                    <a:pt x="5511901" y="3578060"/>
                  </a:lnTo>
                  <a:lnTo>
                    <a:pt x="5486552" y="3531857"/>
                  </a:lnTo>
                  <a:lnTo>
                    <a:pt x="5460873" y="3485870"/>
                  </a:lnTo>
                  <a:lnTo>
                    <a:pt x="5434838" y="3440112"/>
                  </a:lnTo>
                  <a:lnTo>
                    <a:pt x="5408460" y="3394570"/>
                  </a:lnTo>
                  <a:lnTo>
                    <a:pt x="5381726" y="3349244"/>
                  </a:lnTo>
                  <a:lnTo>
                    <a:pt x="5354663" y="3304146"/>
                  </a:lnTo>
                  <a:lnTo>
                    <a:pt x="5327256" y="3259277"/>
                  </a:lnTo>
                  <a:lnTo>
                    <a:pt x="5299507" y="3214624"/>
                  </a:lnTo>
                  <a:lnTo>
                    <a:pt x="5271427" y="3170212"/>
                  </a:lnTo>
                  <a:lnTo>
                    <a:pt x="5243004" y="3126028"/>
                  </a:lnTo>
                  <a:lnTo>
                    <a:pt x="5214251" y="3082074"/>
                  </a:lnTo>
                  <a:lnTo>
                    <a:pt x="5185168" y="3038348"/>
                  </a:lnTo>
                  <a:lnTo>
                    <a:pt x="5155755" y="2994863"/>
                  </a:lnTo>
                  <a:lnTo>
                    <a:pt x="5126012" y="2951619"/>
                  </a:lnTo>
                  <a:lnTo>
                    <a:pt x="5095951" y="2908617"/>
                  </a:lnTo>
                  <a:lnTo>
                    <a:pt x="5065547" y="2865844"/>
                  </a:lnTo>
                  <a:lnTo>
                    <a:pt x="5034839" y="2823324"/>
                  </a:lnTo>
                  <a:lnTo>
                    <a:pt x="5003800" y="2781046"/>
                  </a:lnTo>
                  <a:lnTo>
                    <a:pt x="4972443" y="2739021"/>
                  </a:lnTo>
                  <a:lnTo>
                    <a:pt x="4940770" y="2697238"/>
                  </a:lnTo>
                  <a:lnTo>
                    <a:pt x="4908778" y="2655697"/>
                  </a:lnTo>
                  <a:lnTo>
                    <a:pt x="4876470" y="2614422"/>
                  </a:lnTo>
                  <a:lnTo>
                    <a:pt x="4843856" y="2573388"/>
                  </a:lnTo>
                  <a:lnTo>
                    <a:pt x="4810925" y="2532621"/>
                  </a:lnTo>
                  <a:lnTo>
                    <a:pt x="4777689" y="2492095"/>
                  </a:lnTo>
                  <a:lnTo>
                    <a:pt x="4744148" y="2451836"/>
                  </a:lnTo>
                  <a:lnTo>
                    <a:pt x="4710303" y="2411844"/>
                  </a:lnTo>
                  <a:lnTo>
                    <a:pt x="4676152" y="2372106"/>
                  </a:lnTo>
                  <a:lnTo>
                    <a:pt x="4641697" y="2332634"/>
                  </a:lnTo>
                  <a:lnTo>
                    <a:pt x="4606950" y="2293429"/>
                  </a:lnTo>
                  <a:lnTo>
                    <a:pt x="4571898" y="2254491"/>
                  </a:lnTo>
                  <a:lnTo>
                    <a:pt x="4536541" y="2215819"/>
                  </a:lnTo>
                  <a:lnTo>
                    <a:pt x="4500905" y="2177427"/>
                  </a:lnTo>
                  <a:lnTo>
                    <a:pt x="4464964" y="2139302"/>
                  </a:lnTo>
                  <a:lnTo>
                    <a:pt x="4428744" y="2101443"/>
                  </a:lnTo>
                  <a:lnTo>
                    <a:pt x="4392231" y="2063877"/>
                  </a:lnTo>
                  <a:lnTo>
                    <a:pt x="4355427" y="2026577"/>
                  </a:lnTo>
                  <a:lnTo>
                    <a:pt x="4318330" y="1989556"/>
                  </a:lnTo>
                  <a:lnTo>
                    <a:pt x="4280954" y="1952815"/>
                  </a:lnTo>
                  <a:lnTo>
                    <a:pt x="4243298" y="1916366"/>
                  </a:lnTo>
                  <a:lnTo>
                    <a:pt x="4205363" y="1880196"/>
                  </a:lnTo>
                  <a:lnTo>
                    <a:pt x="4167149" y="1844319"/>
                  </a:lnTo>
                  <a:lnTo>
                    <a:pt x="4128655" y="1808721"/>
                  </a:lnTo>
                  <a:lnTo>
                    <a:pt x="4089895" y="1773415"/>
                  </a:lnTo>
                  <a:lnTo>
                    <a:pt x="4050855" y="1738414"/>
                  </a:lnTo>
                  <a:lnTo>
                    <a:pt x="4011536" y="1703692"/>
                  </a:lnTo>
                  <a:lnTo>
                    <a:pt x="3971963" y="1669275"/>
                  </a:lnTo>
                  <a:lnTo>
                    <a:pt x="3932110" y="1635137"/>
                  </a:lnTo>
                  <a:lnTo>
                    <a:pt x="3891991" y="1601317"/>
                  </a:lnTo>
                  <a:lnTo>
                    <a:pt x="3851605" y="1567789"/>
                  </a:lnTo>
                  <a:lnTo>
                    <a:pt x="3810965" y="1534566"/>
                  </a:lnTo>
                  <a:lnTo>
                    <a:pt x="3770058" y="1501648"/>
                  </a:lnTo>
                  <a:lnTo>
                    <a:pt x="3728897" y="1469034"/>
                  </a:lnTo>
                  <a:lnTo>
                    <a:pt x="3687470" y="1436725"/>
                  </a:lnTo>
                  <a:lnTo>
                    <a:pt x="3645789" y="1404734"/>
                  </a:lnTo>
                  <a:lnTo>
                    <a:pt x="3603866" y="1373047"/>
                  </a:lnTo>
                  <a:lnTo>
                    <a:pt x="3561677" y="1341666"/>
                  </a:lnTo>
                  <a:lnTo>
                    <a:pt x="3519246" y="1310614"/>
                  </a:lnTo>
                  <a:lnTo>
                    <a:pt x="3476561" y="1279867"/>
                  </a:lnTo>
                  <a:lnTo>
                    <a:pt x="3433622" y="1249451"/>
                  </a:lnTo>
                  <a:lnTo>
                    <a:pt x="3390455" y="1219339"/>
                  </a:lnTo>
                  <a:lnTo>
                    <a:pt x="3347034" y="1189558"/>
                  </a:lnTo>
                  <a:lnTo>
                    <a:pt x="3303371" y="1160106"/>
                  </a:lnTo>
                  <a:lnTo>
                    <a:pt x="3259467" y="1130973"/>
                  </a:lnTo>
                  <a:lnTo>
                    <a:pt x="3215322" y="1102156"/>
                  </a:lnTo>
                  <a:lnTo>
                    <a:pt x="3170948" y="1073683"/>
                  </a:lnTo>
                  <a:lnTo>
                    <a:pt x="3126346" y="1045527"/>
                  </a:lnTo>
                  <a:lnTo>
                    <a:pt x="3081502" y="1017714"/>
                  </a:lnTo>
                  <a:lnTo>
                    <a:pt x="3036417" y="990231"/>
                  </a:lnTo>
                  <a:lnTo>
                    <a:pt x="2991116" y="963091"/>
                  </a:lnTo>
                  <a:lnTo>
                    <a:pt x="2945587" y="936282"/>
                  </a:lnTo>
                  <a:lnTo>
                    <a:pt x="2899829" y="909802"/>
                  </a:lnTo>
                  <a:lnTo>
                    <a:pt x="2853842" y="883678"/>
                  </a:lnTo>
                  <a:lnTo>
                    <a:pt x="2807639" y="857885"/>
                  </a:lnTo>
                  <a:lnTo>
                    <a:pt x="2714574" y="807351"/>
                  </a:lnTo>
                  <a:lnTo>
                    <a:pt x="2620645" y="758202"/>
                  </a:lnTo>
                  <a:lnTo>
                    <a:pt x="2525852" y="710463"/>
                  </a:lnTo>
                  <a:lnTo>
                    <a:pt x="2430221" y="664133"/>
                  </a:lnTo>
                  <a:lnTo>
                    <a:pt x="2333764" y="619239"/>
                  </a:lnTo>
                  <a:lnTo>
                    <a:pt x="2236508" y="575792"/>
                  </a:lnTo>
                  <a:lnTo>
                    <a:pt x="2138438" y="533819"/>
                  </a:lnTo>
                  <a:lnTo>
                    <a:pt x="2039594" y="493306"/>
                  </a:lnTo>
                  <a:lnTo>
                    <a:pt x="1939975" y="454291"/>
                  </a:lnTo>
                  <a:lnTo>
                    <a:pt x="1839607" y="416775"/>
                  </a:lnTo>
                  <a:lnTo>
                    <a:pt x="1738490" y="380771"/>
                  </a:lnTo>
                  <a:lnTo>
                    <a:pt x="1636649" y="346303"/>
                  </a:lnTo>
                  <a:lnTo>
                    <a:pt x="1534096" y="313385"/>
                  </a:lnTo>
                  <a:lnTo>
                    <a:pt x="1430858" y="282016"/>
                  </a:lnTo>
                  <a:lnTo>
                    <a:pt x="1326921" y="252222"/>
                  </a:lnTo>
                  <a:lnTo>
                    <a:pt x="1222311" y="224028"/>
                  </a:lnTo>
                  <a:lnTo>
                    <a:pt x="1117053" y="197421"/>
                  </a:lnTo>
                  <a:lnTo>
                    <a:pt x="1011148" y="172427"/>
                  </a:lnTo>
                  <a:lnTo>
                    <a:pt x="904621" y="149072"/>
                  </a:lnTo>
                  <a:lnTo>
                    <a:pt x="797471" y="127355"/>
                  </a:lnTo>
                  <a:lnTo>
                    <a:pt x="689724" y="107302"/>
                  </a:lnTo>
                  <a:lnTo>
                    <a:pt x="581393" y="88912"/>
                  </a:lnTo>
                  <a:lnTo>
                    <a:pt x="472490" y="72212"/>
                  </a:lnTo>
                  <a:lnTo>
                    <a:pt x="363042" y="57200"/>
                  </a:lnTo>
                  <a:lnTo>
                    <a:pt x="253034" y="43916"/>
                  </a:lnTo>
                  <a:lnTo>
                    <a:pt x="142506" y="32346"/>
                  </a:lnTo>
                  <a:lnTo>
                    <a:pt x="31457" y="22529"/>
                  </a:lnTo>
                  <a:lnTo>
                    <a:pt x="0" y="20116"/>
                  </a:lnTo>
                  <a:lnTo>
                    <a:pt x="0" y="6858000"/>
                  </a:lnTo>
                  <a:lnTo>
                    <a:pt x="6325336" y="6858000"/>
                  </a:lnTo>
                  <a:lnTo>
                    <a:pt x="6325679" y="6841680"/>
                  </a:lnTo>
                  <a:lnTo>
                    <a:pt x="6326238" y="6825399"/>
                  </a:lnTo>
                  <a:lnTo>
                    <a:pt x="6326759" y="6809118"/>
                  </a:lnTo>
                  <a:lnTo>
                    <a:pt x="6327000" y="6792760"/>
                  </a:lnTo>
                  <a:close/>
                </a:path>
                <a:path w="9144000" h="6858000">
                  <a:moveTo>
                    <a:pt x="9144000" y="597674"/>
                  </a:moveTo>
                  <a:lnTo>
                    <a:pt x="9094508" y="575792"/>
                  </a:lnTo>
                  <a:lnTo>
                    <a:pt x="9045575" y="554621"/>
                  </a:lnTo>
                  <a:lnTo>
                    <a:pt x="8996439" y="533819"/>
                  </a:lnTo>
                  <a:lnTo>
                    <a:pt x="8947112" y="513372"/>
                  </a:lnTo>
                  <a:lnTo>
                    <a:pt x="8897595" y="493306"/>
                  </a:lnTo>
                  <a:lnTo>
                    <a:pt x="8847874" y="473608"/>
                  </a:lnTo>
                  <a:lnTo>
                    <a:pt x="8797976" y="454291"/>
                  </a:lnTo>
                  <a:lnTo>
                    <a:pt x="8747887" y="435343"/>
                  </a:lnTo>
                  <a:lnTo>
                    <a:pt x="8697608" y="416775"/>
                  </a:lnTo>
                  <a:lnTo>
                    <a:pt x="8647138" y="398576"/>
                  </a:lnTo>
                  <a:lnTo>
                    <a:pt x="8596490" y="380771"/>
                  </a:lnTo>
                  <a:lnTo>
                    <a:pt x="8545665" y="363347"/>
                  </a:lnTo>
                  <a:lnTo>
                    <a:pt x="8494649" y="346303"/>
                  </a:lnTo>
                  <a:lnTo>
                    <a:pt x="8443468" y="329653"/>
                  </a:lnTo>
                  <a:lnTo>
                    <a:pt x="8392096" y="313385"/>
                  </a:lnTo>
                  <a:lnTo>
                    <a:pt x="8340560" y="297510"/>
                  </a:lnTo>
                  <a:lnTo>
                    <a:pt x="8288858" y="282016"/>
                  </a:lnTo>
                  <a:lnTo>
                    <a:pt x="8236966" y="266928"/>
                  </a:lnTo>
                  <a:lnTo>
                    <a:pt x="8184921" y="252222"/>
                  </a:lnTo>
                  <a:lnTo>
                    <a:pt x="8132699" y="237921"/>
                  </a:lnTo>
                  <a:lnTo>
                    <a:pt x="8080311" y="224028"/>
                  </a:lnTo>
                  <a:lnTo>
                    <a:pt x="8027759" y="210527"/>
                  </a:lnTo>
                  <a:lnTo>
                    <a:pt x="7975054" y="197421"/>
                  </a:lnTo>
                  <a:lnTo>
                    <a:pt x="7922184" y="184721"/>
                  </a:lnTo>
                  <a:lnTo>
                    <a:pt x="7869148" y="172427"/>
                  </a:lnTo>
                  <a:lnTo>
                    <a:pt x="7815961" y="160553"/>
                  </a:lnTo>
                  <a:lnTo>
                    <a:pt x="7762621" y="149072"/>
                  </a:lnTo>
                  <a:lnTo>
                    <a:pt x="7709116" y="138010"/>
                  </a:lnTo>
                  <a:lnTo>
                    <a:pt x="7655471" y="127355"/>
                  </a:lnTo>
                  <a:lnTo>
                    <a:pt x="7601674" y="117119"/>
                  </a:lnTo>
                  <a:lnTo>
                    <a:pt x="7547724" y="107302"/>
                  </a:lnTo>
                  <a:lnTo>
                    <a:pt x="7493635" y="97891"/>
                  </a:lnTo>
                  <a:lnTo>
                    <a:pt x="7439393" y="88912"/>
                  </a:lnTo>
                  <a:lnTo>
                    <a:pt x="7385012" y="80352"/>
                  </a:lnTo>
                  <a:lnTo>
                    <a:pt x="7330491" y="72212"/>
                  </a:lnTo>
                  <a:lnTo>
                    <a:pt x="7275830" y="64490"/>
                  </a:lnTo>
                  <a:lnTo>
                    <a:pt x="7221042" y="57200"/>
                  </a:lnTo>
                  <a:lnTo>
                    <a:pt x="7166102" y="50342"/>
                  </a:lnTo>
                  <a:lnTo>
                    <a:pt x="7111035" y="43916"/>
                  </a:lnTo>
                  <a:lnTo>
                    <a:pt x="7055840" y="37909"/>
                  </a:lnTo>
                  <a:lnTo>
                    <a:pt x="7000507" y="32346"/>
                  </a:lnTo>
                  <a:lnTo>
                    <a:pt x="6945046" y="27216"/>
                  </a:lnTo>
                  <a:lnTo>
                    <a:pt x="6889458" y="22529"/>
                  </a:lnTo>
                  <a:lnTo>
                    <a:pt x="6833743" y="18275"/>
                  </a:lnTo>
                  <a:lnTo>
                    <a:pt x="6777914" y="14452"/>
                  </a:lnTo>
                  <a:lnTo>
                    <a:pt x="6721957" y="11087"/>
                  </a:lnTo>
                  <a:lnTo>
                    <a:pt x="6665874" y="8153"/>
                  </a:lnTo>
                  <a:lnTo>
                    <a:pt x="6609677" y="5676"/>
                  </a:lnTo>
                  <a:lnTo>
                    <a:pt x="6553365" y="3632"/>
                  </a:lnTo>
                  <a:lnTo>
                    <a:pt x="6496939" y="2057"/>
                  </a:lnTo>
                  <a:lnTo>
                    <a:pt x="6440398" y="914"/>
                  </a:lnTo>
                  <a:lnTo>
                    <a:pt x="6383756" y="228"/>
                  </a:lnTo>
                  <a:lnTo>
                    <a:pt x="6327000" y="0"/>
                  </a:lnTo>
                  <a:lnTo>
                    <a:pt x="6327000" y="6792760"/>
                  </a:lnTo>
                  <a:lnTo>
                    <a:pt x="6327000" y="6858000"/>
                  </a:lnTo>
                  <a:lnTo>
                    <a:pt x="9144000" y="6858000"/>
                  </a:lnTo>
                  <a:lnTo>
                    <a:pt x="9144000" y="597674"/>
                  </a:lnTo>
                  <a:close/>
                </a:path>
              </a:pathLst>
            </a:custGeom>
            <a:solidFill>
              <a:srgbClr val="F2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4">
              <a:extLst>
                <a:ext uri="{FF2B5EF4-FFF2-40B4-BE49-F238E27FC236}">
                  <a16:creationId xmlns:a16="http://schemas.microsoft.com/office/drawing/2014/main" id="{BF9585A3-F81B-AAF2-9C5E-630AF594B21B}"/>
                </a:ext>
              </a:extLst>
            </p:cNvPr>
            <p:cNvSpPr/>
            <p:nvPr/>
          </p:nvSpPr>
          <p:spPr>
            <a:xfrm>
              <a:off x="540000" y="2944145"/>
              <a:ext cx="0" cy="1086485"/>
            </a:xfrm>
            <a:custGeom>
              <a:avLst/>
              <a:gdLst/>
              <a:ahLst/>
              <a:cxnLst/>
              <a:rect l="l" t="t" r="r" b="b"/>
              <a:pathLst>
                <a:path h="1086485">
                  <a:moveTo>
                    <a:pt x="0" y="0"/>
                  </a:moveTo>
                  <a:lnTo>
                    <a:pt x="0" y="1086408"/>
                  </a:lnTo>
                </a:path>
              </a:pathLst>
            </a:custGeom>
            <a:ln w="12700">
              <a:solidFill>
                <a:srgbClr val="0030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Titre 23">
            <a:extLst>
              <a:ext uri="{FF2B5EF4-FFF2-40B4-BE49-F238E27FC236}">
                <a16:creationId xmlns:a16="http://schemas.microsoft.com/office/drawing/2014/main" id="{1E10B626-33A5-4836-7746-0216178544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3" y="2152673"/>
            <a:ext cx="6095999" cy="925737"/>
          </a:xfrm>
        </p:spPr>
        <p:txBody>
          <a:bodyPr anchor="ctr" anchorCtr="0">
            <a:noAutofit/>
          </a:bodyPr>
          <a:lstStyle>
            <a:lvl1pPr>
              <a:defRPr sz="3000" b="1"/>
            </a:lvl1pPr>
          </a:lstStyle>
          <a:p>
            <a:r>
              <a:rPr lang="fr-FR"/>
              <a:t>Modifiez le style </a:t>
            </a:r>
            <a:br>
              <a:rPr lang="fr-FR"/>
            </a:br>
            <a:r>
              <a:rPr lang="fr-FR"/>
              <a:t>du titre</a:t>
            </a:r>
          </a:p>
        </p:txBody>
      </p:sp>
      <p:pic>
        <p:nvPicPr>
          <p:cNvPr id="2" name="Image 1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9D7921E3-2D57-B36C-B70D-E7E8A6643E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53" y="539991"/>
            <a:ext cx="1123353" cy="315087"/>
          </a:xfrm>
          <a:prstGeom prst="rect">
            <a:avLst/>
          </a:prstGeom>
        </p:spPr>
      </p:pic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397EEB30-9265-4C06-98E2-6D60BF6DFF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D80F946F-E1DC-ED38-C4B3-D51ECAF5FB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9375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18317" y="4862628"/>
            <a:ext cx="2103120" cy="9233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r">
              <a:defRPr sz="80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8FDEB2B0-7AD4-84B8-814F-D96919921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400" y="4862628"/>
            <a:ext cx="3086100" cy="9233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>
              <a:defRPr sz="8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  <a:endParaRPr lang="fr-FR">
              <a:latin typeface="+mn-lt"/>
            </a:endParaRPr>
          </a:p>
        </p:txBody>
      </p:sp>
      <p:sp>
        <p:nvSpPr>
          <p:cNvPr id="8" name="Espace réservé du titre 7">
            <a:extLst>
              <a:ext uri="{FF2B5EF4-FFF2-40B4-BE49-F238E27FC236}">
                <a16:creationId xmlns:a16="http://schemas.microsoft.com/office/drawing/2014/main" id="{372959FE-400C-8866-ECB5-F198A92EB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438151"/>
            <a:ext cx="714375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/>
              <a:t>Cliquez ici pour modifier le titre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14BE3D37-DE88-F38B-9FCE-21CD2A5D7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2450" y="1352550"/>
            <a:ext cx="7989376" cy="32438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endParaRPr lang="fr-FR"/>
          </a:p>
        </p:txBody>
      </p:sp>
      <p:pic>
        <p:nvPicPr>
          <p:cNvPr id="45" name="Image 44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AA50E5E5-45C5-A648-51D1-CF821FE0B875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681" y="539991"/>
            <a:ext cx="602226" cy="168917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8DF0DC0C-5C8B-D596-8BA4-CE36D25D0263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2857500" y="5009649"/>
            <a:ext cx="3429000" cy="1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721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</p:sldLayoutIdLst>
  <p:hf hdr="0" dt="0"/>
  <p:txStyles>
    <p:titleStyle>
      <a:lvl1pPr>
        <a:defRPr sz="2400" b="1">
          <a:solidFill>
            <a:schemeClr val="tx2"/>
          </a:solidFill>
          <a:latin typeface="Roboto Light" panose="02000000000000000000" pitchFamily="2" charset="0"/>
          <a:ea typeface="Roboto Light" panose="02000000000000000000" pitchFamily="2" charset="0"/>
          <a:cs typeface="+mj-cs"/>
        </a:defRPr>
      </a:lvl1pPr>
    </p:titleStyle>
    <p:bodyStyle>
      <a:lvl1pPr marL="0">
        <a:defRPr sz="1400" b="0" cap="none" baseline="0">
          <a:solidFill>
            <a:schemeClr val="tx2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171446" indent="-171446">
        <a:defRPr sz="1200">
          <a:solidFill>
            <a:schemeClr val="tx2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355600" indent="-169863">
        <a:buClr>
          <a:schemeClr val="accent5"/>
        </a:buClr>
        <a:buFont typeface="Times New Roman" panose="02020603050405020304" pitchFamily="18" charset="0"/>
        <a:buChar char="→"/>
        <a:defRPr lang="fr-FR" sz="1200" b="0" cap="none" baseline="0" dirty="0">
          <a:solidFill>
            <a:schemeClr val="tx2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538163" indent="-169863">
        <a:buClr>
          <a:schemeClr val="accent5"/>
        </a:buClr>
        <a:buFont typeface="Wingdings" panose="05000000000000000000" pitchFamily="2" charset="2"/>
        <a:buChar char="ü"/>
        <a:defRPr sz="1200">
          <a:solidFill>
            <a:schemeClr val="tx2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359991">
        <a:defRPr sz="1200">
          <a:solidFill>
            <a:schemeClr val="tx2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5.xml"/><Relationship Id="rId3" Type="http://schemas.openxmlformats.org/officeDocument/2006/relationships/slide" Target="slide13.xml"/><Relationship Id="rId4" Type="http://schemas.openxmlformats.org/officeDocument/2006/relationships/slide" Target="slide20.xml"/><Relationship Id="rId5" Type="http://schemas.openxmlformats.org/officeDocument/2006/relationships/slide" Target="slide26.xml"/><Relationship Id="rId6" Type="http://schemas.openxmlformats.org/officeDocument/2006/relationships/slide" Target="slide31.xml"/><Relationship Id="rId7" Type="http://schemas.openxmlformats.org/officeDocument/2006/relationships/slide" Target="slide39.xml"/><Relationship Id="rId8" Type="http://schemas.openxmlformats.org/officeDocument/2006/relationships/slide" Target="slide48.xml"/><Relationship Id="rId9" Type="http://schemas.openxmlformats.org/officeDocument/2006/relationships/slide" Target="slide5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4.xml"/><Relationship Id="rId4" Type="http://schemas.openxmlformats.org/officeDocument/2006/relationships/slide" Target="slide21.xml"/><Relationship Id="rId5" Type="http://schemas.openxmlformats.org/officeDocument/2006/relationships/slide" Target="slide28.xml"/><Relationship Id="rId6" Type="http://schemas.openxmlformats.org/officeDocument/2006/relationships/slide" Target="slide32.xml"/><Relationship Id="rId7" Type="http://schemas.openxmlformats.org/officeDocument/2006/relationships/slide" Target="slide34.xml"/><Relationship Id="rId8" Type="http://schemas.openxmlformats.org/officeDocument/2006/relationships/slide" Target="slide41.xml"/><Relationship Id="rId9" Type="http://schemas.openxmlformats.org/officeDocument/2006/relationships/slide" Target="slide43.xml"/><Relationship Id="rId10" Type="http://schemas.openxmlformats.org/officeDocument/2006/relationships/slide" Target="slide4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g"/><Relationship Id="rId3" Type="http://schemas.openxmlformats.org/officeDocument/2006/relationships/slide" Target="slide3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slide" Target="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slide" Target="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slide" Target="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slide" Target="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slide" Target="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slide" Target="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Relationship Id="rId3" Type="http://schemas.openxmlformats.org/officeDocument/2006/relationships/slide" Target="slide3.xml"/><Relationship Id="rId4" Type="http://schemas.openxmlformats.org/officeDocument/2006/relationships/slide" Target="slide14.xml"/><Relationship Id="rId5" Type="http://schemas.openxmlformats.org/officeDocument/2006/relationships/slide" Target="slide15.xml"/><Relationship Id="rId6" Type="http://schemas.openxmlformats.org/officeDocument/2006/relationships/slide" Target="slide16.xml"/><Relationship Id="rId7" Type="http://schemas.openxmlformats.org/officeDocument/2006/relationships/slide" Target="slide17.xml"/><Relationship Id="rId8" Type="http://schemas.openxmlformats.org/officeDocument/2006/relationships/slide" Target="slide18.xml"/><Relationship Id="rId9" Type="http://schemas.openxmlformats.org/officeDocument/2006/relationships/slide" Target="slide1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slide" Target="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Relationship Id="rId3" Type="http://schemas.openxmlformats.org/officeDocument/2006/relationships/slide" Target="slide3.xml"/><Relationship Id="rId4" Type="http://schemas.openxmlformats.org/officeDocument/2006/relationships/slide" Target="slide21.xml"/><Relationship Id="rId5" Type="http://schemas.openxmlformats.org/officeDocument/2006/relationships/slide" Target="slide22.xml"/><Relationship Id="rId6" Type="http://schemas.openxmlformats.org/officeDocument/2006/relationships/slide" Target="slide23.xml"/><Relationship Id="rId7" Type="http://schemas.openxmlformats.org/officeDocument/2006/relationships/slide" Target="slide24.xml"/><Relationship Id="rId8" Type="http://schemas.openxmlformats.org/officeDocument/2006/relationships/slide" Target="slide2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slide" Target="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slide" Target="slide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slide" Target="slide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slide" Target="slide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1.jpg"/><Relationship Id="rId3" Type="http://schemas.openxmlformats.org/officeDocument/2006/relationships/slide" Target="slide3.xml"/><Relationship Id="rId4" Type="http://schemas.openxmlformats.org/officeDocument/2006/relationships/slide" Target="slide27.xml"/><Relationship Id="rId5" Type="http://schemas.openxmlformats.org/officeDocument/2006/relationships/slide" Target="slide28.xml"/><Relationship Id="rId6" Type="http://schemas.openxmlformats.org/officeDocument/2006/relationships/slide" Target="slide29.xml"/><Relationship Id="rId7" Type="http://schemas.openxmlformats.org/officeDocument/2006/relationships/slide" Target="slide3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slide" Target="slide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slide" Target="slide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slide" Target="slide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slide" Target="slide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6.jpg"/><Relationship Id="rId3" Type="http://schemas.openxmlformats.org/officeDocument/2006/relationships/slide" Target="slide3.xml"/><Relationship Id="rId4" Type="http://schemas.openxmlformats.org/officeDocument/2006/relationships/slide" Target="slide32.xml"/><Relationship Id="rId5" Type="http://schemas.openxmlformats.org/officeDocument/2006/relationships/slide" Target="slide33.xml"/><Relationship Id="rId6" Type="http://schemas.openxmlformats.org/officeDocument/2006/relationships/slide" Target="slide34.xml"/><Relationship Id="rId7" Type="http://schemas.openxmlformats.org/officeDocument/2006/relationships/slide" Target="slide35.xml"/><Relationship Id="rId8" Type="http://schemas.openxmlformats.org/officeDocument/2006/relationships/slide" Target="slide36.xml"/><Relationship Id="rId9" Type="http://schemas.openxmlformats.org/officeDocument/2006/relationships/slide" Target="slide37.xml"/><Relationship Id="rId10" Type="http://schemas.openxmlformats.org/officeDocument/2006/relationships/slide" Target="slide3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slide" Target="slide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Relationship Id="rId4" Type="http://schemas.openxmlformats.org/officeDocument/2006/relationships/slide" Target="slide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slide" Target="slide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slide" Target="slide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slide" Target="slide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Vagues1" Type="http://schemas.openxmlformats.org/officeDocument/2006/relationships/image" Target="../media/vagues-choix.jpg"/><Relationship Id="rIdVagues2" Type="http://schemas.openxmlformats.org/officeDocument/2006/relationships/image" Target="../media/vagues-partielle.jpg"/><Relationship Id="rId3" Type="http://schemas.openxmlformats.org/officeDocument/2006/relationships/slide" Target="slide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jpg"/><Relationship Id="rId3" Type="http://schemas.openxmlformats.org/officeDocument/2006/relationships/slide" Target="slide3.xml"/><Relationship Id="rId4" Type="http://schemas.openxmlformats.org/officeDocument/2006/relationships/slide" Target="slide40.xml"/><Relationship Id="rId5" Type="http://schemas.openxmlformats.org/officeDocument/2006/relationships/slide" Target="slide41.xml"/><Relationship Id="rId6" Type="http://schemas.openxmlformats.org/officeDocument/2006/relationships/slide" Target="slide42.xml"/><Relationship Id="rId7" Type="http://schemas.openxmlformats.org/officeDocument/2006/relationships/slide" Target="slide43.xml"/><Relationship Id="rId8" Type="http://schemas.openxmlformats.org/officeDocument/2006/relationships/slide" Target="slide44.xml"/><Relationship Id="rId9" Type="http://schemas.openxmlformats.org/officeDocument/2006/relationships/slide" Target="slide45.xml"/><Relationship Id="rId10" Type="http://schemas.openxmlformats.org/officeDocument/2006/relationships/slide" Target="slide46.xml"/><Relationship Id="rId11" Type="http://schemas.openxmlformats.org/officeDocument/2006/relationships/slide" Target="slide4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slide" Target="slide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slide" Target="slide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slide" Target="slide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slide" Target="slide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image" Target="../media/image51.jpg"/><Relationship Id="rId4" Type="http://schemas.openxmlformats.org/officeDocument/2006/relationships/slide" Target="slide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jpg"/><Relationship Id="rId4" Type="http://schemas.openxmlformats.org/officeDocument/2006/relationships/slide" Target="slide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slide" Target="slide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slide" Target="slide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6.jpg"/><Relationship Id="rId3" Type="http://schemas.openxmlformats.org/officeDocument/2006/relationships/slide" Target="slide3.xml"/><Relationship Id="rId4" Type="http://schemas.openxmlformats.org/officeDocument/2006/relationships/slide" Target="slide49.xml"/><Relationship Id="rId5" Type="http://schemas.openxmlformats.org/officeDocument/2006/relationships/slide" Target="slide50.xml"/><Relationship Id="rId6" Type="http://schemas.openxmlformats.org/officeDocument/2006/relationships/slide" Target="slide5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slide" Target="slide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image" Target="../media/image59.jpg"/><Relationship Id="rId4" Type="http://schemas.openxmlformats.org/officeDocument/2006/relationships/image" Target="../media/image60.jpg"/><Relationship Id="rId5" Type="http://schemas.openxmlformats.org/officeDocument/2006/relationships/slide" Target="slide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image" Target="../media/image62.jpg"/><Relationship Id="rId4" Type="http://schemas.openxmlformats.org/officeDocument/2006/relationships/slide" Target="slide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" Target="slide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2.xml"/><Relationship Id="rId4" Type="http://schemas.openxmlformats.org/officeDocument/2006/relationships/slide" Target="slide14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5.xml"/><Relationship Id="rId10" Type="http://schemas.openxmlformats.org/officeDocument/2006/relationships/slide" Target="slide16.xml"/><Relationship Id="rId11" Type="http://schemas.openxmlformats.org/officeDocument/2006/relationships/slide" Target="slide22.xml"/><Relationship Id="rId12" Type="http://schemas.openxmlformats.org/officeDocument/2006/relationships/slide" Target="slide23.xml"/><Relationship Id="rId13" Type="http://schemas.openxmlformats.org/officeDocument/2006/relationships/slide" Target="slide2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8.xml"/><Relationship Id="rId4" Type="http://schemas.openxmlformats.org/officeDocument/2006/relationships/slide" Target="slide30.xml"/><Relationship Id="rId5" Type="http://schemas.openxmlformats.org/officeDocument/2006/relationships/slide" Target="slide32.xml"/><Relationship Id="rId6" Type="http://schemas.openxmlformats.org/officeDocument/2006/relationships/slide" Target="slide33.xml"/><Relationship Id="rId7" Type="http://schemas.openxmlformats.org/officeDocument/2006/relationships/slide" Target="slide35.xml"/><Relationship Id="rId8" Type="http://schemas.openxmlformats.org/officeDocument/2006/relationships/slide" Target="slide37.xml"/><Relationship Id="rId9" Type="http://schemas.openxmlformats.org/officeDocument/2006/relationships/slide" Target="slide34.xml"/><Relationship Id="rId10" Type="http://schemas.openxmlformats.org/officeDocument/2006/relationships/slide" Target="slide41.xml"/><Relationship Id="rId11" Type="http://schemas.openxmlformats.org/officeDocument/2006/relationships/slide" Target="slide42.xml"/><Relationship Id="rId12" Type="http://schemas.openxmlformats.org/officeDocument/2006/relationships/slide" Target="slide43.xml"/><Relationship Id="rId13" Type="http://schemas.openxmlformats.org/officeDocument/2006/relationships/slide" Target="slide4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6.xml"/><Relationship Id="rId4" Type="http://schemas.openxmlformats.org/officeDocument/2006/relationships/slide" Target="slide47.xml"/><Relationship Id="rId5" Type="http://schemas.openxmlformats.org/officeDocument/2006/relationships/slide" Target="slide49.xml"/><Relationship Id="rId6" Type="http://schemas.openxmlformats.org/officeDocument/2006/relationships/slide" Target="slide5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Navigator</a:t>
            </a:r>
          </a:p>
          <a:p>
            <a:r>
              <a:t>Manuel du chef de projet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Guide complet d’utilisation · Octobre 2026</a:t>
            </a:r>
          </a:p>
        </p:txBody>
      </p:sp>
      <p:pic>
        <p:nvPicPr>
          <p:cNvPr id="4" name="Picture Placeholder 3" descr="cover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105" b="105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Comment utiliser ce manuel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Project Navigator · Manuel du chef de projet</a:t>
            </a:r>
          </a:p>
        </p:txBody>
      </p:sp>
      <p:sp>
        <p:nvSpPr>
          <p:cNvPr id="5" name="TextBox 4">
            <a:hlinkClick action="ppaction://hlinksldjump" r:id="rId2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573"/>
                </a:solidFill>
                <a:latin typeface="Roboto"/>
              </a:rPr>
              <a:t>Ce manuel suit la vie d’un projet, de la première connexion au lancement. Il se lit dans l’ordre la première fois, puis se consulte au besoin.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542032" cy="17830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956816"/>
            <a:ext cx="22494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059"/>
                </a:solidFill>
                <a:latin typeface="Roboto"/>
              </a:rPr>
              <a:t>Trouver une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231136"/>
            <a:ext cx="2249424" cy="1289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Le sommaire et chaque intercalaire de partie sont cliquables : un clic sur un titre ouvre la page. Le lien « ← Sommaire », en haut à droite de chaque page, ramène au sommaire.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1828800"/>
            <a:ext cx="2542032" cy="17830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856" y="1956816"/>
            <a:ext cx="22494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059"/>
                </a:solidFill>
                <a:latin typeface="Roboto"/>
              </a:rPr>
              <a:t>Lire une capture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2231136"/>
            <a:ext cx="2249424" cy="1289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Les pastilles rouges numérotées sur les captures renvoient à la légende de la même couleur, à côté de l’image : ① sur la capture = ① dans le texte.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98464" y="1828800"/>
            <a:ext cx="2542032" cy="17830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956816"/>
            <a:ext cx="22494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059"/>
                </a:solidFill>
                <a:latin typeface="Roboto"/>
              </a:rPr>
              <a:t>Chercher une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2231136"/>
            <a:ext cx="2249424" cy="1289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L’annexe « Je veux… » liste les gestes courants avec l’endroit où cliquer et la page qui les détaille. Les statuts et badges sont expliqués dans l’annexe dédiée.</a:t>
            </a:r>
          </a:p>
        </p:txBody>
      </p:sp>
      <p:sp>
        <p:nvSpPr>
          <p:cNvPr id="16" name="Oval 15"/>
          <p:cNvSpPr/>
          <p:nvPr/>
        </p:nvSpPr>
        <p:spPr>
          <a:xfrm>
            <a:off x="2788920" y="170078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5513832" y="170078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8238744" y="170078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40480"/>
            <a:ext cx="8046720" cy="566928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0233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Les libellés entre « guillemets » </a:t>
            </a:r>
            <a:r>
              <a:rPr sz="1050" b="0" i="0">
                <a:solidFill>
                  <a:srgbClr val="003059"/>
                </a:solidFill>
                <a:latin typeface="Roboto"/>
              </a:rPr>
              <a:t>sont ceux affichés à l’écran : cherchez exactement ce texte.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hlinkClick action="ppaction://hlinksldjump" r:id="rId2"/>
          </p:cNvPr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Prendre en main l’outil</a:t>
            </a:r>
          </a:p>
        </p:txBody>
      </p:sp>
      <p:sp>
        <p:nvSpPr>
          <p:cNvPr id="3" name="Text Placeholder 2">
            <a:hlinkClick action="ppaction://hlinksldjump" r:id="rId2"/>
          </p:cNvPr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4" name="Text Placeholder 3">
            <a:hlinkClick action="ppaction://hlinksldjump" r:id="rId3"/>
          </p:cNvPr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Décrire son projet</a:t>
            </a:r>
          </a:p>
        </p:txBody>
      </p:sp>
      <p:sp>
        <p:nvSpPr>
          <p:cNvPr id="5" name="Text Placeholder 4">
            <a:hlinkClick action="ppaction://hlinksldjump" r:id="rId3"/>
          </p:cNvPr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13</a:t>
            </a:r>
          </a:p>
        </p:txBody>
      </p:sp>
      <p:sp>
        <p:nvSpPr>
          <p:cNvPr id="6" name="Text Placeholder 5">
            <a:hlinkClick action="ppaction://hlinksldjump" r:id="rId4"/>
          </p:cNvPr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La vitrine du projet</a:t>
            </a:r>
          </a:p>
        </p:txBody>
      </p:sp>
      <p:sp>
        <p:nvSpPr>
          <p:cNvPr id="7" name="Text Placeholder 6">
            <a:hlinkClick action="ppaction://hlinksldjump" r:id="rId4"/>
          </p:cNvPr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</a:t>
            </a:r>
          </a:p>
        </p:txBody>
      </p:sp>
      <p:sp>
        <p:nvSpPr>
          <p:cNvPr id="8" name="Text Placeholder 7">
            <a:hlinkClick action="ppaction://hlinksldjump" r:id="rId5"/>
          </p:cNvPr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Présenter et recueillir des avis</a:t>
            </a:r>
          </a:p>
        </p:txBody>
      </p:sp>
      <p:sp>
        <p:nvSpPr>
          <p:cNvPr id="9" name="Text Placeholder 8">
            <a:hlinkClick action="ppaction://hlinksldjump" r:id="rId5"/>
          </p:cNvPr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26</a:t>
            </a:r>
          </a:p>
        </p:txBody>
      </p:sp>
      <p:sp>
        <p:nvSpPr>
          <p:cNvPr id="10" name="Text Placeholder 9">
            <a:hlinkClick action="ppaction://hlinksldjump" r:id="rId6"/>
          </p:cNvPr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Les enjeux et la soumission</a:t>
            </a:r>
          </a:p>
        </p:txBody>
      </p:sp>
      <p:sp>
        <p:nvSpPr>
          <p:cNvPr id="11" name="Text Placeholder 10">
            <a:hlinkClick action="ppaction://hlinksldjump" r:id="rId6"/>
          </p:cNvPr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31</a:t>
            </a:r>
          </a:p>
        </p:txBody>
      </p:sp>
      <p:sp>
        <p:nvSpPr>
          <p:cNvPr id="12" name="Text Placeholder 11">
            <a:hlinkClick action="ppaction://hlinksldjump" r:id="rId7"/>
          </p:cNvPr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Après la soumission</a:t>
            </a:r>
          </a:p>
        </p:txBody>
      </p:sp>
      <p:sp>
        <p:nvSpPr>
          <p:cNvPr id="13" name="Text Placeholder 12">
            <a:hlinkClick action="ppaction://hlinksldjump" r:id="rId7"/>
          </p:cNvPr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39</a:t>
            </a:r>
          </a:p>
        </p:txBody>
      </p:sp>
      <p:sp>
        <p:nvSpPr>
          <p:cNvPr id="14" name="Text Placeholder 13">
            <a:hlinkClick action="ppaction://hlinksldjump" r:id="rId8"/>
          </p:cNvPr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Inspiration et aide</a:t>
            </a:r>
          </a:p>
        </p:txBody>
      </p:sp>
      <p:sp>
        <p:nvSpPr>
          <p:cNvPr id="15" name="Text Placeholder 14">
            <a:hlinkClick action="ppaction://hlinksldjump" r:id="rId8"/>
          </p:cNvPr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48</a:t>
            </a:r>
          </a:p>
        </p:txBody>
      </p:sp>
      <p:sp>
        <p:nvSpPr>
          <p:cNvPr id="16" name="Text Placeholder 15">
            <a:hlinkClick action="ppaction://hlinksldjump" r:id="rId9"/>
          </p:cNvPr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Annexes</a:t>
            </a:r>
          </a:p>
        </p:txBody>
      </p:sp>
      <p:sp>
        <p:nvSpPr>
          <p:cNvPr id="17" name="Text Placeholder 16">
            <a:hlinkClick action="ppaction://hlinksldjump" r:id="rId9"/>
          </p:cNvPr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t>52</a:t>
            </a:r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Sommaire</a:t>
            </a:r>
          </a:p>
        </p:txBody>
      </p:sp>
      <p:sp>
        <p:nvSpPr>
          <p:cNvPr id="125" name="Espace réservé du pied de page 124">
            <a:extLst>
              <a:ext uri="{FF2B5EF4-FFF2-40B4-BE49-F238E27FC236}">
                <a16:creationId xmlns:a16="http://schemas.microsoft.com/office/drawing/2014/main" id="{BF974446-D450-AF9B-B7CA-62F468FED316}"/>
              </a:ext>
            </a:extLst>
          </p:cNvPr>
          <p:cNvSpPr>
            <a:spLocks noGrp="1"/>
          </p:cNvSpPr>
          <p:nvPr userDrawn="1">
            <p:ph type="ftr" sz="quarter" idx="28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Project Navigator · Manuel du chef de projet</a:t>
            </a:r>
          </a:p>
        </p:txBody>
      </p:sp>
      <p:sp>
        <p:nvSpPr>
          <p:cNvPr id="126" name="Espace réservé du numéro de diapositive 125">
            <a:extLst>
              <a:ext uri="{FF2B5EF4-FFF2-40B4-BE49-F238E27FC236}">
                <a16:creationId xmlns:a16="http://schemas.microsoft.com/office/drawing/2014/main" id="{7C502C72-215E-C49D-2060-58E72CA97A3B}"/>
              </a:ext>
            </a:extLst>
          </p:cNvPr>
          <p:cNvSpPr>
            <a:spLocks noGrp="1"/>
          </p:cNvSpPr>
          <p:nvPr userDrawn="1">
            <p:ph type="sldNum" sz="quarter" idx="29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127" name="TextBox 126"/>
          <p:cNvSpPr txBox="1"/>
          <p:nvPr/>
        </p:nvSpPr>
        <p:spPr>
          <a:xfrm>
            <a:off x="557784" y="42062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5B6573"/>
                </a:solidFill>
                <a:latin typeface="Roboto"/>
              </a:rPr>
              <a:t>Cliquez sur une partie pour l’ouvrir.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parcours d’un projet en un coup d’œil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Project Navigator · Manuel du chef de projet</a:t>
            </a:r>
          </a:p>
        </p:txBody>
      </p:sp>
      <p:sp>
        <p:nvSpPr>
          <p:cNvPr id="5" name="TextBox 4">
            <a:hlinkClick action="ppaction://hlinksldjump" r:id="rId2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Oval 5">
            <a:hlinkClick action="ppaction://hlinksldjump" r:id="rId3"/>
          </p:cNvPr>
          <p:cNvSpPr/>
          <p:nvPr/>
        </p:nvSpPr>
        <p:spPr>
          <a:xfrm>
            <a:off x="758951" y="1600200"/>
            <a:ext cx="585216" cy="585216"/>
          </a:xfrm>
          <a:prstGeom prst="ellipse">
            <a:avLst/>
          </a:prstGeom>
          <a:solidFill>
            <a:srgbClr val="00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62456" y="1892807"/>
            <a:ext cx="384048" cy="0"/>
          </a:xfrm>
          <a:prstGeom prst="line">
            <a:avLst/>
          </a:prstGeom>
          <a:ln w="19050">
            <a:solidFill>
              <a:srgbClr val="6BB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6071" y="2331720"/>
            <a:ext cx="950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3059"/>
                </a:solidFill>
                <a:latin typeface="Roboto"/>
              </a:rPr>
              <a:t>Créer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1" y="2606040"/>
            <a:ext cx="950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6573"/>
                </a:solidFill>
                <a:latin typeface="Roboto"/>
              </a:rPr>
              <a:t>Répondre au questionnaire</a:t>
            </a:r>
          </a:p>
        </p:txBody>
      </p:sp>
      <p:sp>
        <p:nvSpPr>
          <p:cNvPr id="10" name="Oval 9">
            <a:hlinkClick action="ppaction://hlinksldjump" r:id="rId4"/>
          </p:cNvPr>
          <p:cNvSpPr/>
          <p:nvPr/>
        </p:nvSpPr>
        <p:spPr>
          <a:xfrm>
            <a:off x="1764792" y="1600200"/>
            <a:ext cx="585216" cy="585216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68296" y="1892807"/>
            <a:ext cx="384048" cy="0"/>
          </a:xfrm>
          <a:prstGeom prst="line">
            <a:avLst/>
          </a:prstGeom>
          <a:ln w="19050">
            <a:solidFill>
              <a:srgbClr val="6BB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581912" y="2331720"/>
            <a:ext cx="950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3059"/>
                </a:solidFill>
                <a:latin typeface="Roboto"/>
              </a:rPr>
              <a:t>Mettre en récit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606040"/>
            <a:ext cx="950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6573"/>
                </a:solidFill>
                <a:latin typeface="Roboto"/>
              </a:rPr>
              <a:t>Construire la vitrine</a:t>
            </a:r>
          </a:p>
        </p:txBody>
      </p:sp>
      <p:sp>
        <p:nvSpPr>
          <p:cNvPr id="14" name="Oval 13">
            <a:hlinkClick action="ppaction://hlinksldjump" r:id="rId5"/>
          </p:cNvPr>
          <p:cNvSpPr/>
          <p:nvPr/>
        </p:nvSpPr>
        <p:spPr>
          <a:xfrm>
            <a:off x="2770632" y="1600200"/>
            <a:ext cx="585216" cy="585216"/>
          </a:xfrm>
          <a:prstGeom prst="ellipse">
            <a:avLst/>
          </a:prstGeom>
          <a:solidFill>
            <a:srgbClr val="00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74136" y="1892807"/>
            <a:ext cx="384048" cy="0"/>
          </a:xfrm>
          <a:prstGeom prst="line">
            <a:avLst/>
          </a:prstGeom>
          <a:ln w="19050">
            <a:solidFill>
              <a:srgbClr val="6BB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87752" y="2331720"/>
            <a:ext cx="950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3059"/>
                </a:solidFill>
                <a:latin typeface="Roboto"/>
              </a:rPr>
              <a:t>Faire relire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7752" y="2606040"/>
            <a:ext cx="950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6573"/>
                </a:solidFill>
                <a:latin typeface="Roboto"/>
              </a:rPr>
              <a:t>Partager, recueillir des post-its</a:t>
            </a:r>
          </a:p>
        </p:txBody>
      </p:sp>
      <p:sp>
        <p:nvSpPr>
          <p:cNvPr id="18" name="Oval 17">
            <a:hlinkClick action="ppaction://hlinksldjump" r:id="rId6"/>
          </p:cNvPr>
          <p:cNvSpPr/>
          <p:nvPr/>
        </p:nvSpPr>
        <p:spPr>
          <a:xfrm>
            <a:off x="3776472" y="1600200"/>
            <a:ext cx="585216" cy="585216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79976" y="1892807"/>
            <a:ext cx="384048" cy="0"/>
          </a:xfrm>
          <a:prstGeom prst="line">
            <a:avLst/>
          </a:prstGeom>
          <a:ln w="19050">
            <a:solidFill>
              <a:srgbClr val="6BB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593592" y="2331720"/>
            <a:ext cx="950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3059"/>
                </a:solidFill>
                <a:latin typeface="Roboto"/>
              </a:rPr>
              <a:t>Comprendre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3592" y="2606040"/>
            <a:ext cx="950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6573"/>
                </a:solidFill>
                <a:latin typeface="Roboto"/>
              </a:rPr>
              <a:t>Lire les enjeux du projet</a:t>
            </a:r>
          </a:p>
        </p:txBody>
      </p:sp>
      <p:sp>
        <p:nvSpPr>
          <p:cNvPr id="22" name="Oval 21">
            <a:hlinkClick action="ppaction://hlinksldjump" r:id="rId7"/>
          </p:cNvPr>
          <p:cNvSpPr/>
          <p:nvPr/>
        </p:nvSpPr>
        <p:spPr>
          <a:xfrm>
            <a:off x="4782312" y="1600200"/>
            <a:ext cx="585216" cy="585216"/>
          </a:xfrm>
          <a:prstGeom prst="ellipse">
            <a:avLst/>
          </a:prstGeom>
          <a:solidFill>
            <a:srgbClr val="00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85816" y="1892807"/>
            <a:ext cx="384048" cy="0"/>
          </a:xfrm>
          <a:prstGeom prst="line">
            <a:avLst/>
          </a:prstGeom>
          <a:ln w="19050">
            <a:solidFill>
              <a:srgbClr val="6BB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99432" y="2331720"/>
            <a:ext cx="950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3059"/>
                </a:solidFill>
                <a:latin typeface="Roboto"/>
              </a:rPr>
              <a:t>Soumettre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2606040"/>
            <a:ext cx="950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6573"/>
                </a:solidFill>
                <a:latin typeface="Roboto"/>
              </a:rPr>
              <a:t>Avis préliminaire ou validation</a:t>
            </a:r>
          </a:p>
        </p:txBody>
      </p:sp>
      <p:sp>
        <p:nvSpPr>
          <p:cNvPr id="26" name="Oval 25">
            <a:hlinkClick action="ppaction://hlinksldjump" r:id="rId8"/>
          </p:cNvPr>
          <p:cNvSpPr/>
          <p:nvPr/>
        </p:nvSpPr>
        <p:spPr>
          <a:xfrm>
            <a:off x="5788151" y="1600200"/>
            <a:ext cx="585216" cy="585216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91655" y="1892807"/>
            <a:ext cx="384049" cy="0"/>
          </a:xfrm>
          <a:prstGeom prst="line">
            <a:avLst/>
          </a:prstGeom>
          <a:ln w="19050">
            <a:solidFill>
              <a:srgbClr val="6BB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05272" y="2331720"/>
            <a:ext cx="950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3059"/>
                </a:solidFill>
                <a:latin typeface="Roboto"/>
              </a:rPr>
              <a:t>Échanger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5272" y="2606040"/>
            <a:ext cx="950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6573"/>
                </a:solidFill>
                <a:latin typeface="Roboto"/>
              </a:rPr>
              <a:t>Répondre aux experts</a:t>
            </a:r>
          </a:p>
        </p:txBody>
      </p:sp>
      <p:sp>
        <p:nvSpPr>
          <p:cNvPr id="30" name="Oval 29">
            <a:hlinkClick action="ppaction://hlinksldjump" r:id="rId9"/>
          </p:cNvPr>
          <p:cNvSpPr/>
          <p:nvPr/>
        </p:nvSpPr>
        <p:spPr>
          <a:xfrm>
            <a:off x="6793992" y="1600200"/>
            <a:ext cx="585216" cy="585216"/>
          </a:xfrm>
          <a:prstGeom prst="ellipse">
            <a:avLst/>
          </a:prstGeom>
          <a:solidFill>
            <a:srgbClr val="00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97496" y="1892807"/>
            <a:ext cx="384048" cy="0"/>
          </a:xfrm>
          <a:prstGeom prst="line">
            <a:avLst/>
          </a:prstGeom>
          <a:ln w="19050">
            <a:solidFill>
              <a:srgbClr val="6BB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611112" y="2331720"/>
            <a:ext cx="950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3059"/>
                </a:solidFill>
                <a:latin typeface="Roboto"/>
              </a:rPr>
              <a:t>Faire évoluer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11112" y="2606040"/>
            <a:ext cx="950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6573"/>
                </a:solidFill>
                <a:latin typeface="Roboto"/>
              </a:rPr>
              <a:t>Modifier, envoyer la mise à jour</a:t>
            </a:r>
          </a:p>
        </p:txBody>
      </p:sp>
      <p:sp>
        <p:nvSpPr>
          <p:cNvPr id="34" name="Oval 33">
            <a:hlinkClick action="ppaction://hlinksldjump" r:id="rId10"/>
          </p:cNvPr>
          <p:cNvSpPr/>
          <p:nvPr/>
        </p:nvSpPr>
        <p:spPr>
          <a:xfrm>
            <a:off x="7799832" y="1600200"/>
            <a:ext cx="585216" cy="585216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16952" y="2331720"/>
            <a:ext cx="950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3059"/>
                </a:solidFill>
                <a:latin typeface="Roboto"/>
              </a:rPr>
              <a:t>Lancer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16952" y="2606040"/>
            <a:ext cx="950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6573"/>
                </a:solidFill>
                <a:latin typeface="Roboto"/>
              </a:rPr>
              <a:t>Confirmation finale, lancement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429000"/>
            <a:ext cx="8046720" cy="11430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" y="3557016"/>
            <a:ext cx="7754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059"/>
                </a:solidFill>
                <a:latin typeface="Roboto"/>
              </a:rPr>
              <a:t>Ce qu’il faut retenir</a:t>
            </a:r>
          </a:p>
        </p:txBody>
      </p:sp>
      <p:sp>
        <p:nvSpPr>
          <p:cNvPr id="39" name="Oval 38"/>
          <p:cNvSpPr/>
          <p:nvPr/>
        </p:nvSpPr>
        <p:spPr>
          <a:xfrm>
            <a:off x="694944" y="3887343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3831336"/>
            <a:ext cx="7571232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Vous pouvez consulter la compliance avant que le projet soit terminé : c’est le rôle de l’avis préliminaire.</a:t>
            </a:r>
          </a:p>
        </p:txBody>
      </p:sp>
      <p:sp>
        <p:nvSpPr>
          <p:cNvPr id="41" name="Oval 40"/>
          <p:cNvSpPr/>
          <p:nvPr/>
        </p:nvSpPr>
        <p:spPr>
          <a:xfrm>
            <a:off x="694944" y="4131183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075176"/>
            <a:ext cx="7571232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Un projet soumis reste modifiable : seules les équipes concernées par vos changements sont prévenues.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2152" y="2724912"/>
            <a:ext cx="3017520" cy="1152144"/>
          </a:xfrm>
        </p:spPr>
        <p:txBody>
          <a:bodyPr/>
          <a:lstStyle/>
          <a:p>
            <a:r>
              <a:t>Prendre en main l’outil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</a:t>
            </a:r>
          </a:p>
        </p:txBody>
      </p:sp>
      <p:pic>
        <p:nvPicPr>
          <p:cNvPr id="4" name="Picture Placeholder 3" descr="div1.jp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 t="11" b="11"/>
          <a:stretch>
            <a:fillRect/>
          </a:stretch>
        </p:blipFill>
        <p:spPr/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FE5D49-97A3-75C7-8361-79FE27302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01 · Prendre en main l’outil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1430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Dans cette partie</a:t>
            </a:r>
          </a:p>
        </p:txBody>
      </p:sp>
      <p:sp>
        <p:nvSpPr>
          <p:cNvPr id="7" name="TextBox 6">
            <a:hlinkClick action="ppaction://hlinksldjump" r:id="rId4"/>
          </p:cNvPr>
          <p:cNvSpPr txBox="1"/>
          <p:nvPr/>
        </p:nvSpPr>
        <p:spPr>
          <a:xfrm>
            <a:off x="6629400" y="141732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Première connexion</a:t>
            </a:r>
          </a:p>
        </p:txBody>
      </p:sp>
      <p:sp>
        <p:nvSpPr>
          <p:cNvPr id="8" name="TextBox 7">
            <a:hlinkClick action="ppaction://hlinksldjump" r:id="rId4"/>
          </p:cNvPr>
          <p:cNvSpPr txBox="1"/>
          <p:nvPr/>
        </p:nvSpPr>
        <p:spPr>
          <a:xfrm>
            <a:off x="8321040" y="141732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6</a:t>
            </a:r>
          </a:p>
        </p:txBody>
      </p:sp>
      <p:sp>
        <p:nvSpPr>
          <p:cNvPr id="9" name="TextBox 8">
            <a:hlinkClick action="ppaction://hlinksldjump" r:id="rId5"/>
          </p:cNvPr>
          <p:cNvSpPr txBox="1"/>
          <p:nvPr/>
        </p:nvSpPr>
        <p:spPr>
          <a:xfrm>
            <a:off x="6629400" y="168148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L’écran d’accueil</a:t>
            </a:r>
          </a:p>
        </p:txBody>
      </p: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8321040" y="168148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7</a:t>
            </a:r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629400" y="194564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Lire une carte projet</a:t>
            </a:r>
          </a:p>
        </p:txBody>
      </p:sp>
      <p:sp>
        <p:nvSpPr>
          <p:cNvPr id="12" name="TextBox 11">
            <a:hlinkClick action="ppaction://hlinksldjump" r:id="rId6"/>
          </p:cNvPr>
          <p:cNvSpPr txBox="1"/>
          <p:nvPr/>
        </p:nvSpPr>
        <p:spPr>
          <a:xfrm>
            <a:off x="8321040" y="194564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8</a:t>
            </a:r>
          </a:p>
        </p:txBody>
      </p:sp>
      <p:sp>
        <p:nvSpPr>
          <p:cNvPr id="13" name="TextBox 12">
            <a:hlinkClick action="ppaction://hlinksldjump" r:id="rId7"/>
          </p:cNvPr>
          <p:cNvSpPr txBox="1"/>
          <p:nvPr/>
        </p:nvSpPr>
        <p:spPr>
          <a:xfrm>
            <a:off x="6629400" y="220980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Projets partagés et duplication</a:t>
            </a:r>
          </a:p>
        </p:txBody>
      </p:sp>
      <p:sp>
        <p:nvSpPr>
          <p:cNvPr id="14" name="TextBox 13">
            <a:hlinkClick action="ppaction://hlinksldjump" r:id="rId7"/>
          </p:cNvPr>
          <p:cNvSpPr txBox="1"/>
          <p:nvPr/>
        </p:nvSpPr>
        <p:spPr>
          <a:xfrm>
            <a:off x="8321040" y="220980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9</a:t>
            </a:r>
          </a:p>
        </p:txBody>
      </p:sp>
      <p:sp>
        <p:nvSpPr>
          <p:cNvPr id="15" name="TextBox 14">
            <a:hlinkClick action="ppaction://hlinksldjump" r:id="rId8"/>
          </p:cNvPr>
          <p:cNvSpPr txBox="1"/>
          <p:nvPr/>
        </p:nvSpPr>
        <p:spPr>
          <a:xfrm>
            <a:off x="6629400" y="262839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La corbeille</a:t>
            </a:r>
          </a:p>
        </p:txBody>
      </p:sp>
      <p:sp>
        <p:nvSpPr>
          <p:cNvPr id="16" name="TextBox 15">
            <a:hlinkClick action="ppaction://hlinksldjump" r:id="rId8"/>
          </p:cNvPr>
          <p:cNvSpPr txBox="1"/>
          <p:nvPr/>
        </p:nvSpPr>
        <p:spPr>
          <a:xfrm>
            <a:off x="8321040" y="262839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10</a:t>
            </a:r>
          </a:p>
        </p:txBody>
      </p:sp>
      <p:sp>
        <p:nvSpPr>
          <p:cNvPr id="17" name="TextBox 16">
            <a:hlinkClick action="ppaction://hlinksldjump" r:id="rId9"/>
          </p:cNvPr>
          <p:cNvSpPr txBox="1"/>
          <p:nvPr/>
        </p:nvSpPr>
        <p:spPr>
          <a:xfrm>
            <a:off x="6629400" y="289255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« Mon équipe » (managers)</a:t>
            </a:r>
          </a:p>
        </p:txBody>
      </p:sp>
      <p:sp>
        <p:nvSpPr>
          <p:cNvPr id="18" name="TextBox 17">
            <a:hlinkClick action="ppaction://hlinksldjump" r:id="rId9"/>
          </p:cNvPr>
          <p:cNvSpPr txBox="1"/>
          <p:nvPr/>
        </p:nvSpPr>
        <p:spPr>
          <a:xfrm>
            <a:off x="8321040" y="289255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11</a:t>
            </a:r>
          </a:p>
        </p:txBody>
      </p:sp>
      <p:sp>
        <p:nvSpPr>
          <p:cNvPr id="19" name="TextBox 18">
            <a:hlinkClick action="ppaction://hlinksldjump" r:id="rId10"/>
          </p:cNvPr>
          <p:cNvSpPr txBox="1"/>
          <p:nvPr/>
        </p:nvSpPr>
        <p:spPr>
          <a:xfrm>
            <a:off x="6629400" y="3156711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Mon profil</a:t>
            </a:r>
          </a:p>
        </p:txBody>
      </p:sp>
      <p:sp>
        <p:nvSpPr>
          <p:cNvPr id="20" name="TextBox 19">
            <a:hlinkClick action="ppaction://hlinksldjump" r:id="rId10"/>
          </p:cNvPr>
          <p:cNvSpPr txBox="1"/>
          <p:nvPr/>
        </p:nvSpPr>
        <p:spPr>
          <a:xfrm>
            <a:off x="8321040" y="3156711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Première connexion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01 · Prendre en main l’outil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01-onboarding_1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931920" cy="3366059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4754880" y="12252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4064" y="1234440"/>
            <a:ext cx="3511296" cy="682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Votre périmètre d’activité.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Cochez les pays ou zones sur lesquels vous travaillez (plusieurs choix possibles). Il adapte les questions qui vous seront posées.</a:t>
            </a:r>
          </a:p>
        </p:txBody>
      </p:sp>
      <p:sp>
        <p:nvSpPr>
          <p:cNvPr id="9" name="Oval 8"/>
          <p:cNvSpPr/>
          <p:nvPr/>
        </p:nvSpPr>
        <p:spPr>
          <a:xfrm>
            <a:off x="4754880" y="20177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4064" y="2026920"/>
            <a:ext cx="3511296" cy="341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Continuer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devient actif dès qu’un périmètre est coché.</a:t>
            </a:r>
          </a:p>
        </p:txBody>
      </p:sp>
      <p:sp>
        <p:nvSpPr>
          <p:cNvPr id="11" name="Oval 10"/>
          <p:cNvSpPr/>
          <p:nvPr/>
        </p:nvSpPr>
        <p:spPr>
          <a:xfrm>
            <a:off x="4754880" y="246888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2478024"/>
            <a:ext cx="3511296" cy="341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Aide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ouvre la foire aux questions dans l’application.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337560"/>
            <a:ext cx="3840480" cy="1107440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01184" y="3465576"/>
            <a:ext cx="3547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996B14"/>
                </a:solidFill>
                <a:latin typeface="Roboto"/>
              </a:rPr>
              <a:t>À savoir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1184" y="3739896"/>
            <a:ext cx="3547872" cy="613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L’écran suivant propose une visite guidée : « Démarrer la visite guidée » ou « Non merci, je découvrirai seul(e) ». Elle reste disponible ensuite via « Guide interactif » (partie 7).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L’écran d’accueil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01 · Prendre en main l’outil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03-home-top_13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120640" cy="256032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89788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7064" y="1188720"/>
            <a:ext cx="236829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Créer un projet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lance le questionnaire d’un nouveau projet.</a:t>
            </a:r>
          </a:p>
        </p:txBody>
      </p:sp>
      <p:sp>
        <p:nvSpPr>
          <p:cNvPr id="9" name="Oval 8"/>
          <p:cNvSpPr/>
          <p:nvPr/>
        </p:nvSpPr>
        <p:spPr>
          <a:xfrm>
            <a:off x="5897880" y="153416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7064" y="1543304"/>
            <a:ext cx="236829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Guide interactif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relance une visite guidée à tout moment.</a:t>
            </a:r>
          </a:p>
        </p:txBody>
      </p:sp>
      <p:sp>
        <p:nvSpPr>
          <p:cNvPr id="11" name="Oval 10"/>
          <p:cNvSpPr/>
          <p:nvPr/>
        </p:nvSpPr>
        <p:spPr>
          <a:xfrm>
            <a:off x="5897880" y="188874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7064" y="1897888"/>
            <a:ext cx="236829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Partagez votre avis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pour faire remonter une remarque sur l’outil.</a:t>
            </a:r>
          </a:p>
        </p:txBody>
      </p:sp>
      <p:sp>
        <p:nvSpPr>
          <p:cNvPr id="13" name="Oval 12"/>
          <p:cNvSpPr/>
          <p:nvPr/>
        </p:nvSpPr>
        <p:spPr>
          <a:xfrm>
            <a:off x="5897880" y="224332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7064" y="2252472"/>
            <a:ext cx="236829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Mon profil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périmètre d’activité et langue.</a:t>
            </a:r>
          </a:p>
        </p:txBody>
      </p:sp>
      <p:sp>
        <p:nvSpPr>
          <p:cNvPr id="15" name="Oval 14"/>
          <p:cNvSpPr/>
          <p:nvPr/>
        </p:nvSpPr>
        <p:spPr>
          <a:xfrm>
            <a:off x="5897880" y="259791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2607056"/>
            <a:ext cx="236829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Onglets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« Mes projets », « Mon équipe » (managers) et « Inspiration ».</a:t>
            </a:r>
          </a:p>
        </p:txBody>
      </p:sp>
      <p:sp>
        <p:nvSpPr>
          <p:cNvPr id="17" name="Oval 16"/>
          <p:cNvSpPr/>
          <p:nvPr/>
        </p:nvSpPr>
        <p:spPr>
          <a:xfrm>
            <a:off x="5897880" y="29524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2961640"/>
            <a:ext cx="236829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Recherche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par nom de projet ou par lead.</a:t>
            </a:r>
          </a:p>
        </p:txBody>
      </p:sp>
      <p:sp>
        <p:nvSpPr>
          <p:cNvPr id="19" name="Oval 18"/>
          <p:cNvSpPr/>
          <p:nvPr/>
        </p:nvSpPr>
        <p:spPr>
          <a:xfrm>
            <a:off x="5897880" y="330708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3316224"/>
            <a:ext cx="236829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Filtres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équipe du lead, ordre d’affichage.</a:t>
            </a:r>
          </a:p>
        </p:txBody>
      </p:sp>
      <p:sp>
        <p:nvSpPr>
          <p:cNvPr id="21" name="Oval 20"/>
          <p:cNvSpPr/>
          <p:nvPr/>
        </p:nvSpPr>
        <p:spPr>
          <a:xfrm>
            <a:off x="5897880" y="366166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7064" y="3670808"/>
            <a:ext cx="236829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Corbeille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vos projets supprimés.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Lire une carte projet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01 · Prendre en main l’outil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04-home-card-draft_1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931920" cy="2718038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470916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8344" y="1188720"/>
            <a:ext cx="355701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Statut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du projet : « Brouillon en cours », puis badge de validation une fois soumis.</a:t>
            </a:r>
          </a:p>
        </p:txBody>
      </p:sp>
      <p:sp>
        <p:nvSpPr>
          <p:cNvPr id="9" name="Oval 8"/>
          <p:cNvSpPr/>
          <p:nvPr/>
        </p:nvSpPr>
        <p:spPr>
          <a:xfrm>
            <a:off x="4709160" y="157784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38344" y="1586992"/>
            <a:ext cx="355701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Dupliquer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crée une copie en brouillon, en haut de votre liste.</a:t>
            </a:r>
          </a:p>
        </p:txBody>
      </p:sp>
      <p:sp>
        <p:nvSpPr>
          <p:cNvPr id="11" name="Oval 10"/>
          <p:cNvSpPr/>
          <p:nvPr/>
        </p:nvSpPr>
        <p:spPr>
          <a:xfrm>
            <a:off x="4709160" y="197612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8344" y="1985264"/>
            <a:ext cx="355701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Supprimer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met le projet à la corbeille, d’où il peut être restauré.</a:t>
            </a:r>
          </a:p>
        </p:txBody>
      </p:sp>
      <p:sp>
        <p:nvSpPr>
          <p:cNvPr id="13" name="Oval 12"/>
          <p:cNvSpPr/>
          <p:nvPr/>
        </p:nvSpPr>
        <p:spPr>
          <a:xfrm>
            <a:off x="4709160" y="237439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8344" y="2383536"/>
            <a:ext cx="355701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Avancement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questions obligatoires renseignées sur le total.</a:t>
            </a:r>
          </a:p>
        </p:txBody>
      </p:sp>
      <p:sp>
        <p:nvSpPr>
          <p:cNvPr id="15" name="Oval 14"/>
          <p:cNvSpPr/>
          <p:nvPr/>
        </p:nvSpPr>
        <p:spPr>
          <a:xfrm>
            <a:off x="4709160" y="277266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8344" y="2781808"/>
            <a:ext cx="3557016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Risques identifiés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d’après vos réponses actuelles.</a:t>
            </a:r>
          </a:p>
        </p:txBody>
      </p:sp>
      <p:sp>
        <p:nvSpPr>
          <p:cNvPr id="17" name="Oval 16"/>
          <p:cNvSpPr/>
          <p:nvPr/>
        </p:nvSpPr>
        <p:spPr>
          <a:xfrm>
            <a:off x="4709160" y="310184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8344" y="3110992"/>
            <a:ext cx="355701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Continuer l’édition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reprend le questionnaire où vous l’aviez laissé.</a:t>
            </a:r>
          </a:p>
        </p:txBody>
      </p:sp>
      <p:sp>
        <p:nvSpPr>
          <p:cNvPr id="19" name="Oval 18"/>
          <p:cNvSpPr/>
          <p:nvPr/>
        </p:nvSpPr>
        <p:spPr>
          <a:xfrm>
            <a:off x="4709160" y="350012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8344" y="3509264"/>
            <a:ext cx="355701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Vitrine du projet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ouvre la présentation du projet (partie 3).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Projets partagés et duplication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01 · Prendre en main l’outil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05-home-shared_10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023360" cy="1481575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480060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9784" y="1188720"/>
            <a:ext cx="346557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Projets partagés par d’autres équipes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projets soumis par d’autres et rendus visibles à tous.</a:t>
            </a:r>
          </a:p>
        </p:txBody>
      </p:sp>
      <p:sp>
        <p:nvSpPr>
          <p:cNvPr id="9" name="Oval 8"/>
          <p:cNvSpPr/>
          <p:nvPr/>
        </p:nvSpPr>
        <p:spPr>
          <a:xfrm>
            <a:off x="4800600" y="156870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9784" y="1577848"/>
            <a:ext cx="346557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Badge de validation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de ce projet (voir l’annexe des statuts).</a:t>
            </a:r>
          </a:p>
        </p:txBody>
      </p:sp>
      <p:sp>
        <p:nvSpPr>
          <p:cNvPr id="11" name="Oval 10"/>
          <p:cNvSpPr/>
          <p:nvPr/>
        </p:nvSpPr>
        <p:spPr>
          <a:xfrm>
            <a:off x="4800600" y="195783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9784" y="1966976"/>
            <a:ext cx="346557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Visible par tous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indique un projet partagé à toute l’organisation.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4800600" y="234696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9784" y="2356104"/>
            <a:ext cx="3465576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Dupliquer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pour repartir de ce projet sous votre nom.</a:t>
            </a:r>
          </a:p>
        </p:txBody>
      </p:sp>
      <p:sp>
        <p:nvSpPr>
          <p:cNvPr id="15" name="Oval 14"/>
          <p:cNvSpPr/>
          <p:nvPr/>
        </p:nvSpPr>
        <p:spPr>
          <a:xfrm>
            <a:off x="4800600" y="266700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9784" y="2676144"/>
            <a:ext cx="3465576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Consulter les enjeux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en lecture seule.</a:t>
            </a:r>
          </a:p>
        </p:txBody>
      </p:sp>
      <p:sp>
        <p:nvSpPr>
          <p:cNvPr id="17" name="Oval 16"/>
          <p:cNvSpPr/>
          <p:nvPr/>
        </p:nvSpPr>
        <p:spPr>
          <a:xfrm>
            <a:off x="4800600" y="298704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4" y="2996184"/>
            <a:ext cx="346557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Vitrine du projet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pour découvrir sa présentation.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03320"/>
            <a:ext cx="4023360" cy="1074928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831335"/>
            <a:ext cx="3730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96B14"/>
                </a:solidFill>
                <a:latin typeface="Roboto"/>
              </a:rPr>
              <a:t>Ce que copie la duplication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4105655"/>
            <a:ext cx="3730752" cy="581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La copie reprend toutes les réponses et vous désigne comme lead. Elle ne reprend pas les avis des experts, les post-its ni la visibilité « Visible par tous » : c’est un nouveau projet à évaluer.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corbeille : restaurer un projet supprimé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01 · Prendre en main l’outil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08-trash_9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781395" cy="201168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4983480" y="12252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12664" y="1234440"/>
            <a:ext cx="3282696" cy="341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Date de suppression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et statut du projet au moment de la suppression.</a:t>
            </a:r>
          </a:p>
        </p:txBody>
      </p:sp>
      <p:sp>
        <p:nvSpPr>
          <p:cNvPr id="9" name="Oval 8"/>
          <p:cNvSpPr/>
          <p:nvPr/>
        </p:nvSpPr>
        <p:spPr>
          <a:xfrm>
            <a:off x="4983480" y="167640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2664" y="1685544"/>
            <a:ext cx="3282696" cy="341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Restaurer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remet le projet exactement où il était, avec son statut.</a:t>
            </a:r>
          </a:p>
        </p:txBody>
      </p:sp>
      <p:sp>
        <p:nvSpPr>
          <p:cNvPr id="11" name="Oval 10"/>
          <p:cNvSpPr/>
          <p:nvPr/>
        </p:nvSpPr>
        <p:spPr>
          <a:xfrm>
            <a:off x="4983480" y="212750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2664" y="2136648"/>
            <a:ext cx="3282696" cy="341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Supprimer définitivement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efface vraiment le projet, tant qu’aucun expert n’a répondu.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29000"/>
            <a:ext cx="8046720" cy="11887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557016"/>
            <a:ext cx="7754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Ce qu’il faut savoir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3884676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831336"/>
            <a:ext cx="7571232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Supprimer un projet depuis sa carte (icône corbeille) le met ici : les experts ne le voient plus dans leurs files et aucune notification n’est envoyée.</a:t>
            </a:r>
          </a:p>
        </p:txBody>
      </p:sp>
      <p:sp>
        <p:nvSpPr>
          <p:cNvPr id="17" name="Oval 16"/>
          <p:cNvSpPr/>
          <p:nvPr/>
        </p:nvSpPr>
        <p:spPr>
          <a:xfrm>
            <a:off x="694944" y="4282948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229608"/>
            <a:ext cx="7571232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Si un expert a déjà répondu ou donné un avis, « Supprimer définitivement » le retire de votre corbeille mais il reste visible des experts sollicités.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« Mon équipe » : vue manager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01 · Prendre en main l’outil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09-my-team_11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480560" cy="336042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25780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6984" y="1188720"/>
            <a:ext cx="3008376" cy="463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Mon équipe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onglet visible seulement si des personnes vous sont rattachées dans l’organigramme.</a:t>
            </a:r>
          </a:p>
        </p:txBody>
      </p:sp>
      <p:sp>
        <p:nvSpPr>
          <p:cNvPr id="9" name="Oval 8"/>
          <p:cNvSpPr/>
          <p:nvPr/>
        </p:nvSpPr>
        <p:spPr>
          <a:xfrm>
            <a:off x="5257800" y="169773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6984" y="1706880"/>
            <a:ext cx="300837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Consultation seule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vous ne pouvez pas modifier ces projets.</a:t>
            </a:r>
          </a:p>
        </p:txBody>
      </p:sp>
      <p:sp>
        <p:nvSpPr>
          <p:cNvPr id="11" name="Oval 10"/>
          <p:cNvSpPr/>
          <p:nvPr/>
        </p:nvSpPr>
        <p:spPr>
          <a:xfrm>
            <a:off x="5257800" y="206146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6984" y="2070608"/>
            <a:ext cx="300837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Sous-équipes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un filtre par collaborateur direct (et son équipe).</a:t>
            </a:r>
          </a:p>
        </p:txBody>
      </p:sp>
      <p:sp>
        <p:nvSpPr>
          <p:cNvPr id="13" name="Oval 12"/>
          <p:cNvSpPr/>
          <p:nvPr/>
        </p:nvSpPr>
        <p:spPr>
          <a:xfrm>
            <a:off x="5257800" y="242519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6984" y="2434336"/>
            <a:ext cx="300837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Points d’attention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avis défavorable, avis à revoir, lancement sans confirmation finale.</a:t>
            </a:r>
          </a:p>
        </p:txBody>
      </p:sp>
      <p:sp>
        <p:nvSpPr>
          <p:cNvPr id="15" name="Oval 14"/>
          <p:cNvSpPr/>
          <p:nvPr/>
        </p:nvSpPr>
        <p:spPr>
          <a:xfrm>
            <a:off x="5257800" y="278892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6984" y="2798064"/>
            <a:ext cx="300837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Porté par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le porteur du projet et son rattachement.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416052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B6573"/>
                </a:solidFill>
                <a:latin typeface="Roboto"/>
              </a:rPr>
              <a:t>Les brouillons restent privés jusqu’à leur envoi, sauf si un administrateur a choisi de les montrer aux managers.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 profil : périmètre et langue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01 · Prendre en main l’outil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07-profile_8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108960" cy="3277552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3977639" y="12252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6824" y="1234440"/>
            <a:ext cx="428853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Périmètre d’activité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modifiable à tout moment, il change les questions qui vous sont posées et les règles qui s’appliquent.</a:t>
            </a:r>
          </a:p>
        </p:txBody>
      </p:sp>
      <p:sp>
        <p:nvSpPr>
          <p:cNvPr id="9" name="Oval 8"/>
          <p:cNvSpPr/>
          <p:nvPr/>
        </p:nvSpPr>
        <p:spPr>
          <a:xfrm>
            <a:off x="3977639" y="184708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6824" y="1856232"/>
            <a:ext cx="4288536" cy="341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Langue de l’interface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français, anglais, allemand ou espagnol. La langue choisie ici l’emporte sur celle de SharePoint.</a:t>
            </a:r>
          </a:p>
        </p:txBody>
      </p:sp>
      <p:sp>
        <p:nvSpPr>
          <p:cNvPr id="11" name="Oval 10"/>
          <p:cNvSpPr/>
          <p:nvPr/>
        </p:nvSpPr>
        <p:spPr>
          <a:xfrm>
            <a:off x="3977639" y="229819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2307336"/>
            <a:ext cx="4288536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Enregistrer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pour appliquer vos changements.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3429000"/>
            <a:ext cx="4617720" cy="944879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23944" y="3557016"/>
            <a:ext cx="4325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996B14"/>
                </a:solidFill>
                <a:latin typeface="Roboto"/>
              </a:rPr>
              <a:t>À savoir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23944" y="3831336"/>
            <a:ext cx="4325112" cy="451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Accès : icône ronde en haut à droite de l’accueil. Si vous êtes contact d’une équipe experte, la fenêtre propose aussi vos absences et suppléances.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2152" y="2724912"/>
            <a:ext cx="3017520" cy="1152144"/>
          </a:xfrm>
        </p:spPr>
        <p:txBody>
          <a:bodyPr/>
          <a:lstStyle/>
          <a:p>
            <a:r>
              <a:t>Décrire son projet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</a:t>
            </a:r>
          </a:p>
        </p:txBody>
      </p:sp>
      <p:pic>
        <p:nvPicPr>
          <p:cNvPr id="4" name="Picture Placeholder 3" descr="div2.jp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 t="11" b="11"/>
          <a:stretch>
            <a:fillRect/>
          </a:stretch>
        </p:blipFill>
        <p:spPr/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FE5D49-97A3-75C7-8361-79FE27302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02 · Décrire son projet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1430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Dans cette partie</a:t>
            </a:r>
          </a:p>
        </p:txBody>
      </p:sp>
      <p:sp>
        <p:nvSpPr>
          <p:cNvPr id="7" name="TextBox 6">
            <a:hlinkClick action="ppaction://hlinksldjump" r:id="rId4"/>
          </p:cNvPr>
          <p:cNvSpPr txBox="1"/>
          <p:nvPr/>
        </p:nvSpPr>
        <p:spPr>
          <a:xfrm>
            <a:off x="6629400" y="141732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Créer un projet : le questionnaire</a:t>
            </a:r>
          </a:p>
        </p:txBody>
      </p:sp>
      <p:sp>
        <p:nvSpPr>
          <p:cNvPr id="8" name="TextBox 7">
            <a:hlinkClick action="ppaction://hlinksldjump" r:id="rId4"/>
          </p:cNvPr>
          <p:cNvSpPr txBox="1"/>
          <p:nvPr/>
        </p:nvSpPr>
        <p:spPr>
          <a:xfrm>
            <a:off x="8321040" y="141732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14</a:t>
            </a:r>
          </a:p>
        </p:txBody>
      </p:sp>
      <p:sp>
        <p:nvSpPr>
          <p:cNvPr id="9" name="TextBox 8">
            <a:hlinkClick action="ppaction://hlinksldjump" r:id="rId5"/>
          </p:cNvPr>
          <p:cNvSpPr txBox="1"/>
          <p:nvPr/>
        </p:nvSpPr>
        <p:spPr>
          <a:xfrm>
            <a:off x="6629400" y="183591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Comprendre une question</a:t>
            </a:r>
          </a:p>
        </p:txBody>
      </p: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8321040" y="183591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15</a:t>
            </a:r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629400" y="210007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« J’ai un doute »</a:t>
            </a:r>
          </a:p>
        </p:txBody>
      </p:sp>
      <p:sp>
        <p:nvSpPr>
          <p:cNvPr id="12" name="TextBox 11">
            <a:hlinkClick action="ppaction://hlinksldjump" r:id="rId6"/>
          </p:cNvPr>
          <p:cNvSpPr txBox="1"/>
          <p:nvPr/>
        </p:nvSpPr>
        <p:spPr>
          <a:xfrm>
            <a:off x="8321040" y="21000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16</a:t>
            </a:r>
          </a:p>
        </p:txBody>
      </p:sp>
      <p:sp>
        <p:nvSpPr>
          <p:cNvPr id="13" name="TextBox 12">
            <a:hlinkClick action="ppaction://hlinksldjump" r:id="rId7"/>
          </p:cNvPr>
          <p:cNvSpPr txBox="1"/>
          <p:nvPr/>
        </p:nvSpPr>
        <p:spPr>
          <a:xfrm>
            <a:off x="6629400" y="2364231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Les types de réponses</a:t>
            </a:r>
          </a:p>
        </p:txBody>
      </p:sp>
      <p:sp>
        <p:nvSpPr>
          <p:cNvPr id="14" name="TextBox 13">
            <a:hlinkClick action="ppaction://hlinksldjump" r:id="rId7"/>
          </p:cNvPr>
          <p:cNvSpPr txBox="1"/>
          <p:nvPr/>
        </p:nvSpPr>
        <p:spPr>
          <a:xfrm>
            <a:off x="8321040" y="2364231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17</a:t>
            </a:r>
          </a:p>
        </p:txBody>
      </p:sp>
      <p:sp>
        <p:nvSpPr>
          <p:cNvPr id="15" name="TextBox 14">
            <a:hlinkClick action="ppaction://hlinksldjump" r:id="rId8"/>
          </p:cNvPr>
          <p:cNvSpPr txBox="1"/>
          <p:nvPr/>
        </p:nvSpPr>
        <p:spPr>
          <a:xfrm>
            <a:off x="6629400" y="2628391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Questions obligatoires</a:t>
            </a:r>
          </a:p>
        </p:txBody>
      </p:sp>
      <p:sp>
        <p:nvSpPr>
          <p:cNvPr id="16" name="TextBox 15">
            <a:hlinkClick action="ppaction://hlinksldjump" r:id="rId8"/>
          </p:cNvPr>
          <p:cNvSpPr txBox="1"/>
          <p:nvPr/>
        </p:nvSpPr>
        <p:spPr>
          <a:xfrm>
            <a:off x="8321040" y="2628391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18</a:t>
            </a:r>
          </a:p>
        </p:txBody>
      </p:sp>
      <p:sp>
        <p:nvSpPr>
          <p:cNvPr id="17" name="TextBox 16">
            <a:hlinkClick action="ppaction://hlinksldjump" r:id="rId9"/>
          </p:cNvPr>
          <p:cNvSpPr txBox="1"/>
          <p:nvPr/>
        </p:nvSpPr>
        <p:spPr>
          <a:xfrm>
            <a:off x="6629400" y="2892551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Bon à savoir</a:t>
            </a:r>
          </a:p>
        </p:txBody>
      </p:sp>
      <p:sp>
        <p:nvSpPr>
          <p:cNvPr id="18" name="TextBox 17">
            <a:hlinkClick action="ppaction://hlinksldjump" r:id="rId9"/>
          </p:cNvPr>
          <p:cNvSpPr txBox="1"/>
          <p:nvPr/>
        </p:nvSpPr>
        <p:spPr>
          <a:xfrm>
            <a:off x="8321040" y="2892551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Créer un projet : le questionnaire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02 · Décrire son projet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10-q-anatomy_13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120640" cy="3072383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89788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7064" y="1188720"/>
            <a:ext cx="236829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Sommaire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toutes les questions, leur état, accès direct à chacune.</a:t>
            </a:r>
          </a:p>
        </p:txBody>
      </p:sp>
      <p:sp>
        <p:nvSpPr>
          <p:cNvPr id="9" name="Oval 8"/>
          <p:cNvSpPr/>
          <p:nvPr/>
        </p:nvSpPr>
        <p:spPr>
          <a:xfrm>
            <a:off x="5897880" y="157784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7064" y="1586992"/>
            <a:ext cx="236829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Progression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question en cours et questions restantes.</a:t>
            </a:r>
          </a:p>
        </p:txBody>
      </p:sp>
      <p:sp>
        <p:nvSpPr>
          <p:cNvPr id="11" name="Oval 10"/>
          <p:cNvSpPr/>
          <p:nvPr/>
        </p:nvSpPr>
        <p:spPr>
          <a:xfrm>
            <a:off x="5897880" y="197612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7064" y="1985264"/>
            <a:ext cx="2368296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La question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à laquelle répondre.</a:t>
            </a:r>
          </a:p>
        </p:txBody>
      </p:sp>
      <p:sp>
        <p:nvSpPr>
          <p:cNvPr id="13" name="Oval 12"/>
          <p:cNvSpPr/>
          <p:nvPr/>
        </p:nvSpPr>
        <p:spPr>
          <a:xfrm>
            <a:off x="5897880" y="230530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7064" y="2314448"/>
            <a:ext cx="236829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Comprendre cette question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ouvre l’aide, quand elle existe.</a:t>
            </a:r>
          </a:p>
        </p:txBody>
      </p:sp>
      <p:sp>
        <p:nvSpPr>
          <p:cNvPr id="15" name="Oval 14"/>
          <p:cNvSpPr/>
          <p:nvPr/>
        </p:nvSpPr>
        <p:spPr>
          <a:xfrm>
            <a:off x="5897880" y="2703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2712720"/>
            <a:ext cx="2368296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Votre réponse.</a:t>
            </a:r>
            <a:r>
              <a:rPr sz="1000" b="0" i="0">
                <a:solidFill>
                  <a:srgbClr val="1F2A37"/>
                </a:solidFill>
                <a:latin typeface="Roboto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5897880" y="303276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3041904"/>
            <a:ext cx="236829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J’ai un doute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si la réponse est incertaine.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406908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3059"/>
                </a:solidFill>
                <a:latin typeface="Roboto"/>
              </a:rPr>
              <a:t>En bas de la question : </a:t>
            </a:r>
            <a:r>
              <a:rPr sz="1000" b="0" i="0">
                <a:solidFill>
                  <a:srgbClr val="003059"/>
                </a:solidFill>
                <a:latin typeface="Roboto"/>
              </a:rPr>
              <a:t>« Précédent », « Suivant » et « Terminer et voir la vitrine ».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Comprendre une question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02 · Décrire son projet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12-q-guidance_12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572000" cy="1802205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349240" y="12252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78424" y="1234440"/>
            <a:ext cx="2916936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Explication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à quoi sert la question.</a:t>
            </a:r>
          </a:p>
        </p:txBody>
      </p:sp>
      <p:sp>
        <p:nvSpPr>
          <p:cNvPr id="9" name="Oval 8"/>
          <p:cNvSpPr/>
          <p:nvPr/>
        </p:nvSpPr>
        <p:spPr>
          <a:xfrm>
            <a:off x="5349240" y="159105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78424" y="1600200"/>
            <a:ext cx="2916936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Conseils pratiques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pour bien répondre.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2514600"/>
            <a:ext cx="3246120" cy="1757680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95544" y="2642616"/>
            <a:ext cx="2953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996B14"/>
                </a:solidFill>
                <a:latin typeface="Roboto"/>
              </a:rPr>
              <a:t>À savoir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5544" y="2916936"/>
            <a:ext cx="2953512" cy="1263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Le bouton « Comprendre cette question » n’apparaît que sur les questions pour lesquelles une aide a été rédigée. Le questionnaire est adaptatif : certaines questions n’apparaissent qu’en fonction de vos réponses et de votre périmètre d’activité. Changer une réponse peut donc faire apparaître ou disparaître des questions plus loin.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« J’ai un doute » : répondre sans être sûr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02 · Décrire son projet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16-q-doubt_1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3994967" cy="105156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48640" y="250545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514600"/>
            <a:ext cx="4242816" cy="341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J’ai un doute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signale que la réponse donnée n’est pas définitive.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5656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965704"/>
            <a:ext cx="4242816" cy="341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Expliquez votre doute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précisez ce qui manque pour trancher.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234440"/>
            <a:ext cx="3200400" cy="2485136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41264" y="1362456"/>
            <a:ext cx="2907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Ce que change un doute</a:t>
            </a:r>
          </a:p>
        </p:txBody>
      </p:sp>
      <p:sp>
        <p:nvSpPr>
          <p:cNvPr id="13" name="Oval 12"/>
          <p:cNvSpPr/>
          <p:nvPr/>
        </p:nvSpPr>
        <p:spPr>
          <a:xfrm>
            <a:off x="5541264" y="1690116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24144" y="1636776"/>
            <a:ext cx="2724912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Le point reste signalé comme ouvert, dans le questionnaire et dans les enjeux du projet.</a:t>
            </a:r>
          </a:p>
        </p:txBody>
      </p:sp>
      <p:sp>
        <p:nvSpPr>
          <p:cNvPr id="15" name="Oval 14"/>
          <p:cNvSpPr/>
          <p:nvPr/>
        </p:nvSpPr>
        <p:spPr>
          <a:xfrm>
            <a:off x="5541264" y="2250948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24144" y="2197608"/>
            <a:ext cx="2724912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Il n’empêche pas de demander un avis préliminaire.</a:t>
            </a:r>
          </a:p>
        </p:txBody>
      </p:sp>
      <p:sp>
        <p:nvSpPr>
          <p:cNvPr id="17" name="Oval 16"/>
          <p:cNvSpPr/>
          <p:nvPr/>
        </p:nvSpPr>
        <p:spPr>
          <a:xfrm>
            <a:off x="5541264" y="2649220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24144" y="2595880"/>
            <a:ext cx="2724912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Il bloque la demande de validation : chaque doute doit être levé avant.</a:t>
            </a:r>
          </a:p>
        </p:txBody>
      </p:sp>
      <p:sp>
        <p:nvSpPr>
          <p:cNvPr id="19" name="Oval 18"/>
          <p:cNvSpPr/>
          <p:nvPr/>
        </p:nvSpPr>
        <p:spPr>
          <a:xfrm>
            <a:off x="5541264" y="3047492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24144" y="2994152"/>
            <a:ext cx="2724912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Il est proposé sur les questions à choix, les nombres et les dates, pas sur les champs de texte libre.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différents types de réponses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02 · Décrire son projet</a:t>
            </a:r>
          </a:p>
        </p:txBody>
      </p:sp>
      <p:sp>
        <p:nvSpPr>
          <p:cNvPr id="5" name="TextBox 4">
            <a:hlinkClick action="ppaction://hlinksldjump" r:id="rId4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13-q-milestones_9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557587" cy="274320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pic>
        <p:nvPicPr>
          <p:cNvPr id="7" name="Picture 6" descr="15-q-ranking_11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188720"/>
            <a:ext cx="4194566" cy="224028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402336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B6573"/>
                </a:solidFill>
                <a:latin typeface="Roboto"/>
              </a:rPr>
              <a:t>① « Ajouter un jalon » ② date du jalon : les jalons datés se rangent seuls par ordre chronologique.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52044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B6573"/>
                </a:solidFill>
                <a:latin typeface="Roboto"/>
              </a:rPr>
              <a:t>① flèches pour ordonner ② « Sans importance » ③ « Réinitialiser l’ordre »</a:t>
            </a:r>
          </a:p>
        </p:txBody>
      </p:sp>
      <p:sp>
        <p:nvSpPr>
          <p:cNvPr id="10" name="Oval 9"/>
          <p:cNvSpPr/>
          <p:nvPr/>
        </p:nvSpPr>
        <p:spPr>
          <a:xfrm>
            <a:off x="4389120" y="3985260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931920"/>
            <a:ext cx="4023359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Choix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unique ou multiple, avec parfois des sous-options à préciser.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4383532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330192"/>
            <a:ext cx="4023359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Texte riche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gras, listes, liens cliquables.</a:t>
            </a:r>
          </a:p>
        </p:txBody>
      </p:sp>
      <p:sp>
        <p:nvSpPr>
          <p:cNvPr id="14" name="Oval 13"/>
          <p:cNvSpPr/>
          <p:nvPr/>
        </p:nvSpPr>
        <p:spPr>
          <a:xfrm>
            <a:off x="4389120" y="4619244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565904"/>
            <a:ext cx="4023359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Fichier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un ou plusieurs documents de référence.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questions obligatoires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02 · Décrire son projet</a:t>
            </a:r>
          </a:p>
        </p:txBody>
      </p:sp>
      <p:sp>
        <p:nvSpPr>
          <p:cNvPr id="5" name="TextBox 4">
            <a:hlinkClick action="ppaction://hlinksldjump" r:id="rId4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17-q-summary_6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2377440" cy="2936837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pic>
        <p:nvPicPr>
          <p:cNvPr id="7" name="Picture 6" descr="18-q-mandatory_6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188720"/>
            <a:ext cx="2468880" cy="1715978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8" name="Oval 7"/>
          <p:cNvSpPr/>
          <p:nvPr/>
        </p:nvSpPr>
        <p:spPr>
          <a:xfrm>
            <a:off x="580644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35624" y="1188720"/>
            <a:ext cx="245973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Compteur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du sommaire : questions obligatoires sans réponse.</a:t>
            </a:r>
          </a:p>
        </p:txBody>
      </p:sp>
      <p:sp>
        <p:nvSpPr>
          <p:cNvPr id="10" name="Oval 9"/>
          <p:cNvSpPr/>
          <p:nvPr/>
        </p:nvSpPr>
        <p:spPr>
          <a:xfrm>
            <a:off x="5806440" y="161442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5624" y="1623568"/>
            <a:ext cx="245973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Compléter la question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mène directement à la question.</a:t>
            </a:r>
          </a:p>
        </p:txBody>
      </p:sp>
      <p:sp>
        <p:nvSpPr>
          <p:cNvPr id="12" name="Oval 11"/>
          <p:cNvSpPr/>
          <p:nvPr/>
        </p:nvSpPr>
        <p:spPr>
          <a:xfrm>
            <a:off x="5806440" y="204927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5624" y="2058416"/>
            <a:ext cx="2459736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Retour au questionnaire »</a:t>
            </a:r>
            <a:r>
              <a:rPr sz="1000" b="0" i="0">
                <a:solidFill>
                  <a:srgbClr val="1F2A37"/>
                </a:solidFill>
                <a:latin typeface="Roboto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5806440" y="241503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5624" y="2424176"/>
            <a:ext cx="245973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Voir la vitrine du projet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vous pouvez continuer sans tout remplir.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337560"/>
            <a:ext cx="2788920" cy="1188720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2744" y="3465576"/>
            <a:ext cx="2496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996B14"/>
                </a:solidFill>
                <a:latin typeface="Roboto"/>
              </a:rPr>
              <a:t>À savoir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52744" y="3739896"/>
            <a:ext cx="249631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Roboto"/>
              </a:rPr>
              <a:t>Cet écran n’apparaît que s’il manque une question du socle : celles exigées dès l’avis préliminaire. Les autres questions obligatoires seront exigées pour l’avis technique et la validation.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 à savoir sur le questionnaire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02 · Décrire son projet</a:t>
            </a:r>
          </a:p>
        </p:txBody>
      </p:sp>
      <p:sp>
        <p:nvSpPr>
          <p:cNvPr id="5" name="TextBox 4">
            <a:hlinkClick action="ppaction://hlinksldjump" r:id="rId2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2542032" cy="2057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362456"/>
            <a:ext cx="22494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059"/>
                </a:solidFill>
                <a:latin typeface="Roboto"/>
              </a:rPr>
              <a:t>Sauvegarde continue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636776"/>
            <a:ext cx="2249424" cy="1563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Chaque réponse est enregistrée immédiatement : il n’y a pas de bouton « Enregistrer ». Un projet non terminé reste en « Brouillon en cours » sur l’accueil.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1234440"/>
            <a:ext cx="2542032" cy="2057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9856" y="1362456"/>
            <a:ext cx="22494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059"/>
                </a:solidFill>
                <a:latin typeface="Roboto"/>
              </a:rPr>
              <a:t>Fin du questionnaire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1636776"/>
            <a:ext cx="2249424" cy="1563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« Terminer et voir la vitrine » (ou « Voir la vitrine du projet » à la dernière question) mène à la vitrine, pas au rapport : l’outil vous invite d’abord à mettre votre projet en récit.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98464" y="1234440"/>
            <a:ext cx="2542032" cy="2057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1362456"/>
            <a:ext cx="22494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059"/>
                </a:solidFill>
                <a:latin typeface="Roboto"/>
              </a:rPr>
              <a:t>Accès hors ligne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1636776"/>
            <a:ext cx="2249424" cy="1563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Si la connexion tombe, un bandeau le signale : vos modifications restent sur votre ordinateur et partent dès le retour de la connexion.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204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B6573"/>
                </a:solidFill>
                <a:latin typeface="Roboto"/>
              </a:rPr>
              <a:t>Pour certains types de projet, la vitrine n’est pas proposée : la fin du questionnaire mène alors directement aux enjeux du projet.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2152" y="2724912"/>
            <a:ext cx="3017520" cy="1152144"/>
          </a:xfrm>
        </p:spPr>
        <p:txBody>
          <a:bodyPr/>
          <a:lstStyle/>
          <a:p>
            <a:r>
              <a:t>La vitrine du projet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3</a:t>
            </a:r>
          </a:p>
        </p:txBody>
      </p:sp>
      <p:pic>
        <p:nvPicPr>
          <p:cNvPr id="4" name="Picture Placeholder 3" descr="div3.jp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 t="11" b="11"/>
          <a:stretch>
            <a:fillRect/>
          </a:stretch>
        </p:blipFill>
        <p:spPr/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FE5D49-97A3-75C7-8361-79FE27302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03 · La vitrine du projet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1430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Dans cette partie</a:t>
            </a:r>
          </a:p>
        </p:txBody>
      </p:sp>
      <p:sp>
        <p:nvSpPr>
          <p:cNvPr id="7" name="TextBox 6">
            <a:hlinkClick action="ppaction://hlinksldjump" r:id="rId4"/>
          </p:cNvPr>
          <p:cNvSpPr txBox="1"/>
          <p:nvPr/>
        </p:nvSpPr>
        <p:spPr>
          <a:xfrm>
            <a:off x="6629400" y="141732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Découvrir la vitrine</a:t>
            </a:r>
          </a:p>
        </p:txBody>
      </p:sp>
      <p:sp>
        <p:nvSpPr>
          <p:cNvPr id="8" name="TextBox 7">
            <a:hlinkClick action="ppaction://hlinksldjump" r:id="rId4"/>
          </p:cNvPr>
          <p:cNvSpPr txBox="1"/>
          <p:nvPr/>
        </p:nvSpPr>
        <p:spPr>
          <a:xfrm>
            <a:off x="8321040" y="141732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21</a:t>
            </a:r>
          </a:p>
        </p:txBody>
      </p:sp>
      <p:sp>
        <p:nvSpPr>
          <p:cNvPr id="9" name="TextBox 8">
            <a:hlinkClick action="ppaction://hlinksldjump" r:id="rId5"/>
          </p:cNvPr>
          <p:cNvSpPr txBox="1"/>
          <p:nvPr/>
        </p:nvSpPr>
        <p:spPr>
          <a:xfrm>
            <a:off x="6629400" y="168148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Le mode édition</a:t>
            </a:r>
          </a:p>
        </p:txBody>
      </p: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8321040" y="168148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22</a:t>
            </a:r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629400" y="194564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Ajouter une section</a:t>
            </a:r>
          </a:p>
        </p:txBody>
      </p:sp>
      <p:sp>
        <p:nvSpPr>
          <p:cNvPr id="12" name="TextBox 11">
            <a:hlinkClick action="ppaction://hlinksldjump" r:id="rId6"/>
          </p:cNvPr>
          <p:cNvSpPr txBox="1"/>
          <p:nvPr/>
        </p:nvSpPr>
        <p:spPr>
          <a:xfrm>
            <a:off x="8321040" y="194564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23</a:t>
            </a:r>
          </a:p>
        </p:txBody>
      </p:sp>
      <p:sp>
        <p:nvSpPr>
          <p:cNvPr id="13" name="TextBox 12">
            <a:hlinkClick action="ppaction://hlinksldjump" r:id="rId7"/>
          </p:cNvPr>
          <p:cNvSpPr txBox="1"/>
          <p:nvPr/>
        </p:nvSpPr>
        <p:spPr>
          <a:xfrm>
            <a:off x="6629400" y="220980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Régler une section</a:t>
            </a:r>
          </a:p>
        </p:txBody>
      </p:sp>
      <p:sp>
        <p:nvSpPr>
          <p:cNvPr id="14" name="TextBox 13">
            <a:hlinkClick action="ppaction://hlinksldjump" r:id="rId7"/>
          </p:cNvPr>
          <p:cNvSpPr txBox="1"/>
          <p:nvPr/>
        </p:nvSpPr>
        <p:spPr>
          <a:xfrm>
            <a:off x="8321040" y="220980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24</a:t>
            </a:r>
          </a:p>
        </p:txBody>
      </p:sp>
      <p:sp>
        <p:nvSpPr>
          <p:cNvPr id="15" name="TextBox 14">
            <a:hlinkClick action="ppaction://hlinksldjump" r:id="rId8"/>
          </p:cNvPr>
          <p:cNvSpPr txBox="1"/>
          <p:nvPr/>
        </p:nvSpPr>
        <p:spPr>
          <a:xfrm>
            <a:off x="6629400" y="2473959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Aperçu et publication</a:t>
            </a:r>
          </a:p>
        </p:txBody>
      </p:sp>
      <p:sp>
        <p:nvSpPr>
          <p:cNvPr id="16" name="TextBox 15">
            <a:hlinkClick action="ppaction://hlinksldjump" r:id="rId8"/>
          </p:cNvPr>
          <p:cNvSpPr txBox="1"/>
          <p:nvPr/>
        </p:nvSpPr>
        <p:spPr>
          <a:xfrm>
            <a:off x="8321040" y="2473959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Découvrir la vitrine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03 · La vitrine du projet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20-sc-view_13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212080" cy="202692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98932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18504" y="1188720"/>
            <a:ext cx="227685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Enjeux du projet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la vision compliance du même projet.</a:t>
            </a:r>
          </a:p>
        </p:txBody>
      </p:sp>
      <p:sp>
        <p:nvSpPr>
          <p:cNvPr id="9" name="Oval 8"/>
          <p:cNvSpPr/>
          <p:nvPr/>
        </p:nvSpPr>
        <p:spPr>
          <a:xfrm>
            <a:off x="5989320" y="157784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504" y="1586992"/>
            <a:ext cx="227685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Commenter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poser et lire des post-its (partie 4).</a:t>
            </a:r>
          </a:p>
        </p:txBody>
      </p:sp>
      <p:sp>
        <p:nvSpPr>
          <p:cNvPr id="11" name="Oval 10"/>
          <p:cNvSpPr/>
          <p:nvPr/>
        </p:nvSpPr>
        <p:spPr>
          <a:xfrm>
            <a:off x="5989320" y="197612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1985264"/>
            <a:ext cx="227685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Partager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obtenir un lien vers la vitrine (partie 4).</a:t>
            </a:r>
          </a:p>
        </p:txBody>
      </p:sp>
      <p:sp>
        <p:nvSpPr>
          <p:cNvPr id="13" name="Oval 12"/>
          <p:cNvSpPr/>
          <p:nvPr/>
        </p:nvSpPr>
        <p:spPr>
          <a:xfrm>
            <a:off x="5989320" y="237439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2383536"/>
            <a:ext cx="227685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Mode Light » / « Mode complet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et « Configurer » (partie 4).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277266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2781808"/>
            <a:ext cx="227685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Modifier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ouvre le mode édition.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29000"/>
            <a:ext cx="5212080" cy="12344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3557016"/>
            <a:ext cx="4919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À quoi sert la vitrine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3831336"/>
            <a:ext cx="4919472" cy="740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Elle met votre projet en récit à partir de vos réponses : problème, solution, bénéfices, objectifs, équipe, feuille de route, coût. C’est souvent en la relisant, ou en la faisant relire, qu’on voit ce qui manque.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mode édition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03 · La vitrine du projet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22-sc-editor_12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828032" cy="301752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94360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2784" y="1188720"/>
            <a:ext cx="232257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Plan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liste des sections pour s’y déplacer.</a:t>
            </a:r>
          </a:p>
        </p:txBody>
      </p:sp>
      <p:sp>
        <p:nvSpPr>
          <p:cNvPr id="9" name="Oval 8"/>
          <p:cNvSpPr/>
          <p:nvPr/>
        </p:nvSpPr>
        <p:spPr>
          <a:xfrm>
            <a:off x="5943600" y="154330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2784" y="1552448"/>
            <a:ext cx="2322576" cy="154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Annuler » / « Rétablir »</a:t>
            </a:r>
            <a:r>
              <a:rPr sz="950" b="0" i="0">
                <a:solidFill>
                  <a:srgbClr val="1F2A37"/>
                </a:solidFill>
                <a:latin typeface="Roboto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5943600" y="185420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2784" y="1863344"/>
            <a:ext cx="232257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Vue Light ou complète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pendant l’édition.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0" y="221792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2227072"/>
            <a:ext cx="232257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Aperçu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(touche P) masque les outils.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258165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590800"/>
            <a:ext cx="232257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État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« Tout est publié » ou « Modifications non publiées ».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0" y="294538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2954528"/>
            <a:ext cx="232257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Publier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rend vos changements visibles.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0" y="330911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3318256"/>
            <a:ext cx="2322576" cy="463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Barre de section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monter, descendre, masquer en vue Light, réglages, dupliquer, supprimer.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0" y="382727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3836416"/>
            <a:ext cx="232257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Section sélectionnée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les réglages de la section cliquée.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519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B6573"/>
                </a:solidFill>
                <a:latin typeface="Roboto"/>
              </a:rPr>
              <a:t>On modifie la vitrine elle-même : titres et intitulés se modifient directement dans la page, et chaque texte modifié met à jour la réponse du questionnaire.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Ajouter une section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03 · La vitrine du projet</a:t>
            </a:r>
          </a:p>
        </p:txBody>
      </p:sp>
      <p:sp>
        <p:nvSpPr>
          <p:cNvPr id="5" name="TextBox 4">
            <a:hlinkClick action="ppaction://hlinksldjump" r:id="rId4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23-sc-inserter_1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840480" cy="977576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pic>
        <p:nvPicPr>
          <p:cNvPr id="7" name="Picture 6" descr="24-sc-picker_97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31720"/>
            <a:ext cx="3718684" cy="237744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8" name="Oval 7"/>
          <p:cNvSpPr/>
          <p:nvPr/>
        </p:nvSpPr>
        <p:spPr>
          <a:xfrm>
            <a:off x="4663440" y="12252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2624" y="1234440"/>
            <a:ext cx="3602736" cy="341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Ajouter une section ici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survolez l’espace entre deux sections, le bouton + apparaît.</a:t>
            </a:r>
          </a:p>
        </p:txBody>
      </p:sp>
      <p:sp>
        <p:nvSpPr>
          <p:cNvPr id="10" name="Oval 9"/>
          <p:cNvSpPr/>
          <p:nvPr/>
        </p:nvSpPr>
        <p:spPr>
          <a:xfrm>
            <a:off x="4663440" y="167640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685544"/>
            <a:ext cx="3602736" cy="341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Choisissez un gabarit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survolez-en un pour le voir à sa place dans la vitrine, cliquez pour l’ajouter.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651760"/>
            <a:ext cx="3931920" cy="20116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9744" y="2779776"/>
            <a:ext cx="3639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Les gabarits disponibles</a:t>
            </a:r>
          </a:p>
        </p:txBody>
      </p:sp>
      <p:sp>
        <p:nvSpPr>
          <p:cNvPr id="14" name="Oval 13"/>
          <p:cNvSpPr/>
          <p:nvPr/>
        </p:nvSpPr>
        <p:spPr>
          <a:xfrm>
            <a:off x="4809744" y="3107435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2624" y="3054096"/>
            <a:ext cx="3456432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Bloc mise en avant · Chiffre en avant</a:t>
            </a:r>
          </a:p>
        </p:txBody>
      </p:sp>
      <p:sp>
        <p:nvSpPr>
          <p:cNvPr id="16" name="Oval 15"/>
          <p:cNvSpPr/>
          <p:nvPr/>
        </p:nvSpPr>
        <p:spPr>
          <a:xfrm>
            <a:off x="4809744" y="3343147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92624" y="3289807"/>
            <a:ext cx="3456432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Bloc multi-colonnes · Grille de cartes</a:t>
            </a:r>
          </a:p>
        </p:txBody>
      </p:sp>
      <p:sp>
        <p:nvSpPr>
          <p:cNvPr id="18" name="Oval 17"/>
          <p:cNvSpPr/>
          <p:nvPr/>
        </p:nvSpPr>
        <p:spPr>
          <a:xfrm>
            <a:off x="4809744" y="3578859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92624" y="3525519"/>
            <a:ext cx="3456432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Visionneuse documentaire (un document déposé)</a:t>
            </a:r>
          </a:p>
        </p:txBody>
      </p:sp>
      <p:sp>
        <p:nvSpPr>
          <p:cNvPr id="20" name="Oval 19"/>
          <p:cNvSpPr/>
          <p:nvPr/>
        </p:nvSpPr>
        <p:spPr>
          <a:xfrm>
            <a:off x="4809744" y="3814572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92624" y="3761232"/>
            <a:ext cx="3456432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Bloc narratif · Points d’attention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Régler une section : gabarit et couleur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03 · La vitrine du projet</a:t>
            </a:r>
          </a:p>
        </p:txBody>
      </p:sp>
      <p:sp>
        <p:nvSpPr>
          <p:cNvPr id="5" name="TextBox 4">
            <a:hlinkClick action="ppaction://hlinksldjump" r:id="rId4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25-sc-added_1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950208" cy="246888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pic>
        <p:nvPicPr>
          <p:cNvPr id="7" name="Picture 6" descr="26-sc-color-crop_4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188720"/>
            <a:ext cx="1600200" cy="1082216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8" name="Oval 7"/>
          <p:cNvSpPr/>
          <p:nvPr/>
        </p:nvSpPr>
        <p:spPr>
          <a:xfrm>
            <a:off x="548640" y="378561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794760"/>
            <a:ext cx="424281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Modifications non publiées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vos changements restent un brouillon personnel.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13105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140200"/>
            <a:ext cx="4242816" cy="154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Barre de la section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dupliquer, supprimer, déplacer.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2366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432808"/>
            <a:ext cx="4242816" cy="154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Changer de gabarit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sans perdre le contenu.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188720"/>
            <a:ext cx="14630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F2A37"/>
                </a:solidFill>
                <a:latin typeface="Roboto"/>
              </a:rPr>
              <a:t>Couleur de la section</a:t>
            </a:r>
          </a:p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Par défaut elle suit le thème. Les autres couleurs proposées sont celles de la palette du thème.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Aperçu, publication et brouillon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03 · La vitrine du projet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27-sc-preview_12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754880" cy="171704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2971800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B6573"/>
                </a:solidFill>
                <a:latin typeface="Roboto"/>
              </a:rPr>
              <a:t>① « Quitter l’aperçu » : l’aperçu montre exactement ce que verra un lecteur.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188720"/>
            <a:ext cx="3063240" cy="105156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78424" y="1316736"/>
            <a:ext cx="2770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3059"/>
                </a:solidFill>
                <a:latin typeface="Roboto"/>
              </a:rPr>
              <a:t>Publier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78424" y="1591056"/>
            <a:ext cx="277063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Publier » rend la nouvelle version visible de tous ceux qui ouvrent la vitrine.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2350008"/>
            <a:ext cx="3063240" cy="105156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78424" y="2478024"/>
            <a:ext cx="2770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3059"/>
                </a:solidFill>
                <a:latin typeface="Roboto"/>
              </a:rPr>
              <a:t>Quitter sans publier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78424" y="2752344"/>
            <a:ext cx="277063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L’application demande « Abandonner les modifications non publiées ? » : « Continuer l’édition » ou « Abandonner 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3511296"/>
            <a:ext cx="3063240" cy="105156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78424" y="3639312"/>
            <a:ext cx="2770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3059"/>
                </a:solidFill>
                <a:latin typeface="Roboto"/>
              </a:rPr>
              <a:t>Brouillon retrouvé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8424" y="3913632"/>
            <a:ext cx="2770632" cy="5577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En revenant, le bandeau « Brouillon non publié » propose « Reprendre l’édition » ou « Supprimer le brouillon 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29000"/>
            <a:ext cx="4754880" cy="766064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3557016"/>
            <a:ext cx="44622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96B14"/>
                </a:solidFill>
                <a:latin typeface="Roboto"/>
              </a:rPr>
              <a:t>À savoir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3831336"/>
            <a:ext cx="4462272" cy="2722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Les jalons datés de la feuille de route se replacent seuls par ordre chronologique : c’est voulu.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2152" y="2724912"/>
            <a:ext cx="3017520" cy="1152144"/>
          </a:xfrm>
        </p:spPr>
        <p:txBody>
          <a:bodyPr/>
          <a:lstStyle/>
          <a:p>
            <a:r>
              <a:t>Présenter et recueillir des avis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pic>
        <p:nvPicPr>
          <p:cNvPr id="4" name="Picture Placeholder 3" descr="div4.jp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 t="11" b="11"/>
          <a:stretch>
            <a:fillRect/>
          </a:stretch>
        </p:blipFill>
        <p:spPr/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FE5D49-97A3-75C7-8361-79FE27302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04 · Présenter et recueillir des avis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1430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Dans cette partie</a:t>
            </a:r>
          </a:p>
        </p:txBody>
      </p:sp>
      <p:sp>
        <p:nvSpPr>
          <p:cNvPr id="7" name="TextBox 6">
            <a:hlinkClick action="ppaction://hlinksldjump" r:id="rId4"/>
          </p:cNvPr>
          <p:cNvSpPr txBox="1"/>
          <p:nvPr/>
        </p:nvSpPr>
        <p:spPr>
          <a:xfrm>
            <a:off x="6629400" y="141732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Masquer des parties : le mode Light</a:t>
            </a:r>
          </a:p>
        </p:txBody>
      </p:sp>
      <p:sp>
        <p:nvSpPr>
          <p:cNvPr id="8" name="TextBox 7">
            <a:hlinkClick action="ppaction://hlinksldjump" r:id="rId4"/>
          </p:cNvPr>
          <p:cNvSpPr txBox="1"/>
          <p:nvPr/>
        </p:nvSpPr>
        <p:spPr>
          <a:xfrm>
            <a:off x="8321040" y="141732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27</a:t>
            </a:r>
          </a:p>
        </p:txBody>
      </p:sp>
      <p:sp>
        <p:nvSpPr>
          <p:cNvPr id="9" name="TextBox 8">
            <a:hlinkClick action="ppaction://hlinksldjump" r:id="rId5"/>
          </p:cNvPr>
          <p:cNvSpPr txBox="1"/>
          <p:nvPr/>
        </p:nvSpPr>
        <p:spPr>
          <a:xfrm>
            <a:off x="6629400" y="183591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Partager la vitrine</a:t>
            </a:r>
          </a:p>
        </p:txBody>
      </p: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8321040" y="183591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28</a:t>
            </a:r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629400" y="210007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Ce que voit le destinataire</a:t>
            </a:r>
          </a:p>
        </p:txBody>
      </p:sp>
      <p:sp>
        <p:nvSpPr>
          <p:cNvPr id="12" name="TextBox 11">
            <a:hlinkClick action="ppaction://hlinksldjump" r:id="rId6"/>
          </p:cNvPr>
          <p:cNvSpPr txBox="1"/>
          <p:nvPr/>
        </p:nvSpPr>
        <p:spPr>
          <a:xfrm>
            <a:off x="8321040" y="21000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29</a:t>
            </a:r>
          </a:p>
        </p:txBody>
      </p:sp>
      <p:sp>
        <p:nvSpPr>
          <p:cNvPr id="13" name="TextBox 12">
            <a:hlinkClick action="ppaction://hlinksldjump" r:id="rId7"/>
          </p:cNvPr>
          <p:cNvSpPr txBox="1"/>
          <p:nvPr/>
        </p:nvSpPr>
        <p:spPr>
          <a:xfrm>
            <a:off x="6629400" y="2518664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Les post-its</a:t>
            </a:r>
          </a:p>
        </p:txBody>
      </p:sp>
      <p:sp>
        <p:nvSpPr>
          <p:cNvPr id="14" name="TextBox 13">
            <a:hlinkClick action="ppaction://hlinksldjump" r:id="rId7"/>
          </p:cNvPr>
          <p:cNvSpPr txBox="1"/>
          <p:nvPr/>
        </p:nvSpPr>
        <p:spPr>
          <a:xfrm>
            <a:off x="8321040" y="25186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Masquer des parties : le mode Light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04 · Présenter et recueillir des avis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21-sc-light-config_17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394" y="1188720"/>
            <a:ext cx="6549210" cy="173736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48640" y="314553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154680"/>
            <a:ext cx="451713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Mode Light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n’affiche que les sections cochées (le compteur indique combien).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8038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89528"/>
            <a:ext cx="4517136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Configurer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ouvre la liste des sections et éléments.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4614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955288"/>
            <a:ext cx="451713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Décochez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ce qui ne doit pas apparaître, par exemple « Coût estimé du projet ».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38099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390136"/>
            <a:ext cx="4517136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Valider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enregistre la sélection.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3154680"/>
            <a:ext cx="2971800" cy="1383792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9864" y="3282696"/>
            <a:ext cx="2679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96B14"/>
                </a:solidFill>
                <a:latin typeface="Roboto"/>
              </a:rPr>
              <a:t>À savoir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9864" y="3557016"/>
            <a:ext cx="2679192" cy="89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Une seule vitrine, deux publics : le mode complet pour les experts, le mode Light pour une présentation rapide ou un public qui n’a pas à tout voir. En mode édition, chaque section a aussi « Masquer en vue Light ».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Partager la vitrine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04 · Présenter et recueillir des avis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30-share_7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709" y="1188720"/>
            <a:ext cx="2854260" cy="352044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4023360" y="12252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2544" y="1234440"/>
            <a:ext cx="4242816" cy="341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Mode partagé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complet ou Light. En Light, le destinataire ne peut pas basculer vers la version complète.</a:t>
            </a:r>
          </a:p>
        </p:txBody>
      </p:sp>
      <p:sp>
        <p:nvSpPr>
          <p:cNvPr id="9" name="Oval 8"/>
          <p:cNvSpPr/>
          <p:nvPr/>
        </p:nvSpPr>
        <p:spPr>
          <a:xfrm>
            <a:off x="4023360" y="167640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2544" y="1685544"/>
            <a:ext cx="4242816" cy="341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Commentaires possibles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ajoute un bouton pour poser des post-its.</a:t>
            </a:r>
          </a:p>
        </p:txBody>
      </p:sp>
      <p:sp>
        <p:nvSpPr>
          <p:cNvPr id="11" name="Oval 10"/>
          <p:cNvSpPr/>
          <p:nvPr/>
        </p:nvSpPr>
        <p:spPr>
          <a:xfrm>
            <a:off x="4023360" y="212750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2544" y="2136648"/>
            <a:ext cx="4242816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Visibilité des post-its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tous, ou seulement les siens.</a:t>
            </a:r>
          </a:p>
        </p:txBody>
      </p:sp>
      <p:sp>
        <p:nvSpPr>
          <p:cNvPr id="13" name="Oval 12"/>
          <p:cNvSpPr/>
          <p:nvPr/>
        </p:nvSpPr>
        <p:spPr>
          <a:xfrm>
            <a:off x="4023360" y="249326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4" y="2502407"/>
            <a:ext cx="4242816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Copier le lien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à envoyer par Teams ou par mail.</a:t>
            </a:r>
          </a:p>
        </p:txBody>
      </p:sp>
      <p:sp>
        <p:nvSpPr>
          <p:cNvPr id="15" name="Oval 14"/>
          <p:cNvSpPr/>
          <p:nvPr/>
        </p:nvSpPr>
        <p:spPr>
          <a:xfrm>
            <a:off x="4023360" y="285902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2868167"/>
            <a:ext cx="4242816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Télécharger le raccourci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pour l’ouvrir d’un double-clic.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 que voit le destinataire du lien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04 · Présenter et recueillir des avis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33-shared-view_12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937760" cy="308610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715000" y="12252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44184" y="1234440"/>
            <a:ext cx="255117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Commentaires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bouton flottant visible si les commentaires sont autorisés. Il active la pose de post-its.</a:t>
            </a:r>
          </a:p>
        </p:txBody>
      </p:sp>
      <p:sp>
        <p:nvSpPr>
          <p:cNvPr id="9" name="Oval 8"/>
          <p:cNvSpPr/>
          <p:nvPr/>
        </p:nvSpPr>
        <p:spPr>
          <a:xfrm>
            <a:off x="5715000" y="2202180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2148840"/>
            <a:ext cx="2697479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La vitrine s’ouvre seule, sans la barre de navigation de l’application.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5715000" y="2600452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2547112"/>
            <a:ext cx="2697479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Elle respecte le mode choisi au partage.</a:t>
            </a:r>
          </a:p>
        </p:txBody>
      </p:sp>
      <p:sp>
        <p:nvSpPr>
          <p:cNvPr id="13" name="Oval 12"/>
          <p:cNvSpPr/>
          <p:nvPr/>
        </p:nvSpPr>
        <p:spPr>
          <a:xfrm>
            <a:off x="5715000" y="2836164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2782824"/>
            <a:ext cx="269747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Le lien est protégé : le modifier à la main ne donne pas accès à plus que ce que vous avez partagé.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post-its : recueillir et traiter les retours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04 · Présenter et recueillir des avis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31-postits_12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828032" cy="301752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71500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44184" y="1188720"/>
            <a:ext cx="2551176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Mode annotation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actif après « Commenter » (ou « Commentaires » chez le destinataire).</a:t>
            </a:r>
          </a:p>
        </p:txBody>
      </p:sp>
      <p:sp>
        <p:nvSpPr>
          <p:cNvPr id="9" name="Oval 8"/>
          <p:cNvSpPr/>
          <p:nvPr/>
        </p:nvSpPr>
        <p:spPr>
          <a:xfrm>
            <a:off x="5715000" y="174040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4184" y="1749552"/>
            <a:ext cx="255117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Un clic sur la vitrine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pose un post-it à cet endroit.</a:t>
            </a:r>
          </a:p>
        </p:txBody>
      </p:sp>
      <p:sp>
        <p:nvSpPr>
          <p:cNvPr id="11" name="Oval 10"/>
          <p:cNvSpPr/>
          <p:nvPr/>
        </p:nvSpPr>
        <p:spPr>
          <a:xfrm>
            <a:off x="5715000" y="213868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44184" y="2147824"/>
            <a:ext cx="2551176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Clôturer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une remarque traitée.</a:t>
            </a:r>
          </a:p>
        </p:txBody>
      </p:sp>
      <p:sp>
        <p:nvSpPr>
          <p:cNvPr id="13" name="Oval 12"/>
          <p:cNvSpPr/>
          <p:nvPr/>
        </p:nvSpPr>
        <p:spPr>
          <a:xfrm>
            <a:off x="5715000" y="246786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4184" y="2477008"/>
            <a:ext cx="255117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Répondre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pour échanger sur le post-it.</a:t>
            </a:r>
          </a:p>
        </p:txBody>
      </p:sp>
      <p:sp>
        <p:nvSpPr>
          <p:cNvPr id="15" name="Oval 14"/>
          <p:cNvSpPr/>
          <p:nvPr/>
        </p:nvSpPr>
        <p:spPr>
          <a:xfrm>
            <a:off x="5715000" y="286613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4184" y="2875280"/>
            <a:ext cx="255117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Mettre en pause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pour cliquer sans poser de post-it.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43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5B6573"/>
                </a:solidFill>
                <a:latin typeface="Roboto"/>
              </a:rPr>
              <a:t>Sur l’accueil, un badge « N retours » signale les post-its posés par d’autres personnes et pas encore traités sur la vitrine de votre projet.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2152" y="2724912"/>
            <a:ext cx="3017520" cy="1152144"/>
          </a:xfrm>
        </p:spPr>
        <p:txBody>
          <a:bodyPr/>
          <a:lstStyle/>
          <a:p>
            <a:r>
              <a:t>Les enjeux et la soumission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5</a:t>
            </a:r>
          </a:p>
        </p:txBody>
      </p:sp>
      <p:pic>
        <p:nvPicPr>
          <p:cNvPr id="4" name="Picture Placeholder 3" descr="div5.jp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 t="11" b="11"/>
          <a:stretch>
            <a:fillRect/>
          </a:stretch>
        </p:blipFill>
        <p:spPr/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FE5D49-97A3-75C7-8361-79FE27302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05 · Les enjeux et la soumission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1430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Dans cette partie</a:t>
            </a:r>
          </a:p>
        </p:txBody>
      </p:sp>
      <p:sp>
        <p:nvSpPr>
          <p:cNvPr id="7" name="TextBox 6">
            <a:hlinkClick action="ppaction://hlinksldjump" r:id="rId4"/>
          </p:cNvPr>
          <p:cNvSpPr txBox="1"/>
          <p:nvPr/>
        </p:nvSpPr>
        <p:spPr>
          <a:xfrm>
            <a:off x="6629400" y="141732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La page « Enjeux du projet »</a:t>
            </a:r>
          </a:p>
        </p:txBody>
      </p:sp>
      <p:sp>
        <p:nvSpPr>
          <p:cNvPr id="8" name="TextBox 7">
            <a:hlinkClick action="ppaction://hlinksldjump" r:id="rId4"/>
          </p:cNvPr>
          <p:cNvSpPr txBox="1"/>
          <p:nvPr/>
        </p:nvSpPr>
        <p:spPr>
          <a:xfrm>
            <a:off x="8321040" y="141732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32</a:t>
            </a:r>
          </a:p>
        </p:txBody>
      </p:sp>
      <p:sp>
        <p:nvSpPr>
          <p:cNvPr id="9" name="TextBox 8">
            <a:hlinkClick action="ppaction://hlinksldjump" r:id="rId5"/>
          </p:cNvPr>
          <p:cNvSpPr txBox="1"/>
          <p:nvPr/>
        </p:nvSpPr>
        <p:spPr>
          <a:xfrm>
            <a:off x="6629400" y="183591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Où en est votre projet</a:t>
            </a:r>
          </a:p>
        </p:txBody>
      </p: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8321040" y="183591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33</a:t>
            </a:r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629400" y="210007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Avis préliminaire ou validation</a:t>
            </a:r>
          </a:p>
        </p:txBody>
      </p:sp>
      <p:sp>
        <p:nvSpPr>
          <p:cNvPr id="12" name="TextBox 11">
            <a:hlinkClick action="ppaction://hlinksldjump" r:id="rId6"/>
          </p:cNvPr>
          <p:cNvSpPr txBox="1"/>
          <p:nvPr/>
        </p:nvSpPr>
        <p:spPr>
          <a:xfrm>
            <a:off x="8321040" y="21000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34</a:t>
            </a:r>
          </a:p>
        </p:txBody>
      </p:sp>
      <p:sp>
        <p:nvSpPr>
          <p:cNvPr id="13" name="TextBox 12">
            <a:hlinkClick action="ppaction://hlinksldjump" r:id="rId7"/>
          </p:cNvPr>
          <p:cNvSpPr txBox="1"/>
          <p:nvPr/>
        </p:nvSpPr>
        <p:spPr>
          <a:xfrm>
            <a:off x="6629400" y="2518664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Équipes et points à préparer</a:t>
            </a:r>
          </a:p>
        </p:txBody>
      </p:sp>
      <p:sp>
        <p:nvSpPr>
          <p:cNvPr id="14" name="TextBox 13">
            <a:hlinkClick action="ppaction://hlinksldjump" r:id="rId7"/>
          </p:cNvPr>
          <p:cNvSpPr txBox="1"/>
          <p:nvPr/>
        </p:nvSpPr>
        <p:spPr>
          <a:xfrm>
            <a:off x="8321040" y="25186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35</a:t>
            </a:r>
          </a:p>
        </p:txBody>
      </p:sp>
      <p:sp>
        <p:nvSpPr>
          <p:cNvPr id="15" name="TextBox 14">
            <a:hlinkClick action="ppaction://hlinksldjump" r:id="rId8"/>
          </p:cNvPr>
          <p:cNvSpPr txBox="1"/>
          <p:nvPr/>
        </p:nvSpPr>
        <p:spPr>
          <a:xfrm>
            <a:off x="6629400" y="2937256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Risques identifiés</a:t>
            </a:r>
          </a:p>
        </p:txBody>
      </p:sp>
      <p:sp>
        <p:nvSpPr>
          <p:cNvPr id="16" name="TextBox 15">
            <a:hlinkClick action="ppaction://hlinksldjump" r:id="rId8"/>
          </p:cNvPr>
          <p:cNvSpPr txBox="1"/>
          <p:nvPr/>
        </p:nvSpPr>
        <p:spPr>
          <a:xfrm>
            <a:off x="8321040" y="293725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36</a:t>
            </a:r>
          </a:p>
        </p:txBody>
      </p:sp>
      <p:sp>
        <p:nvSpPr>
          <p:cNvPr id="17" name="TextBox 16">
            <a:hlinkClick action="ppaction://hlinksldjump" r:id="rId9"/>
          </p:cNvPr>
          <p:cNvSpPr txBox="1"/>
          <p:nvPr/>
        </p:nvSpPr>
        <p:spPr>
          <a:xfrm>
            <a:off x="6629400" y="3201415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Partage et rappel des réponses</a:t>
            </a:r>
          </a:p>
        </p:txBody>
      </p:sp>
      <p:sp>
        <p:nvSpPr>
          <p:cNvPr id="18" name="TextBox 17">
            <a:hlinkClick action="ppaction://hlinksldjump" r:id="rId9"/>
          </p:cNvPr>
          <p:cNvSpPr txBox="1"/>
          <p:nvPr/>
        </p:nvSpPr>
        <p:spPr>
          <a:xfrm>
            <a:off x="8321040" y="3201415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37</a:t>
            </a:r>
          </a:p>
        </p:txBody>
      </p:sp>
      <p:sp>
        <p:nvSpPr>
          <p:cNvPr id="19" name="TextBox 18">
            <a:hlinkClick action="ppaction://hlinksldjump" r:id="rId10"/>
          </p:cNvPr>
          <p:cNvSpPr txBox="1"/>
          <p:nvPr/>
        </p:nvSpPr>
        <p:spPr>
          <a:xfrm>
            <a:off x="6629400" y="3620008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Soumettre</a:t>
            </a:r>
          </a:p>
        </p:txBody>
      </p:sp>
      <p:sp>
        <p:nvSpPr>
          <p:cNvPr id="20" name="TextBox 19">
            <a:hlinkClick action="ppaction://hlinksldjump" r:id="rId10"/>
          </p:cNvPr>
          <p:cNvSpPr txBox="1"/>
          <p:nvPr/>
        </p:nvSpPr>
        <p:spPr>
          <a:xfrm>
            <a:off x="8321040" y="362000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38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page « Enjeux du projet »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05 · Les enjeux et la soumission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40-syn-overview_12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828032" cy="301752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94360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2784" y="1188720"/>
            <a:ext cx="2322576" cy="154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Statut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du projet.</a:t>
            </a:r>
          </a:p>
        </p:txBody>
      </p:sp>
      <p:sp>
        <p:nvSpPr>
          <p:cNvPr id="9" name="Oval 8"/>
          <p:cNvSpPr/>
          <p:nvPr/>
        </p:nvSpPr>
        <p:spPr>
          <a:xfrm>
            <a:off x="5943600" y="149047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2784" y="1499616"/>
            <a:ext cx="2322576" cy="154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Paliers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de consultation atteints.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0" y="180136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2784" y="1810512"/>
            <a:ext cx="2322576" cy="154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Demander la validation »</a:t>
            </a:r>
            <a:r>
              <a:rPr sz="950" b="0" i="0">
                <a:solidFill>
                  <a:srgbClr val="1F2A37"/>
                </a:solidFill>
                <a:latin typeface="Roboto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5943600" y="211226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2121408"/>
            <a:ext cx="2322576" cy="154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Demander un avis préliminaire »</a:t>
            </a:r>
            <a:r>
              <a:rPr sz="950" b="0" i="0">
                <a:solidFill>
                  <a:srgbClr val="1F2A37"/>
                </a:solidFill>
                <a:latin typeface="Roboto"/>
              </a:rPr>
              <a:t/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242316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432304"/>
            <a:ext cx="232257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Ouvrir la vitrine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pour faire avancer votre réflexion.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0" y="278688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2796032"/>
            <a:ext cx="232257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Équipes à solliciter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les experts concernés.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0" y="315061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3159760"/>
            <a:ext cx="232257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Solliciter cette équipe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si une équipe manque.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0" y="351434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3523488"/>
            <a:ext cx="2322576" cy="154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Retour au questionnaire »</a:t>
            </a:r>
            <a:r>
              <a:rPr sz="950" b="0" i="0">
                <a:solidFill>
                  <a:srgbClr val="1F2A37"/>
                </a:solidFill>
                <a:latin typeface="Roboto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976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B6573"/>
                </a:solidFill>
                <a:latin typeface="Roboto"/>
              </a:rPr>
              <a:t>Accès : « Enjeux du projet » (vitrine) ou « Consulter les enjeux » (carte).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Où en est votre projet : trois paliers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05 · Les enjeux et la soumission</a:t>
            </a:r>
          </a:p>
        </p:txBody>
      </p:sp>
      <p:sp>
        <p:nvSpPr>
          <p:cNvPr id="5" name="TextBox 4">
            <a:hlinkClick action="ppaction://hlinksldjump" r:id="rId4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46-syn-readiness-partial-a_3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508760" cy="2444662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pic>
        <p:nvPicPr>
          <p:cNvPr id="7" name="Picture 6" descr="46-syn-readiness-partial-b_39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188720"/>
            <a:ext cx="1508760" cy="1940171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8" name="Oval 7"/>
          <p:cNvSpPr/>
          <p:nvPr/>
        </p:nvSpPr>
        <p:spPr>
          <a:xfrm>
            <a:off x="393192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1104" y="1188720"/>
            <a:ext cx="1911096" cy="154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Les trois paliers</a:t>
            </a:r>
            <a:r>
              <a:rPr sz="950" b="0" i="0">
                <a:solidFill>
                  <a:srgbClr val="1F2A37"/>
                </a:solidFill>
                <a:latin typeface="Roboto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3931920" y="149961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1508760"/>
            <a:ext cx="1911096" cy="463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Ce qui manque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pour atteindre le palier suivant, avec un lien vers chaque question.</a:t>
            </a:r>
          </a:p>
        </p:txBody>
      </p:sp>
      <p:sp>
        <p:nvSpPr>
          <p:cNvPr id="12" name="Oval 11"/>
          <p:cNvSpPr/>
          <p:nvPr/>
        </p:nvSpPr>
        <p:spPr>
          <a:xfrm>
            <a:off x="3931920" y="202692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1104" y="2036064"/>
            <a:ext cx="191109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Les doutes ouverts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à lever avant la validation.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3931920" y="239979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2408935"/>
            <a:ext cx="191109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Bouton grisé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avec la raison écrite en dessous.</a:t>
            </a:r>
          </a:p>
        </p:txBody>
      </p:sp>
      <p:sp>
        <p:nvSpPr>
          <p:cNvPr id="16" name="Oval 15"/>
          <p:cNvSpPr/>
          <p:nvPr/>
        </p:nvSpPr>
        <p:spPr>
          <a:xfrm>
            <a:off x="3931920" y="2772663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4" y="2781807"/>
            <a:ext cx="1911096" cy="463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La validation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reste visible même quand elle n’est pas encore possible.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188720"/>
            <a:ext cx="2240280" cy="914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1384" y="1316736"/>
            <a:ext cx="1947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Orientation possible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1591056"/>
            <a:ext cx="19476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Roboto"/>
              </a:rPr>
              <a:t>Les questions du socle sont renseignées.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176272"/>
            <a:ext cx="2240280" cy="914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4" y="2304288"/>
            <a:ext cx="1947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Avis technique possible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2578608"/>
            <a:ext cx="19476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Roboto"/>
              </a:rPr>
              <a:t>Toutes les réponses obligatoires sont remplies (des doutes peuvent rester).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163824"/>
            <a:ext cx="2240280" cy="914400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4" y="3291840"/>
            <a:ext cx="1947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Validation possible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4" y="3566160"/>
            <a:ext cx="19476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Roboto"/>
              </a:rPr>
              <a:t>Toutes les réponses sont définitives : aucun doute ouvert.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169663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B6573"/>
                </a:solidFill>
                <a:latin typeface="Roboto"/>
              </a:rPr>
              <a:t>Avis technique et validation demandent le même dossier ; seule la fermeté des réponses les sépare.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Avis préliminaire ou validation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05 · Les enjeux et la soumission</a:t>
            </a:r>
          </a:p>
        </p:txBody>
      </p:sp>
      <p:sp>
        <p:nvSpPr>
          <p:cNvPr id="5" name="TextBox 4">
            <a:hlinkClick action="ppaction://hlinksldjump" r:id="rId2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931920" cy="25146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316736"/>
            <a:ext cx="3639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059"/>
                </a:solidFill>
                <a:latin typeface="Roboto"/>
              </a:rPr>
              <a:t>Demander un avis préliminaire</a:t>
            </a:r>
          </a:p>
        </p:txBody>
      </p:sp>
      <p:sp>
        <p:nvSpPr>
          <p:cNvPr id="8" name="Oval 7"/>
          <p:cNvSpPr/>
          <p:nvPr/>
        </p:nvSpPr>
        <p:spPr>
          <a:xfrm>
            <a:off x="694944" y="1647063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91056"/>
            <a:ext cx="3456432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Pour un projet encore en construction.</a:t>
            </a:r>
          </a:p>
        </p:txBody>
      </p:sp>
      <p:sp>
        <p:nvSpPr>
          <p:cNvPr id="10" name="Oval 9"/>
          <p:cNvSpPr/>
          <p:nvPr/>
        </p:nvSpPr>
        <p:spPr>
          <a:xfrm>
            <a:off x="694944" y="1890903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834896"/>
            <a:ext cx="3456432" cy="341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Les experts vous orientent, signalent les points de vigilance et les questions à préparer.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" y="2305431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249424"/>
            <a:ext cx="3456432" cy="341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Ce n’est pas une validation : le badge affiché sera « Avis préliminaire ».</a:t>
            </a:r>
          </a:p>
        </p:txBody>
      </p:sp>
      <p:sp>
        <p:nvSpPr>
          <p:cNvPr id="14" name="Oval 13"/>
          <p:cNvSpPr/>
          <p:nvPr/>
        </p:nvSpPr>
        <p:spPr>
          <a:xfrm>
            <a:off x="694944" y="2719958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663952"/>
            <a:ext cx="3456432" cy="341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Possible dès que les questions du socle sont renseignées, même avec des doutes.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188720"/>
            <a:ext cx="3931920" cy="2514600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9744" y="1316736"/>
            <a:ext cx="3639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96B14"/>
                </a:solidFill>
                <a:latin typeface="Roboto"/>
              </a:rPr>
              <a:t>Demander la validation</a:t>
            </a:r>
          </a:p>
        </p:txBody>
      </p:sp>
      <p:sp>
        <p:nvSpPr>
          <p:cNvPr id="18" name="Oval 17"/>
          <p:cNvSpPr/>
          <p:nvPr/>
        </p:nvSpPr>
        <p:spPr>
          <a:xfrm>
            <a:off x="4809744" y="1647063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92624" y="1591056"/>
            <a:ext cx="3456432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Pour un projet arrêté.</a:t>
            </a:r>
          </a:p>
        </p:txBody>
      </p:sp>
      <p:sp>
        <p:nvSpPr>
          <p:cNvPr id="20" name="Oval 19"/>
          <p:cNvSpPr/>
          <p:nvPr/>
        </p:nvSpPr>
        <p:spPr>
          <a:xfrm>
            <a:off x="4809744" y="1890903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92624" y="1834896"/>
            <a:ext cx="3456432" cy="341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Les experts se prononcent formellement sur chaque périmètre concerné.</a:t>
            </a:r>
          </a:p>
        </p:txBody>
      </p:sp>
      <p:sp>
        <p:nvSpPr>
          <p:cNvPr id="22" name="Oval 21"/>
          <p:cNvSpPr/>
          <p:nvPr/>
        </p:nvSpPr>
        <p:spPr>
          <a:xfrm>
            <a:off x="4809744" y="2305431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92624" y="2249424"/>
            <a:ext cx="3456432" cy="341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Exige toutes les questions obligatoires avec une réponse ferme.</a:t>
            </a:r>
          </a:p>
        </p:txBody>
      </p:sp>
      <p:sp>
        <p:nvSpPr>
          <p:cNvPr id="24" name="Oval 23"/>
          <p:cNvSpPr/>
          <p:nvPr/>
        </p:nvSpPr>
        <p:spPr>
          <a:xfrm>
            <a:off x="4809744" y="2719958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92624" y="2663952"/>
            <a:ext cx="3456432" cy="341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Le badge évolue jusqu’à « Validé » quand tous les avis requis sont favorables.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840480"/>
            <a:ext cx="80467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68496"/>
            <a:ext cx="7754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Dans les deux cas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4242816"/>
            <a:ext cx="775411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À l’envoi, l’application indique quelles équipes seront notifiées. Le projet reste modifiable ensuite (partie 6).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Équipes à solliciter et points à préparer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05 · Les enjeux et la soumission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41-syn-team_9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544788" cy="320040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07492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4104" y="1188720"/>
            <a:ext cx="31912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Points à préparer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les questions que cette équipe pose systématiquement. Préparez-y une réponse.</a:t>
            </a:r>
          </a:p>
        </p:txBody>
      </p:sp>
      <p:sp>
        <p:nvSpPr>
          <p:cNvPr id="9" name="Oval 8"/>
          <p:cNvSpPr/>
          <p:nvPr/>
        </p:nvSpPr>
        <p:spPr>
          <a:xfrm>
            <a:off x="5074920" y="180136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4104" y="1810512"/>
            <a:ext cx="31912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Échange en cours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aucun avis n’a encore été rendu, vous pouvez déjà poser vos questions.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5074920" y="242316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4104" y="2432304"/>
            <a:ext cx="3191256" cy="341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Répondre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ouvre le fil d’échange avec l’équipe.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3108960"/>
            <a:ext cx="3520440" cy="1074928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1224" y="3236976"/>
            <a:ext cx="3227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96B14"/>
                </a:solidFill>
                <a:latin typeface="Roboto"/>
              </a:rPr>
              <a:t>À savoir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3511296"/>
            <a:ext cx="3227832" cy="581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Les cartes d’équipe sont repliées : un clic sur le nom de l’équipe les déplie. Une équipe manque ? « Solliciter cette équipe », sous la liste, l’ajoute aux enjeux et la notifie.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Risques identifiés et points de vigilance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05 · Les enjeux et la soumission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42-syn-risks_12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730591" cy="352044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623560" y="1287780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1234440"/>
            <a:ext cx="278892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Niveau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de criticité (faible, moyen, élevé) et priorité (« À réaliser », « À anticiper »…).</a:t>
            </a:r>
          </a:p>
        </p:txBody>
      </p:sp>
      <p:sp>
        <p:nvSpPr>
          <p:cNvPr id="9" name="Oval 8"/>
          <p:cNvSpPr/>
          <p:nvPr/>
        </p:nvSpPr>
        <p:spPr>
          <a:xfrm>
            <a:off x="5623560" y="1848611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795272"/>
            <a:ext cx="2788920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Équipe référente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pour chaque risque.</a:t>
            </a:r>
          </a:p>
        </p:txBody>
      </p:sp>
      <p:sp>
        <p:nvSpPr>
          <p:cNvPr id="11" name="Oval 10"/>
          <p:cNvSpPr/>
          <p:nvPr/>
        </p:nvSpPr>
        <p:spPr>
          <a:xfrm>
            <a:off x="5623560" y="2084323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030984"/>
            <a:ext cx="2788920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Mitigation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l’action attendue pour réduire le risque.</a:t>
            </a:r>
          </a:p>
        </p:txBody>
      </p:sp>
      <p:sp>
        <p:nvSpPr>
          <p:cNvPr id="13" name="Oval 12"/>
          <p:cNvSpPr/>
          <p:nvPr/>
        </p:nvSpPr>
        <p:spPr>
          <a:xfrm>
            <a:off x="5623560" y="2482596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2429256"/>
            <a:ext cx="278892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Points de vigilance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délais à respecter entre vos dates, quand une règle en prévoit.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3429000"/>
            <a:ext cx="2971800" cy="920496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9864" y="3557016"/>
            <a:ext cx="2679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96B14"/>
                </a:solidFill>
                <a:latin typeface="Roboto"/>
              </a:rPr>
              <a:t>À savoir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9864" y="3831336"/>
            <a:ext cx="2679192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Les risques se recalculent à chaque réponse modifiée : ils décrivent toujours l’état actuel du projet.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Partage du projet et rappel des réponses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05 · Les enjeux et la soumission</a:t>
            </a:r>
          </a:p>
        </p:txBody>
      </p:sp>
      <p:sp>
        <p:nvSpPr>
          <p:cNvPr id="5" name="TextBox 4">
            <a:hlinkClick action="ppaction://hlinksldjump" r:id="rId4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44-syn-share_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714813" cy="82296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48640" y="218541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194560"/>
            <a:ext cx="351129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Partage du projet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ajoutez un collègue, il retrouvera le projet dans sa liste et pourra le faire évoluer avec vous.</a:t>
            </a:r>
          </a:p>
        </p:txBody>
      </p:sp>
      <p:pic>
        <p:nvPicPr>
          <p:cNvPr id="9" name="Picture 8" descr="45-syn-recap_103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88720"/>
            <a:ext cx="3931920" cy="192024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10" name="Oval 9"/>
          <p:cNvSpPr/>
          <p:nvPr/>
        </p:nvSpPr>
        <p:spPr>
          <a:xfrm>
            <a:off x="4663440" y="32826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3291840"/>
            <a:ext cx="3602736" cy="341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Crayon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à côté d’une réponse : ouvre directement la question pour la modifier (partie 6).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5B6573"/>
                </a:solidFill>
                <a:latin typeface="Roboto"/>
              </a:rPr>
              <a:t>La section « Rappel de vos réponses » se déplie avec « Afficher ».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Soumettre et vérifier l’envoi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05 · Les enjeux et la soumission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Choix des périmètres à consulter"/>
          <p:cNvPicPr>
            <a:picLocks noChangeAspect="1"/>
          </p:cNvPicPr>
          <p:nvPr/>
        </p:nvPicPr>
        <p:blipFill>
          <a:blip r:embed="rIdVagues1"/>
          <a:stretch>
            <a:fillRect/>
          </a:stretch>
        </p:blipFill>
        <p:spPr>
          <a:xfrm>
            <a:off x="548640" y="1188720"/>
            <a:ext cx="2333456" cy="320040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pic>
        <p:nvPicPr>
          <p:cNvPr id="7" name="Picture 6" descr="Consultation partielle après l’envoi"/>
          <p:cNvPicPr>
            <a:picLocks noChangeAspect="1"/>
          </p:cNvPicPr>
          <p:nvPr/>
        </p:nvPicPr>
        <p:blipFill>
          <a:blip r:embed="rIdVagues2"/>
          <a:stretch>
            <a:fillRect/>
          </a:stretch>
        </p:blipFill>
        <p:spPr>
          <a:xfrm>
            <a:off x="3019256" y="1188720"/>
            <a:ext cx="2231755" cy="320040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8" name="Oval 6"/>
          <p:cNvSpPr/>
          <p:nvPr/>
        </p:nvSpPr>
        <p:spPr>
          <a:xfrm>
            <a:off x="5394960" y="12252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5724144" y="1234440"/>
            <a:ext cx="2871216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 Qui voulez-vous consulter ? 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tous les périmètres (par défaut) ou certains d’abord.</a:t>
            </a:r>
          </a:p>
        </p:txBody>
      </p:sp>
      <p:sp>
        <p:nvSpPr>
          <p:cNvPr id="10" name="Oval 6"/>
          <p:cNvSpPr/>
          <p:nvPr/>
        </p:nvSpPr>
        <p:spPr>
          <a:xfrm>
            <a:off x="5394960" y="17052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1" name="TextBox 7"/>
          <p:cNvSpPr txBox="1"/>
          <p:nvPr/>
        </p:nvSpPr>
        <p:spPr>
          <a:xfrm>
            <a:off x="5724144" y="1714440"/>
            <a:ext cx="2871216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Cochez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qui consulter en premier.</a:t>
            </a:r>
          </a:p>
        </p:txBody>
      </p:sp>
      <p:sp>
        <p:nvSpPr>
          <p:cNvPr id="12" name="Oval 6"/>
          <p:cNvSpPr/>
          <p:nvPr/>
        </p:nvSpPr>
        <p:spPr>
          <a:xfrm>
            <a:off x="5394960" y="206304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3" name="TextBox 7"/>
          <p:cNvSpPr txBox="1"/>
          <p:nvPr/>
        </p:nvSpPr>
        <p:spPr>
          <a:xfrm>
            <a:off x="5724144" y="2072184"/>
            <a:ext cx="2871216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Le bouton annonce l’envoi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à qui, et combien attendront.</a:t>
            </a:r>
          </a:p>
        </p:txBody>
      </p:sp>
      <p:sp>
        <p:nvSpPr>
          <p:cNvPr id="14" name="Oval 6"/>
          <p:cNvSpPr/>
          <p:nvPr/>
        </p:nvSpPr>
        <p:spPr>
          <a:xfrm>
            <a:off x="5394960" y="254304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5" name="TextBox 7"/>
          <p:cNvSpPr txBox="1"/>
          <p:nvPr/>
        </p:nvSpPr>
        <p:spPr>
          <a:xfrm>
            <a:off x="5724144" y="2552184"/>
            <a:ext cx="2871216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Après l’envoi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« Consultation partielle » et les périmètres à solliciter ensuite.</a:t>
            </a:r>
          </a:p>
        </p:txBody>
      </p:sp>
      <p:sp>
        <p:nvSpPr>
          <p:cNvPr id="16" name="Oval 8"/>
          <p:cNvSpPr/>
          <p:nvPr/>
        </p:nvSpPr>
        <p:spPr>
          <a:xfrm>
            <a:off x="5394960" y="3139046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9"/>
          <p:cNvSpPr txBox="1"/>
          <p:nvPr/>
        </p:nvSpPr>
        <p:spPr>
          <a:xfrm>
            <a:off x="5577840" y="3083040"/>
            <a:ext cx="301752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Confirmation : « Avis préliminaire demandé : … » ou « Projet soumis : … ».</a:t>
            </a:r>
          </a:p>
        </p:txBody>
      </p:sp>
      <p:sp>
        <p:nvSpPr>
          <p:cNvPr id="18" name="Oval 8"/>
          <p:cNvSpPr/>
          <p:nvPr/>
        </p:nvSpPr>
        <p:spPr>
          <a:xfrm>
            <a:off x="5394960" y="3589046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9"/>
          <p:cNvSpPr txBox="1"/>
          <p:nvPr/>
        </p:nvSpPr>
        <p:spPr>
          <a:xfrm>
            <a:off x="5577840" y="3533040"/>
            <a:ext cx="301752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Seuls les périmètres retenus sont notifiés.</a:t>
            </a:r>
          </a:p>
        </p:txBody>
      </p:sp>
      <p:sp>
        <p:nvSpPr>
          <p:cNvPr id="20" name="Oval 8"/>
          <p:cNvSpPr/>
          <p:nvPr/>
        </p:nvSpPr>
        <p:spPr>
          <a:xfrm>
            <a:off x="5394960" y="3859046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9"/>
          <p:cNvSpPr txBox="1"/>
          <p:nvPr/>
        </p:nvSpPr>
        <p:spPr>
          <a:xfrm>
            <a:off x="5577840" y="3803040"/>
            <a:ext cx="301752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Le badge de la carte suit l’avancement des avis (annexe des statuts).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2152" y="2724912"/>
            <a:ext cx="3017520" cy="1152144"/>
          </a:xfrm>
        </p:spPr>
        <p:txBody>
          <a:bodyPr/>
          <a:lstStyle/>
          <a:p>
            <a:r>
              <a:t>Après la soumission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6</a:t>
            </a:r>
          </a:p>
        </p:txBody>
      </p:sp>
      <p:pic>
        <p:nvPicPr>
          <p:cNvPr id="4" name="Picture Placeholder 3" descr="div6.jp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 t="11" b="11"/>
          <a:stretch>
            <a:fillRect/>
          </a:stretch>
        </p:blipFill>
        <p:spPr/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FE5D49-97A3-75C7-8361-79FE27302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06 · Après la soumission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1430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Dans cette partie</a:t>
            </a:r>
          </a:p>
        </p:txBody>
      </p:sp>
      <p:sp>
        <p:nvSpPr>
          <p:cNvPr id="7" name="TextBox 6">
            <a:hlinkClick action="ppaction://hlinksldjump" r:id="rId4"/>
          </p:cNvPr>
          <p:cNvSpPr txBox="1"/>
          <p:nvPr/>
        </p:nvSpPr>
        <p:spPr>
          <a:xfrm>
            <a:off x="6629400" y="141732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Suivre depuis l’accueil</a:t>
            </a:r>
          </a:p>
        </p:txBody>
      </p:sp>
      <p:sp>
        <p:nvSpPr>
          <p:cNvPr id="8" name="TextBox 7">
            <a:hlinkClick action="ppaction://hlinksldjump" r:id="rId4"/>
          </p:cNvPr>
          <p:cNvSpPr txBox="1"/>
          <p:nvPr/>
        </p:nvSpPr>
        <p:spPr>
          <a:xfrm>
            <a:off x="8321040" y="141732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40</a:t>
            </a:r>
          </a:p>
        </p:txBody>
      </p:sp>
      <p:sp>
        <p:nvSpPr>
          <p:cNvPr id="9" name="TextBox 8">
            <a:hlinkClick action="ppaction://hlinksldjump" r:id="rId5"/>
          </p:cNvPr>
          <p:cNvSpPr txBox="1"/>
          <p:nvPr/>
        </p:nvSpPr>
        <p:spPr>
          <a:xfrm>
            <a:off x="6629400" y="168148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Lire l’avis et répondre</a:t>
            </a:r>
          </a:p>
        </p:txBody>
      </p: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8321040" y="168148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41</a:t>
            </a:r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629400" y="194564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Modifier un projet soumis</a:t>
            </a:r>
          </a:p>
        </p:txBody>
      </p:sp>
      <p:sp>
        <p:nvSpPr>
          <p:cNvPr id="12" name="TextBox 11">
            <a:hlinkClick action="ppaction://hlinksldjump" r:id="rId6"/>
          </p:cNvPr>
          <p:cNvSpPr txBox="1"/>
          <p:nvPr/>
        </p:nvSpPr>
        <p:spPr>
          <a:xfrm>
            <a:off x="8321040" y="194564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42</a:t>
            </a:r>
          </a:p>
        </p:txBody>
      </p:sp>
      <p:sp>
        <p:nvSpPr>
          <p:cNvPr id="13" name="TextBox 12">
            <a:hlinkClick action="ppaction://hlinksldjump" r:id="rId7"/>
          </p:cNvPr>
          <p:cNvSpPr txBox="1"/>
          <p:nvPr/>
        </p:nvSpPr>
        <p:spPr>
          <a:xfrm>
            <a:off x="6629400" y="220980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Envoyer la mise à jour</a:t>
            </a:r>
          </a:p>
        </p:txBody>
      </p:sp>
      <p:sp>
        <p:nvSpPr>
          <p:cNvPr id="14" name="TextBox 13">
            <a:hlinkClick action="ppaction://hlinksldjump" r:id="rId7"/>
          </p:cNvPr>
          <p:cNvSpPr txBox="1"/>
          <p:nvPr/>
        </p:nvSpPr>
        <p:spPr>
          <a:xfrm>
            <a:off x="8321040" y="220980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43</a:t>
            </a:r>
          </a:p>
        </p:txBody>
      </p:sp>
      <p:sp>
        <p:nvSpPr>
          <p:cNvPr id="15" name="TextBox 14">
            <a:hlinkClick action="ppaction://hlinksldjump" r:id="rId8"/>
          </p:cNvPr>
          <p:cNvSpPr txBox="1"/>
          <p:nvPr/>
        </p:nvSpPr>
        <p:spPr>
          <a:xfrm>
            <a:off x="6629400" y="2473959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« À ré-examiner »</a:t>
            </a:r>
          </a:p>
        </p:txBody>
      </p:sp>
      <p:sp>
        <p:nvSpPr>
          <p:cNvPr id="16" name="TextBox 15">
            <a:hlinkClick action="ppaction://hlinksldjump" r:id="rId8"/>
          </p:cNvPr>
          <p:cNvSpPr txBox="1"/>
          <p:nvPr/>
        </p:nvSpPr>
        <p:spPr>
          <a:xfrm>
            <a:off x="8321040" y="2473959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44</a:t>
            </a:r>
          </a:p>
        </p:txBody>
      </p:sp>
      <p:sp>
        <p:nvSpPr>
          <p:cNvPr id="17" name="TextBox 16">
            <a:hlinkClick action="ppaction://hlinksldjump" r:id="rId9"/>
          </p:cNvPr>
          <p:cNvSpPr txBox="1"/>
          <p:nvPr/>
        </p:nvSpPr>
        <p:spPr>
          <a:xfrm>
            <a:off x="6629400" y="2738119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Le dernier tour avant lancement</a:t>
            </a:r>
          </a:p>
        </p:txBody>
      </p:sp>
      <p:sp>
        <p:nvSpPr>
          <p:cNvPr id="18" name="TextBox 17">
            <a:hlinkClick action="ppaction://hlinksldjump" r:id="rId9"/>
          </p:cNvPr>
          <p:cNvSpPr txBox="1"/>
          <p:nvPr/>
        </p:nvSpPr>
        <p:spPr>
          <a:xfrm>
            <a:off x="8321040" y="2738119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45</a:t>
            </a:r>
          </a:p>
        </p:txBody>
      </p:sp>
      <p:sp>
        <p:nvSpPr>
          <p:cNvPr id="19" name="TextBox 18">
            <a:hlinkClick action="ppaction://hlinksldjump" r:id="rId10"/>
          </p:cNvPr>
          <p:cNvSpPr txBox="1"/>
          <p:nvPr/>
        </p:nvSpPr>
        <p:spPr>
          <a:xfrm>
            <a:off x="6629400" y="3156711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Déclarer le lancement</a:t>
            </a:r>
          </a:p>
        </p:txBody>
      </p:sp>
      <p:sp>
        <p:nvSpPr>
          <p:cNvPr id="20" name="TextBox 19">
            <a:hlinkClick action="ppaction://hlinksldjump" r:id="rId10"/>
          </p:cNvPr>
          <p:cNvSpPr txBox="1"/>
          <p:nvPr/>
        </p:nvSpPr>
        <p:spPr>
          <a:xfrm>
            <a:off x="8321040" y="3156711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46</a:t>
            </a:r>
          </a:p>
        </p:txBody>
      </p:sp>
      <p:sp>
        <p:nvSpPr>
          <p:cNvPr id="21" name="TextBox 20">
            <a:hlinkClick action="ppaction://hlinksldjump" r:id="rId11"/>
          </p:cNvPr>
          <p:cNvSpPr txBox="1"/>
          <p:nvPr/>
        </p:nvSpPr>
        <p:spPr>
          <a:xfrm>
            <a:off x="6629400" y="3420871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Annuler, supprimer, rendre visible</a:t>
            </a:r>
          </a:p>
        </p:txBody>
      </p:sp>
      <p:sp>
        <p:nvSpPr>
          <p:cNvPr id="22" name="TextBox 21">
            <a:hlinkClick action="ppaction://hlinksldjump" r:id="rId11"/>
          </p:cNvPr>
          <p:cNvSpPr txBox="1"/>
          <p:nvPr/>
        </p:nvSpPr>
        <p:spPr>
          <a:xfrm>
            <a:off x="8321040" y="3420871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47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Suivre son projet depuis l’accueil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06 · Après la soumission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49-home-card-submitted_1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931920" cy="2493734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470916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8344" y="1188720"/>
            <a:ext cx="355701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Badge de validation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il remplace le statut une fois le projet soumis. Survolez-le pour le détail des avis.</a:t>
            </a:r>
          </a:p>
        </p:txBody>
      </p:sp>
      <p:sp>
        <p:nvSpPr>
          <p:cNvPr id="9" name="Oval 8"/>
          <p:cNvSpPr/>
          <p:nvPr/>
        </p:nvSpPr>
        <p:spPr>
          <a:xfrm>
            <a:off x="4709160" y="157784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38344" y="1586992"/>
            <a:ext cx="3557016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Rendre visible à tous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le projet apparaît chez les autres dans « Projets partagés par d’autres équipes ».</a:t>
            </a:r>
          </a:p>
        </p:txBody>
      </p:sp>
      <p:sp>
        <p:nvSpPr>
          <p:cNvPr id="11" name="Oval 10"/>
          <p:cNvSpPr/>
          <p:nvPr/>
        </p:nvSpPr>
        <p:spPr>
          <a:xfrm>
            <a:off x="4709160" y="213868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8344" y="2147824"/>
            <a:ext cx="355701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Annuler la soumission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voir « Annuler, supprimer, rendre visible ».</a:t>
            </a:r>
          </a:p>
        </p:txBody>
      </p:sp>
      <p:sp>
        <p:nvSpPr>
          <p:cNvPr id="13" name="Oval 12"/>
          <p:cNvSpPr/>
          <p:nvPr/>
        </p:nvSpPr>
        <p:spPr>
          <a:xfrm>
            <a:off x="4709160" y="253695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8344" y="2546096"/>
            <a:ext cx="355701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Modifier le projet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le projet soumis reste modifiable.</a:t>
            </a:r>
          </a:p>
        </p:txBody>
      </p:sp>
      <p:sp>
        <p:nvSpPr>
          <p:cNvPr id="15" name="Oval 14"/>
          <p:cNvSpPr/>
          <p:nvPr/>
        </p:nvSpPr>
        <p:spPr>
          <a:xfrm>
            <a:off x="4709160" y="293522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8344" y="2944368"/>
            <a:ext cx="3557016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Consulter les enjeux »</a:t>
            </a:r>
            <a:r>
              <a:rPr sz="1000" b="0" i="0">
                <a:solidFill>
                  <a:srgbClr val="1F2A37"/>
                </a:solidFill>
                <a:latin typeface="Roboto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5B6573"/>
                </a:solidFill>
                <a:latin typeface="Roboto"/>
              </a:rPr>
              <a:t>Les badges possibles sont détaillés dans l’annexe « Les badges de vos projets ».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Lire l’avis des experts et leur répondre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06 · Après la soumission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52-syn-opinion_7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2840255" cy="352044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498348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12664" y="1188720"/>
            <a:ext cx="3282696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Statut de l’équipe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validé, validé sous conditions, en attente d’informations, non concerné ou refusé.</a:t>
            </a:r>
          </a:p>
        </p:txBody>
      </p:sp>
      <p:sp>
        <p:nvSpPr>
          <p:cNvPr id="9" name="Oval 8"/>
          <p:cNvSpPr/>
          <p:nvPr/>
        </p:nvSpPr>
        <p:spPr>
          <a:xfrm>
            <a:off x="4983480" y="174040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2664" y="1749552"/>
            <a:ext cx="328269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Prise en charge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l’expert qui suit votre projet ; les échanges suivants lui sont adressés.</a:t>
            </a:r>
          </a:p>
        </p:txBody>
      </p:sp>
      <p:sp>
        <p:nvSpPr>
          <p:cNvPr id="11" name="Oval 10"/>
          <p:cNvSpPr/>
          <p:nvPr/>
        </p:nvSpPr>
        <p:spPr>
          <a:xfrm>
            <a:off x="4983480" y="213868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2664" y="2147824"/>
            <a:ext cx="3282696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Avis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de l’équipe.</a:t>
            </a:r>
          </a:p>
        </p:txBody>
      </p:sp>
      <p:sp>
        <p:nvSpPr>
          <p:cNvPr id="13" name="Oval 12"/>
          <p:cNvSpPr/>
          <p:nvPr/>
        </p:nvSpPr>
        <p:spPr>
          <a:xfrm>
            <a:off x="4983480" y="246786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2664" y="2477008"/>
            <a:ext cx="3282696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Échanges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le fil entre vous et l’équipe.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279704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2664" y="2806191"/>
            <a:ext cx="328269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Répondre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puis « Envoyer la réponse » (texte riche, liens, pièces jointes).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Modifier un projet soumis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06 · Après la soumission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56-q-from-synthesis_7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2693901" cy="352044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3840480" y="12252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9664" y="1234440"/>
            <a:ext cx="4425696" cy="341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Bandeau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« Modification depuis les enjeux du projet » : vous savez d’où vous venez.</a:t>
            </a:r>
          </a:p>
        </p:txBody>
      </p:sp>
      <p:sp>
        <p:nvSpPr>
          <p:cNvPr id="9" name="Oval 8"/>
          <p:cNvSpPr/>
          <p:nvPr/>
        </p:nvSpPr>
        <p:spPr>
          <a:xfrm>
            <a:off x="3840480" y="167640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9664" y="1685544"/>
            <a:ext cx="4425696" cy="341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Valider et revenir aux enjeux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enregistre et vous ramène à la page des enjeux.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2514600"/>
            <a:ext cx="4754880" cy="21031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86784" y="2642616"/>
            <a:ext cx="44622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059"/>
                </a:solidFill>
                <a:latin typeface="Roboto"/>
              </a:rPr>
              <a:t>Trois façons d’ouvrir une réponse</a:t>
            </a:r>
          </a:p>
        </p:txBody>
      </p:sp>
      <p:sp>
        <p:nvSpPr>
          <p:cNvPr id="13" name="Oval 12"/>
          <p:cNvSpPr/>
          <p:nvPr/>
        </p:nvSpPr>
        <p:spPr>
          <a:xfrm>
            <a:off x="3986784" y="2972943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9664" y="2916936"/>
            <a:ext cx="4279392" cy="341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Le crayon du « Rappel de vos réponses », dans les enjeux du projet.</a:t>
            </a:r>
          </a:p>
        </p:txBody>
      </p:sp>
      <p:sp>
        <p:nvSpPr>
          <p:cNvPr id="15" name="Oval 14"/>
          <p:cNvSpPr/>
          <p:nvPr/>
        </p:nvSpPr>
        <p:spPr>
          <a:xfrm>
            <a:off x="3986784" y="3387470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9664" y="3331464"/>
            <a:ext cx="4279392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« Modifier le projet » sur la carte de l’accueil.</a:t>
            </a:r>
          </a:p>
        </p:txBody>
      </p:sp>
      <p:sp>
        <p:nvSpPr>
          <p:cNvPr id="17" name="Oval 16"/>
          <p:cNvSpPr/>
          <p:nvPr/>
        </p:nvSpPr>
        <p:spPr>
          <a:xfrm>
            <a:off x="3986784" y="3631310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9664" y="3575303"/>
            <a:ext cx="4279392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« Retour au questionnaire » en haut des enjeux.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Envoyer la mise à jour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06 · Après la soumission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57-syn-pending-update_6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2377440" cy="237744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48640" y="401421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023360"/>
            <a:ext cx="2048256" cy="772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Envoyer la mise à jour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à cliquer quand vous jugez utile de prévenir les experts. La liste montre les réponses modifiées depuis le dernier envoi.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188720"/>
            <a:ext cx="2606040" cy="2057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704" y="1316736"/>
            <a:ext cx="2313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Le périmètre d’une équipe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1591056"/>
            <a:ext cx="2313432" cy="156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Seules les équipes réellement concernées sont notifiées : nouvelle équipe, règles modifiées, ou équipe qui n’est plus concernée (elle en est informée).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188720"/>
            <a:ext cx="2606040" cy="2057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5624" y="1316736"/>
            <a:ext cx="2313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Aucun périmètre ne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5624" y="1591056"/>
            <a:ext cx="2313432" cy="156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La mise à jour est enregistrée sans déranger personne : les équipes gardent leur avis.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3429000"/>
            <a:ext cx="5394960" cy="920496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6704" y="3557016"/>
            <a:ext cx="51023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96B14"/>
                </a:solidFill>
                <a:latin typeface="Roboto"/>
              </a:rPr>
              <a:t>À savoir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6704" y="3831336"/>
            <a:ext cx="5102352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Les champs de texte libre (descriptions, jalons, fichiers) ne déclenchent jamais de notification : aucune règle ne les lit. Les experts en voient le nombre lors de leur prochaine revue.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Quand un avis est à revoir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06 · Après la soumission</a:t>
            </a:r>
          </a:p>
        </p:txBody>
      </p:sp>
      <p:sp>
        <p:nvSpPr>
          <p:cNvPr id="5" name="TextBox 4">
            <a:hlinkClick action="ppaction://hlinksldjump" r:id="rId4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59-syn-review-pending_10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156429" cy="105156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pic>
        <p:nvPicPr>
          <p:cNvPr id="7" name="Picture 6" descr="58-home-badge-outdated_7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68880"/>
            <a:ext cx="2743200" cy="821969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8" name="Oval 7"/>
          <p:cNvSpPr/>
          <p:nvPr/>
        </p:nvSpPr>
        <p:spPr>
          <a:xfrm>
            <a:off x="5394960" y="1287780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234440"/>
            <a:ext cx="3017520" cy="65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Quand une mise à jour touche le périmètre d’une équipe qui avait déjà rendu son avis, sa carte affiche « À ré-examiner » avec la liste des modifications.</a:t>
            </a:r>
          </a:p>
        </p:txBody>
      </p:sp>
      <p:sp>
        <p:nvSpPr>
          <p:cNvPr id="10" name="Oval 9"/>
          <p:cNvSpPr/>
          <p:nvPr/>
        </p:nvSpPr>
        <p:spPr>
          <a:xfrm>
            <a:off x="5394960" y="2011171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957831"/>
            <a:ext cx="301752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Sur l’accueil, un projet validé passe à « Validé — modifié depuis » : un « Validé » ne couvre que l’état du projet qui a été validé.</a:t>
            </a:r>
          </a:p>
        </p:txBody>
      </p:sp>
      <p:sp>
        <p:nvSpPr>
          <p:cNvPr id="12" name="Oval 11"/>
          <p:cNvSpPr/>
          <p:nvPr/>
        </p:nvSpPr>
        <p:spPr>
          <a:xfrm>
            <a:off x="5394960" y="2572003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2518664"/>
            <a:ext cx="3017520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Le badge redevient « Validé » quand l’équipe a rendu un nouvel avis favorable.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dernier tour avant lancement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06 · Après la soumission</a:t>
            </a:r>
          </a:p>
        </p:txBody>
      </p:sp>
      <p:sp>
        <p:nvSpPr>
          <p:cNvPr id="5" name="TextBox 4">
            <a:hlinkClick action="ppaction://hlinksldjump" r:id="rId4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54-syn-final-round_5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2097492" cy="192024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pic>
        <p:nvPicPr>
          <p:cNvPr id="7" name="Picture 6" descr="55-syn-final-awaiting_56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46120"/>
            <a:ext cx="2141057" cy="141732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8" name="Oval 7"/>
          <p:cNvSpPr/>
          <p:nvPr/>
        </p:nvSpPr>
        <p:spPr>
          <a:xfrm>
            <a:off x="3017520" y="12252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46703" y="1234440"/>
            <a:ext cx="5248655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Demander la confirmation finale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les experts qui se sont déjà prononcés sont invités à confirmer leur avis sur l’état actuel du projet. Pour eux, c’est un clic dans le cas nominal.</a:t>
            </a:r>
          </a:p>
        </p:txBody>
      </p:sp>
      <p:sp>
        <p:nvSpPr>
          <p:cNvPr id="10" name="Oval 9"/>
          <p:cNvSpPr/>
          <p:nvPr/>
        </p:nvSpPr>
        <p:spPr>
          <a:xfrm>
            <a:off x="3017520" y="182270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3" y="1831848"/>
            <a:ext cx="5248655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Déclarer le projet lancé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(page suivante).</a:t>
            </a:r>
          </a:p>
        </p:txBody>
      </p:sp>
      <p:sp>
        <p:nvSpPr>
          <p:cNvPr id="12" name="Oval 11"/>
          <p:cNvSpPr/>
          <p:nvPr/>
        </p:nvSpPr>
        <p:spPr>
          <a:xfrm>
            <a:off x="3017520" y="2796540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743200"/>
            <a:ext cx="5394959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« Confirmation finale en cours » indique combien de périmètres ont confirmé.</a:t>
            </a:r>
          </a:p>
        </p:txBody>
      </p:sp>
      <p:sp>
        <p:nvSpPr>
          <p:cNvPr id="14" name="Oval 13"/>
          <p:cNvSpPr/>
          <p:nvPr/>
        </p:nvSpPr>
        <p:spPr>
          <a:xfrm>
            <a:off x="3017520" y="3032251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978912"/>
            <a:ext cx="5394959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Un expert peut aussi répondre qu’il doit réexaminer : le tour reste ouvert jusqu’à son nouvel avis.</a:t>
            </a:r>
          </a:p>
        </p:txBody>
      </p:sp>
      <p:sp>
        <p:nvSpPr>
          <p:cNvPr id="16" name="Oval 15"/>
          <p:cNvSpPr/>
          <p:nvPr/>
        </p:nvSpPr>
        <p:spPr>
          <a:xfrm>
            <a:off x="3017520" y="3430524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3377184"/>
            <a:ext cx="5394959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Rappels : à l’approche de la date de lancement, si la confirmation n’a pas été demandée, vous recevez un rappel (par défaut 30 puis 10 jours avant).</a:t>
            </a:r>
          </a:p>
        </p:txBody>
      </p:sp>
      <p:sp>
        <p:nvSpPr>
          <p:cNvPr id="18" name="Oval 17"/>
          <p:cNvSpPr/>
          <p:nvPr/>
        </p:nvSpPr>
        <p:spPr>
          <a:xfrm>
            <a:off x="3017520" y="3828796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3775455"/>
            <a:ext cx="5394959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Le tour peut être relancé si le lancement est repoussé.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Déclarer le lancement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06 · Après la soumission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60-syn-launched_6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2377440" cy="2310469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48640" y="36941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703320"/>
            <a:ext cx="2048256" cy="463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Le projet n’est pas lancé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annule une déclaration faite par erreur.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1290447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234440"/>
            <a:ext cx="5212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L’application ne devine pas un lancement : une date prévisionnelle dépassée ne prouve rien. C’est à vous (ou à un administrateur, ou à un expert du projet) de le déclarer.</a:t>
            </a:r>
          </a:p>
        </p:txBody>
      </p:sp>
      <p:sp>
        <p:nvSpPr>
          <p:cNvPr id="11" name="Oval 10"/>
          <p:cNvSpPr/>
          <p:nvPr/>
        </p:nvSpPr>
        <p:spPr>
          <a:xfrm>
            <a:off x="3200400" y="1875663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819656"/>
            <a:ext cx="5212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Lancé avec une confirmation incomplète, le projet affiche « Projet lancé sans confirmation finale » ; les périmètres concernés et les administrateurs en sont informés.</a:t>
            </a:r>
          </a:p>
        </p:txBody>
      </p:sp>
      <p:sp>
        <p:nvSpPr>
          <p:cNvPr id="13" name="Oval 12"/>
          <p:cNvSpPr/>
          <p:nvPr/>
        </p:nvSpPr>
        <p:spPr>
          <a:xfrm>
            <a:off x="3200400" y="2460879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404872"/>
            <a:ext cx="52120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Si la date annoncée est passée alors que la confirmation est encore en cours, le badge « Lancement en attente » indique que le délai est côté revue, pas côté porteur.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Annuler, supprimer, rendre visible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06 · Après la soumission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61-cancel-dialog_8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253848" cy="178308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4114800" y="1188720"/>
            <a:ext cx="4480560" cy="106984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61104" y="1316736"/>
            <a:ext cx="4187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3059"/>
                </a:solidFill>
                <a:latin typeface="Roboto"/>
              </a:rPr>
              <a:t>Annuler la soumission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1104" y="1591056"/>
            <a:ext cx="4187952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Icône ⊗ sur la carte. Le projet n’est plus traité par les équipes et n’envoie plus de notification ; il reste dans votre liste avec « Soumission annulée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350008"/>
            <a:ext cx="4480560" cy="106984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1104" y="2478024"/>
            <a:ext cx="4187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3059"/>
                </a:solidFill>
                <a:latin typeface="Roboto"/>
              </a:rPr>
              <a:t>Supprimer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1104" y="2752344"/>
            <a:ext cx="4187952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Icône corbeille : le projet part dans la « Corbeille » (partie 1), d’où il peut être restauré. Les experts ne le voient plus dans leurs files.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3511296"/>
            <a:ext cx="4480560" cy="106984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1104" y="3639312"/>
            <a:ext cx="4187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3059"/>
                </a:solidFill>
                <a:latin typeface="Roboto"/>
              </a:rPr>
              <a:t>Rendre visible à tous / Rendre privé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3913632"/>
            <a:ext cx="4187952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Sur un projet soumis : il apparaît (ou disparaît) chez les autres utilisateurs, dans « Projets partagés par d’autres équipes ».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2152" y="2724912"/>
            <a:ext cx="3017520" cy="1152144"/>
          </a:xfrm>
        </p:spPr>
        <p:txBody>
          <a:bodyPr/>
          <a:lstStyle/>
          <a:p>
            <a:r>
              <a:t>Inspiration et aide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7</a:t>
            </a:r>
          </a:p>
        </p:txBody>
      </p:sp>
      <p:pic>
        <p:nvPicPr>
          <p:cNvPr id="4" name="Picture Placeholder 3" descr="div7.jp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 t="11" b="11"/>
          <a:stretch>
            <a:fillRect/>
          </a:stretch>
        </p:blipFill>
        <p:spPr/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FE5D49-97A3-75C7-8361-79FE27302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07 · Inspiration et aide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1430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Dans cette partie</a:t>
            </a:r>
          </a:p>
        </p:txBody>
      </p:sp>
      <p:sp>
        <p:nvSpPr>
          <p:cNvPr id="7" name="TextBox 6">
            <a:hlinkClick action="ppaction://hlinksldjump" r:id="rId4"/>
          </p:cNvPr>
          <p:cNvSpPr txBox="1"/>
          <p:nvPr/>
        </p:nvSpPr>
        <p:spPr>
          <a:xfrm>
            <a:off x="6629400" y="141732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Ajouter une inspiration</a:t>
            </a:r>
          </a:p>
        </p:txBody>
      </p:sp>
      <p:sp>
        <p:nvSpPr>
          <p:cNvPr id="8" name="TextBox 7">
            <a:hlinkClick action="ppaction://hlinksldjump" r:id="rId4"/>
          </p:cNvPr>
          <p:cNvSpPr txBox="1"/>
          <p:nvPr/>
        </p:nvSpPr>
        <p:spPr>
          <a:xfrm>
            <a:off x="8321040" y="141732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49</a:t>
            </a:r>
          </a:p>
        </p:txBody>
      </p:sp>
      <p:sp>
        <p:nvSpPr>
          <p:cNvPr id="9" name="TextBox 8">
            <a:hlinkClick action="ppaction://hlinksldjump" r:id="rId5"/>
          </p:cNvPr>
          <p:cNvSpPr txBox="1"/>
          <p:nvPr/>
        </p:nvSpPr>
        <p:spPr>
          <a:xfrm>
            <a:off x="6629400" y="168148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Retrouver une inspiration</a:t>
            </a:r>
          </a:p>
        </p:txBody>
      </p: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8321040" y="168148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50</a:t>
            </a:r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629400" y="194564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Le guide interactif</a:t>
            </a:r>
          </a:p>
        </p:txBody>
      </p:sp>
      <p:sp>
        <p:nvSpPr>
          <p:cNvPr id="12" name="TextBox 11">
            <a:hlinkClick action="ppaction://hlinksldjump" r:id="rId6"/>
          </p:cNvPr>
          <p:cNvSpPr txBox="1"/>
          <p:nvPr/>
        </p:nvSpPr>
        <p:spPr>
          <a:xfrm>
            <a:off x="8321040" y="194564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51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Ajouter une inspiration et la partager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07 · Inspiration et aide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71-insp-form_7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2870798" cy="352044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4114800" y="12252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3984" y="1234440"/>
            <a:ext cx="4151376" cy="341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Portée de l’inspiration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« Personnel » (vous seul) ou « Partagé » (tout le monde).</a:t>
            </a:r>
          </a:p>
        </p:txBody>
      </p:sp>
      <p:sp>
        <p:nvSpPr>
          <p:cNvPr id="9" name="Oval 8"/>
          <p:cNvSpPr/>
          <p:nvPr/>
        </p:nvSpPr>
        <p:spPr>
          <a:xfrm>
            <a:off x="4114800" y="167640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1685544"/>
            <a:ext cx="4151376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Documents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ajoutez supports, photos ou présentations.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0" y="204216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2051303"/>
            <a:ext cx="4151376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Valider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enregistre l’inspiration.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0" y="2842259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788920"/>
            <a:ext cx="4297680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Accès : onglet « Inspiration » de l’accueil, puis « Ajouter un projet inspirant ».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0" y="3240532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3187192"/>
            <a:ext cx="4297680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Les champs marqués * sont obligatoires : titre, laboratoire, cible, typologie, aire thérapeutique, pays.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0" y="3638804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3585464"/>
            <a:ext cx="4297680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Une bonne idée vue ailleurs profite à tous si elle est partagée.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Retrouver et modifier une inspiration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07 · Inspiration et aide</a:t>
            </a:r>
          </a:p>
        </p:txBody>
      </p:sp>
      <p:sp>
        <p:nvSpPr>
          <p:cNvPr id="5" name="TextBox 4">
            <a:hlinkClick action="ppaction://hlinksldjump" r:id="rId5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72b-insp-filters_12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823686" cy="82296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pic>
        <p:nvPicPr>
          <p:cNvPr id="7" name="Picture 6" descr="72-insp-list_76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48840"/>
            <a:ext cx="2926080" cy="1146048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pic>
        <p:nvPicPr>
          <p:cNvPr id="8" name="Picture 7" descr="73-insp-detail_75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188720"/>
            <a:ext cx="2880360" cy="192024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201168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B6573"/>
                </a:solidFill>
                <a:latin typeface="Roboto"/>
              </a:rPr>
              <a:t>Filtres : laboratoire, cible, typologie, aire thérapeutique, pays.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10565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114800"/>
            <a:ext cx="4608576" cy="30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Inspirations partagées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et « Inspirations personnelles » sont listées séparément.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510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460240"/>
            <a:ext cx="4608576" cy="154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Fiche complète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ouvre l’inspiration.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24612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Sur la fiche :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« Modifier » sur chaque champ, et « Mode de partage » pour passer de Personnel à Partagé.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guide interactif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07 · Inspiration et aide</a:t>
            </a:r>
          </a:p>
        </p:txBody>
      </p:sp>
      <p:sp>
        <p:nvSpPr>
          <p:cNvPr id="5" name="TextBox 4">
            <a:hlinkClick action="ppaction://hlinksldjump" r:id="rId4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80-guide-menu_5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2079304" cy="237744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pic>
        <p:nvPicPr>
          <p:cNvPr id="7" name="Picture 6" descr="81-guide-step_76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188720"/>
            <a:ext cx="2926080" cy="2080768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36576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B6573"/>
                </a:solidFill>
                <a:latin typeface="Roboto"/>
              </a:rPr>
              <a:t>Le menu d’entrée : cinq parcours au choix.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56616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B6573"/>
                </a:solidFill>
                <a:latin typeface="Roboto"/>
              </a:rPr>
              <a:t>① « Aide » : ouvre la foire aux questions.</a:t>
            </a:r>
          </a:p>
        </p:txBody>
      </p:sp>
      <p:sp>
        <p:nvSpPr>
          <p:cNvPr id="10" name="Oval 9"/>
          <p:cNvSpPr/>
          <p:nvPr/>
        </p:nvSpPr>
        <p:spPr>
          <a:xfrm>
            <a:off x="6629400" y="1287780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234440"/>
            <a:ext cx="1828800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« Tour rapide »</a:t>
            </a:r>
          </a:p>
        </p:txBody>
      </p:sp>
      <p:sp>
        <p:nvSpPr>
          <p:cNvPr id="12" name="Oval 11"/>
          <p:cNvSpPr/>
          <p:nvPr/>
        </p:nvSpPr>
        <p:spPr>
          <a:xfrm>
            <a:off x="6629400" y="1523492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470152"/>
            <a:ext cx="1828800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« Créer un projet »</a:t>
            </a:r>
          </a:p>
        </p:txBody>
      </p:sp>
      <p:sp>
        <p:nvSpPr>
          <p:cNvPr id="14" name="Oval 13"/>
          <p:cNvSpPr/>
          <p:nvPr/>
        </p:nvSpPr>
        <p:spPr>
          <a:xfrm>
            <a:off x="6629400" y="1759203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1705863"/>
            <a:ext cx="1828800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« Valider son projet »</a:t>
            </a:r>
          </a:p>
        </p:txBody>
      </p:sp>
      <p:sp>
        <p:nvSpPr>
          <p:cNvPr id="16" name="Oval 15"/>
          <p:cNvSpPr/>
          <p:nvPr/>
        </p:nvSpPr>
        <p:spPr>
          <a:xfrm>
            <a:off x="6629400" y="1994915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1941575"/>
            <a:ext cx="1828800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« Présenter son projet »</a:t>
            </a:r>
          </a:p>
        </p:txBody>
      </p:sp>
      <p:sp>
        <p:nvSpPr>
          <p:cNvPr id="18" name="Oval 17"/>
          <p:cNvSpPr/>
          <p:nvPr/>
        </p:nvSpPr>
        <p:spPr>
          <a:xfrm>
            <a:off x="6629400" y="2230627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177287"/>
            <a:ext cx="1828800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« Trouver l’inspiration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77639"/>
            <a:ext cx="6446520" cy="766064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4105655"/>
            <a:ext cx="61539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96B14"/>
                </a:solidFill>
                <a:latin typeface="Roboto"/>
              </a:rPr>
              <a:t>À savoir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379975"/>
            <a:ext cx="6153912" cy="272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Le guide tourne sur un projet de démonstration : il ne modifie aucun de vos projets. Relancez-le depuis « Guide interactif » sur l’accueil.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Annexes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397EEB30-9265-4C06-98E2-6D60BF6DFF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Annexes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D80F946F-E1DC-ED38-C4B3-D51ECAF5FB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13" name="TextBox 12">
            <a:hlinkClick action="ppaction://hlinksldjump" r:id="rId2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10896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573"/>
                </a:solidFill>
                <a:latin typeface="Roboto"/>
              </a:rPr>
              <a:t>Je veux… · Les statuts · Questions fréquentes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 veux… (1/3)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Annexes</a:t>
            </a:r>
          </a:p>
        </p:txBody>
      </p:sp>
      <p:sp>
        <p:nvSpPr>
          <p:cNvPr id="5" name="TextBox 4">
            <a:hlinkClick action="ppaction://hlinksldjump" r:id="rId2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Je veux…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14300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Où cliquer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14300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996B14"/>
                </a:solidFill>
                <a:latin typeface="Roboto"/>
              </a:rPr>
              <a:t>Page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0744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action="ppaction://hlinksldjump" r:id="rId3"/>
          </p:cNvPr>
          <p:cNvSpPr txBox="1"/>
          <p:nvPr/>
        </p:nvSpPr>
        <p:spPr>
          <a:xfrm>
            <a:off x="548640" y="141732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Changer mon périmètre ou ma langue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41732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Accueil → icône « Mon profil »</a:t>
            </a:r>
          </a:p>
        </p:txBody>
      </p:sp>
      <p:sp>
        <p:nvSpPr>
          <p:cNvPr id="12" name="TextBox 11">
            <a:hlinkClick action="ppaction://hlinksldjump" r:id="rId3"/>
          </p:cNvPr>
          <p:cNvSpPr txBox="1"/>
          <p:nvPr/>
        </p:nvSpPr>
        <p:spPr>
          <a:xfrm>
            <a:off x="8001000" y="141732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12</a:t>
            </a:r>
          </a:p>
        </p:txBody>
      </p:sp>
      <p:sp>
        <p:nvSpPr>
          <p:cNvPr id="13" name="TextBox 12">
            <a:hlinkClick action="ppaction://hlinksldjump" r:id="rId4"/>
          </p:cNvPr>
          <p:cNvSpPr txBox="1"/>
          <p:nvPr/>
        </p:nvSpPr>
        <p:spPr>
          <a:xfrm>
            <a:off x="548640" y="169164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Créer un projet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69164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Accueil → « Créer un projet »</a:t>
            </a:r>
          </a:p>
        </p:txBody>
      </p:sp>
      <p:sp>
        <p:nvSpPr>
          <p:cNvPr id="15" name="TextBox 14">
            <a:hlinkClick action="ppaction://hlinksldjump" r:id="rId4"/>
          </p:cNvPr>
          <p:cNvSpPr txBox="1"/>
          <p:nvPr/>
        </p:nvSpPr>
        <p:spPr>
          <a:xfrm>
            <a:off x="8001000" y="16916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29384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>
            <a:hlinkClick action="ppaction://hlinksldjump" r:id="rId5"/>
          </p:cNvPr>
          <p:cNvSpPr txBox="1"/>
          <p:nvPr/>
        </p:nvSpPr>
        <p:spPr>
          <a:xfrm>
            <a:off x="548640" y="196596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Reprendre un brouillon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196596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Carte → « Continuer l’édition »</a:t>
            </a:r>
          </a:p>
        </p:txBody>
      </p:sp>
      <p:sp>
        <p:nvSpPr>
          <p:cNvPr id="19" name="TextBox 18">
            <a:hlinkClick action="ppaction://hlinksldjump" r:id="rId5"/>
          </p:cNvPr>
          <p:cNvSpPr txBox="1"/>
          <p:nvPr/>
        </p:nvSpPr>
        <p:spPr>
          <a:xfrm>
            <a:off x="8001000" y="196596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8</a:t>
            </a:r>
          </a:p>
        </p:txBody>
      </p:sp>
      <p:sp>
        <p:nvSpPr>
          <p:cNvPr id="20" name="TextBox 19">
            <a:hlinkClick action="ppaction://hlinksldjump" r:id="rId6"/>
          </p:cNvPr>
          <p:cNvSpPr txBox="1"/>
          <p:nvPr/>
        </p:nvSpPr>
        <p:spPr>
          <a:xfrm>
            <a:off x="548640" y="2240279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Repartir d’un projet existant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240279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Carte → icône « Dupliquer »</a:t>
            </a:r>
          </a:p>
        </p:txBody>
      </p:sp>
      <p:sp>
        <p:nvSpPr>
          <p:cNvPr id="22" name="TextBox 21">
            <a:hlinkClick action="ppaction://hlinksldjump" r:id="rId6"/>
          </p:cNvPr>
          <p:cNvSpPr txBox="1"/>
          <p:nvPr/>
        </p:nvSpPr>
        <p:spPr>
          <a:xfrm>
            <a:off x="8001000" y="2240279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78023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7"/>
          </p:cNvPr>
          <p:cNvSpPr txBox="1"/>
          <p:nvPr/>
        </p:nvSpPr>
        <p:spPr>
          <a:xfrm>
            <a:off x="548640" y="2514599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Retrouver un projet supprimé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514599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Mes projets » → « Corbeille » → « Restaurer »</a:t>
            </a:r>
          </a:p>
        </p:txBody>
      </p:sp>
      <p:sp>
        <p:nvSpPr>
          <p:cNvPr id="26" name="TextBox 25">
            <a:hlinkClick action="ppaction://hlinksldjump" r:id="rId7"/>
          </p:cNvPr>
          <p:cNvSpPr txBox="1"/>
          <p:nvPr/>
        </p:nvSpPr>
        <p:spPr>
          <a:xfrm>
            <a:off x="8001000" y="2514599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10</a:t>
            </a:r>
          </a:p>
        </p:txBody>
      </p:sp>
      <p:sp>
        <p:nvSpPr>
          <p:cNvPr id="27" name="TextBox 26">
            <a:hlinkClick action="ppaction://hlinksldjump" r:id="rId8"/>
          </p:cNvPr>
          <p:cNvSpPr txBox="1"/>
          <p:nvPr/>
        </p:nvSpPr>
        <p:spPr>
          <a:xfrm>
            <a:off x="548640" y="2788919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Voir les projets de mes collaborateurs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788919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Accueil → onglet « Mon équipe »</a:t>
            </a:r>
          </a:p>
        </p:txBody>
      </p:sp>
      <p:sp>
        <p:nvSpPr>
          <p:cNvPr id="29" name="TextBox 28">
            <a:hlinkClick action="ppaction://hlinksldjump" r:id="rId8"/>
          </p:cNvPr>
          <p:cNvSpPr txBox="1"/>
          <p:nvPr/>
        </p:nvSpPr>
        <p:spPr>
          <a:xfrm>
            <a:off x="8001000" y="2788919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026663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>
            <a:hlinkClick action="ppaction://hlinksldjump" r:id="rId9"/>
          </p:cNvPr>
          <p:cNvSpPr txBox="1"/>
          <p:nvPr/>
        </p:nvSpPr>
        <p:spPr>
          <a:xfrm>
            <a:off x="548640" y="3063239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Être aidé sur une 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063239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Comprendre cette question »</a:t>
            </a:r>
          </a:p>
        </p:txBody>
      </p:sp>
      <p:sp>
        <p:nvSpPr>
          <p:cNvPr id="33" name="TextBox 32">
            <a:hlinkClick action="ppaction://hlinksldjump" r:id="rId9"/>
          </p:cNvPr>
          <p:cNvSpPr txBox="1"/>
          <p:nvPr/>
        </p:nvSpPr>
        <p:spPr>
          <a:xfrm>
            <a:off x="8001000" y="3063239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15</a:t>
            </a:r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48640" y="3337559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Répondre sans être sûr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3337559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J’ai un doute »</a:t>
            </a:r>
          </a:p>
        </p:txBody>
      </p:sp>
      <p:sp>
        <p:nvSpPr>
          <p:cNvPr id="36" name="TextBox 35">
            <a:hlinkClick action="ppaction://hlinksldjump" r:id="rId10"/>
          </p:cNvPr>
          <p:cNvSpPr txBox="1"/>
          <p:nvPr/>
        </p:nvSpPr>
        <p:spPr>
          <a:xfrm>
            <a:off x="8001000" y="3337559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16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575303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548640" y="3611879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Modifier la vitrine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3611879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Vitrine → « Modifier » → « Publier »</a:t>
            </a:r>
          </a:p>
        </p:txBody>
      </p:sp>
      <p:sp>
        <p:nvSpPr>
          <p:cNvPr id="40" name="TextBox 39">
            <a:hlinkClick action="ppaction://hlinksldjump" r:id="rId11"/>
          </p:cNvPr>
          <p:cNvSpPr txBox="1"/>
          <p:nvPr/>
        </p:nvSpPr>
        <p:spPr>
          <a:xfrm>
            <a:off x="8001000" y="3611879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22</a:t>
            </a:r>
          </a:p>
        </p:txBody>
      </p:sp>
      <p:sp>
        <p:nvSpPr>
          <p:cNvPr id="41" name="TextBox 40">
            <a:hlinkClick action="ppaction://hlinksldjump" r:id="rId12"/>
          </p:cNvPr>
          <p:cNvSpPr txBox="1"/>
          <p:nvPr/>
        </p:nvSpPr>
        <p:spPr>
          <a:xfrm>
            <a:off x="548640" y="3886199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Ajouter une section à la vitrine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3886199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Ajouter une section ici »</a:t>
            </a:r>
          </a:p>
        </p:txBody>
      </p:sp>
      <p:sp>
        <p:nvSpPr>
          <p:cNvPr id="43" name="TextBox 42">
            <a:hlinkClick action="ppaction://hlinksldjump" r:id="rId12"/>
          </p:cNvPr>
          <p:cNvSpPr txBox="1"/>
          <p:nvPr/>
        </p:nvSpPr>
        <p:spPr>
          <a:xfrm>
            <a:off x="8001000" y="3886199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23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123943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>
            <a:hlinkClick action="ppaction://hlinksldjump" r:id="rId13"/>
          </p:cNvPr>
          <p:cNvSpPr txBox="1"/>
          <p:nvPr/>
        </p:nvSpPr>
        <p:spPr>
          <a:xfrm>
            <a:off x="548640" y="4160519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Masquer des sections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4160519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Configurer » → « Mode Light »</a:t>
            </a:r>
          </a:p>
        </p:txBody>
      </p:sp>
      <p:sp>
        <p:nvSpPr>
          <p:cNvPr id="47" name="TextBox 46">
            <a:hlinkClick action="ppaction://hlinksldjump" r:id="rId13"/>
          </p:cNvPr>
          <p:cNvSpPr txBox="1"/>
          <p:nvPr/>
        </p:nvSpPr>
        <p:spPr>
          <a:xfrm>
            <a:off x="8001000" y="4160519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27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 veux… (2/3)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Annexes</a:t>
            </a:r>
          </a:p>
        </p:txBody>
      </p:sp>
      <p:sp>
        <p:nvSpPr>
          <p:cNvPr id="5" name="TextBox 4">
            <a:hlinkClick action="ppaction://hlinksldjump" r:id="rId2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Je veux…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14300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Où cliquer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14300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996B14"/>
                </a:solidFill>
                <a:latin typeface="Roboto"/>
              </a:rPr>
              <a:t>Page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0744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action="ppaction://hlinksldjump" r:id="rId3"/>
          </p:cNvPr>
          <p:cNvSpPr txBox="1"/>
          <p:nvPr/>
        </p:nvSpPr>
        <p:spPr>
          <a:xfrm>
            <a:off x="548640" y="141732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Partager la vitrine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41732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Vitrine → « Partager »</a:t>
            </a:r>
          </a:p>
        </p:txBody>
      </p:sp>
      <p:sp>
        <p:nvSpPr>
          <p:cNvPr id="12" name="TextBox 11">
            <a:hlinkClick action="ppaction://hlinksldjump" r:id="rId3"/>
          </p:cNvPr>
          <p:cNvSpPr txBox="1"/>
          <p:nvPr/>
        </p:nvSpPr>
        <p:spPr>
          <a:xfrm>
            <a:off x="8001000" y="141732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28</a:t>
            </a:r>
          </a:p>
        </p:txBody>
      </p:sp>
      <p:sp>
        <p:nvSpPr>
          <p:cNvPr id="13" name="TextBox 12">
            <a:hlinkClick action="ppaction://hlinksldjump" r:id="rId4"/>
          </p:cNvPr>
          <p:cNvSpPr txBox="1"/>
          <p:nvPr/>
        </p:nvSpPr>
        <p:spPr>
          <a:xfrm>
            <a:off x="548640" y="169164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Lire et traiter les post-its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69164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Vitrine → « Commenter »</a:t>
            </a:r>
          </a:p>
        </p:txBody>
      </p:sp>
      <p:sp>
        <p:nvSpPr>
          <p:cNvPr id="15" name="TextBox 14">
            <a:hlinkClick action="ppaction://hlinksldjump" r:id="rId4"/>
          </p:cNvPr>
          <p:cNvSpPr txBox="1"/>
          <p:nvPr/>
        </p:nvSpPr>
        <p:spPr>
          <a:xfrm>
            <a:off x="8001000" y="16916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29384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>
            <a:hlinkClick action="ppaction://hlinksldjump" r:id="rId5"/>
          </p:cNvPr>
          <p:cNvSpPr txBox="1"/>
          <p:nvPr/>
        </p:nvSpPr>
        <p:spPr>
          <a:xfrm>
            <a:off x="548640" y="196596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Voir les enjeux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196596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Vitrine → « Enjeux du projet »</a:t>
            </a:r>
          </a:p>
        </p:txBody>
      </p:sp>
      <p:sp>
        <p:nvSpPr>
          <p:cNvPr id="19" name="TextBox 18">
            <a:hlinkClick action="ppaction://hlinksldjump" r:id="rId5"/>
          </p:cNvPr>
          <p:cNvSpPr txBox="1"/>
          <p:nvPr/>
        </p:nvSpPr>
        <p:spPr>
          <a:xfrm>
            <a:off x="8001000" y="196596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32</a:t>
            </a:r>
          </a:p>
        </p:txBody>
      </p:sp>
      <p:sp>
        <p:nvSpPr>
          <p:cNvPr id="20" name="TextBox 19">
            <a:hlinkClick action="ppaction://hlinksldjump" r:id="rId6"/>
          </p:cNvPr>
          <p:cNvSpPr txBox="1"/>
          <p:nvPr/>
        </p:nvSpPr>
        <p:spPr>
          <a:xfrm>
            <a:off x="548640" y="2240279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Savoir ce qui manque avant de soumettre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240279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Où en est votre projet »</a:t>
            </a:r>
          </a:p>
        </p:txBody>
      </p:sp>
      <p:sp>
        <p:nvSpPr>
          <p:cNvPr id="22" name="TextBox 21">
            <a:hlinkClick action="ppaction://hlinksldjump" r:id="rId6"/>
          </p:cNvPr>
          <p:cNvSpPr txBox="1"/>
          <p:nvPr/>
        </p:nvSpPr>
        <p:spPr>
          <a:xfrm>
            <a:off x="8001000" y="2240279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33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78023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7"/>
          </p:cNvPr>
          <p:cNvSpPr txBox="1"/>
          <p:nvPr/>
        </p:nvSpPr>
        <p:spPr>
          <a:xfrm>
            <a:off x="548640" y="2514599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Ajouter une équipe oubliée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514599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Solliciter cette équipe »</a:t>
            </a:r>
          </a:p>
        </p:txBody>
      </p:sp>
      <p:sp>
        <p:nvSpPr>
          <p:cNvPr id="26" name="TextBox 25">
            <a:hlinkClick action="ppaction://hlinksldjump" r:id="rId7"/>
          </p:cNvPr>
          <p:cNvSpPr txBox="1"/>
          <p:nvPr/>
        </p:nvSpPr>
        <p:spPr>
          <a:xfrm>
            <a:off x="8001000" y="2514599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35</a:t>
            </a:r>
          </a:p>
        </p:txBody>
      </p:sp>
      <p:sp>
        <p:nvSpPr>
          <p:cNvPr id="27" name="TextBox 26">
            <a:hlinkClick action="ppaction://hlinksldjump" r:id="rId8"/>
          </p:cNvPr>
          <p:cNvSpPr txBox="1"/>
          <p:nvPr/>
        </p:nvSpPr>
        <p:spPr>
          <a:xfrm>
            <a:off x="548640" y="2788919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Associer un collègue au projet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788919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Partage du projet »</a:t>
            </a:r>
          </a:p>
        </p:txBody>
      </p:sp>
      <p:sp>
        <p:nvSpPr>
          <p:cNvPr id="29" name="TextBox 28">
            <a:hlinkClick action="ppaction://hlinksldjump" r:id="rId8"/>
          </p:cNvPr>
          <p:cNvSpPr txBox="1"/>
          <p:nvPr/>
        </p:nvSpPr>
        <p:spPr>
          <a:xfrm>
            <a:off x="8001000" y="2788919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37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026663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>
            <a:hlinkClick action="ppaction://hlinksldjump" r:id="rId9"/>
          </p:cNvPr>
          <p:cNvSpPr txBox="1"/>
          <p:nvPr/>
        </p:nvSpPr>
        <p:spPr>
          <a:xfrm>
            <a:off x="548640" y="3063239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Soumettre mon projet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063239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Demander un avis préliminaire » / « Demander la validation »</a:t>
            </a:r>
          </a:p>
        </p:txBody>
      </p:sp>
      <p:sp>
        <p:nvSpPr>
          <p:cNvPr id="33" name="TextBox 32">
            <a:hlinkClick action="ppaction://hlinksldjump" r:id="rId9"/>
          </p:cNvPr>
          <p:cNvSpPr txBox="1"/>
          <p:nvPr/>
        </p:nvSpPr>
        <p:spPr>
          <a:xfrm>
            <a:off x="8001000" y="3063239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34</a:t>
            </a:r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48640" y="3337559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Répondre à un expert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3337559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Carte de l’équipe → « Répondre »</a:t>
            </a:r>
          </a:p>
        </p:txBody>
      </p:sp>
      <p:sp>
        <p:nvSpPr>
          <p:cNvPr id="36" name="TextBox 35">
            <a:hlinkClick action="ppaction://hlinksldjump" r:id="rId10"/>
          </p:cNvPr>
          <p:cNvSpPr txBox="1"/>
          <p:nvPr/>
        </p:nvSpPr>
        <p:spPr>
          <a:xfrm>
            <a:off x="8001000" y="3337559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41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575303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548640" y="3611879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Modifier une réponse après soumission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3611879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Crayon du « Rappel de vos réponses »</a:t>
            </a:r>
          </a:p>
        </p:txBody>
      </p:sp>
      <p:sp>
        <p:nvSpPr>
          <p:cNvPr id="40" name="TextBox 39">
            <a:hlinkClick action="ppaction://hlinksldjump" r:id="rId11"/>
          </p:cNvPr>
          <p:cNvSpPr txBox="1"/>
          <p:nvPr/>
        </p:nvSpPr>
        <p:spPr>
          <a:xfrm>
            <a:off x="8001000" y="3611879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42</a:t>
            </a:r>
          </a:p>
        </p:txBody>
      </p:sp>
      <p:sp>
        <p:nvSpPr>
          <p:cNvPr id="41" name="TextBox 40">
            <a:hlinkClick action="ppaction://hlinksldjump" r:id="rId12"/>
          </p:cNvPr>
          <p:cNvSpPr txBox="1"/>
          <p:nvPr/>
        </p:nvSpPr>
        <p:spPr>
          <a:xfrm>
            <a:off x="548640" y="3886199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Prévenir les experts d’un changement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3886199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Envoyer la mise à jour »</a:t>
            </a:r>
          </a:p>
        </p:txBody>
      </p:sp>
      <p:sp>
        <p:nvSpPr>
          <p:cNvPr id="43" name="TextBox 42">
            <a:hlinkClick action="ppaction://hlinksldjump" r:id="rId12"/>
          </p:cNvPr>
          <p:cNvSpPr txBox="1"/>
          <p:nvPr/>
        </p:nvSpPr>
        <p:spPr>
          <a:xfrm>
            <a:off x="8001000" y="3886199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43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123943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>
            <a:hlinkClick action="ppaction://hlinksldjump" r:id="rId13"/>
          </p:cNvPr>
          <p:cNvSpPr txBox="1"/>
          <p:nvPr/>
        </p:nvSpPr>
        <p:spPr>
          <a:xfrm>
            <a:off x="548640" y="4160519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Demander la confirmation finale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4160519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Demander la confirmation finale »</a:t>
            </a:r>
          </a:p>
        </p:txBody>
      </p:sp>
      <p:sp>
        <p:nvSpPr>
          <p:cNvPr id="47" name="TextBox 46">
            <a:hlinkClick action="ppaction://hlinksldjump" r:id="rId13"/>
          </p:cNvPr>
          <p:cNvSpPr txBox="1"/>
          <p:nvPr/>
        </p:nvSpPr>
        <p:spPr>
          <a:xfrm>
            <a:off x="8001000" y="4160519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45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 veux… (3/3)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Annexes</a:t>
            </a:r>
          </a:p>
        </p:txBody>
      </p:sp>
      <p:sp>
        <p:nvSpPr>
          <p:cNvPr id="5" name="TextBox 4">
            <a:hlinkClick action="ppaction://hlinksldjump" r:id="rId2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Je veux…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14300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Où cliquer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14300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996B14"/>
                </a:solidFill>
                <a:latin typeface="Roboto"/>
              </a:rPr>
              <a:t>Page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0744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action="ppaction://hlinksldjump" r:id="rId3"/>
          </p:cNvPr>
          <p:cNvSpPr txBox="1"/>
          <p:nvPr/>
        </p:nvSpPr>
        <p:spPr>
          <a:xfrm>
            <a:off x="548640" y="141732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Déclarer le lancement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41732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Déclarer le projet lancé »</a:t>
            </a:r>
          </a:p>
        </p:txBody>
      </p:sp>
      <p:sp>
        <p:nvSpPr>
          <p:cNvPr id="12" name="TextBox 11">
            <a:hlinkClick action="ppaction://hlinksldjump" r:id="rId3"/>
          </p:cNvPr>
          <p:cNvSpPr txBox="1"/>
          <p:nvPr/>
        </p:nvSpPr>
        <p:spPr>
          <a:xfrm>
            <a:off x="8001000" y="141732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46</a:t>
            </a:r>
          </a:p>
        </p:txBody>
      </p:sp>
      <p:sp>
        <p:nvSpPr>
          <p:cNvPr id="13" name="TextBox 12">
            <a:hlinkClick action="ppaction://hlinksldjump" r:id="rId4"/>
          </p:cNvPr>
          <p:cNvSpPr txBox="1"/>
          <p:nvPr/>
        </p:nvSpPr>
        <p:spPr>
          <a:xfrm>
            <a:off x="548640" y="169164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Annuler une soumission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69164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Carte → icône ⊗</a:t>
            </a:r>
          </a:p>
        </p:txBody>
      </p:sp>
      <p:sp>
        <p:nvSpPr>
          <p:cNvPr id="15" name="TextBox 14">
            <a:hlinkClick action="ppaction://hlinksldjump" r:id="rId4"/>
          </p:cNvPr>
          <p:cNvSpPr txBox="1"/>
          <p:nvPr/>
        </p:nvSpPr>
        <p:spPr>
          <a:xfrm>
            <a:off x="8001000" y="16916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47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29384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>
            <a:hlinkClick action="ppaction://hlinksldjump" r:id="rId5"/>
          </p:cNvPr>
          <p:cNvSpPr txBox="1"/>
          <p:nvPr/>
        </p:nvSpPr>
        <p:spPr>
          <a:xfrm>
            <a:off x="548640" y="196596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Partager une inspiration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196596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Ajouter un projet inspirant » → « Partagé »</a:t>
            </a:r>
          </a:p>
        </p:txBody>
      </p:sp>
      <p:sp>
        <p:nvSpPr>
          <p:cNvPr id="19" name="TextBox 18">
            <a:hlinkClick action="ppaction://hlinksldjump" r:id="rId5"/>
          </p:cNvPr>
          <p:cNvSpPr txBox="1"/>
          <p:nvPr/>
        </p:nvSpPr>
        <p:spPr>
          <a:xfrm>
            <a:off x="8001000" y="196596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49</a:t>
            </a:r>
          </a:p>
        </p:txBody>
      </p:sp>
      <p:sp>
        <p:nvSpPr>
          <p:cNvPr id="20" name="TextBox 19">
            <a:hlinkClick action="ppaction://hlinksldjump" r:id="rId6"/>
          </p:cNvPr>
          <p:cNvSpPr txBox="1"/>
          <p:nvPr/>
        </p:nvSpPr>
        <p:spPr>
          <a:xfrm>
            <a:off x="548640" y="2240279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Revoir une visite guidée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240279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Accueil → « Guide interactif »</a:t>
            </a:r>
          </a:p>
        </p:txBody>
      </p:sp>
      <p:sp>
        <p:nvSpPr>
          <p:cNvPr id="22" name="TextBox 21">
            <a:hlinkClick action="ppaction://hlinksldjump" r:id="rId6"/>
          </p:cNvPr>
          <p:cNvSpPr txBox="1"/>
          <p:nvPr/>
        </p:nvSpPr>
        <p:spPr>
          <a:xfrm>
            <a:off x="8001000" y="2240279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51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badges de vos projets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Annexes</a:t>
            </a:r>
          </a:p>
        </p:txBody>
      </p:sp>
      <p:sp>
        <p:nvSpPr>
          <p:cNvPr id="5" name="TextBox 4">
            <a:hlinkClick action="ppaction://hlinksldjump" r:id="rId2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EF6D8"/>
          </a:solidFill>
          <a:ln w="6350">
            <a:solidFill>
              <a:srgbClr val="9A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9A6A00"/>
                </a:solidFill>
                <a:latin typeface="Roboto"/>
              </a:rPr>
              <a:t>Brouillon en cours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25272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Projet pas encore soumis.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EF6D8"/>
          </a:solidFill>
          <a:ln w="6350">
            <a:solidFill>
              <a:srgbClr val="9A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9A6A00"/>
                </a:solidFill>
                <a:latin typeface="Roboto"/>
              </a:rPr>
              <a:t>En attente de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80136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Soumis ; tous les avis requis ne sont pas encore favorables.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 w="63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1D4ED8"/>
                </a:solidFill>
                <a:latin typeface="Roboto"/>
              </a:rPr>
              <a:t>Avis préliminaire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35000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Avis rendus sur une demande préliminaire : ce n’est pas une 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803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3F6EC"/>
          </a:solidFill>
          <a:ln w="6350">
            <a:solidFill>
              <a:srgbClr val="137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13795B"/>
                </a:solidFill>
                <a:latin typeface="Roboto"/>
              </a:rPr>
              <a:t>Validé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89864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Tous les avis requis sont favorables.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290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EF6D8"/>
          </a:solidFill>
          <a:ln w="6350">
            <a:solidFill>
              <a:srgbClr val="9A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9A6A00"/>
                </a:solidFill>
                <a:latin typeface="Roboto"/>
              </a:rPr>
              <a:t>Validé — modifié depuis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4472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Validé, puis modifié : au moins un périmètre doit ré-examiner.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77639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DE8E8"/>
          </a:solidFill>
          <a:ln w="635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B42318"/>
                </a:solidFill>
                <a:latin typeface="Roboto"/>
              </a:rPr>
              <a:t>Refusé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995927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Au moins un avis défavorable.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12344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EF6D8"/>
          </a:solidFill>
          <a:ln w="6350">
            <a:solidFill>
              <a:srgbClr val="9A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9A6A00"/>
                </a:solidFill>
                <a:latin typeface="Roboto"/>
              </a:rPr>
              <a:t>Confirmation en cours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25272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Confirmation finale demandée, pas encore complète.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17830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EF6D8"/>
          </a:solidFill>
          <a:ln w="6350">
            <a:solidFill>
              <a:srgbClr val="9A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9A6A00"/>
                </a:solidFill>
                <a:latin typeface="Roboto"/>
              </a:rPr>
              <a:t>Lancement en attente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80136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Date de lancement passée, confirmation incomplète.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23317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DE8E8"/>
          </a:solidFill>
          <a:ln w="635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B42318"/>
                </a:solidFill>
                <a:latin typeface="Roboto"/>
              </a:rPr>
              <a:t>Lancé sans confirmation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35000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Lancement déclaré avec une confirmation incomplète.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28803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4B5563"/>
                </a:solidFill>
                <a:latin typeface="Roboto"/>
              </a:rPr>
              <a:t>Soumission annulée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89864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Le projet n’est plus traité par les équipes.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34290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3F6EC"/>
          </a:solidFill>
          <a:ln w="6350">
            <a:solidFill>
              <a:srgbClr val="137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13795B"/>
                </a:solidFill>
                <a:latin typeface="Roboto"/>
              </a:rPr>
              <a:t>Visible par tous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472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Le projet apparaît chez les autres utilisateurs.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977639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 w="63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1D4ED8"/>
                </a:solidFill>
                <a:latin typeface="Roboto"/>
              </a:rPr>
              <a:t>N retours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995927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Post-its d’autres personnes, non traités, sur la vitrine.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avis des experts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Annexes</a:t>
            </a:r>
          </a:p>
        </p:txBody>
      </p:sp>
      <p:sp>
        <p:nvSpPr>
          <p:cNvPr id="5" name="TextBox 4">
            <a:hlinkClick action="ppaction://hlinksldjump" r:id="rId2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96B14"/>
                </a:solidFill>
                <a:latin typeface="Roboto"/>
              </a:rPr>
              <a:t>Statut posé par chaque équipe sur son périmètre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3F6EC"/>
          </a:solidFill>
          <a:ln w="6350">
            <a:solidFill>
              <a:srgbClr val="137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13795B"/>
                </a:solidFill>
                <a:latin typeface="Roboto"/>
              </a:rPr>
              <a:t>Validé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56362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compte comme favorable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EF6D8"/>
          </a:solidFill>
          <a:ln w="6350">
            <a:solidFill>
              <a:srgbClr val="9A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9A6A00"/>
                </a:solidFill>
                <a:latin typeface="Roboto"/>
              </a:rPr>
              <a:t>Validé sous conditions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6654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compte comme favorable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4B5563"/>
                </a:solidFill>
                <a:latin typeface="Roboto"/>
              </a:rPr>
              <a:t>Non concerné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56946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compte comme favorable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EF6D8"/>
          </a:solidFill>
          <a:ln w="6350">
            <a:solidFill>
              <a:srgbClr val="9A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9A6A00"/>
                </a:solidFill>
                <a:latin typeface="Roboto"/>
              </a:rPr>
              <a:t>En attente d’informations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07238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n’est pas favorable : l’équipe attend une réponse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044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DE8E8"/>
          </a:solidFill>
          <a:ln w="635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B42318"/>
                </a:solidFill>
                <a:latin typeface="Roboto"/>
              </a:rPr>
              <a:t>Refusé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57530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suffit à faire passer le projet en « Refusé 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1188720"/>
            <a:ext cx="3108960" cy="2086864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32704" y="1316736"/>
            <a:ext cx="28163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Comment se calcule le badge</a:t>
            </a:r>
          </a:p>
        </p:txBody>
      </p:sp>
      <p:sp>
        <p:nvSpPr>
          <p:cNvPr id="19" name="Oval 18"/>
          <p:cNvSpPr/>
          <p:nvPr/>
        </p:nvSpPr>
        <p:spPr>
          <a:xfrm>
            <a:off x="5632704" y="1644396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15584" y="1591056"/>
            <a:ext cx="2633472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Les équipes déclenchées par vos réponses, et les comités déclenchés, doivent se prononcer.</a:t>
            </a:r>
          </a:p>
        </p:txBody>
      </p:sp>
      <p:sp>
        <p:nvSpPr>
          <p:cNvPr id="21" name="Oval 20"/>
          <p:cNvSpPr/>
          <p:nvPr/>
        </p:nvSpPr>
        <p:spPr>
          <a:xfrm>
            <a:off x="5632704" y="2205228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5584" y="2151888"/>
            <a:ext cx="2633472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Un comité dont le commentaire n’est pas requis ne bloque pas le badge, mais son refus compte.</a:t>
            </a:r>
          </a:p>
        </p:txBody>
      </p:sp>
      <p:sp>
        <p:nvSpPr>
          <p:cNvPr id="23" name="Oval 22"/>
          <p:cNvSpPr/>
          <p:nvPr/>
        </p:nvSpPr>
        <p:spPr>
          <a:xfrm>
            <a:off x="5632704" y="2766060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5584" y="2712720"/>
            <a:ext cx="2633472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Un projet sans aucune équipe concernée garde le badge « Enjeux finalisés ».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fréquentes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Annexes</a:t>
            </a:r>
          </a:p>
        </p:txBody>
      </p:sp>
      <p:sp>
        <p:nvSpPr>
          <p:cNvPr id="5" name="TextBox 4">
            <a:hlinkClick action="ppaction://hlinksldjump" r:id="rId2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977639" cy="106984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316736"/>
            <a:ext cx="36850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Dois-je enregistrer mes réponses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591056"/>
            <a:ext cx="3685031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Non pour le questionnaire : la sauvegarde est continue. Oui pour la vitrine : il faut cliquer sur « Publier 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188720"/>
            <a:ext cx="3977639" cy="106984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4024" y="1316736"/>
            <a:ext cx="36850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Une fois soumis, mon projet est-il figé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4024" y="1591056"/>
            <a:ext cx="3685031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Non. Modifiez-le, puis « Envoyer la mise à jour » : seules les équipes concernées sont prévenues.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50008"/>
            <a:ext cx="3977639" cy="106984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478024"/>
            <a:ext cx="36850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Je ne connais pas encore une réponse.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752344"/>
            <a:ext cx="3685031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« J’ai un doute » : suffisant pour un avis préliminaire, à lever avant la validation.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350008"/>
            <a:ext cx="3977639" cy="106984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4024" y="2478024"/>
            <a:ext cx="36850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Une équipe me semble manquer.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024" y="2752344"/>
            <a:ext cx="3685031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« Solliciter cette équipe » dans les enjeux du projet.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11296"/>
            <a:ext cx="3977639" cy="106984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3639312"/>
            <a:ext cx="36850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Mon collègue ne voit pas mon projet.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913632"/>
            <a:ext cx="3685031" cy="576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Ajoutez-le dans « Partage du projet », ou envoyez-lui le lien de la vitrine.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3511296"/>
            <a:ext cx="3977639" cy="106984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4024" y="3639312"/>
            <a:ext cx="36850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J’ai supprimé un projet par erreur.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64024" y="3913632"/>
            <a:ext cx="3685031" cy="576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Il est dans la « Corbeille », à côté du nombre de projets de « Mes projets » : « Restaurer ».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Bonne utilisation de Project Navigator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397EEB30-9265-4C06-98E2-6D60BF6DFF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Project Navigator · Manuel du chef de projet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D80F946F-E1DC-ED38-C4B3-D51ECAF5FB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13" name="TextBox 12">
            <a:hlinkClick action="ppaction://hlinksldjump" r:id="rId2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10896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573"/>
                </a:solidFill>
                <a:latin typeface="Roboto"/>
              </a:rPr>
              <a:t>Une question ? « Guide interactif » et « Partagez votre avis », sur l’accueil.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LFB-2026">
      <a:dk1>
        <a:srgbClr val="003059"/>
      </a:dk1>
      <a:lt1>
        <a:sysClr val="window" lastClr="FFFFFF"/>
      </a:lt1>
      <a:dk2>
        <a:srgbClr val="003059"/>
      </a:dk2>
      <a:lt2>
        <a:srgbClr val="E8D4AB"/>
      </a:lt2>
      <a:accent1>
        <a:srgbClr val="003059"/>
      </a:accent1>
      <a:accent2>
        <a:srgbClr val="0061B0"/>
      </a:accent2>
      <a:accent3>
        <a:srgbClr val="6BB0CF"/>
      </a:accent3>
      <a:accent4>
        <a:srgbClr val="37290C"/>
      </a:accent4>
      <a:accent5>
        <a:srgbClr val="996B14"/>
      </a:accent5>
      <a:accent6>
        <a:srgbClr val="E2C386"/>
      </a:accent6>
      <a:hlink>
        <a:srgbClr val="6BB0CF"/>
      </a:hlink>
      <a:folHlink>
        <a:srgbClr val="996B14"/>
      </a:folHlink>
    </a:clrScheme>
    <a:fontScheme name="MasqueLFB">
      <a:majorFont>
        <a:latin typeface="Roboto Light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>
            <a:solidFill>
              <a:schemeClr val="tx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f005565-df45-469f-9667-e24999810575">
      <Terms xmlns="http://schemas.microsoft.com/office/infopath/2007/PartnerControls"/>
    </lcf76f155ced4ddcb4097134ff3c332f>
    <TaxCatchAll xmlns="a9adc06b-4697-48c7-a036-8e5d61601cc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680F56D598AF48895FD65636B7099C" ma:contentTypeVersion="11" ma:contentTypeDescription="Crée un document." ma:contentTypeScope="" ma:versionID="c10cc5aa533382c2bf377b5cc7daa35e">
  <xsd:schema xmlns:xsd="http://www.w3.org/2001/XMLSchema" xmlns:xs="http://www.w3.org/2001/XMLSchema" xmlns:p="http://schemas.microsoft.com/office/2006/metadata/properties" xmlns:ns2="3f005565-df45-469f-9667-e24999810575" xmlns:ns3="a9adc06b-4697-48c7-a036-8e5d61601ccd" targetNamespace="http://schemas.microsoft.com/office/2006/metadata/properties" ma:root="true" ma:fieldsID="16621fbe1258d010bf7125c946bb7000" ns2:_="" ns3:_="">
    <xsd:import namespace="3f005565-df45-469f-9667-e24999810575"/>
    <xsd:import namespace="a9adc06b-4697-48c7-a036-8e5d61601c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005565-df45-469f-9667-e249998105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6f3cd56c-c2c5-47c6-80d7-a62c1de323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adc06b-4697-48c7-a036-8e5d61601cc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b442f2d-0dee-4b4e-ac57-f12d8d2405db}" ma:internalName="TaxCatchAll" ma:showField="CatchAllData" ma:web="a9adc06b-4697-48c7-a036-8e5d61601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9DA977-7A93-49E1-B926-3A4C91BC8CA9}">
  <ds:schemaRefs>
    <ds:schemaRef ds:uri="3f005565-df45-469f-9667-e24999810575"/>
    <ds:schemaRef ds:uri="a9adc06b-4697-48c7-a036-8e5d61601cc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854A56A-71C2-41A8-AEF7-D5A89594EF27}">
  <ds:schemaRefs>
    <ds:schemaRef ds:uri="3f005565-df45-469f-9667-e24999810575"/>
    <ds:schemaRef ds:uri="a9adc06b-4697-48c7-a036-8e5d61601cc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31C3163-3B6B-4CF1-96A4-93514C5C90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Affichage à l'écran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9" baseType="lpstr">
      <vt:lpstr>Arial</vt:lpstr>
      <vt:lpstr>Roboto</vt:lpstr>
      <vt:lpstr>Roboto Black</vt:lpstr>
      <vt:lpstr>Roboto Bold</vt:lpstr>
      <vt:lpstr>Roboto Light</vt:lpstr>
      <vt:lpstr>Roboto Thin</vt:lpstr>
      <vt:lpstr>Times New Roman</vt:lpstr>
      <vt:lpstr>Wingdings</vt:lpstr>
      <vt:lpstr>3_Office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LASSAUGE Antoine</cp:lastModifiedBy>
  <cp:revision>2</cp:revision>
  <dcterms:created xsi:type="dcterms:W3CDTF">2025-06-02T07:25:18Z</dcterms:created>
  <dcterms:modified xsi:type="dcterms:W3CDTF">2026-10-16T07:54:22Z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2025-05-23T00:00:00Z</vt:filetime>
  </property>
  <property fmtid="{D5CDD505-2E9C-101B-9397-08002B2CF9AE}" pid="3" name="Creator">
    <vt:lpwstr>Adobe InDesign 20.3 (Windows)</vt:lpwstr>
  </property>
  <property fmtid="{D5CDD505-2E9C-101B-9397-08002B2CF9AE}" pid="4" name="LastSaved">
    <vt:filetime>2025-06-02T00:00:00Z</vt:filetime>
  </property>
  <property fmtid="{D5CDD505-2E9C-101B-9397-08002B2CF9AE}" pid="5" name="Producer">
    <vt:lpwstr>Adobe PDF Library 17.0</vt:lpwstr>
  </property>
  <property fmtid="{D5CDD505-2E9C-101B-9397-08002B2CF9AE}" pid="6" name="ContentTypeId">
    <vt:lpwstr>0x0101002A680F56D598AF48895FD65636B7099C</vt:lpwstr>
  </property>
  <property fmtid="{D5CDD505-2E9C-101B-9397-08002B2CF9AE}" pid="7" name="MediaServiceImageTags">
    <vt:lpwstr/>
  </property>
</Properties>
</file>