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5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05" r:id="rId4"/>
  </p:sldMasterIdLst>
  <p:notesMasterIdLst>
    <p:notesMasterId r:id="rId63"/>
  </p:notesMasterIdLst>
  <p:handoutMasterIdLst>
    <p:handoutMasterId r:id="rId64"/>
  </p:handoutMasterIdLst>
  <p:sldIdLst>
    <p:sldId id="256" r:id="rId5"/>
    <p:sldId id="257" r:id="rId6"/>
    <p:sldId id="258" r:id="rId7"/>
    <p:sldId id="315" r:id="rId8"/>
    <p:sldId id="318" r:id="rId9"/>
    <p:sldId id="319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321" r:id="rId72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320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  <p:sldId id="302" r:id="rId55"/>
    <p:sldId id="303" r:id="rId56"/>
    <p:sldId id="304" r:id="rId57"/>
    <p:sldId id="305" r:id="rId58"/>
    <p:sldId id="306" r:id="rId59"/>
    <p:sldId id="307" r:id="rId60"/>
    <p:sldId id="311" r:id="rId61"/>
    <p:sldId id="312" r:id="rId62"/>
  </p:sldIdLst>
  <p:sldSz cx="9144000" cy="5143500" type="screen16x9"/>
  <p:notesSz cx="9144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Section par défaut" id="{502D97AA-D491-418F-8387-7F83DE33F88C}">
          <p14:sldIdLst>
            <p14:sldId id="256"/>
            <p14:sldId id="257"/>
            <p14:sldId id="258"/>
            <p14:sldId id="315"/>
            <p14:sldId id="318"/>
            <p14:sldId id="319"/>
            <p14:sldId id="259"/>
          </p14:sldIdLst>
        </p14:section>
        <p14:section name="Prendre en main l’outil" id="{CED2E2B6-D58F-4D83-BF0A-9EB0EC0D7089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Décrire son projet" id="{D8E453F3-5650-44A3-95A9-FB17CD192168}">
          <p14:sldIdLst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La vitrine du projet" id="{6D2FF953-8EA2-4AF9-97A7-ABD653D28A4D}">
          <p14:sldIdLst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Présenter et receuillir des avis" id="{D9C9DB91-61E6-4006-B884-697D03FC0632}">
          <p14:sldIdLst>
            <p14:sldId id="281"/>
            <p14:sldId id="282"/>
            <p14:sldId id="283"/>
            <p14:sldId id="284"/>
            <p14:sldId id="285"/>
          </p14:sldIdLst>
        </p14:section>
        <p14:section name="Les enjeux et la soumission" id="{CDC8C3EE-FBB2-4E66-A625-D0D384DBEF09}">
          <p14:sldIdLst>
            <p14:sldId id="286"/>
            <p14:sldId id="287"/>
            <p14:sldId id="288"/>
            <p14:sldId id="289"/>
            <p14:sldId id="320"/>
            <p14:sldId id="290"/>
            <p14:sldId id="291"/>
            <p14:sldId id="292"/>
            <p14:sldId id="293"/>
          </p14:sldIdLst>
        </p14:section>
        <p14:section name="Après la soumission" id="{67147761-A113-4341-9046-EE3285DE1DC9}">
          <p14:sldIdLst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Inspiration" id="{DB80BBE6-6EBF-496B-A394-7E9B0B097321}">
          <p14:sldIdLst>
            <p14:sldId id="303"/>
            <p14:sldId id="304"/>
            <p14:sldId id="305"/>
          </p14:sldIdLst>
        </p14:section>
        <p14:section name="Aide" id="{DA6D59CA-64FF-4533-93DA-AEF41F0381DA}">
          <p14:sldIdLst>
            <p14:sldId id="306"/>
          </p14:sldIdLst>
        </p14:section>
        <p14:section name="Annexes" id="{E8C79E1D-FAB7-4028-8E7A-3D4464BD5795}">
          <p14:sldIdLst>
            <p14:sldId id="307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E39F4BF-0341-AFAC-5855-B26460CBBB83}" name="LASAGNI Sandra" initials="" userId="S::sandra.lasagni@lfb.fr::e0f77007-77bf-4b17-b508-8ab4747f542e" providerId="AD"/>
  <p188:author id="{D2C424F3-3822-045C-2FA4-A186F71A2E74}" name="LASSAUGE Antoine" initials="AL" userId="S::antoine.lassauge@lfb.fr::084dd7b9-c075-4e44-b110-7ae25ba4373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9C69"/>
    <a:srgbClr val="0030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5E7334-85BA-493B-A39C-5AEF01B1F0CD}" v="1" dt="2026-10-20T17:48:36.62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Style moyen 1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Style moyen 1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Style léger 3 - Accentuation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3" d="100"/>
          <a:sy n="93" d="100"/>
        </p:scale>
        <p:origin x="520" y="56"/>
      </p:cViewPr>
      <p:guideLst>
        <p:guide orient="horz" pos="216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handoutMaster" Target="handoutMasters/handout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  <Relationship Id="rId72" Type="http://schemas.openxmlformats.org/officeDocument/2006/relationships/slide" Target="slides/slide59.xml"/>
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SSAUGE Antoine" userId="084dd7b9-c075-4e44-b110-7ae25ba4373a" providerId="ADAL" clId="{8167A0E6-82FA-4EE2-BC68-10136220967F}"/>
    <pc:docChg chg="custSel addSld modSld modSection">
      <pc:chgData name="LASSAUGE Antoine" userId="084dd7b9-c075-4e44-b110-7ae25ba4373a" providerId="ADAL" clId="{8167A0E6-82FA-4EE2-BC68-10136220967F}" dt="2026-10-20T18:02:17.111" v="518" actId="22"/>
      <pc:docMkLst>
        <pc:docMk/>
      </pc:docMkLst>
      <pc:sldChg chg="modSp mod">
        <pc:chgData name="LASSAUGE Antoine" userId="084dd7b9-c075-4e44-b110-7ae25ba4373a" providerId="ADAL" clId="{8167A0E6-82FA-4EE2-BC68-10136220967F}" dt="2026-10-19T14:56:16.729" v="8" actId="6549"/>
        <pc:sldMkLst>
          <pc:docMk/>
          <pc:sldMk cId="0" sldId="257"/>
        </pc:sldMkLst>
        <pc:spChg chg="mod">
          <ac:chgData name="LASSAUGE Antoine" userId="084dd7b9-c075-4e44-b110-7ae25ba4373a" providerId="ADAL" clId="{8167A0E6-82FA-4EE2-BC68-10136220967F}" dt="2026-10-19T14:56:16.729" v="8" actId="6549"/>
          <ac:spMkLst>
            <pc:docMk/>
            <pc:sldMk cId="0" sldId="257"/>
            <ac:spMk id="15" creationId="{00000000-0000-0000-0000-000000000000}"/>
          </ac:spMkLst>
        </pc:spChg>
      </pc:sldChg>
      <pc:sldChg chg="modSp mod">
        <pc:chgData name="LASSAUGE Antoine" userId="084dd7b9-c075-4e44-b110-7ae25ba4373a" providerId="ADAL" clId="{8167A0E6-82FA-4EE2-BC68-10136220967F}" dt="2026-10-19T15:43:36.955" v="506" actId="1035"/>
        <pc:sldMkLst>
          <pc:docMk/>
          <pc:sldMk cId="0" sldId="267"/>
        </pc:sldMkLst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3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4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3:36.955" v="506" actId="1035"/>
          <ac:spMkLst>
            <pc:docMk/>
            <pc:sldMk cId="0" sldId="267"/>
            <ac:spMk id="15" creationId="{00000000-0000-0000-0000-000000000000}"/>
          </ac:spMkLst>
        </pc:spChg>
      </pc:sldChg>
      <pc:sldChg chg="modSp mod">
        <pc:chgData name="LASSAUGE Antoine" userId="084dd7b9-c075-4e44-b110-7ae25ba4373a" providerId="ADAL" clId="{8167A0E6-82FA-4EE2-BC68-10136220967F}" dt="2026-10-19T15:40:36.951" v="153" actId="6549"/>
        <pc:sldMkLst>
          <pc:docMk/>
          <pc:sldMk cId="0" sldId="282"/>
        </pc:sldMkLst>
        <pc:spChg chg="mod">
          <ac:chgData name="LASSAUGE Antoine" userId="084dd7b9-c075-4e44-b110-7ae25ba4373a" providerId="ADAL" clId="{8167A0E6-82FA-4EE2-BC68-10136220967F}" dt="2026-10-19T15:40:30.905" v="147" actId="14100"/>
          <ac:spMkLst>
            <pc:docMk/>
            <pc:sldMk cId="0" sldId="282"/>
            <ac:spMk id="15" creationId="{00000000-0000-0000-0000-000000000000}"/>
          </ac:spMkLst>
        </pc:spChg>
        <pc:spChg chg="mod">
          <ac:chgData name="LASSAUGE Antoine" userId="084dd7b9-c075-4e44-b110-7ae25ba4373a" providerId="ADAL" clId="{8167A0E6-82FA-4EE2-BC68-10136220967F}" dt="2026-10-19T15:40:36.951" v="153" actId="6549"/>
          <ac:spMkLst>
            <pc:docMk/>
            <pc:sldMk cId="0" sldId="282"/>
            <ac:spMk id="17" creationId="{00000000-0000-0000-0000-000000000000}"/>
          </ac:spMkLst>
        </pc:spChg>
      </pc:sldChg>
      <pc:sldChg chg="addSp delSp mod">
        <pc:chgData name="LASSAUGE Antoine" userId="084dd7b9-c075-4e44-b110-7ae25ba4373a" providerId="ADAL" clId="{8167A0E6-82FA-4EE2-BC68-10136220967F}" dt="2026-10-20T17:47:22.803" v="512" actId="22"/>
        <pc:sldMkLst>
          <pc:docMk/>
          <pc:sldMk cId="0" sldId="285"/>
        </pc:sldMkLst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4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5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7.056" v="510" actId="478"/>
          <ac:spMkLst>
            <pc:docMk/>
            <pc:sldMk cId="0" sldId="285"/>
            <ac:spMk id="16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7:47:09.821" v="511" actId="478"/>
          <ac:spMkLst>
            <pc:docMk/>
            <pc:sldMk cId="0" sldId="285"/>
            <ac:spMk id="17" creationId="{00000000-0000-0000-0000-000000000000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0" creationId="{37425B85-A112-9462-1932-EDE93680AA15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2" creationId="{99871849-EA9C-BF67-D53B-586156DB238B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4" creationId="{69694B99-4964-60A3-C333-D0D947923C7B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6" creationId="{ED11DAB8-FF3C-0C9D-5138-A2F5B395EE09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28" creationId="{A4314F93-263A-8859-6B94-55277792883E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0" creationId="{30FD33B1-5722-1EC4-256C-A5D03B91D4B8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2" creationId="{5AA9EEE5-A29D-FB2F-1B0F-A03C46D231EF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4" creationId="{2DF0E9C0-D17D-F990-937B-E48F964D0015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6" creationId="{78FCA0DD-815A-EEE7-8A13-4DE1FFC43E91}"/>
          </ac:spMkLst>
        </pc:spChg>
        <pc:spChg chg="add">
          <ac:chgData name="LASSAUGE Antoine" userId="084dd7b9-c075-4e44-b110-7ae25ba4373a" providerId="ADAL" clId="{8167A0E6-82FA-4EE2-BC68-10136220967F}" dt="2026-10-20T17:47:22.803" v="512" actId="22"/>
          <ac:spMkLst>
            <pc:docMk/>
            <pc:sldMk cId="0" sldId="285"/>
            <ac:spMk id="38" creationId="{18E91BF1-2252-CF40-F0F8-2014F2055F6A}"/>
          </ac:spMkLst>
        </pc:spChg>
      </pc:sldChg>
      <pc:sldChg chg="addSp delSp mod">
        <pc:chgData name="LASSAUGE Antoine" userId="084dd7b9-c075-4e44-b110-7ae25ba4373a" providerId="ADAL" clId="{8167A0E6-82FA-4EE2-BC68-10136220967F}" dt="2026-10-20T18:02:17.111" v="518" actId="22"/>
        <pc:sldMkLst>
          <pc:docMk/>
          <pc:sldMk cId="0" sldId="293"/>
        </pc:sldMkLst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20T18:02:16.694" v="517" actId="478"/>
          <ac:spMkLst>
            <pc:docMk/>
            <pc:sldMk cId="0" sldId="293"/>
            <ac:spMk id="14" creationId="{00000000-0000-0000-0000-000000000000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19" creationId="{789A6A60-204B-4638-9A54-F145FCE918B4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3" creationId="{C2779362-2534-E3D1-8B3D-8C8DFF550FF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7" creationId="{555F119E-27E2-896E-D73F-82552E09196C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29" creationId="{2D8B4119-41D6-6BB1-348C-23F3C4A8F52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1" creationId="{73424795-9A16-8DC2-716C-34BEDBB8CF0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3" creationId="{F94C88AC-FE59-1872-644F-4A532FB9DF05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5" creationId="{3EE0A109-6C0F-ACAC-E5B6-22ADEBD070BA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39" creationId="{435498A5-8309-2CBC-8695-0193BE63C23C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41" creationId="{B28FC9D7-E865-B44A-05A0-59DB7C6FADC8}"/>
          </ac:spMkLst>
        </pc:spChg>
        <pc:spChg chg="add">
          <ac:chgData name="LASSAUGE Antoine" userId="084dd7b9-c075-4e44-b110-7ae25ba4373a" providerId="ADAL" clId="{8167A0E6-82FA-4EE2-BC68-10136220967F}" dt="2026-10-20T18:02:17.111" v="518" actId="22"/>
          <ac:spMkLst>
            <pc:docMk/>
            <pc:sldMk cId="0" sldId="293"/>
            <ac:spMk id="43" creationId="{449B4EE6-C538-3C42-D4CB-A2162D77F5C8}"/>
          </ac:spMkLst>
        </pc:spChg>
        <pc:picChg chg="del">
          <ac:chgData name="LASSAUGE Antoine" userId="084dd7b9-c075-4e44-b110-7ae25ba4373a" providerId="ADAL" clId="{8167A0E6-82FA-4EE2-BC68-10136220967F}" dt="2026-10-20T18:02:16.694" v="517" actId="478"/>
          <ac:picMkLst>
            <pc:docMk/>
            <pc:sldMk cId="0" sldId="293"/>
            <ac:picMk id="6" creationId="{00000000-0000-0000-0000-000000000000}"/>
          </ac:picMkLst>
        </pc:picChg>
      </pc:sldChg>
      <pc:sldChg chg="delSp mod">
        <pc:chgData name="LASSAUGE Antoine" userId="084dd7b9-c075-4e44-b110-7ae25ba4373a" providerId="ADAL" clId="{8167A0E6-82FA-4EE2-BC68-10136220967F}" dt="2026-10-19T15:44:41.965" v="509" actId="478"/>
        <pc:sldMkLst>
          <pc:docMk/>
          <pc:sldMk cId="0" sldId="312"/>
        </pc:sldMkLst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4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41.965" v="509" actId="478"/>
          <ac:spMkLst>
            <pc:docMk/>
            <pc:sldMk cId="0" sldId="312"/>
            <ac:spMk id="16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7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8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19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0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1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25.640" v="507" actId="478"/>
          <ac:spMkLst>
            <pc:docMk/>
            <pc:sldMk cId="0" sldId="312"/>
            <ac:spMk id="22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35.121" v="508" actId="478"/>
          <ac:spMkLst>
            <pc:docMk/>
            <pc:sldMk cId="0" sldId="312"/>
            <ac:spMk id="23" creationId="{00000000-0000-0000-0000-000000000000}"/>
          </ac:spMkLst>
        </pc:spChg>
        <pc:spChg chg="del">
          <ac:chgData name="LASSAUGE Antoine" userId="084dd7b9-c075-4e44-b110-7ae25ba4373a" providerId="ADAL" clId="{8167A0E6-82FA-4EE2-BC68-10136220967F}" dt="2026-10-19T15:44:25.640" v="507" actId="478"/>
          <ac:spMkLst>
            <pc:docMk/>
            <pc:sldMk cId="0" sldId="312"/>
            <ac:spMk id="24" creationId="{00000000-0000-0000-0000-000000000000}"/>
          </ac:spMkLst>
        </pc:spChg>
      </pc:sldChg>
      <pc:sldChg chg="addSp delSp modSp mod">
        <pc:chgData name="LASSAUGE Antoine" userId="084dd7b9-c075-4e44-b110-7ae25ba4373a" providerId="ADAL" clId="{8167A0E6-82FA-4EE2-BC68-10136220967F}" dt="2026-10-19T15:42:07.101" v="251" actId="1076"/>
        <pc:sldMkLst>
          <pc:docMk/>
          <pc:sldMk cId="3113210927" sldId="315"/>
        </pc:sldMkLst>
        <pc:spChg chg="add mod">
          <ac:chgData name="LASSAUGE Antoine" userId="084dd7b9-c075-4e44-b110-7ae25ba4373a" providerId="ADAL" clId="{8167A0E6-82FA-4EE2-BC68-10136220967F}" dt="2026-10-19T15:41:26.585" v="189" actId="20577"/>
          <ac:spMkLst>
            <pc:docMk/>
            <pc:sldMk cId="3113210927" sldId="315"/>
            <ac:spMk id="3" creationId="{981AF06B-3B48-9CCB-9001-75DFA101441B}"/>
          </ac:spMkLst>
        </pc:spChg>
        <pc:spChg chg="add del mod">
          <ac:chgData name="LASSAUGE Antoine" userId="084dd7b9-c075-4e44-b110-7ae25ba4373a" providerId="ADAL" clId="{8167A0E6-82FA-4EE2-BC68-10136220967F}" dt="2026-10-19T15:41:56.905" v="190" actId="478"/>
          <ac:spMkLst>
            <pc:docMk/>
            <pc:sldMk cId="3113210927" sldId="315"/>
            <ac:spMk id="5" creationId="{B3012EAF-48F9-032A-B6C6-37DA09EB7CE5}"/>
          </ac:spMkLst>
        </pc:spChg>
        <pc:spChg chg="add del mod">
          <ac:chgData name="LASSAUGE Antoine" userId="084dd7b9-c075-4e44-b110-7ae25ba4373a" providerId="ADAL" clId="{8167A0E6-82FA-4EE2-BC68-10136220967F}" dt="2026-10-19T15:41:56.905" v="190" actId="478"/>
          <ac:spMkLst>
            <pc:docMk/>
            <pc:sldMk cId="3113210927" sldId="315"/>
            <ac:spMk id="7" creationId="{88417443-D3D1-7F8B-1A6A-2FAE42639FD1}"/>
          </ac:spMkLst>
        </pc:spChg>
        <pc:spChg chg="add mod">
          <ac:chgData name="LASSAUGE Antoine" userId="084dd7b9-c075-4e44-b110-7ae25ba4373a" providerId="ADAL" clId="{8167A0E6-82FA-4EE2-BC68-10136220967F}" dt="2026-10-19T15:42:07.101" v="251" actId="1076"/>
          <ac:spMkLst>
            <pc:docMk/>
            <pc:sldMk cId="3113210927" sldId="315"/>
            <ac:spMk id="9" creationId="{8DC7EC82-CB08-74CB-032A-B9C063B15B36}"/>
          </ac:spMkLst>
        </pc:spChg>
        <pc:spChg chg="add mod">
          <ac:chgData name="LASSAUGE Antoine" userId="084dd7b9-c075-4e44-b110-7ae25ba4373a" providerId="ADAL" clId="{8167A0E6-82FA-4EE2-BC68-10136220967F}" dt="2026-10-19T15:42:07.101" v="251" actId="1076"/>
          <ac:spMkLst>
            <pc:docMk/>
            <pc:sldMk cId="3113210927" sldId="315"/>
            <ac:spMk id="11" creationId="{4C0F8AD9-1C21-628B-3B00-865FB8916BBF}"/>
          </ac:spMkLst>
        </pc:spChg>
      </pc:sldChg>
      <pc:sldChg chg="addSp delSp modSp add mod">
        <pc:chgData name="LASSAUGE Antoine" userId="084dd7b9-c075-4e44-b110-7ae25ba4373a" providerId="ADAL" clId="{8167A0E6-82FA-4EE2-BC68-10136220967F}" dt="2026-10-20T17:48:36.619" v="516"/>
        <pc:sldMkLst>
          <pc:docMk/>
          <pc:sldMk cId="3562121516" sldId="320"/>
        </pc:sldMkLst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7" creationId="{37F5ABA2-6D2F-BA05-D7B9-8614B4C24D03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8" creationId="{03C66226-3585-7B0A-B57A-3C7A6257F7CB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9" creationId="{710DB379-2B2C-6DD6-762E-2A3C2825EF4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3" creationId="{98FA968E-67B3-37D7-69BC-D01F4FBAFB06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8" creationId="{FA61DA2F-B486-30CC-89F9-F8269F723534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19" creationId="{72F54E5D-B91B-4735-946D-2106BF32D83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3" creationId="{9E9D231E-039E-8ACF-6522-F9CC0FE8C364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7" creationId="{C709185F-16BF-AAEA-4782-E1F6395CE819}"/>
          </ac:spMkLst>
        </pc:spChg>
        <pc:spChg chg="del">
          <ac:chgData name="LASSAUGE Antoine" userId="084dd7b9-c075-4e44-b110-7ae25ba4373a" providerId="ADAL" clId="{8167A0E6-82FA-4EE2-BC68-10136220967F}" dt="2026-10-20T17:48:33.820" v="514" actId="478"/>
          <ac:spMkLst>
            <pc:docMk/>
            <pc:sldMk cId="3562121516" sldId="320"/>
            <ac:spMk id="28" creationId="{18D97786-BFAB-012F-3898-3C717BA7B48B}"/>
          </ac:spMkLst>
        </pc:spChg>
        <pc:spChg chg="add del mod">
          <ac:chgData name="LASSAUGE Antoine" userId="084dd7b9-c075-4e44-b110-7ae25ba4373a" providerId="ADAL" clId="{8167A0E6-82FA-4EE2-BC68-10136220967F}" dt="2026-10-20T17:48:36.216" v="515" actId="478"/>
          <ac:spMkLst>
            <pc:docMk/>
            <pc:sldMk cId="3562121516" sldId="320"/>
            <ac:spMk id="29" creationId="{15BAE734-3D5A-7C3B-BA02-844A0508E296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0" creationId="{A7613C65-CAC6-4C7D-01D7-3C8743587405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1" creationId="{638F82F6-1F69-A227-F929-7D76D45D3DE3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4" creationId="{26BD9E9F-878B-16C7-E2E8-4AB31F118F5D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7" creationId="{05E1D44B-3F36-2A64-205D-A65F301443F1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38" creationId="{2DC5F4AF-7849-B6A7-8D4F-6484A9F51EA7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0" creationId="{6210F44B-DEB6-8AD9-3E0E-7945F1E93744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2" creationId="{CAE5D94A-EFAE-4717-C9E3-4BE228DDE4A4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5" creationId="{25835F38-BA91-BB4A-10CF-41630F5BF749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46" creationId="{712836EE-FC15-2AF1-089A-4DE4F2D30478}"/>
          </ac:spMkLst>
        </pc:spChg>
        <pc:spChg chg="add mod">
          <ac:chgData name="LASSAUGE Antoine" userId="084dd7b9-c075-4e44-b110-7ae25ba4373a" providerId="ADAL" clId="{8167A0E6-82FA-4EE2-BC68-10136220967F}" dt="2026-10-20T17:48:36.619" v="516"/>
          <ac:spMkLst>
            <pc:docMk/>
            <pc:sldMk cId="3562121516" sldId="320"/>
            <ac:spMk id="50" creationId="{C81C73C2-6BD1-D66A-9D91-3006F69CAB8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2CE7B6D-F95D-2D22-BE43-7FF4085629F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2D6A0B-14D2-2229-8487-3FB60739A90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A404C1-B096-4F23-BBD3-2A961249D839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15B24E-325C-CD04-0024-8620E8FA69B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0258C6-E311-196B-54D6-6EA51B823BC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6339A6-0A49-4036-A30D-EA8393A9DCD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8651637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BAB1-F7A1-481C-B2C4-C67D719ACC75}" type="datetimeFigureOut">
              <a:rPr lang="fr-FR" smtClean="0"/>
              <a:t>20/10/2026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E41B19-7CA3-44B0-834C-F69EE93D8C5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18938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Roboto" panose="02000000000000000000" pitchFamily="2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de la présen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3BC9315-5B51-B82E-C9EE-D6D33B4389B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F93D73F-6B7A-ADF0-C3B7-C61F97F901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602DCA-E586-7608-A3BF-E293439D096B}"/>
              </a:ext>
            </a:extLst>
          </p:cNvPr>
          <p:cNvSpPr/>
          <p:nvPr userDrawn="1"/>
        </p:nvSpPr>
        <p:spPr>
          <a:xfrm>
            <a:off x="0" y="4691178"/>
            <a:ext cx="9144000" cy="342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B7DCAC-2F30-3770-92F4-B7D496BA75C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Titre 14">
            <a:extLst>
              <a:ext uri="{FF2B5EF4-FFF2-40B4-BE49-F238E27FC236}">
                <a16:creationId xmlns:a16="http://schemas.microsoft.com/office/drawing/2014/main" id="{5B4E63CF-2376-B72A-875A-CE5CFD414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8692" y="1807943"/>
            <a:ext cx="4748219" cy="1527284"/>
          </a:xfrm>
        </p:spPr>
        <p:txBody>
          <a:bodyPr anchor="ctr" anchorCtr="0"/>
          <a:lstStyle>
            <a:lvl1pPr>
              <a:defRPr sz="3500" b="0">
                <a:latin typeface="Roboto Black" panose="02000000000000000000" pitchFamily="2" charset="0"/>
                <a:ea typeface="Roboto Black" panose="02000000000000000000" pitchFamily="2" charset="0"/>
                <a:cs typeface="Roboto Black" panose="02000000000000000000" pitchFamily="2" charset="0"/>
              </a:defRPr>
            </a:lvl1pPr>
          </a:lstStyle>
          <a:p>
            <a:r>
              <a:rPr lang="fr-FR"/>
              <a:t>Cliquez </a:t>
            </a:r>
            <a:br>
              <a:rPr lang="fr-FR"/>
            </a:br>
            <a:r>
              <a:rPr lang="fr-FR"/>
              <a:t>pour modifier</a:t>
            </a:r>
            <a:br>
              <a:rPr lang="fr-FR"/>
            </a:br>
            <a:r>
              <a:rPr lang="fr-FR"/>
              <a:t>le titre</a:t>
            </a:r>
          </a:p>
        </p:txBody>
      </p:sp>
      <p:sp>
        <p:nvSpPr>
          <p:cNvPr id="30" name="Espace réservé du texte 29">
            <a:extLst>
              <a:ext uri="{FF2B5EF4-FFF2-40B4-BE49-F238E27FC236}">
                <a16:creationId xmlns:a16="http://schemas.microsoft.com/office/drawing/2014/main" id="{D0FA12C8-4E1D-0751-DB3C-8BEC539492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48692" y="4324350"/>
            <a:ext cx="2578100" cy="277953"/>
          </a:xfrm>
        </p:spPr>
        <p:txBody>
          <a:bodyPr anchor="b" anchorCtr="0"/>
          <a:lstStyle>
            <a:lvl1pPr>
              <a:defRPr sz="1200" cap="none" baseline="0">
                <a:solidFill>
                  <a:schemeClr val="tx2"/>
                </a:solidFill>
                <a:latin typeface="Roboto Bold" panose="02000000000000000000" pitchFamily="2" charset="0"/>
              </a:defRPr>
            </a:lvl1pPr>
          </a:lstStyle>
          <a:p>
            <a:pPr lvl="0"/>
            <a:r>
              <a:rPr lang="fr-FR"/>
              <a:t>Date ici</a:t>
            </a:r>
          </a:p>
        </p:txBody>
      </p:sp>
      <p:sp>
        <p:nvSpPr>
          <p:cNvPr id="18" name="object 2">
            <a:extLst>
              <a:ext uri="{FF2B5EF4-FFF2-40B4-BE49-F238E27FC236}">
                <a16:creationId xmlns:a16="http://schemas.microsoft.com/office/drawing/2014/main" id="{1A8BA232-1762-24CE-92C9-1C4E61E8D216}"/>
              </a:ext>
            </a:extLst>
          </p:cNvPr>
          <p:cNvSpPr/>
          <p:nvPr/>
        </p:nvSpPr>
        <p:spPr>
          <a:xfrm>
            <a:off x="0" y="541198"/>
            <a:ext cx="536575" cy="1073150"/>
          </a:xfrm>
          <a:custGeom>
            <a:avLst/>
            <a:gdLst/>
            <a:ahLst/>
            <a:cxnLst/>
            <a:rect l="l" t="t" r="r" b="b"/>
            <a:pathLst>
              <a:path w="536575" h="1073150">
                <a:moveTo>
                  <a:pt x="536397" y="536397"/>
                </a:moveTo>
                <a:lnTo>
                  <a:pt x="5105" y="536397"/>
                </a:lnTo>
                <a:lnTo>
                  <a:pt x="0" y="536397"/>
                </a:lnTo>
                <a:lnTo>
                  <a:pt x="0" y="1072667"/>
                </a:lnTo>
                <a:lnTo>
                  <a:pt x="53454" y="1070597"/>
                </a:lnTo>
                <a:lnTo>
                  <a:pt x="100596" y="1064158"/>
                </a:lnTo>
                <a:lnTo>
                  <a:pt x="146342" y="1053630"/>
                </a:lnTo>
                <a:lnTo>
                  <a:pt x="190487" y="1039241"/>
                </a:lnTo>
                <a:lnTo>
                  <a:pt x="232854" y="1021143"/>
                </a:lnTo>
                <a:lnTo>
                  <a:pt x="273253" y="999566"/>
                </a:lnTo>
                <a:lnTo>
                  <a:pt x="311505" y="974661"/>
                </a:lnTo>
                <a:lnTo>
                  <a:pt x="347408" y="946645"/>
                </a:lnTo>
                <a:lnTo>
                  <a:pt x="380784" y="915682"/>
                </a:lnTo>
                <a:lnTo>
                  <a:pt x="411441" y="881989"/>
                </a:lnTo>
                <a:lnTo>
                  <a:pt x="439191" y="845743"/>
                </a:lnTo>
                <a:lnTo>
                  <a:pt x="463854" y="807123"/>
                </a:lnTo>
                <a:lnTo>
                  <a:pt x="485241" y="766343"/>
                </a:lnTo>
                <a:lnTo>
                  <a:pt x="503148" y="723557"/>
                </a:lnTo>
                <a:lnTo>
                  <a:pt x="517410" y="678992"/>
                </a:lnTo>
                <a:lnTo>
                  <a:pt x="527837" y="632815"/>
                </a:lnTo>
                <a:lnTo>
                  <a:pt x="534225" y="585216"/>
                </a:lnTo>
                <a:lnTo>
                  <a:pt x="536397" y="536397"/>
                </a:lnTo>
                <a:close/>
              </a:path>
              <a:path w="536575" h="1073150">
                <a:moveTo>
                  <a:pt x="536397" y="0"/>
                </a:moveTo>
                <a:lnTo>
                  <a:pt x="0" y="0"/>
                </a:lnTo>
                <a:lnTo>
                  <a:pt x="0" y="536270"/>
                </a:lnTo>
                <a:lnTo>
                  <a:pt x="5105" y="536397"/>
                </a:lnTo>
                <a:lnTo>
                  <a:pt x="53454" y="534200"/>
                </a:lnTo>
                <a:lnTo>
                  <a:pt x="100596" y="527748"/>
                </a:lnTo>
                <a:lnTo>
                  <a:pt x="146342" y="517232"/>
                </a:lnTo>
                <a:lnTo>
                  <a:pt x="190487" y="502831"/>
                </a:lnTo>
                <a:lnTo>
                  <a:pt x="232854" y="484746"/>
                </a:lnTo>
                <a:lnTo>
                  <a:pt x="273253" y="463156"/>
                </a:lnTo>
                <a:lnTo>
                  <a:pt x="311505" y="438264"/>
                </a:lnTo>
                <a:lnTo>
                  <a:pt x="347408" y="410235"/>
                </a:lnTo>
                <a:lnTo>
                  <a:pt x="380784" y="379285"/>
                </a:lnTo>
                <a:lnTo>
                  <a:pt x="411441" y="345592"/>
                </a:lnTo>
                <a:lnTo>
                  <a:pt x="439191" y="309333"/>
                </a:lnTo>
                <a:lnTo>
                  <a:pt x="463854" y="270725"/>
                </a:lnTo>
                <a:lnTo>
                  <a:pt x="485241" y="229933"/>
                </a:lnTo>
                <a:lnTo>
                  <a:pt x="503148" y="187159"/>
                </a:lnTo>
                <a:lnTo>
                  <a:pt x="517410" y="142595"/>
                </a:lnTo>
                <a:lnTo>
                  <a:pt x="527837" y="96418"/>
                </a:lnTo>
                <a:lnTo>
                  <a:pt x="534225" y="48818"/>
                </a:lnTo>
                <a:lnTo>
                  <a:pt x="536397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3">
            <a:extLst>
              <a:ext uri="{FF2B5EF4-FFF2-40B4-BE49-F238E27FC236}">
                <a16:creationId xmlns:a16="http://schemas.microsoft.com/office/drawing/2014/main" id="{E87A0883-9331-5D02-4631-0D71DB709C5F}"/>
              </a:ext>
            </a:extLst>
          </p:cNvPr>
          <p:cNvSpPr/>
          <p:nvPr/>
        </p:nvSpPr>
        <p:spPr>
          <a:xfrm>
            <a:off x="2727693" y="541186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30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14">
            <a:extLst>
              <a:ext uri="{FF2B5EF4-FFF2-40B4-BE49-F238E27FC236}">
                <a16:creationId xmlns:a16="http://schemas.microsoft.com/office/drawing/2014/main" id="{8F881973-DA93-3507-4631-E8D204C84E39}"/>
              </a:ext>
            </a:extLst>
          </p:cNvPr>
          <p:cNvSpPr/>
          <p:nvPr/>
        </p:nvSpPr>
        <p:spPr>
          <a:xfrm>
            <a:off x="2727693" y="2571585"/>
            <a:ext cx="260350" cy="2030730"/>
          </a:xfrm>
          <a:custGeom>
            <a:avLst/>
            <a:gdLst/>
            <a:ahLst/>
            <a:cxnLst/>
            <a:rect l="l" t="t" r="r" b="b"/>
            <a:pathLst>
              <a:path w="260350" h="2030729">
                <a:moveTo>
                  <a:pt x="260311" y="0"/>
                </a:moveTo>
                <a:lnTo>
                  <a:pt x="0" y="0"/>
                </a:lnTo>
                <a:lnTo>
                  <a:pt x="0" y="2030399"/>
                </a:lnTo>
                <a:lnTo>
                  <a:pt x="260311" y="2030399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15">
            <a:extLst>
              <a:ext uri="{FF2B5EF4-FFF2-40B4-BE49-F238E27FC236}">
                <a16:creationId xmlns:a16="http://schemas.microsoft.com/office/drawing/2014/main" id="{CB58EE91-9F66-698E-9351-E8224C8422C2}"/>
              </a:ext>
            </a:extLst>
          </p:cNvPr>
          <p:cNvSpPr/>
          <p:nvPr/>
        </p:nvSpPr>
        <p:spPr>
          <a:xfrm>
            <a:off x="0" y="1613993"/>
            <a:ext cx="540385" cy="2988310"/>
          </a:xfrm>
          <a:custGeom>
            <a:avLst/>
            <a:gdLst/>
            <a:ahLst/>
            <a:cxnLst/>
            <a:rect l="l" t="t" r="r" b="b"/>
            <a:pathLst>
              <a:path w="540385" h="2988310">
                <a:moveTo>
                  <a:pt x="540004" y="0"/>
                </a:moveTo>
                <a:lnTo>
                  <a:pt x="0" y="0"/>
                </a:lnTo>
                <a:lnTo>
                  <a:pt x="0" y="2987992"/>
                </a:lnTo>
                <a:lnTo>
                  <a:pt x="540004" y="2987992"/>
                </a:lnTo>
                <a:lnTo>
                  <a:pt x="540004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0" name="Espace réservé pour une image  89">
            <a:extLst>
              <a:ext uri="{FF2B5EF4-FFF2-40B4-BE49-F238E27FC236}">
                <a16:creationId xmlns:a16="http://schemas.microsoft.com/office/drawing/2014/main" id="{DD4D3EE9-6092-1071-706C-5E442A3B5B34}"/>
              </a:ext>
            </a:extLst>
          </p:cNvPr>
          <p:cNvSpPr>
            <a:spLocks noGrp="1"/>
          </p:cNvSpPr>
          <p:nvPr userDrawn="1">
            <p:ph type="pic" sz="quarter" idx="13"/>
          </p:nvPr>
        </p:nvSpPr>
        <p:spPr>
          <a:xfrm>
            <a:off x="533400" y="541186"/>
            <a:ext cx="2198103" cy="4061118"/>
          </a:xfrm>
        </p:spPr>
        <p:txBody>
          <a:bodyPr/>
          <a:lstStyle/>
          <a:p>
            <a:endParaRPr lang="fr-FR"/>
          </a:p>
        </p:txBody>
      </p:sp>
      <p:pic>
        <p:nvPicPr>
          <p:cNvPr id="22" name="Image 2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8193FC7-55B3-095B-8EEC-DBF2B6E0A5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pic>
        <p:nvPicPr>
          <p:cNvPr id="2" name="Espace réservé pour une image  7" descr="Une image contenant personne, habits, Visage humain, sourire&#10;&#10;Le contenu généré par l’IA peut être incorrect.">
            <a:extLst>
              <a:ext uri="{FF2B5EF4-FFF2-40B4-BE49-F238E27FC236}">
                <a16:creationId xmlns:a16="http://schemas.microsoft.com/office/drawing/2014/main" id="{9528A68B-83C1-2AD5-BD91-DDB7C0393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7" t="-90" r="21104" b="90"/>
          <a:stretch>
            <a:fillRect/>
          </a:stretch>
        </p:blipFill>
        <p:spPr>
          <a:xfrm>
            <a:off x="533400" y="541185"/>
            <a:ext cx="2198104" cy="4061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63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94F234-E42C-3145-F800-46F86EF1A17A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Espace réservé du texte 105">
            <a:extLst>
              <a:ext uri="{FF2B5EF4-FFF2-40B4-BE49-F238E27FC236}">
                <a16:creationId xmlns:a16="http://schemas.microsoft.com/office/drawing/2014/main" id="{AFC3790F-95A4-FE3A-9007-21495798CE32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555994" y="2296343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7" name="Espace réservé du texte 105">
            <a:extLst>
              <a:ext uri="{FF2B5EF4-FFF2-40B4-BE49-F238E27FC236}">
                <a16:creationId xmlns:a16="http://schemas.microsoft.com/office/drawing/2014/main" id="{47E54E45-A80B-F4EF-0528-1E66CA4C5FFE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429000" y="2303306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08" name="Espace réservé du texte 105">
            <a:extLst>
              <a:ext uri="{FF2B5EF4-FFF2-40B4-BE49-F238E27FC236}">
                <a16:creationId xmlns:a16="http://schemas.microsoft.com/office/drawing/2014/main" id="{E64ACC75-D2EF-FEC1-4D08-441A7B979846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555994" y="2749256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2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09" name="Espace réservé du texte 105">
            <a:extLst>
              <a:ext uri="{FF2B5EF4-FFF2-40B4-BE49-F238E27FC236}">
                <a16:creationId xmlns:a16="http://schemas.microsoft.com/office/drawing/2014/main" id="{D1CCC70D-372A-86D5-2597-8E5C0B36BAFF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3429000" y="2756219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0" name="Espace réservé du texte 105">
            <a:extLst>
              <a:ext uri="{FF2B5EF4-FFF2-40B4-BE49-F238E27FC236}">
                <a16:creationId xmlns:a16="http://schemas.microsoft.com/office/drawing/2014/main" id="{8D65A185-5084-FB2D-5067-F51092665620}"/>
              </a:ext>
            </a:extLst>
          </p:cNvPr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555994" y="3209132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3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1" name="Espace réservé du texte 105">
            <a:extLst>
              <a:ext uri="{FF2B5EF4-FFF2-40B4-BE49-F238E27FC236}">
                <a16:creationId xmlns:a16="http://schemas.microsoft.com/office/drawing/2014/main" id="{BE029831-9CFB-95BE-3748-974465291047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429000" y="321609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2" name="Espace réservé du texte 105">
            <a:extLst>
              <a:ext uri="{FF2B5EF4-FFF2-40B4-BE49-F238E27FC236}">
                <a16:creationId xmlns:a16="http://schemas.microsoft.com/office/drawing/2014/main" id="{B55C7AB3-52F6-62F3-B0E3-6A4F2520A19D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555994" y="3637780"/>
            <a:ext cx="2873006" cy="27404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4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3" name="Espace réservé du texte 105">
            <a:extLst>
              <a:ext uri="{FF2B5EF4-FFF2-40B4-BE49-F238E27FC236}">
                <a16:creationId xmlns:a16="http://schemas.microsoft.com/office/drawing/2014/main" id="{8E1AF094-4A70-E6FE-DF85-918DCDBB13F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3429000" y="3644743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4" name="Espace réservé du texte 105">
            <a:extLst>
              <a:ext uri="{FF2B5EF4-FFF2-40B4-BE49-F238E27FC236}">
                <a16:creationId xmlns:a16="http://schemas.microsoft.com/office/drawing/2014/main" id="{76E4D111-CC39-D743-67B1-48B1B121E5A3}"/>
              </a:ext>
            </a:extLst>
          </p:cNvPr>
          <p:cNvSpPr>
            <a:spLocks noGrp="1"/>
          </p:cNvSpPr>
          <p:nvPr userDrawn="1">
            <p:ph type="body" sz="quarter" idx="20" hasCustomPrompt="1"/>
          </p:nvPr>
        </p:nvSpPr>
        <p:spPr>
          <a:xfrm>
            <a:off x="5219700" y="229634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5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5" name="Espace réservé du texte 105">
            <a:extLst>
              <a:ext uri="{FF2B5EF4-FFF2-40B4-BE49-F238E27FC236}">
                <a16:creationId xmlns:a16="http://schemas.microsoft.com/office/drawing/2014/main" id="{F4FB5A0E-2175-5868-C394-6245612A9DE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8076022" y="230610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6" name="Espace réservé du texte 105">
            <a:extLst>
              <a:ext uri="{FF2B5EF4-FFF2-40B4-BE49-F238E27FC236}">
                <a16:creationId xmlns:a16="http://schemas.microsoft.com/office/drawing/2014/main" id="{E2E6260F-363A-57B7-23BF-D9123A1532F3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5219700" y="2749256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6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7" name="Espace réservé du texte 105">
            <a:extLst>
              <a:ext uri="{FF2B5EF4-FFF2-40B4-BE49-F238E27FC236}">
                <a16:creationId xmlns:a16="http://schemas.microsoft.com/office/drawing/2014/main" id="{25EA6477-4019-2F41-55A3-085B7971C8F4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8076022" y="2759015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18" name="Espace réservé du texte 105">
            <a:extLst>
              <a:ext uri="{FF2B5EF4-FFF2-40B4-BE49-F238E27FC236}">
                <a16:creationId xmlns:a16="http://schemas.microsoft.com/office/drawing/2014/main" id="{41E19886-1FCB-C0CB-B499-8B3BFA8EBEBD}"/>
              </a:ext>
            </a:extLst>
          </p:cNvPr>
          <p:cNvSpPr>
            <a:spLocks noGrp="1"/>
          </p:cNvSpPr>
          <p:nvPr userDrawn="1">
            <p:ph type="body" sz="quarter" idx="24" hasCustomPrompt="1"/>
          </p:nvPr>
        </p:nvSpPr>
        <p:spPr>
          <a:xfrm>
            <a:off x="5219700" y="3209132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7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19" name="Espace réservé du texte 105">
            <a:extLst>
              <a:ext uri="{FF2B5EF4-FFF2-40B4-BE49-F238E27FC236}">
                <a16:creationId xmlns:a16="http://schemas.microsoft.com/office/drawing/2014/main" id="{A40ED9E4-19CA-79F7-F897-80052FFF5A92}"/>
              </a:ext>
            </a:extLst>
          </p:cNvPr>
          <p:cNvSpPr>
            <a:spLocks noGrp="1"/>
          </p:cNvSpPr>
          <p:nvPr userDrawn="1">
            <p:ph type="body" sz="quarter" idx="25" hasCustomPrompt="1"/>
          </p:nvPr>
        </p:nvSpPr>
        <p:spPr>
          <a:xfrm>
            <a:off x="8076022" y="3218891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0" name="Espace réservé du texte 105">
            <a:extLst>
              <a:ext uri="{FF2B5EF4-FFF2-40B4-BE49-F238E27FC236}">
                <a16:creationId xmlns:a16="http://schemas.microsoft.com/office/drawing/2014/main" id="{0E31F892-7816-6952-89E6-B43965C4C226}"/>
              </a:ext>
            </a:extLst>
          </p:cNvPr>
          <p:cNvSpPr>
            <a:spLocks noGrp="1"/>
          </p:cNvSpPr>
          <p:nvPr userDrawn="1">
            <p:ph type="body" sz="quarter" idx="26" hasCustomPrompt="1"/>
          </p:nvPr>
        </p:nvSpPr>
        <p:spPr>
          <a:xfrm>
            <a:off x="5219700" y="3637779"/>
            <a:ext cx="2856322" cy="279097"/>
          </a:xfrm>
        </p:spPr>
        <p:txBody>
          <a:bodyPr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Titre partie ici</a:t>
            </a:r>
          </a:p>
        </p:txBody>
      </p:sp>
      <p:sp>
        <p:nvSpPr>
          <p:cNvPr id="121" name="Espace réservé du texte 105">
            <a:extLst>
              <a:ext uri="{FF2B5EF4-FFF2-40B4-BE49-F238E27FC236}">
                <a16:creationId xmlns:a16="http://schemas.microsoft.com/office/drawing/2014/main" id="{F99C2A6E-9E00-1A0F-0288-5D885C6AE328}"/>
              </a:ext>
            </a:extLst>
          </p:cNvPr>
          <p:cNvSpPr>
            <a:spLocks noGrp="1"/>
          </p:cNvSpPr>
          <p:nvPr userDrawn="1">
            <p:ph type="body" sz="quarter" idx="27" hasCustomPrompt="1"/>
          </p:nvPr>
        </p:nvSpPr>
        <p:spPr>
          <a:xfrm>
            <a:off x="8076022" y="3647538"/>
            <a:ext cx="544040" cy="144780"/>
          </a:xfrm>
        </p:spPr>
        <p:txBody>
          <a:bodyPr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latin typeface="Roboto Black" panose="02000000000000000000" pitchFamily="2" charset="0"/>
                <a:ea typeface="Roboto Black" panose="02000000000000000000" pitchFamily="2" charset="0"/>
              </a:defRPr>
            </a:lvl1pPr>
          </a:lstStyle>
          <a:p>
            <a:pPr lvl="0"/>
            <a:r>
              <a:rPr lang="fr-FR"/>
              <a:t>p. ??</a:t>
            </a:r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6" name="Espace réservé du numéro de diapositive 125">
            <a:extLst>
              <a:ext uri="{FF2B5EF4-FFF2-40B4-BE49-F238E27FC236}">
                <a16:creationId xmlns:a16="http://schemas.microsoft.com/office/drawing/2014/main" id="{7C502C72-215E-C49D-2060-58E72CA97A3B}"/>
              </a:ext>
            </a:extLst>
          </p:cNvPr>
          <p:cNvSpPr>
            <a:spLocks noGrp="1"/>
          </p:cNvSpPr>
          <p:nvPr userDrawn="1">
            <p:ph type="sldNum" sz="quarter" idx="29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4" name="object 12">
            <a:extLst>
              <a:ext uri="{FF2B5EF4-FFF2-40B4-BE49-F238E27FC236}">
                <a16:creationId xmlns:a16="http://schemas.microsoft.com/office/drawing/2014/main" id="{51A9525E-DFC5-4ACE-9666-35BE515C9387}"/>
              </a:ext>
            </a:extLst>
          </p:cNvPr>
          <p:cNvSpPr/>
          <p:nvPr/>
        </p:nvSpPr>
        <p:spPr>
          <a:xfrm>
            <a:off x="0" y="-12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80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305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13">
            <a:extLst>
              <a:ext uri="{FF2B5EF4-FFF2-40B4-BE49-F238E27FC236}">
                <a16:creationId xmlns:a16="http://schemas.microsoft.com/office/drawing/2014/main" id="{739E489F-EBE7-7CE1-8930-FB823BE693FF}"/>
              </a:ext>
            </a:extLst>
          </p:cNvPr>
          <p:cNvSpPr/>
          <p:nvPr/>
        </p:nvSpPr>
        <p:spPr>
          <a:xfrm>
            <a:off x="0" y="2570390"/>
            <a:ext cx="260350" cy="2570480"/>
          </a:xfrm>
          <a:custGeom>
            <a:avLst/>
            <a:gdLst/>
            <a:ahLst/>
            <a:cxnLst/>
            <a:rect l="l" t="t" r="r" b="b"/>
            <a:pathLst>
              <a:path w="260350" h="2570479">
                <a:moveTo>
                  <a:pt x="260311" y="0"/>
                </a:moveTo>
                <a:lnTo>
                  <a:pt x="0" y="0"/>
                </a:lnTo>
                <a:lnTo>
                  <a:pt x="0" y="2570403"/>
                </a:lnTo>
                <a:lnTo>
                  <a:pt x="260311" y="2570403"/>
                </a:lnTo>
                <a:lnTo>
                  <a:pt x="260311" y="0"/>
                </a:lnTo>
                <a:close/>
              </a:path>
            </a:pathLst>
          </a:custGeom>
          <a:solidFill>
            <a:srgbClr val="00AEEF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6" name="Image 25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C5B991F-6F2F-F8EC-033E-1CE0AE6B041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27" name="Titre 26">
            <a:extLst>
              <a:ext uri="{FF2B5EF4-FFF2-40B4-BE49-F238E27FC236}">
                <a16:creationId xmlns:a16="http://schemas.microsoft.com/office/drawing/2014/main" id="{917B67AB-E45C-7BB4-6A94-FCC6F5893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0"/>
            <a:ext cx="6610350" cy="925737"/>
          </a:xfrm>
        </p:spPr>
        <p:txBody>
          <a:bodyPr/>
          <a:lstStyle>
            <a:lvl1pPr>
              <a:defRPr sz="3500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1514281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96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36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parti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ECF011-D9F0-4847-2A8C-39F75C9914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5200" y="2724150"/>
            <a:ext cx="3870060" cy="1153340"/>
          </a:xfrm>
        </p:spPr>
        <p:txBody>
          <a:bodyPr anchor="b" anchorCtr="0">
            <a:noAutofit/>
          </a:bodyPr>
          <a:lstStyle>
            <a:lvl1pPr>
              <a:defRPr sz="3000">
                <a:latin typeface="Roboto Bold" panose="02000000000000000000" pitchFamily="2" charset="0"/>
                <a:ea typeface="Roboto Bold" panose="02000000000000000000" pitchFamily="2" charset="0"/>
              </a:defRPr>
            </a:lvl1pPr>
          </a:lstStyle>
          <a:p>
            <a:r>
              <a:rPr lang="fr-FR"/>
              <a:t>Cliquez pour </a:t>
            </a:r>
            <a:br>
              <a:rPr lang="fr-FR"/>
            </a:br>
            <a:r>
              <a:rPr lang="fr-FR"/>
              <a:t>modifier le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FE5D49-97A3-75C7-8361-79FE27302D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9696FE2E-462E-B964-8974-C167AD4C84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05200" y="1123950"/>
            <a:ext cx="2895600" cy="1378500"/>
          </a:xfrm>
        </p:spPr>
        <p:txBody>
          <a:bodyPr anchor="ctr" anchorCtr="0">
            <a:noAutofit/>
          </a:bodyPr>
          <a:lstStyle>
            <a:lvl1pPr>
              <a:defRPr sz="9000">
                <a:latin typeface="Roboto Thin" panose="02000000000000000000" pitchFamily="2" charset="0"/>
                <a:ea typeface="Roboto Thin" panose="02000000000000000000" pitchFamily="2" charset="0"/>
              </a:defRPr>
            </a:lvl1pPr>
          </a:lstStyle>
          <a:p>
            <a:pPr lvl="0"/>
            <a:r>
              <a:rPr lang="fr-FR"/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68042C-91C7-9E1B-DC50-E26BF7BB846F}"/>
              </a:ext>
            </a:extLst>
          </p:cNvPr>
          <p:cNvSpPr/>
          <p:nvPr userDrawn="1"/>
        </p:nvSpPr>
        <p:spPr>
          <a:xfrm>
            <a:off x="7620000" y="0"/>
            <a:ext cx="1524000" cy="8001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CCEFD188-7B52-61F9-3B20-3871DFEB37C7}"/>
              </a:ext>
            </a:extLst>
          </p:cNvPr>
          <p:cNvSpPr/>
          <p:nvPr userDrawn="1"/>
        </p:nvSpPr>
        <p:spPr>
          <a:xfrm>
            <a:off x="539991" y="540003"/>
            <a:ext cx="1612900" cy="806450"/>
          </a:xfrm>
          <a:custGeom>
            <a:avLst/>
            <a:gdLst/>
            <a:ahLst/>
            <a:cxnLst/>
            <a:rect l="l" t="t" r="r" b="b"/>
            <a:pathLst>
              <a:path w="1612900" h="806450">
                <a:moveTo>
                  <a:pt x="806399" y="798728"/>
                </a:moveTo>
                <a:lnTo>
                  <a:pt x="804926" y="750074"/>
                </a:lnTo>
                <a:lnTo>
                  <a:pt x="800569" y="702183"/>
                </a:lnTo>
                <a:lnTo>
                  <a:pt x="793407" y="655154"/>
                </a:lnTo>
                <a:lnTo>
                  <a:pt x="783526" y="609066"/>
                </a:lnTo>
                <a:lnTo>
                  <a:pt x="771017" y="563994"/>
                </a:lnTo>
                <a:lnTo>
                  <a:pt x="755954" y="520026"/>
                </a:lnTo>
                <a:lnTo>
                  <a:pt x="738416" y="477253"/>
                </a:lnTo>
                <a:lnTo>
                  <a:pt x="718515" y="435737"/>
                </a:lnTo>
                <a:lnTo>
                  <a:pt x="696302" y="395592"/>
                </a:lnTo>
                <a:lnTo>
                  <a:pt x="671880" y="356882"/>
                </a:lnTo>
                <a:lnTo>
                  <a:pt x="645337" y="319697"/>
                </a:lnTo>
                <a:lnTo>
                  <a:pt x="616750" y="284111"/>
                </a:lnTo>
                <a:lnTo>
                  <a:pt x="586193" y="250228"/>
                </a:lnTo>
                <a:lnTo>
                  <a:pt x="553770" y="218109"/>
                </a:lnTo>
                <a:lnTo>
                  <a:pt x="519557" y="187845"/>
                </a:lnTo>
                <a:lnTo>
                  <a:pt x="483628" y="159524"/>
                </a:lnTo>
                <a:lnTo>
                  <a:pt x="446087" y="133235"/>
                </a:lnTo>
                <a:lnTo>
                  <a:pt x="407009" y="109042"/>
                </a:lnTo>
                <a:lnTo>
                  <a:pt x="366471" y="87058"/>
                </a:lnTo>
                <a:lnTo>
                  <a:pt x="324573" y="67335"/>
                </a:lnTo>
                <a:lnTo>
                  <a:pt x="281381" y="49974"/>
                </a:lnTo>
                <a:lnTo>
                  <a:pt x="236994" y="35052"/>
                </a:lnTo>
                <a:lnTo>
                  <a:pt x="191490" y="22656"/>
                </a:lnTo>
                <a:lnTo>
                  <a:pt x="144957" y="12865"/>
                </a:lnTo>
                <a:lnTo>
                  <a:pt x="97472" y="5778"/>
                </a:lnTo>
                <a:lnTo>
                  <a:pt x="49123" y="1460"/>
                </a:lnTo>
                <a:lnTo>
                  <a:pt x="0" y="0"/>
                </a:lnTo>
                <a:lnTo>
                  <a:pt x="0" y="806399"/>
                </a:lnTo>
                <a:lnTo>
                  <a:pt x="806208" y="806399"/>
                </a:lnTo>
                <a:lnTo>
                  <a:pt x="806399" y="798728"/>
                </a:lnTo>
                <a:close/>
              </a:path>
              <a:path w="1612900" h="806450">
                <a:moveTo>
                  <a:pt x="1612798" y="798728"/>
                </a:moveTo>
                <a:lnTo>
                  <a:pt x="1611325" y="750074"/>
                </a:lnTo>
                <a:lnTo>
                  <a:pt x="1606969" y="702183"/>
                </a:lnTo>
                <a:lnTo>
                  <a:pt x="1599806" y="655154"/>
                </a:lnTo>
                <a:lnTo>
                  <a:pt x="1589925" y="609066"/>
                </a:lnTo>
                <a:lnTo>
                  <a:pt x="1577416" y="563994"/>
                </a:lnTo>
                <a:lnTo>
                  <a:pt x="1562354" y="520026"/>
                </a:lnTo>
                <a:lnTo>
                  <a:pt x="1544815" y="477253"/>
                </a:lnTo>
                <a:lnTo>
                  <a:pt x="1524914" y="435737"/>
                </a:lnTo>
                <a:lnTo>
                  <a:pt x="1502702" y="395592"/>
                </a:lnTo>
                <a:lnTo>
                  <a:pt x="1478280" y="356882"/>
                </a:lnTo>
                <a:lnTo>
                  <a:pt x="1451737" y="319697"/>
                </a:lnTo>
                <a:lnTo>
                  <a:pt x="1423149" y="284111"/>
                </a:lnTo>
                <a:lnTo>
                  <a:pt x="1392593" y="250228"/>
                </a:lnTo>
                <a:lnTo>
                  <a:pt x="1360170" y="218109"/>
                </a:lnTo>
                <a:lnTo>
                  <a:pt x="1325956" y="187845"/>
                </a:lnTo>
                <a:lnTo>
                  <a:pt x="1290027" y="159524"/>
                </a:lnTo>
                <a:lnTo>
                  <a:pt x="1252486" y="133235"/>
                </a:lnTo>
                <a:lnTo>
                  <a:pt x="1213408" y="109042"/>
                </a:lnTo>
                <a:lnTo>
                  <a:pt x="1172870" y="87058"/>
                </a:lnTo>
                <a:lnTo>
                  <a:pt x="1130973" y="67335"/>
                </a:lnTo>
                <a:lnTo>
                  <a:pt x="1087780" y="49974"/>
                </a:lnTo>
                <a:lnTo>
                  <a:pt x="1043393" y="35052"/>
                </a:lnTo>
                <a:lnTo>
                  <a:pt x="997889" y="22656"/>
                </a:lnTo>
                <a:lnTo>
                  <a:pt x="951357" y="12865"/>
                </a:lnTo>
                <a:lnTo>
                  <a:pt x="903871" y="5778"/>
                </a:lnTo>
                <a:lnTo>
                  <a:pt x="855522" y="1460"/>
                </a:lnTo>
                <a:lnTo>
                  <a:pt x="806399" y="0"/>
                </a:lnTo>
                <a:lnTo>
                  <a:pt x="806399" y="798728"/>
                </a:lnTo>
                <a:lnTo>
                  <a:pt x="806399" y="806399"/>
                </a:lnTo>
                <a:lnTo>
                  <a:pt x="1612607" y="806399"/>
                </a:lnTo>
                <a:lnTo>
                  <a:pt x="1612798" y="798728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10">
            <a:extLst>
              <a:ext uri="{FF2B5EF4-FFF2-40B4-BE49-F238E27FC236}">
                <a16:creationId xmlns:a16="http://schemas.microsoft.com/office/drawing/2014/main" id="{E514093A-5094-D8D6-C2B6-EC249AACCE59}"/>
              </a:ext>
            </a:extLst>
          </p:cNvPr>
          <p:cNvSpPr/>
          <p:nvPr userDrawn="1"/>
        </p:nvSpPr>
        <p:spPr>
          <a:xfrm>
            <a:off x="2152802" y="3794391"/>
            <a:ext cx="835660" cy="806450"/>
          </a:xfrm>
          <a:custGeom>
            <a:avLst/>
            <a:gdLst/>
            <a:ahLst/>
            <a:cxnLst/>
            <a:rect l="l" t="t" r="r" b="b"/>
            <a:pathLst>
              <a:path w="835660" h="806450">
                <a:moveTo>
                  <a:pt x="835202" y="0"/>
                </a:moveTo>
                <a:lnTo>
                  <a:pt x="0" y="0"/>
                </a:lnTo>
                <a:lnTo>
                  <a:pt x="0" y="806399"/>
                </a:lnTo>
                <a:lnTo>
                  <a:pt x="835202" y="806399"/>
                </a:lnTo>
                <a:lnTo>
                  <a:pt x="83520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Image 8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1710EE12-1647-E901-C0AC-40AA73947D1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10" name="Espace réservé pour une image  9">
            <a:extLst>
              <a:ext uri="{FF2B5EF4-FFF2-40B4-BE49-F238E27FC236}">
                <a16:creationId xmlns:a16="http://schemas.microsoft.com/office/drawing/2014/main" id="{60E539D7-2272-5F7F-5773-3A41F143A1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39991" y="1346454"/>
            <a:ext cx="2448471" cy="2447937"/>
          </a:xfrm>
        </p:spPr>
        <p:txBody>
          <a:bodyPr/>
          <a:lstStyle/>
          <a:p>
            <a:endParaRPr lang="fr-FR"/>
          </a:p>
        </p:txBody>
      </p:sp>
      <p:pic>
        <p:nvPicPr>
          <p:cNvPr id="5" name="Espace réservé pour une image  7">
            <a:extLst>
              <a:ext uri="{FF2B5EF4-FFF2-40B4-BE49-F238E27FC236}">
                <a16:creationId xmlns:a16="http://schemas.microsoft.com/office/drawing/2014/main" id="{FD366B24-6D5A-0E2C-7FFD-A72BD2ADE3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7647" r="7647"/>
          <a:stretch/>
        </p:blipFill>
        <p:spPr>
          <a:xfrm>
            <a:off x="539991" y="1346453"/>
            <a:ext cx="2448471" cy="244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387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enu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" name="Espace réservé du texte 11">
            <a:extLst>
              <a:ext uri="{FF2B5EF4-FFF2-40B4-BE49-F238E27FC236}">
                <a16:creationId xmlns:a16="http://schemas.microsoft.com/office/drawing/2014/main" id="{B9E89C33-9F7B-B54F-C142-EFACF9FCA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buFont typeface="Arial" panose="020B0604020202020204" pitchFamily="34" charset="0"/>
              <a:buNone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625475" indent="-169863">
              <a:buFont typeface="Wingdings" panose="05000000000000000000" pitchFamily="2" charset="2"/>
              <a:buChar char="ü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4pPr>
          </a:lstStyle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 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7509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-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78C4E6-BB2A-1515-1203-534297937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186735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F0DB024A-E023-95B8-0A52-384CC4439887}"/>
              </a:ext>
            </a:extLst>
          </p:cNvPr>
          <p:cNvSpPr/>
          <p:nvPr userDrawn="1"/>
        </p:nvSpPr>
        <p:spPr>
          <a:xfrm>
            <a:off x="333010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18107B72-76A4-39CA-6BBC-5ED7150AA812}"/>
              </a:ext>
            </a:extLst>
          </p:cNvPr>
          <p:cNvSpPr/>
          <p:nvPr userDrawn="1"/>
        </p:nvSpPr>
        <p:spPr>
          <a:xfrm>
            <a:off x="6121541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2400"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4144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58" name="Espace réservé du texte 35">
            <a:extLst>
              <a:ext uri="{FF2B5EF4-FFF2-40B4-BE49-F238E27FC236}">
                <a16:creationId xmlns:a16="http://schemas.microsoft.com/office/drawing/2014/main" id="{DFDDC45F-E6B0-DF04-4F24-AA0E7283E58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515577" y="1678980"/>
            <a:ext cx="2420495" cy="2598036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59" name="Espace réservé du texte 35">
            <a:extLst>
              <a:ext uri="{FF2B5EF4-FFF2-40B4-BE49-F238E27FC236}">
                <a16:creationId xmlns:a16="http://schemas.microsoft.com/office/drawing/2014/main" id="{4210277C-2A66-C749-F50A-FAA3F137C66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07008" y="1676337"/>
            <a:ext cx="2420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171446" indent="-171446">
              <a:buClr>
                <a:schemeClr val="accent5"/>
              </a:buClr>
              <a:buFont typeface="Arial" panose="020B0604020202020204" pitchFamily="34" charset="0"/>
              <a:buChar char="•"/>
              <a:defRPr lang="fr-FR" sz="1200" b="0" cap="none" baseline="0" dirty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351442" indent="-171446">
              <a:buFont typeface="Arial" panose="020B0604020202020204" pitchFamily="34" charset="0"/>
              <a:buChar char="•"/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fr-FR"/>
              <a:t>Cliquez pour modifier </a:t>
            </a:r>
            <a:br>
              <a:rPr lang="fr-FR"/>
            </a:br>
            <a:r>
              <a:rPr lang="fr-FR"/>
              <a:t>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marL="355600" lvl="2" indent="-169863">
              <a:buClr>
                <a:schemeClr val="accent5"/>
              </a:buClr>
              <a:buFont typeface="Times New Roman" panose="02020603050405020304" pitchFamily="18" charset="0"/>
              <a:buChar char="→"/>
            </a:pPr>
            <a:r>
              <a:rPr lang="fr-FR"/>
              <a:t>Troisième niveau</a:t>
            </a:r>
          </a:p>
          <a:p>
            <a:pPr marL="538163" lvl="3" indent="-169863">
              <a:buClr>
                <a:schemeClr val="accent5"/>
              </a:buClr>
              <a:buFont typeface="Wingdings" panose="05000000000000000000" pitchFamily="2" charset="2"/>
              <a:buChar char="ü"/>
            </a:pPr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8F37916-2FC1-A62B-278F-6266F2663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285386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2">
            <a:extLst>
              <a:ext uri="{FF2B5EF4-FFF2-40B4-BE49-F238E27FC236}">
                <a16:creationId xmlns:a16="http://schemas.microsoft.com/office/drawing/2014/main" id="{10ABCF8B-9D49-DCB1-47AD-F507F3159BAD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Espace réservé du texte 35">
            <a:extLst>
              <a:ext uri="{FF2B5EF4-FFF2-40B4-BE49-F238E27FC236}">
                <a16:creationId xmlns:a16="http://schemas.microsoft.com/office/drawing/2014/main" id="{021D7BB4-BA97-15AC-44BD-A45FE0639B9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3708" y="1676337"/>
            <a:ext cx="4706495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54" name="Espace réservé du pied de page 53">
            <a:extLst>
              <a:ext uri="{FF2B5EF4-FFF2-40B4-BE49-F238E27FC236}">
                <a16:creationId xmlns:a16="http://schemas.microsoft.com/office/drawing/2014/main" id="{6071AE48-3798-4B3E-2DBB-784904DF6AE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</a:p>
        </p:txBody>
      </p:sp>
      <p:sp>
        <p:nvSpPr>
          <p:cNvPr id="55" name="Espace réservé du numéro de diapositive 54">
            <a:extLst>
              <a:ext uri="{FF2B5EF4-FFF2-40B4-BE49-F238E27FC236}">
                <a16:creationId xmlns:a16="http://schemas.microsoft.com/office/drawing/2014/main" id="{391B25DF-AAF5-9BCE-022C-031BDAFAA0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DB92B57-7DFD-D1E2-7312-D2CC485C0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7">
            <a:extLst>
              <a:ext uri="{FF2B5EF4-FFF2-40B4-BE49-F238E27FC236}">
                <a16:creationId xmlns:a16="http://schemas.microsoft.com/office/drawing/2014/main" id="{C238880B-D635-9C63-7125-A57ACC43344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7631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C347D6D-18B2-F726-E6ED-ED308011FF0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F210E11-5AD9-CBD3-751C-9E0A26E5EB3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1" name="object 2">
            <a:extLst>
              <a:ext uri="{FF2B5EF4-FFF2-40B4-BE49-F238E27FC236}">
                <a16:creationId xmlns:a16="http://schemas.microsoft.com/office/drawing/2014/main" id="{4B151FC6-C560-C453-6BFC-E362236F5D83}"/>
              </a:ext>
            </a:extLst>
          </p:cNvPr>
          <p:cNvSpPr/>
          <p:nvPr userDrawn="1"/>
        </p:nvSpPr>
        <p:spPr>
          <a:xfrm>
            <a:off x="538675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2" name="Espace réservé du texte 35">
            <a:extLst>
              <a:ext uri="{FF2B5EF4-FFF2-40B4-BE49-F238E27FC236}">
                <a16:creationId xmlns:a16="http://schemas.microsoft.com/office/drawing/2014/main" id="{69D18321-49D4-CD25-7C98-8147F235FCE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706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13" name="object 2">
            <a:extLst>
              <a:ext uri="{FF2B5EF4-FFF2-40B4-BE49-F238E27FC236}">
                <a16:creationId xmlns:a16="http://schemas.microsoft.com/office/drawing/2014/main" id="{7BE3115B-6BA7-5A00-B8A0-6D4E1F14BAF7}"/>
              </a:ext>
            </a:extLst>
          </p:cNvPr>
          <p:cNvSpPr/>
          <p:nvPr userDrawn="1"/>
        </p:nvSpPr>
        <p:spPr>
          <a:xfrm>
            <a:off x="4729678" y="1660500"/>
            <a:ext cx="0" cy="2616518"/>
          </a:xfrm>
          <a:custGeom>
            <a:avLst/>
            <a:gdLst/>
            <a:ahLst/>
            <a:cxnLst/>
            <a:rect l="l" t="t" r="r" b="b"/>
            <a:pathLst>
              <a:path h="3488690">
                <a:moveTo>
                  <a:pt x="0" y="0"/>
                </a:moveTo>
                <a:lnTo>
                  <a:pt x="0" y="3488677"/>
                </a:lnTo>
              </a:path>
            </a:pathLst>
          </a:custGeom>
          <a:ln w="12700">
            <a:solidFill>
              <a:srgbClr val="E5D1AA"/>
            </a:solidFill>
          </a:ln>
        </p:spPr>
        <p:txBody>
          <a:bodyPr wrap="square" lIns="0" tIns="0" rIns="0" bIns="0" rtlCol="0"/>
          <a:lstStyle/>
          <a:p>
            <a:endParaRPr sz="3600"/>
          </a:p>
        </p:txBody>
      </p:sp>
      <p:sp>
        <p:nvSpPr>
          <p:cNvPr id="14" name="Espace réservé du texte 35">
            <a:extLst>
              <a:ext uri="{FF2B5EF4-FFF2-40B4-BE49-F238E27FC236}">
                <a16:creationId xmlns:a16="http://schemas.microsoft.com/office/drawing/2014/main" id="{9A4705F5-9F76-569D-8520-B447AD28843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94710" y="1676337"/>
            <a:ext cx="3639693" cy="2600681"/>
          </a:xfrm>
          <a:prstGeom prst="rect">
            <a:avLst/>
          </a:prstGeom>
        </p:spPr>
        <p:txBody>
          <a:bodyPr/>
          <a:lstStyle>
            <a:lvl1pPr>
              <a:defRPr lang="fr-FR" sz="14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0">
              <a:defRPr lang="fr-FR" sz="120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Font typeface="Times New Roman" panose="02020603050405020304" pitchFamily="18" charset="0"/>
              <a:buChar char="→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538163" indent="-169863"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4pPr>
            <a:lvl5pPr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marL="0" lvl="0"/>
            <a:r>
              <a:rPr lang="fr-FR"/>
              <a:t>Cliquez pour modifier les styles </a:t>
            </a:r>
            <a:br>
              <a:rPr lang="fr-FR"/>
            </a:br>
            <a:r>
              <a:rPr lang="fr-FR"/>
              <a:t>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78B762-6A11-1EA5-75A7-21E4BA211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15333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pour une image  14">
            <a:extLst>
              <a:ext uri="{FF2B5EF4-FFF2-40B4-BE49-F238E27FC236}">
                <a16:creationId xmlns:a16="http://schemas.microsoft.com/office/drawing/2014/main" id="{E9A31D0E-43FF-8E56-EE40-5C7AD56B930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151992" y="539991"/>
            <a:ext cx="6432550" cy="4060825"/>
          </a:xfrm>
        </p:spPr>
        <p:txBody>
          <a:bodyPr/>
          <a:lstStyle/>
          <a:p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DFB6A741-EC1D-A0C0-90DB-2644454112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362B28A-24FA-EA61-797D-F9031AF2EF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9" name="object 12">
            <a:extLst>
              <a:ext uri="{FF2B5EF4-FFF2-40B4-BE49-F238E27FC236}">
                <a16:creationId xmlns:a16="http://schemas.microsoft.com/office/drawing/2014/main" id="{BE6E5EEF-5B45-4175-15E6-9C384CE51260}"/>
              </a:ext>
            </a:extLst>
          </p:cNvPr>
          <p:cNvSpPr/>
          <p:nvPr userDrawn="1"/>
        </p:nvSpPr>
        <p:spPr>
          <a:xfrm>
            <a:off x="6084000" y="2848499"/>
            <a:ext cx="2537439" cy="1952102"/>
          </a:xfrm>
          <a:custGeom>
            <a:avLst/>
            <a:gdLst/>
            <a:ahLst/>
            <a:cxnLst/>
            <a:rect l="l" t="t" r="r" b="b"/>
            <a:pathLst>
              <a:path w="2520315" h="2520315">
                <a:moveTo>
                  <a:pt x="2519997" y="0"/>
                </a:moveTo>
                <a:lnTo>
                  <a:pt x="0" y="0"/>
                </a:lnTo>
                <a:lnTo>
                  <a:pt x="0" y="2519997"/>
                </a:lnTo>
                <a:lnTo>
                  <a:pt x="2519997" y="2519997"/>
                </a:lnTo>
                <a:lnTo>
                  <a:pt x="2519997" y="0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Espace réservé du texte 11">
            <a:extLst>
              <a:ext uri="{FF2B5EF4-FFF2-40B4-BE49-F238E27FC236}">
                <a16:creationId xmlns:a16="http://schemas.microsoft.com/office/drawing/2014/main" id="{AFF982BE-C331-C0BA-FC7F-3160C62595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18319" y="3314464"/>
            <a:ext cx="2103118" cy="857487"/>
          </a:xfrm>
        </p:spPr>
        <p:txBody>
          <a:bodyPr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4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object 3">
            <a:extLst>
              <a:ext uri="{FF2B5EF4-FFF2-40B4-BE49-F238E27FC236}">
                <a16:creationId xmlns:a16="http://schemas.microsoft.com/office/drawing/2014/main" id="{6B0CA141-2DE3-43CA-D1E3-95B2C6E8FE2A}"/>
              </a:ext>
            </a:extLst>
          </p:cNvPr>
          <p:cNvSpPr/>
          <p:nvPr userDrawn="1"/>
        </p:nvSpPr>
        <p:spPr>
          <a:xfrm>
            <a:off x="539991" y="540003"/>
            <a:ext cx="612140" cy="1224280"/>
          </a:xfrm>
          <a:custGeom>
            <a:avLst/>
            <a:gdLst/>
            <a:ahLst/>
            <a:cxnLst/>
            <a:rect l="l" t="t" r="r" b="b"/>
            <a:pathLst>
              <a:path w="612140" h="1224280">
                <a:moveTo>
                  <a:pt x="612000" y="612000"/>
                </a:moveTo>
                <a:lnTo>
                  <a:pt x="5816" y="612000"/>
                </a:lnTo>
                <a:lnTo>
                  <a:pt x="0" y="612000"/>
                </a:lnTo>
                <a:lnTo>
                  <a:pt x="0" y="1223848"/>
                </a:lnTo>
                <a:lnTo>
                  <a:pt x="53187" y="1222159"/>
                </a:lnTo>
                <a:lnTo>
                  <a:pt x="99568" y="1216723"/>
                </a:lnTo>
                <a:lnTo>
                  <a:pt x="144805" y="1207833"/>
                </a:lnTo>
                <a:lnTo>
                  <a:pt x="188785" y="1195628"/>
                </a:lnTo>
                <a:lnTo>
                  <a:pt x="231368" y="1180236"/>
                </a:lnTo>
                <a:lnTo>
                  <a:pt x="272402" y="1161796"/>
                </a:lnTo>
                <a:lnTo>
                  <a:pt x="311772" y="1140447"/>
                </a:lnTo>
                <a:lnTo>
                  <a:pt x="349338" y="1116317"/>
                </a:lnTo>
                <a:lnTo>
                  <a:pt x="384949" y="1089545"/>
                </a:lnTo>
                <a:lnTo>
                  <a:pt x="418503" y="1060272"/>
                </a:lnTo>
                <a:lnTo>
                  <a:pt x="449834" y="1028636"/>
                </a:lnTo>
                <a:lnTo>
                  <a:pt x="478828" y="994778"/>
                </a:lnTo>
                <a:lnTo>
                  <a:pt x="505345" y="958811"/>
                </a:lnTo>
                <a:lnTo>
                  <a:pt x="529234" y="920889"/>
                </a:lnTo>
                <a:lnTo>
                  <a:pt x="550392" y="881138"/>
                </a:lnTo>
                <a:lnTo>
                  <a:pt x="568655" y="839711"/>
                </a:lnTo>
                <a:lnTo>
                  <a:pt x="583895" y="796721"/>
                </a:lnTo>
                <a:lnTo>
                  <a:pt x="595998" y="752322"/>
                </a:lnTo>
                <a:lnTo>
                  <a:pt x="604799" y="706640"/>
                </a:lnTo>
                <a:lnTo>
                  <a:pt x="610184" y="659828"/>
                </a:lnTo>
                <a:lnTo>
                  <a:pt x="612000" y="612000"/>
                </a:lnTo>
                <a:close/>
              </a:path>
              <a:path w="612140" h="1224280">
                <a:moveTo>
                  <a:pt x="612000" y="0"/>
                </a:moveTo>
                <a:lnTo>
                  <a:pt x="0" y="0"/>
                </a:lnTo>
                <a:lnTo>
                  <a:pt x="0" y="611847"/>
                </a:lnTo>
                <a:lnTo>
                  <a:pt x="5816" y="612000"/>
                </a:lnTo>
                <a:lnTo>
                  <a:pt x="53187" y="610158"/>
                </a:lnTo>
                <a:lnTo>
                  <a:pt x="99568" y="604723"/>
                </a:lnTo>
                <a:lnTo>
                  <a:pt x="144805" y="595833"/>
                </a:lnTo>
                <a:lnTo>
                  <a:pt x="188785" y="583628"/>
                </a:lnTo>
                <a:lnTo>
                  <a:pt x="231368" y="568236"/>
                </a:lnTo>
                <a:lnTo>
                  <a:pt x="272402" y="549795"/>
                </a:lnTo>
                <a:lnTo>
                  <a:pt x="311772" y="528447"/>
                </a:lnTo>
                <a:lnTo>
                  <a:pt x="349338" y="504317"/>
                </a:lnTo>
                <a:lnTo>
                  <a:pt x="384949" y="477545"/>
                </a:lnTo>
                <a:lnTo>
                  <a:pt x="418503" y="448271"/>
                </a:lnTo>
                <a:lnTo>
                  <a:pt x="449834" y="416636"/>
                </a:lnTo>
                <a:lnTo>
                  <a:pt x="478828" y="382778"/>
                </a:lnTo>
                <a:lnTo>
                  <a:pt x="505345" y="346811"/>
                </a:lnTo>
                <a:lnTo>
                  <a:pt x="529234" y="308889"/>
                </a:lnTo>
                <a:lnTo>
                  <a:pt x="550392" y="269138"/>
                </a:lnTo>
                <a:lnTo>
                  <a:pt x="568655" y="227711"/>
                </a:lnTo>
                <a:lnTo>
                  <a:pt x="583895" y="184721"/>
                </a:lnTo>
                <a:lnTo>
                  <a:pt x="595998" y="140322"/>
                </a:lnTo>
                <a:lnTo>
                  <a:pt x="604799" y="94640"/>
                </a:lnTo>
                <a:lnTo>
                  <a:pt x="610184" y="47828"/>
                </a:lnTo>
                <a:lnTo>
                  <a:pt x="612000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343272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>
            <a:extLst>
              <a:ext uri="{FF2B5EF4-FFF2-40B4-BE49-F238E27FC236}">
                <a16:creationId xmlns:a16="http://schemas.microsoft.com/office/drawing/2014/main" id="{F4F04665-EC1D-7124-8547-0BAF536273F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386636" y="539991"/>
            <a:ext cx="4441212" cy="3214166"/>
          </a:xfrm>
        </p:spPr>
        <p:txBody>
          <a:bodyPr/>
          <a:lstStyle/>
          <a:p>
            <a:endParaRPr lang="fr-FR"/>
          </a:p>
        </p:txBody>
      </p:sp>
      <p:sp>
        <p:nvSpPr>
          <p:cNvPr id="9" name="Espace réservé pour une image  7">
            <a:extLst>
              <a:ext uri="{FF2B5EF4-FFF2-40B4-BE49-F238E27FC236}">
                <a16:creationId xmlns:a16="http://schemas.microsoft.com/office/drawing/2014/main" id="{CB4D253E-9C4B-3E40-4084-2EAF07D19D2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27848" y="1386776"/>
            <a:ext cx="2776149" cy="3214370"/>
          </a:xfrm>
        </p:spPr>
        <p:txBody>
          <a:bodyPr/>
          <a:lstStyle/>
          <a:p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9A0E5A1-EDCD-58E2-9FCE-14F6A428457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75E72C-508E-6160-EC92-C2842A49CF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8A08401-5028-38F6-789B-7CEB8B25FE8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1" y="590550"/>
            <a:ext cx="1828799" cy="6096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13" name="Espace réservé du texte 11">
            <a:extLst>
              <a:ext uri="{FF2B5EF4-FFF2-40B4-BE49-F238E27FC236}">
                <a16:creationId xmlns:a16="http://schemas.microsoft.com/office/drawing/2014/main" id="{0C3927A3-6C37-4A87-E507-4473611DF5E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52600" y="3931838"/>
            <a:ext cx="3086100" cy="533400"/>
          </a:xfrm>
        </p:spPr>
        <p:txBody>
          <a:bodyPr anchor="ctr" anchorCtr="0">
            <a:noAutofit/>
          </a:bodyPr>
          <a:lstStyle>
            <a:lvl1pPr marL="171446" indent="-171446">
              <a:buClr>
                <a:schemeClr val="accent5"/>
              </a:buClr>
              <a:buFont typeface="Times New Roman" panose="02020603050405020304" pitchFamily="18" charset="0"/>
              <a:buChar char="→"/>
              <a:defRPr sz="1200" cap="none" baseline="0"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 lvl="0"/>
            <a:r>
              <a:rPr lang="fr-FR"/>
              <a:t>Légende de la photo ici</a:t>
            </a:r>
          </a:p>
        </p:txBody>
      </p:sp>
      <p:sp>
        <p:nvSpPr>
          <p:cNvPr id="2" name="bg object 22">
            <a:extLst>
              <a:ext uri="{FF2B5EF4-FFF2-40B4-BE49-F238E27FC236}">
                <a16:creationId xmlns:a16="http://schemas.microsoft.com/office/drawing/2014/main" id="{C5A279D9-1F56-2241-4684-7D52D7199CFA}"/>
              </a:ext>
            </a:extLst>
          </p:cNvPr>
          <p:cNvSpPr/>
          <p:nvPr userDrawn="1"/>
        </p:nvSpPr>
        <p:spPr>
          <a:xfrm>
            <a:off x="540004" y="3754157"/>
            <a:ext cx="847090" cy="847090"/>
          </a:xfrm>
          <a:custGeom>
            <a:avLst/>
            <a:gdLst/>
            <a:ahLst/>
            <a:cxnLst/>
            <a:rect l="l" t="t" r="r" b="b"/>
            <a:pathLst>
              <a:path w="847090" h="847089">
                <a:moveTo>
                  <a:pt x="846632" y="0"/>
                </a:moveTo>
                <a:lnTo>
                  <a:pt x="0" y="0"/>
                </a:lnTo>
                <a:lnTo>
                  <a:pt x="0" y="846632"/>
                </a:lnTo>
                <a:lnTo>
                  <a:pt x="846632" y="846632"/>
                </a:lnTo>
                <a:lnTo>
                  <a:pt x="846632" y="0"/>
                </a:lnTo>
                <a:close/>
              </a:path>
            </a:pathLst>
          </a:custGeom>
          <a:solidFill>
            <a:srgbClr val="E8DDC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bg object 23">
            <a:extLst>
              <a:ext uri="{FF2B5EF4-FFF2-40B4-BE49-F238E27FC236}">
                <a16:creationId xmlns:a16="http://schemas.microsoft.com/office/drawing/2014/main" id="{FC661207-C5A0-5A8B-9FEE-625BFC54EED5}"/>
              </a:ext>
            </a:extLst>
          </p:cNvPr>
          <p:cNvSpPr/>
          <p:nvPr userDrawn="1"/>
        </p:nvSpPr>
        <p:spPr>
          <a:xfrm>
            <a:off x="539991" y="540003"/>
            <a:ext cx="847090" cy="1693545"/>
          </a:xfrm>
          <a:custGeom>
            <a:avLst/>
            <a:gdLst/>
            <a:ahLst/>
            <a:cxnLst/>
            <a:rect l="l" t="t" r="r" b="b"/>
            <a:pathLst>
              <a:path w="847090" h="1693545">
                <a:moveTo>
                  <a:pt x="846632" y="846632"/>
                </a:moveTo>
                <a:lnTo>
                  <a:pt x="8051" y="846632"/>
                </a:lnTo>
                <a:lnTo>
                  <a:pt x="0" y="846632"/>
                </a:lnTo>
                <a:lnTo>
                  <a:pt x="0" y="1693062"/>
                </a:lnTo>
                <a:lnTo>
                  <a:pt x="55638" y="1691919"/>
                </a:lnTo>
                <a:lnTo>
                  <a:pt x="102527" y="1687957"/>
                </a:lnTo>
                <a:lnTo>
                  <a:pt x="148653" y="1681416"/>
                </a:lnTo>
                <a:lnTo>
                  <a:pt x="193941" y="1672399"/>
                </a:lnTo>
                <a:lnTo>
                  <a:pt x="238315" y="1660956"/>
                </a:lnTo>
                <a:lnTo>
                  <a:pt x="281711" y="1647164"/>
                </a:lnTo>
                <a:lnTo>
                  <a:pt x="324053" y="1631099"/>
                </a:lnTo>
                <a:lnTo>
                  <a:pt x="365277" y="1612823"/>
                </a:lnTo>
                <a:lnTo>
                  <a:pt x="405307" y="1592427"/>
                </a:lnTo>
                <a:lnTo>
                  <a:pt x="444080" y="1569961"/>
                </a:lnTo>
                <a:lnTo>
                  <a:pt x="481520" y="1545513"/>
                </a:lnTo>
                <a:lnTo>
                  <a:pt x="517550" y="1519148"/>
                </a:lnTo>
                <a:lnTo>
                  <a:pt x="552107" y="1490929"/>
                </a:lnTo>
                <a:lnTo>
                  <a:pt x="585114" y="1460931"/>
                </a:lnTo>
                <a:lnTo>
                  <a:pt x="616508" y="1429232"/>
                </a:lnTo>
                <a:lnTo>
                  <a:pt x="646214" y="1395907"/>
                </a:lnTo>
                <a:lnTo>
                  <a:pt x="674166" y="1361020"/>
                </a:lnTo>
                <a:lnTo>
                  <a:pt x="700290" y="1324648"/>
                </a:lnTo>
                <a:lnTo>
                  <a:pt x="724509" y="1286852"/>
                </a:lnTo>
                <a:lnTo>
                  <a:pt x="746760" y="1247711"/>
                </a:lnTo>
                <a:lnTo>
                  <a:pt x="766965" y="1207287"/>
                </a:lnTo>
                <a:lnTo>
                  <a:pt x="785063" y="1165669"/>
                </a:lnTo>
                <a:lnTo>
                  <a:pt x="800976" y="1122921"/>
                </a:lnTo>
                <a:lnTo>
                  <a:pt x="814628" y="1079106"/>
                </a:lnTo>
                <a:lnTo>
                  <a:pt x="825969" y="1034300"/>
                </a:lnTo>
                <a:lnTo>
                  <a:pt x="834898" y="988580"/>
                </a:lnTo>
                <a:lnTo>
                  <a:pt x="841375" y="942022"/>
                </a:lnTo>
                <a:lnTo>
                  <a:pt x="845312" y="894676"/>
                </a:lnTo>
                <a:lnTo>
                  <a:pt x="846632" y="846632"/>
                </a:lnTo>
                <a:close/>
              </a:path>
              <a:path w="847090" h="1693545">
                <a:moveTo>
                  <a:pt x="846632" y="0"/>
                </a:moveTo>
                <a:lnTo>
                  <a:pt x="0" y="0"/>
                </a:lnTo>
                <a:lnTo>
                  <a:pt x="0" y="846429"/>
                </a:lnTo>
                <a:lnTo>
                  <a:pt x="8051" y="846632"/>
                </a:lnTo>
                <a:lnTo>
                  <a:pt x="55638" y="845286"/>
                </a:lnTo>
                <a:lnTo>
                  <a:pt x="102527" y="841311"/>
                </a:lnTo>
                <a:lnTo>
                  <a:pt x="148653" y="834783"/>
                </a:lnTo>
                <a:lnTo>
                  <a:pt x="193941" y="825754"/>
                </a:lnTo>
                <a:lnTo>
                  <a:pt x="238315" y="814311"/>
                </a:lnTo>
                <a:lnTo>
                  <a:pt x="281711" y="800531"/>
                </a:lnTo>
                <a:lnTo>
                  <a:pt x="324053" y="784466"/>
                </a:lnTo>
                <a:lnTo>
                  <a:pt x="365277" y="766191"/>
                </a:lnTo>
                <a:lnTo>
                  <a:pt x="405307" y="745794"/>
                </a:lnTo>
                <a:lnTo>
                  <a:pt x="444080" y="723328"/>
                </a:lnTo>
                <a:lnTo>
                  <a:pt x="481520" y="698881"/>
                </a:lnTo>
                <a:lnTo>
                  <a:pt x="517550" y="672503"/>
                </a:lnTo>
                <a:lnTo>
                  <a:pt x="552107" y="644296"/>
                </a:lnTo>
                <a:lnTo>
                  <a:pt x="585114" y="614299"/>
                </a:lnTo>
                <a:lnTo>
                  <a:pt x="616508" y="582599"/>
                </a:lnTo>
                <a:lnTo>
                  <a:pt x="646214" y="549275"/>
                </a:lnTo>
                <a:lnTo>
                  <a:pt x="674166" y="514388"/>
                </a:lnTo>
                <a:lnTo>
                  <a:pt x="700290" y="478015"/>
                </a:lnTo>
                <a:lnTo>
                  <a:pt x="724509" y="440207"/>
                </a:lnTo>
                <a:lnTo>
                  <a:pt x="746760" y="401066"/>
                </a:lnTo>
                <a:lnTo>
                  <a:pt x="766965" y="360654"/>
                </a:lnTo>
                <a:lnTo>
                  <a:pt x="785063" y="319036"/>
                </a:lnTo>
                <a:lnTo>
                  <a:pt x="800976" y="276275"/>
                </a:lnTo>
                <a:lnTo>
                  <a:pt x="814628" y="232473"/>
                </a:lnTo>
                <a:lnTo>
                  <a:pt x="825969" y="187667"/>
                </a:lnTo>
                <a:lnTo>
                  <a:pt x="834898" y="141947"/>
                </a:lnTo>
                <a:lnTo>
                  <a:pt x="841375" y="95377"/>
                </a:lnTo>
                <a:lnTo>
                  <a:pt x="845312" y="48044"/>
                </a:lnTo>
                <a:lnTo>
                  <a:pt x="846632" y="0"/>
                </a:lnTo>
                <a:close/>
              </a:path>
            </a:pathLst>
          </a:custGeom>
          <a:solidFill>
            <a:srgbClr val="E5EDF4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88942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object 2">
            <a:extLst>
              <a:ext uri="{FF2B5EF4-FFF2-40B4-BE49-F238E27FC236}">
                <a16:creationId xmlns:a16="http://schemas.microsoft.com/office/drawing/2014/main" id="{2EECF248-B093-FD0D-A5E7-B8F9405C81AF}"/>
              </a:ext>
            </a:extLst>
          </p:cNvPr>
          <p:cNvGrpSpPr/>
          <p:nvPr userDrawn="1"/>
        </p:nvGrpSpPr>
        <p:grpSpPr>
          <a:xfrm>
            <a:off x="0" y="0"/>
            <a:ext cx="9144000" cy="5143500"/>
            <a:chOff x="0" y="0"/>
            <a:chExt cx="9144000" cy="6858000"/>
          </a:xfrm>
        </p:grpSpPr>
        <p:sp>
          <p:nvSpPr>
            <p:cNvPr id="26" name="object 3">
              <a:extLst>
                <a:ext uri="{FF2B5EF4-FFF2-40B4-BE49-F238E27FC236}">
                  <a16:creationId xmlns:a16="http://schemas.microsoft.com/office/drawing/2014/main" id="{7B95FBB6-C41D-D0A3-1C1D-4BB42911525F}"/>
                </a:ext>
              </a:extLst>
            </p:cNvPr>
            <p:cNvSpPr/>
            <p:nvPr/>
          </p:nvSpPr>
          <p:spPr>
            <a:xfrm>
              <a:off x="0" y="0"/>
              <a:ext cx="9144000" cy="6858000"/>
            </a:xfrm>
            <a:custGeom>
              <a:avLst/>
              <a:gdLst/>
              <a:ahLst/>
              <a:cxnLst/>
              <a:rect l="l" t="t" r="r" b="b"/>
              <a:pathLst>
                <a:path w="9144000" h="6858000">
                  <a:moveTo>
                    <a:pt x="6327000" y="6792760"/>
                  </a:moveTo>
                  <a:lnTo>
                    <a:pt x="6326759" y="6736550"/>
                  </a:lnTo>
                  <a:lnTo>
                    <a:pt x="6326073" y="6680441"/>
                  </a:lnTo>
                  <a:lnTo>
                    <a:pt x="6324930" y="6624434"/>
                  </a:lnTo>
                  <a:lnTo>
                    <a:pt x="6323330" y="6568541"/>
                  </a:lnTo>
                  <a:lnTo>
                    <a:pt x="6321272" y="6512763"/>
                  </a:lnTo>
                  <a:lnTo>
                    <a:pt x="6318771" y="6457112"/>
                  </a:lnTo>
                  <a:lnTo>
                    <a:pt x="6315811" y="6401562"/>
                  </a:lnTo>
                  <a:lnTo>
                    <a:pt x="6312408" y="6346139"/>
                  </a:lnTo>
                  <a:lnTo>
                    <a:pt x="6308560" y="6290830"/>
                  </a:lnTo>
                  <a:lnTo>
                    <a:pt x="6304254" y="6235649"/>
                  </a:lnTo>
                  <a:lnTo>
                    <a:pt x="6299517" y="6180594"/>
                  </a:lnTo>
                  <a:lnTo>
                    <a:pt x="6294336" y="6125667"/>
                  </a:lnTo>
                  <a:lnTo>
                    <a:pt x="6288722" y="6070854"/>
                  </a:lnTo>
                  <a:lnTo>
                    <a:pt x="6282664" y="6016180"/>
                  </a:lnTo>
                  <a:lnTo>
                    <a:pt x="6276175" y="5961634"/>
                  </a:lnTo>
                  <a:lnTo>
                    <a:pt x="6269240" y="5907227"/>
                  </a:lnTo>
                  <a:lnTo>
                    <a:pt x="6261887" y="5852947"/>
                  </a:lnTo>
                  <a:lnTo>
                    <a:pt x="6254102" y="5798807"/>
                  </a:lnTo>
                  <a:lnTo>
                    <a:pt x="6245885" y="5744807"/>
                  </a:lnTo>
                  <a:lnTo>
                    <a:pt x="6237236" y="5690946"/>
                  </a:lnTo>
                  <a:lnTo>
                    <a:pt x="6228169" y="5637225"/>
                  </a:lnTo>
                  <a:lnTo>
                    <a:pt x="6218669" y="5583644"/>
                  </a:lnTo>
                  <a:lnTo>
                    <a:pt x="6208750" y="5530215"/>
                  </a:lnTo>
                  <a:lnTo>
                    <a:pt x="6198413" y="5476926"/>
                  </a:lnTo>
                  <a:lnTo>
                    <a:pt x="6187668" y="5423789"/>
                  </a:lnTo>
                  <a:lnTo>
                    <a:pt x="6176492" y="5370804"/>
                  </a:lnTo>
                  <a:lnTo>
                    <a:pt x="6164910" y="5317960"/>
                  </a:lnTo>
                  <a:lnTo>
                    <a:pt x="6152908" y="5265280"/>
                  </a:lnTo>
                  <a:lnTo>
                    <a:pt x="6140501" y="5212753"/>
                  </a:lnTo>
                  <a:lnTo>
                    <a:pt x="6127686" y="5160391"/>
                  </a:lnTo>
                  <a:lnTo>
                    <a:pt x="6114453" y="5108181"/>
                  </a:lnTo>
                  <a:lnTo>
                    <a:pt x="6100826" y="5056124"/>
                  </a:lnTo>
                  <a:lnTo>
                    <a:pt x="6086792" y="5004244"/>
                  </a:lnTo>
                  <a:lnTo>
                    <a:pt x="6072352" y="4952517"/>
                  </a:lnTo>
                  <a:lnTo>
                    <a:pt x="6057506" y="4900955"/>
                  </a:lnTo>
                  <a:lnTo>
                    <a:pt x="6042279" y="4849571"/>
                  </a:lnTo>
                  <a:lnTo>
                    <a:pt x="6026632" y="4798352"/>
                  </a:lnTo>
                  <a:lnTo>
                    <a:pt x="6010605" y="4747298"/>
                  </a:lnTo>
                  <a:lnTo>
                    <a:pt x="5994184" y="4696422"/>
                  </a:lnTo>
                  <a:lnTo>
                    <a:pt x="5977369" y="4645723"/>
                  </a:lnTo>
                  <a:lnTo>
                    <a:pt x="5960161" y="4595203"/>
                  </a:lnTo>
                  <a:lnTo>
                    <a:pt x="5942571" y="4544860"/>
                  </a:lnTo>
                  <a:lnTo>
                    <a:pt x="5924588" y="4494695"/>
                  </a:lnTo>
                  <a:lnTo>
                    <a:pt x="5906224" y="4444708"/>
                  </a:lnTo>
                  <a:lnTo>
                    <a:pt x="5887478" y="4394911"/>
                  </a:lnTo>
                  <a:lnTo>
                    <a:pt x="5868352" y="4345292"/>
                  </a:lnTo>
                  <a:lnTo>
                    <a:pt x="5848845" y="4295864"/>
                  </a:lnTo>
                  <a:lnTo>
                    <a:pt x="5828957" y="4246626"/>
                  </a:lnTo>
                  <a:lnTo>
                    <a:pt x="5808700" y="4197578"/>
                  </a:lnTo>
                  <a:lnTo>
                    <a:pt x="5788063" y="4148721"/>
                  </a:lnTo>
                  <a:lnTo>
                    <a:pt x="5767044" y="4100055"/>
                  </a:lnTo>
                  <a:lnTo>
                    <a:pt x="5745670" y="4051579"/>
                  </a:lnTo>
                  <a:lnTo>
                    <a:pt x="5723928" y="4003319"/>
                  </a:lnTo>
                  <a:lnTo>
                    <a:pt x="5701804" y="3955250"/>
                  </a:lnTo>
                  <a:lnTo>
                    <a:pt x="5679325" y="3907371"/>
                  </a:lnTo>
                  <a:lnTo>
                    <a:pt x="5656491" y="3859707"/>
                  </a:lnTo>
                  <a:lnTo>
                    <a:pt x="5633288" y="3812248"/>
                  </a:lnTo>
                  <a:lnTo>
                    <a:pt x="5609717" y="3764991"/>
                  </a:lnTo>
                  <a:lnTo>
                    <a:pt x="5585790" y="3717937"/>
                  </a:lnTo>
                  <a:lnTo>
                    <a:pt x="5561520" y="3671100"/>
                  </a:lnTo>
                  <a:lnTo>
                    <a:pt x="5536882" y="3624478"/>
                  </a:lnTo>
                  <a:lnTo>
                    <a:pt x="5511901" y="3578060"/>
                  </a:lnTo>
                  <a:lnTo>
                    <a:pt x="5486552" y="3531857"/>
                  </a:lnTo>
                  <a:lnTo>
                    <a:pt x="5460873" y="3485870"/>
                  </a:lnTo>
                  <a:lnTo>
                    <a:pt x="5434838" y="3440112"/>
                  </a:lnTo>
                  <a:lnTo>
                    <a:pt x="5408460" y="3394570"/>
                  </a:lnTo>
                  <a:lnTo>
                    <a:pt x="5381726" y="3349244"/>
                  </a:lnTo>
                  <a:lnTo>
                    <a:pt x="5354663" y="3304146"/>
                  </a:lnTo>
                  <a:lnTo>
                    <a:pt x="5327256" y="3259277"/>
                  </a:lnTo>
                  <a:lnTo>
                    <a:pt x="5299507" y="3214624"/>
                  </a:lnTo>
                  <a:lnTo>
                    <a:pt x="5271427" y="3170212"/>
                  </a:lnTo>
                  <a:lnTo>
                    <a:pt x="5243004" y="3126028"/>
                  </a:lnTo>
                  <a:lnTo>
                    <a:pt x="5214251" y="3082074"/>
                  </a:lnTo>
                  <a:lnTo>
                    <a:pt x="5185168" y="3038348"/>
                  </a:lnTo>
                  <a:lnTo>
                    <a:pt x="5155755" y="2994863"/>
                  </a:lnTo>
                  <a:lnTo>
                    <a:pt x="5126012" y="2951619"/>
                  </a:lnTo>
                  <a:lnTo>
                    <a:pt x="5095951" y="2908617"/>
                  </a:lnTo>
                  <a:lnTo>
                    <a:pt x="5065547" y="2865844"/>
                  </a:lnTo>
                  <a:lnTo>
                    <a:pt x="5034839" y="2823324"/>
                  </a:lnTo>
                  <a:lnTo>
                    <a:pt x="5003800" y="2781046"/>
                  </a:lnTo>
                  <a:lnTo>
                    <a:pt x="4972443" y="2739021"/>
                  </a:lnTo>
                  <a:lnTo>
                    <a:pt x="4940770" y="2697238"/>
                  </a:lnTo>
                  <a:lnTo>
                    <a:pt x="4908778" y="2655697"/>
                  </a:lnTo>
                  <a:lnTo>
                    <a:pt x="4876470" y="2614422"/>
                  </a:lnTo>
                  <a:lnTo>
                    <a:pt x="4843856" y="2573388"/>
                  </a:lnTo>
                  <a:lnTo>
                    <a:pt x="4810925" y="2532621"/>
                  </a:lnTo>
                  <a:lnTo>
                    <a:pt x="4777689" y="2492095"/>
                  </a:lnTo>
                  <a:lnTo>
                    <a:pt x="4744148" y="2451836"/>
                  </a:lnTo>
                  <a:lnTo>
                    <a:pt x="4710303" y="2411844"/>
                  </a:lnTo>
                  <a:lnTo>
                    <a:pt x="4676152" y="2372106"/>
                  </a:lnTo>
                  <a:lnTo>
                    <a:pt x="4641697" y="2332634"/>
                  </a:lnTo>
                  <a:lnTo>
                    <a:pt x="4606950" y="2293429"/>
                  </a:lnTo>
                  <a:lnTo>
                    <a:pt x="4571898" y="2254491"/>
                  </a:lnTo>
                  <a:lnTo>
                    <a:pt x="4536541" y="2215819"/>
                  </a:lnTo>
                  <a:lnTo>
                    <a:pt x="4500905" y="2177427"/>
                  </a:lnTo>
                  <a:lnTo>
                    <a:pt x="4464964" y="2139302"/>
                  </a:lnTo>
                  <a:lnTo>
                    <a:pt x="4428744" y="2101443"/>
                  </a:lnTo>
                  <a:lnTo>
                    <a:pt x="4392231" y="2063877"/>
                  </a:lnTo>
                  <a:lnTo>
                    <a:pt x="4355427" y="2026577"/>
                  </a:lnTo>
                  <a:lnTo>
                    <a:pt x="4318330" y="1989556"/>
                  </a:lnTo>
                  <a:lnTo>
                    <a:pt x="4280954" y="1952815"/>
                  </a:lnTo>
                  <a:lnTo>
                    <a:pt x="4243298" y="1916366"/>
                  </a:lnTo>
                  <a:lnTo>
                    <a:pt x="4205363" y="1880196"/>
                  </a:lnTo>
                  <a:lnTo>
                    <a:pt x="4167149" y="1844319"/>
                  </a:lnTo>
                  <a:lnTo>
                    <a:pt x="4128655" y="1808721"/>
                  </a:lnTo>
                  <a:lnTo>
                    <a:pt x="4089895" y="1773415"/>
                  </a:lnTo>
                  <a:lnTo>
                    <a:pt x="4050855" y="1738414"/>
                  </a:lnTo>
                  <a:lnTo>
                    <a:pt x="4011536" y="1703692"/>
                  </a:lnTo>
                  <a:lnTo>
                    <a:pt x="3971963" y="1669275"/>
                  </a:lnTo>
                  <a:lnTo>
                    <a:pt x="3932110" y="1635137"/>
                  </a:lnTo>
                  <a:lnTo>
                    <a:pt x="3891991" y="1601317"/>
                  </a:lnTo>
                  <a:lnTo>
                    <a:pt x="3851605" y="1567789"/>
                  </a:lnTo>
                  <a:lnTo>
                    <a:pt x="3810965" y="1534566"/>
                  </a:lnTo>
                  <a:lnTo>
                    <a:pt x="3770058" y="1501648"/>
                  </a:lnTo>
                  <a:lnTo>
                    <a:pt x="3728897" y="1469034"/>
                  </a:lnTo>
                  <a:lnTo>
                    <a:pt x="3687470" y="1436725"/>
                  </a:lnTo>
                  <a:lnTo>
                    <a:pt x="3645789" y="1404734"/>
                  </a:lnTo>
                  <a:lnTo>
                    <a:pt x="3603866" y="1373047"/>
                  </a:lnTo>
                  <a:lnTo>
                    <a:pt x="3561677" y="1341666"/>
                  </a:lnTo>
                  <a:lnTo>
                    <a:pt x="3519246" y="1310614"/>
                  </a:lnTo>
                  <a:lnTo>
                    <a:pt x="3476561" y="1279867"/>
                  </a:lnTo>
                  <a:lnTo>
                    <a:pt x="3433622" y="1249451"/>
                  </a:lnTo>
                  <a:lnTo>
                    <a:pt x="3390455" y="1219339"/>
                  </a:lnTo>
                  <a:lnTo>
                    <a:pt x="3347034" y="1189558"/>
                  </a:lnTo>
                  <a:lnTo>
                    <a:pt x="3303371" y="1160106"/>
                  </a:lnTo>
                  <a:lnTo>
                    <a:pt x="3259467" y="1130973"/>
                  </a:lnTo>
                  <a:lnTo>
                    <a:pt x="3215322" y="1102156"/>
                  </a:lnTo>
                  <a:lnTo>
                    <a:pt x="3170948" y="1073683"/>
                  </a:lnTo>
                  <a:lnTo>
                    <a:pt x="3126346" y="1045527"/>
                  </a:lnTo>
                  <a:lnTo>
                    <a:pt x="3081502" y="1017714"/>
                  </a:lnTo>
                  <a:lnTo>
                    <a:pt x="3036417" y="990231"/>
                  </a:lnTo>
                  <a:lnTo>
                    <a:pt x="2991116" y="963091"/>
                  </a:lnTo>
                  <a:lnTo>
                    <a:pt x="2945587" y="936282"/>
                  </a:lnTo>
                  <a:lnTo>
                    <a:pt x="2899829" y="909802"/>
                  </a:lnTo>
                  <a:lnTo>
                    <a:pt x="2853842" y="883678"/>
                  </a:lnTo>
                  <a:lnTo>
                    <a:pt x="2807639" y="857885"/>
                  </a:lnTo>
                  <a:lnTo>
                    <a:pt x="2714574" y="807351"/>
                  </a:lnTo>
                  <a:lnTo>
                    <a:pt x="2620645" y="758202"/>
                  </a:lnTo>
                  <a:lnTo>
                    <a:pt x="2525852" y="710463"/>
                  </a:lnTo>
                  <a:lnTo>
                    <a:pt x="2430221" y="664133"/>
                  </a:lnTo>
                  <a:lnTo>
                    <a:pt x="2333764" y="619239"/>
                  </a:lnTo>
                  <a:lnTo>
                    <a:pt x="2236508" y="575792"/>
                  </a:lnTo>
                  <a:lnTo>
                    <a:pt x="2138438" y="533819"/>
                  </a:lnTo>
                  <a:lnTo>
                    <a:pt x="2039594" y="493306"/>
                  </a:lnTo>
                  <a:lnTo>
                    <a:pt x="1939975" y="454291"/>
                  </a:lnTo>
                  <a:lnTo>
                    <a:pt x="1839607" y="416775"/>
                  </a:lnTo>
                  <a:lnTo>
                    <a:pt x="1738490" y="380771"/>
                  </a:lnTo>
                  <a:lnTo>
                    <a:pt x="1636649" y="346303"/>
                  </a:lnTo>
                  <a:lnTo>
                    <a:pt x="1534096" y="313385"/>
                  </a:lnTo>
                  <a:lnTo>
                    <a:pt x="1430858" y="282016"/>
                  </a:lnTo>
                  <a:lnTo>
                    <a:pt x="1326921" y="252222"/>
                  </a:lnTo>
                  <a:lnTo>
                    <a:pt x="1222311" y="224028"/>
                  </a:lnTo>
                  <a:lnTo>
                    <a:pt x="1117053" y="197421"/>
                  </a:lnTo>
                  <a:lnTo>
                    <a:pt x="1011148" y="172427"/>
                  </a:lnTo>
                  <a:lnTo>
                    <a:pt x="904621" y="149072"/>
                  </a:lnTo>
                  <a:lnTo>
                    <a:pt x="797471" y="127355"/>
                  </a:lnTo>
                  <a:lnTo>
                    <a:pt x="689724" y="107302"/>
                  </a:lnTo>
                  <a:lnTo>
                    <a:pt x="581393" y="88912"/>
                  </a:lnTo>
                  <a:lnTo>
                    <a:pt x="472490" y="72212"/>
                  </a:lnTo>
                  <a:lnTo>
                    <a:pt x="363042" y="57200"/>
                  </a:lnTo>
                  <a:lnTo>
                    <a:pt x="253034" y="43916"/>
                  </a:lnTo>
                  <a:lnTo>
                    <a:pt x="142506" y="32346"/>
                  </a:lnTo>
                  <a:lnTo>
                    <a:pt x="31457" y="22529"/>
                  </a:lnTo>
                  <a:lnTo>
                    <a:pt x="0" y="20116"/>
                  </a:lnTo>
                  <a:lnTo>
                    <a:pt x="0" y="6858000"/>
                  </a:lnTo>
                  <a:lnTo>
                    <a:pt x="6325336" y="6858000"/>
                  </a:lnTo>
                  <a:lnTo>
                    <a:pt x="6325679" y="6841680"/>
                  </a:lnTo>
                  <a:lnTo>
                    <a:pt x="6326238" y="6825399"/>
                  </a:lnTo>
                  <a:lnTo>
                    <a:pt x="6326759" y="6809118"/>
                  </a:lnTo>
                  <a:lnTo>
                    <a:pt x="6327000" y="6792760"/>
                  </a:lnTo>
                  <a:close/>
                </a:path>
                <a:path w="9144000" h="6858000">
                  <a:moveTo>
                    <a:pt x="9144000" y="597674"/>
                  </a:moveTo>
                  <a:lnTo>
                    <a:pt x="9094508" y="575792"/>
                  </a:lnTo>
                  <a:lnTo>
                    <a:pt x="9045575" y="554621"/>
                  </a:lnTo>
                  <a:lnTo>
                    <a:pt x="8996439" y="533819"/>
                  </a:lnTo>
                  <a:lnTo>
                    <a:pt x="8947112" y="513372"/>
                  </a:lnTo>
                  <a:lnTo>
                    <a:pt x="8897595" y="493306"/>
                  </a:lnTo>
                  <a:lnTo>
                    <a:pt x="8847874" y="473608"/>
                  </a:lnTo>
                  <a:lnTo>
                    <a:pt x="8797976" y="454291"/>
                  </a:lnTo>
                  <a:lnTo>
                    <a:pt x="8747887" y="435343"/>
                  </a:lnTo>
                  <a:lnTo>
                    <a:pt x="8697608" y="416775"/>
                  </a:lnTo>
                  <a:lnTo>
                    <a:pt x="8647138" y="398576"/>
                  </a:lnTo>
                  <a:lnTo>
                    <a:pt x="8596490" y="380771"/>
                  </a:lnTo>
                  <a:lnTo>
                    <a:pt x="8545665" y="363347"/>
                  </a:lnTo>
                  <a:lnTo>
                    <a:pt x="8494649" y="346303"/>
                  </a:lnTo>
                  <a:lnTo>
                    <a:pt x="8443468" y="329653"/>
                  </a:lnTo>
                  <a:lnTo>
                    <a:pt x="8392096" y="313385"/>
                  </a:lnTo>
                  <a:lnTo>
                    <a:pt x="8340560" y="297510"/>
                  </a:lnTo>
                  <a:lnTo>
                    <a:pt x="8288858" y="282016"/>
                  </a:lnTo>
                  <a:lnTo>
                    <a:pt x="8236966" y="266928"/>
                  </a:lnTo>
                  <a:lnTo>
                    <a:pt x="8184921" y="252222"/>
                  </a:lnTo>
                  <a:lnTo>
                    <a:pt x="8132699" y="237921"/>
                  </a:lnTo>
                  <a:lnTo>
                    <a:pt x="8080311" y="224028"/>
                  </a:lnTo>
                  <a:lnTo>
                    <a:pt x="8027759" y="210527"/>
                  </a:lnTo>
                  <a:lnTo>
                    <a:pt x="7975054" y="197421"/>
                  </a:lnTo>
                  <a:lnTo>
                    <a:pt x="7922184" y="184721"/>
                  </a:lnTo>
                  <a:lnTo>
                    <a:pt x="7869148" y="172427"/>
                  </a:lnTo>
                  <a:lnTo>
                    <a:pt x="7815961" y="160553"/>
                  </a:lnTo>
                  <a:lnTo>
                    <a:pt x="7762621" y="149072"/>
                  </a:lnTo>
                  <a:lnTo>
                    <a:pt x="7709116" y="138010"/>
                  </a:lnTo>
                  <a:lnTo>
                    <a:pt x="7655471" y="127355"/>
                  </a:lnTo>
                  <a:lnTo>
                    <a:pt x="7601674" y="117119"/>
                  </a:lnTo>
                  <a:lnTo>
                    <a:pt x="7547724" y="107302"/>
                  </a:lnTo>
                  <a:lnTo>
                    <a:pt x="7493635" y="97891"/>
                  </a:lnTo>
                  <a:lnTo>
                    <a:pt x="7439393" y="88912"/>
                  </a:lnTo>
                  <a:lnTo>
                    <a:pt x="7385012" y="80352"/>
                  </a:lnTo>
                  <a:lnTo>
                    <a:pt x="7330491" y="72212"/>
                  </a:lnTo>
                  <a:lnTo>
                    <a:pt x="7275830" y="64490"/>
                  </a:lnTo>
                  <a:lnTo>
                    <a:pt x="7221042" y="57200"/>
                  </a:lnTo>
                  <a:lnTo>
                    <a:pt x="7166102" y="50342"/>
                  </a:lnTo>
                  <a:lnTo>
                    <a:pt x="7111035" y="43916"/>
                  </a:lnTo>
                  <a:lnTo>
                    <a:pt x="7055840" y="37909"/>
                  </a:lnTo>
                  <a:lnTo>
                    <a:pt x="7000507" y="32346"/>
                  </a:lnTo>
                  <a:lnTo>
                    <a:pt x="6945046" y="27216"/>
                  </a:lnTo>
                  <a:lnTo>
                    <a:pt x="6889458" y="22529"/>
                  </a:lnTo>
                  <a:lnTo>
                    <a:pt x="6833743" y="18275"/>
                  </a:lnTo>
                  <a:lnTo>
                    <a:pt x="6777914" y="14452"/>
                  </a:lnTo>
                  <a:lnTo>
                    <a:pt x="6721957" y="11087"/>
                  </a:lnTo>
                  <a:lnTo>
                    <a:pt x="6665874" y="8153"/>
                  </a:lnTo>
                  <a:lnTo>
                    <a:pt x="6609677" y="5676"/>
                  </a:lnTo>
                  <a:lnTo>
                    <a:pt x="6553365" y="3632"/>
                  </a:lnTo>
                  <a:lnTo>
                    <a:pt x="6496939" y="2057"/>
                  </a:lnTo>
                  <a:lnTo>
                    <a:pt x="6440398" y="914"/>
                  </a:lnTo>
                  <a:lnTo>
                    <a:pt x="6383756" y="228"/>
                  </a:lnTo>
                  <a:lnTo>
                    <a:pt x="6327000" y="0"/>
                  </a:lnTo>
                  <a:lnTo>
                    <a:pt x="6327000" y="6792760"/>
                  </a:lnTo>
                  <a:lnTo>
                    <a:pt x="6327000" y="6858000"/>
                  </a:lnTo>
                  <a:lnTo>
                    <a:pt x="9144000" y="6858000"/>
                  </a:lnTo>
                  <a:lnTo>
                    <a:pt x="9144000" y="597674"/>
                  </a:lnTo>
                  <a:close/>
                </a:path>
              </a:pathLst>
            </a:custGeom>
            <a:solidFill>
              <a:srgbClr val="F2F6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4">
              <a:extLst>
                <a:ext uri="{FF2B5EF4-FFF2-40B4-BE49-F238E27FC236}">
                  <a16:creationId xmlns:a16="http://schemas.microsoft.com/office/drawing/2014/main" id="{BF9585A3-F81B-AAF2-9C5E-630AF594B21B}"/>
                </a:ext>
              </a:extLst>
            </p:cNvPr>
            <p:cNvSpPr/>
            <p:nvPr/>
          </p:nvSpPr>
          <p:spPr>
            <a:xfrm>
              <a:off x="540000" y="2944145"/>
              <a:ext cx="0" cy="1086485"/>
            </a:xfrm>
            <a:custGeom>
              <a:avLst/>
              <a:gdLst/>
              <a:ahLst/>
              <a:cxnLst/>
              <a:rect l="l" t="t" r="r" b="b"/>
              <a:pathLst>
                <a:path h="1086485">
                  <a:moveTo>
                    <a:pt x="0" y="0"/>
                  </a:moveTo>
                  <a:lnTo>
                    <a:pt x="0" y="1086408"/>
                  </a:lnTo>
                </a:path>
              </a:pathLst>
            </a:custGeom>
            <a:ln w="12700">
              <a:solidFill>
                <a:srgbClr val="00305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Titre 23">
            <a:extLst>
              <a:ext uri="{FF2B5EF4-FFF2-40B4-BE49-F238E27FC236}">
                <a16:creationId xmlns:a16="http://schemas.microsoft.com/office/drawing/2014/main" id="{1E10B626-33A5-4836-7746-0216178544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3" y="2152673"/>
            <a:ext cx="6095999" cy="925737"/>
          </a:xfrm>
        </p:spPr>
        <p:txBody>
          <a:bodyPr anchor="ctr" anchorCtr="0">
            <a:noAutofit/>
          </a:bodyPr>
          <a:lstStyle>
            <a:lvl1pPr>
              <a:defRPr sz="3000" b="1"/>
            </a:lvl1pPr>
          </a:lstStyle>
          <a:p>
            <a:r>
              <a:rPr lang="fr-FR"/>
              <a:t>Modifiez le style </a:t>
            </a:r>
            <a:br>
              <a:rPr lang="fr-FR"/>
            </a:br>
            <a:r>
              <a:rPr lang="fr-FR"/>
              <a:t>du titre</a:t>
            </a:r>
          </a:p>
        </p:txBody>
      </p:sp>
      <p:pic>
        <p:nvPicPr>
          <p:cNvPr id="2" name="Image 1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9D7921E3-2D57-B36C-B70D-E7E8A6643E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6553" y="539991"/>
            <a:ext cx="1123353" cy="315087"/>
          </a:xfrm>
          <a:prstGeom prst="rect">
            <a:avLst/>
          </a:prstGeom>
        </p:spPr>
      </p:pic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D80F946F-E1DC-ED38-C4B3-D51ECAF5FB7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69375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18317" y="4862628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8FDEB2B0-7AD4-84B8-814F-D96919921A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400" y="4862628"/>
            <a:ext cx="3086100" cy="92333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 algn="l">
              <a:defRPr sz="800">
                <a:solidFill>
                  <a:schemeClr val="accent4"/>
                </a:solidFill>
                <a:latin typeface="+mn-lt"/>
              </a:defRPr>
            </a:lvl1pPr>
          </a:lstStyle>
          <a:p>
            <a:r>
              <a:rPr lang="fr-FR"/>
              <a:t>LFB Group Corruption Risk </a:t>
            </a:r>
            <a:r>
              <a:rPr lang="fr-FR" err="1"/>
              <a:t>Map</a:t>
            </a:r>
            <a:r>
              <a:rPr lang="fr-FR"/>
              <a:t> 2026</a:t>
            </a:r>
            <a:endParaRPr lang="fr-FR">
              <a:latin typeface="+mn-lt"/>
            </a:endParaRPr>
          </a:p>
        </p:txBody>
      </p:sp>
      <p:sp>
        <p:nvSpPr>
          <p:cNvPr id="8" name="Espace réservé du titre 7">
            <a:extLst>
              <a:ext uri="{FF2B5EF4-FFF2-40B4-BE49-F238E27FC236}">
                <a16:creationId xmlns:a16="http://schemas.microsoft.com/office/drawing/2014/main" id="{372959FE-400C-8866-ECB5-F198A92EB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/>
              <a:t>Cliquez ici pour modifier le titre</a:t>
            </a:r>
          </a:p>
        </p:txBody>
      </p:sp>
      <p:sp>
        <p:nvSpPr>
          <p:cNvPr id="12" name="Espace réservé du texte 11">
            <a:extLst>
              <a:ext uri="{FF2B5EF4-FFF2-40B4-BE49-F238E27FC236}">
                <a16:creationId xmlns:a16="http://schemas.microsoft.com/office/drawing/2014/main" id="{14BE3D37-DE88-F38B-9FCE-21CD2A5D7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2450" y="1352550"/>
            <a:ext cx="7989376" cy="324388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marL="171446" lvl="2" indent="-171446"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endParaRPr lang="fr-FR"/>
          </a:p>
        </p:txBody>
      </p:sp>
      <p:pic>
        <p:nvPicPr>
          <p:cNvPr id="45" name="Image 44" descr="Une image contenant texte, Police, capture d’écran, Graphique&#10;&#10;Le contenu généré par l’IA peut être incorrect.">
            <a:extLst>
              <a:ext uri="{FF2B5EF4-FFF2-40B4-BE49-F238E27FC236}">
                <a16:creationId xmlns:a16="http://schemas.microsoft.com/office/drawing/2014/main" id="{AA50E5E5-45C5-A648-51D1-CF821FE0B875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7681" y="539991"/>
            <a:ext cx="602226" cy="168917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8DF0DC0C-5C8B-D596-8BA4-CE36D25D026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2857500" y="5009649"/>
            <a:ext cx="3429000" cy="128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219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</p:sldLayoutIdLst>
  <p:hf hdr="0" dt="0"/>
  <p:txStyles>
    <p:titleStyle>
      <a:lvl1pPr>
        <a:defRPr sz="2400" b="1">
          <a:solidFill>
            <a:schemeClr val="tx2"/>
          </a:solidFill>
          <a:latin typeface="Roboto Light" panose="02000000000000000000" pitchFamily="2" charset="0"/>
          <a:ea typeface="Roboto Light" panose="02000000000000000000" pitchFamily="2" charset="0"/>
          <a:cs typeface="+mj-cs"/>
        </a:defRPr>
      </a:lvl1pPr>
    </p:titleStyle>
    <p:bodyStyle>
      <a:lvl1pPr marL="0">
        <a:defRPr sz="1400" b="0" cap="none" baseline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171446" indent="-171446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2pPr>
      <a:lvl3pPr marL="355600" indent="-169863">
        <a:buClr>
          <a:schemeClr val="accent5"/>
        </a:buClr>
        <a:buFont typeface="Times New Roman" panose="02020603050405020304" pitchFamily="18" charset="0"/>
        <a:buChar char="→"/>
        <a:defRPr lang="fr-FR" sz="1200" b="0" cap="none" baseline="0" dirty="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538163" indent="-169863">
        <a:buClr>
          <a:schemeClr val="accent5"/>
        </a:buClr>
        <a:buFont typeface="Wingdings" panose="05000000000000000000" pitchFamily="2" charset="2"/>
        <a:buChar char="ü"/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4pPr>
      <a:lvl5pPr marL="359991">
        <a:defRPr sz="1200">
          <a:solidFill>
            <a:schemeClr val="tx2"/>
          </a:solidFill>
          <a:latin typeface="Roboto" panose="02000000000000000000" pitchFamily="2" charset="0"/>
          <a:ea typeface="Roboto" panose="02000000000000000000" pitchFamily="2" charset="0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189">
        <a:defRPr>
          <a:latin typeface="+mn-lt"/>
          <a:ea typeface="+mn-ea"/>
          <a:cs typeface="+mn-cs"/>
        </a:defRPr>
      </a:lvl2pPr>
      <a:lvl3pPr marL="914377">
        <a:defRPr>
          <a:latin typeface="+mn-lt"/>
          <a:ea typeface="+mn-ea"/>
          <a:cs typeface="+mn-cs"/>
        </a:defRPr>
      </a:lvl3pPr>
      <a:lvl4pPr marL="1371566">
        <a:defRPr>
          <a:latin typeface="+mn-lt"/>
          <a:ea typeface="+mn-ea"/>
          <a:cs typeface="+mn-cs"/>
        </a:defRPr>
      </a:lvl4pPr>
      <a:lvl5pPr marL="1828754">
        <a:defRPr>
          <a:latin typeface="+mn-lt"/>
          <a:ea typeface="+mn-ea"/>
          <a:cs typeface="+mn-cs"/>
        </a:defRPr>
      </a:lvl5pPr>
      <a:lvl6pPr marL="2285943">
        <a:defRPr>
          <a:latin typeface="+mn-lt"/>
          <a:ea typeface="+mn-ea"/>
          <a:cs typeface="+mn-cs"/>
        </a:defRPr>
      </a:lvl6pPr>
      <a:lvl7pPr marL="2743131">
        <a:defRPr>
          <a:latin typeface="+mn-lt"/>
          <a:ea typeface="+mn-ea"/>
          <a:cs typeface="+mn-cs"/>
        </a:defRPr>
      </a:lvl7pPr>
      <a:lvl8pPr marL="3200320">
        <a:defRPr>
          <a:latin typeface="+mn-lt"/>
          <a:ea typeface="+mn-ea"/>
          <a:cs typeface="+mn-cs"/>
        </a:defRPr>
      </a:lvl8pPr>
      <a:lvl9pPr marL="3657509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52.xml"/><Relationship Id="rId3" Type="http://schemas.openxmlformats.org/officeDocument/2006/relationships/slide" Target="slide16.xml"/><Relationship Id="rId7" Type="http://schemas.openxmlformats.org/officeDocument/2006/relationships/slide" Target="slide43.xml"/><Relationship Id="rId2" Type="http://schemas.openxmlformats.org/officeDocument/2006/relationships/slide" Target="slide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4.xml"/><Relationship Id="rId5" Type="http://schemas.openxmlformats.org/officeDocument/2006/relationships/slide" Target="slide29.xml"/><Relationship Id="rId10" Type="http://schemas.openxmlformats.org/officeDocument/2006/relationships/slide" Target="slide55.xml"/><Relationship Id="rId4" Type="http://schemas.openxmlformats.org/officeDocument/2006/relationships/slide" Target="slide23.xml"/><Relationship Id="rId9" Type="http://schemas.openxmlformats.org/officeDocument/2006/relationships/slide" Target="slide5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8.xml"/><Relationship Id="rId3" Type="http://schemas.openxmlformats.org/officeDocument/2006/relationships/slide" Target="slide17.xml"/><Relationship Id="rId7" Type="http://schemas.openxmlformats.org/officeDocument/2006/relationships/slide" Target="slide14.xml"/><Relationship Id="rId12" Type="http://schemas.openxmlformats.org/officeDocument/2006/relationships/slide" Target="slide30.xml"/><Relationship Id="rId2" Type="http://schemas.openxmlformats.org/officeDocument/2006/relationships/slide" Target="slide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3.xml"/><Relationship Id="rId11" Type="http://schemas.openxmlformats.org/officeDocument/2006/relationships/slide" Target="slide26.xml"/><Relationship Id="rId5" Type="http://schemas.openxmlformats.org/officeDocument/2006/relationships/slide" Target="slide12.xml"/><Relationship Id="rId10" Type="http://schemas.openxmlformats.org/officeDocument/2006/relationships/slide" Target="slide25.xml"/><Relationship Id="rId4" Type="http://schemas.openxmlformats.org/officeDocument/2006/relationships/slide" Target="slide11.xml"/><Relationship Id="rId9" Type="http://schemas.openxmlformats.org/officeDocument/2006/relationships/slide" Target="slide19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3" Type="http://schemas.openxmlformats.org/officeDocument/2006/relationships/slide" Target="slide33.xml"/><Relationship Id="rId7" Type="http://schemas.openxmlformats.org/officeDocument/2006/relationships/slide" Target="slide41.xml"/><Relationship Id="rId12" Type="http://schemas.openxmlformats.org/officeDocument/2006/relationships/slide" Target="slide49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9.xml"/><Relationship Id="rId11" Type="http://schemas.openxmlformats.org/officeDocument/2006/relationships/slide" Target="slide47.xml"/><Relationship Id="rId5" Type="http://schemas.openxmlformats.org/officeDocument/2006/relationships/slide" Target="slide36.xml"/><Relationship Id="rId10" Type="http://schemas.openxmlformats.org/officeDocument/2006/relationships/slide" Target="slide46.xml"/><Relationship Id="rId4" Type="http://schemas.openxmlformats.org/officeDocument/2006/relationships/slide" Target="slide35.xml"/><Relationship Id="rId9" Type="http://schemas.openxmlformats.org/officeDocument/2006/relationships/slide" Target="slide45.xml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slide" Target="slide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55.xml"/><Relationship Id="rId4" Type="http://schemas.openxmlformats.org/officeDocument/2006/relationships/slide" Target="slide53.xml"/><Relationship Id="rId6" Type="http://schemas.openxmlformats.org/officeDocument/2006/relationships/slide" Target="slide59.xml"/><Relationship Id="rId7" Type="http://schemas.openxmlformats.org/officeDocument/2006/relationships/slide" Target="slide2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3" Type="http://schemas.openxmlformats.org/officeDocument/2006/relationships/slide" Target="slide17.xml"/><Relationship Id="rId7" Type="http://schemas.openxmlformats.org/officeDocument/2006/relationships/slide" Target="slide37.xml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35.xml"/><Relationship Id="rId5" Type="http://schemas.openxmlformats.org/officeDocument/2006/relationships/slide" Target="slide31.xml"/><Relationship Id="rId10" Type="http://schemas.openxmlformats.org/officeDocument/2006/relationships/slide" Target="slide49.xml"/><Relationship Id="rId4" Type="http://schemas.openxmlformats.org/officeDocument/2006/relationships/slide" Target="slide24.xml"/><Relationship Id="rId9" Type="http://schemas.openxmlformats.org/officeDocument/2006/relationships/slide" Target="slide4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slide" Target="slide9.xml"/><Relationship Id="rId7" Type="http://schemas.openxmlformats.org/officeDocument/2006/relationships/slide" Target="slide1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6" Type="http://schemas.openxmlformats.org/officeDocument/2006/relationships/slide" Target="slide12.xml"/><Relationship Id="rId5" Type="http://schemas.openxmlformats.org/officeDocument/2006/relationships/slide" Target="slide11.xml"/><Relationship Id="rId4" Type="http://schemas.openxmlformats.org/officeDocument/2006/relationships/slide" Target="slide10.xml"/><Relationship Id="rId9" Type="http://schemas.openxmlformats.org/officeDocument/2006/relationships/slide" Target="slide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" Target="slide22.xml"/><Relationship Id="rId3" Type="http://schemas.openxmlformats.org/officeDocument/2006/relationships/slide" Target="slide17.xml"/><Relationship Id="rId7" Type="http://schemas.openxmlformats.org/officeDocument/2006/relationships/slide" Target="slide21.xml"/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20.xml"/><Relationship Id="rId5" Type="http://schemas.openxmlformats.org/officeDocument/2006/relationships/slide" Target="slide19.xml"/><Relationship Id="rId4" Type="http://schemas.openxmlformats.org/officeDocument/2006/relationships/slide" Target="slide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jp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3" Type="http://schemas.openxmlformats.org/officeDocument/2006/relationships/slide" Target="slide24.xml"/><Relationship Id="rId7" Type="http://schemas.openxmlformats.org/officeDocument/2006/relationships/slide" Target="slide2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7.xml"/><Relationship Id="rId5" Type="http://schemas.openxmlformats.org/officeDocument/2006/relationships/slide" Target="slide26.xml"/><Relationship Id="rId4" Type="http://schemas.openxmlformats.org/officeDocument/2006/relationships/slide" Target="slide25.xml"/><Relationship Id="rId8" Type="http://schemas.openxmlformats.org/officeDocument/2006/relationships/slide" Target="slide5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8.jp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6" Type="http://schemas.openxmlformats.org/officeDocument/2006/relationships/slide" Target="slide33.xml"/><Relationship Id="rId5" Type="http://schemas.openxmlformats.org/officeDocument/2006/relationships/slide" Target="slide32.xml"/><Relationship Id="rId4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41.xml"/><Relationship Id="rId3" Type="http://schemas.openxmlformats.org/officeDocument/2006/relationships/slide" Target="slide35.xml"/><Relationship Id="rId7" Type="http://schemas.openxmlformats.org/officeDocument/2006/relationships/slide" Target="slide40.xml"/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Relationship Id="rId6" Type="http://schemas.openxmlformats.org/officeDocument/2006/relationships/slide" Target="slide39.xml"/><Relationship Id="rId5" Type="http://schemas.openxmlformats.org/officeDocument/2006/relationships/slide" Target="slide37.xml"/><Relationship Id="rId4" Type="http://schemas.openxmlformats.org/officeDocument/2006/relationships/slide" Target="slide36.xml"/><Relationship Id="rId9" Type="http://schemas.openxmlformats.org/officeDocument/2006/relationships/slide" Target="slide4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jp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jp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44.xml"/><Relationship Id="rId7" Type="http://schemas.openxmlformats.org/officeDocument/2006/relationships/slide" Target="slide4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47.xml"/><Relationship Id="rId5" Type="http://schemas.openxmlformats.org/officeDocument/2006/relationships/slide" Target="slide46.xml"/><Relationship Id="rId10" Type="http://schemas.openxmlformats.org/officeDocument/2006/relationships/slide" Target="slide51.xml"/><Relationship Id="rId4" Type="http://schemas.openxmlformats.org/officeDocument/2006/relationships/slide" Target="slide45.xml"/><Relationship Id="rId9" Type="http://schemas.openxmlformats.org/officeDocument/2006/relationships/slide" Target="slide50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jp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jp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slide" Target="slide3.xml"/><Relationship Id="rId1" Type="http://schemas.openxmlformats.org/officeDocument/2006/relationships/slideLayout" Target="../slideLayouts/slideLayout3.xml"/><Relationship Id="rId5" Type="http://schemas.openxmlformats.org/officeDocument/2006/relationships/slide" Target="slide55.xml"/><Relationship Id="rId4" Type="http://schemas.openxmlformats.org/officeDocument/2006/relationships/slide" Target="slide5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3.jpg"/><Relationship Id="rId4" Type="http://schemas.openxmlformats.org/officeDocument/2006/relationships/image" Target="../media/image52.jp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5.jp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1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
<Relationships xmlns="http://schemas.openxmlformats.org/package/2006/relationships"><Relationship Id="rId3" Type="http://schemas.openxmlformats.org/officeDocument/2006/relationships/image" Target="../media/image56.jpg"/><Relationship Id="rId2" Type="http://schemas.openxmlformats.org/officeDocument/2006/relationships/slide" Target="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Project Navigator</a:t>
            </a:r>
            <a:br>
              <a:rPr lang="fr-FR" dirty="0"/>
            </a:br>
            <a:r>
              <a:rPr lang="fr-FR" i="1" dirty="0">
                <a:latin typeface="+mj-lt"/>
              </a:rPr>
              <a:t>Porteur des projets</a:t>
            </a:r>
            <a:br>
              <a:rPr lang="fr-FR" i="1" dirty="0">
                <a:latin typeface="+mj-lt"/>
              </a:rPr>
            </a:br>
            <a:r>
              <a:rPr lang="fr-FR" sz="2400" b="1" i="1" dirty="0">
                <a:solidFill>
                  <a:srgbClr val="B69C69"/>
                </a:solidFill>
                <a:latin typeface="+mj-lt"/>
              </a:rPr>
              <a:t>A consulter en mode présentation</a:t>
            </a:r>
            <a:endParaRPr b="1" i="1" dirty="0">
              <a:solidFill>
                <a:srgbClr val="B69C69"/>
              </a:solidFill>
              <a:latin typeface="+mj-lt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Guide complet d’utilisation ·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Comment utiliser ce manuel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 dirty="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8046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5B6573"/>
                </a:solidFill>
                <a:latin typeface="Roboto"/>
              </a:rPr>
              <a:t>Ce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manuel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suit la vie d’un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projet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, de la première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connexion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au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lancement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. Il se lit dans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l’ordre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la première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fois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,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puis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se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consulte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 au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besoin</a:t>
            </a:r>
            <a:r>
              <a:rPr sz="1200" b="0" i="0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Trouver une page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31136"/>
            <a:ext cx="2249424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sommaire et chaque intercalaire de partie sont cliquables : un clic sur un titre ouvre la page. Le lien « ← Sommaire », en haut à droite de chaque page, ramène au sommaire.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19856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Lire une capture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2231136"/>
            <a:ext cx="2249424" cy="1289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pastilles rouges numérotées sur les captures renvoient à la légende de la même couleur, à côté de l’image : ① sur la capture = ① dans le texte.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98464" y="1828800"/>
            <a:ext cx="2542032" cy="17830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44768" y="195681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Chercher une 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231136"/>
            <a:ext cx="2249424" cy="8079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1F2A37"/>
                </a:solidFill>
                <a:latin typeface="Roboto"/>
              </a:rPr>
              <a:t>« Je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veux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… »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liste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les </a:t>
            </a:r>
            <a:r>
              <a:rPr lang="fr-FR" sz="1050" b="0" i="0" dirty="0">
                <a:solidFill>
                  <a:srgbClr val="1F2A37"/>
                </a:solidFill>
                <a:latin typeface="Roboto"/>
              </a:rPr>
              <a:t>besoins 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courants avec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l’endroit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où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cliquer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et la page qui les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détaille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 Les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statuts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et badges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sont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expliqués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dans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l’annexe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dédiée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6" name="Oval 15"/>
          <p:cNvSpPr/>
          <p:nvPr/>
        </p:nvSpPr>
        <p:spPr>
          <a:xfrm>
            <a:off x="2788920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5513832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8238744" y="17007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libellés entre « guillemets » </a:t>
            </a:r>
            <a:r>
              <a:rPr sz="1050" b="0" i="0">
                <a:solidFill>
                  <a:srgbClr val="003059"/>
                </a:solidFill>
                <a:latin typeface="Roboto"/>
              </a:rPr>
              <a:t>sont ceux affichés à l’écran : cherchez exactement ce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hlinkClick r:id="rId2" action="ppaction://hlinksldjump"/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t>Prendre en main l’outil</a:t>
            </a:r>
          </a:p>
        </p:txBody>
      </p:sp>
      <p:sp>
        <p:nvSpPr>
          <p:cNvPr id="3" name="Text Placeholder 2">
            <a:hlinkClick r:id="rId2" action="ppaction://hlinksldjump"/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4" name="Text Placeholder 3">
            <a:hlinkClick r:id="rId3" action="ppaction://hlinksldjump"/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Décrire son projet</a:t>
            </a:r>
          </a:p>
        </p:txBody>
      </p:sp>
      <p:sp>
        <p:nvSpPr>
          <p:cNvPr id="5" name="Text Placeholder 4">
            <a:hlinkClick r:id="rId3" action="ppaction://hlinksldjump"/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6" name="Text Placeholder 5">
            <a:hlinkClick r:id="rId4" action="ppaction://hlinksldjump"/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La vitrine du projet</a:t>
            </a:r>
          </a:p>
        </p:txBody>
      </p:sp>
      <p:sp>
        <p:nvSpPr>
          <p:cNvPr id="7" name="Text Placeholder 6">
            <a:hlinkClick r:id="rId4" action="ppaction://hlinksldjump"/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8" name="Text Placeholder 7">
            <a:hlinkClick r:id="rId5" action="ppaction://hlinksldjump"/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9" name="Text Placeholder 8">
            <a:hlinkClick r:id="rId5" action="ppaction://hlinksldjump"/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0" name="Text Placeholder 9">
            <a:hlinkClick r:id="rId6" action="ppaction://hlinksldjump"/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Les enjeux et la soumission</a:t>
            </a:r>
          </a:p>
        </p:txBody>
      </p:sp>
      <p:sp>
        <p:nvSpPr>
          <p:cNvPr id="11" name="Text Placeholder 10">
            <a:hlinkClick r:id="rId6" action="ppaction://hlinksldjump"/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2" name="Text Placeholder 11">
            <a:hlinkClick r:id="rId7" action="ppaction://hlinksldjump"/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Après la soumission</a:t>
            </a:r>
          </a:p>
        </p:txBody>
      </p:sp>
      <p:sp>
        <p:nvSpPr>
          <p:cNvPr id="13" name="Text Placeholder 12">
            <a:hlinkClick r:id="rId7" action="ppaction://hlinksldjump"/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4" name="Text Placeholder 13">
            <a:hlinkClick r:id="rId8" action="ppaction://hlinksldjump"/>
          </p:cNvPr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dirty="0"/>
              <a:t>Inspiration</a:t>
            </a:r>
          </a:p>
        </p:txBody>
      </p:sp>
      <p:sp>
        <p:nvSpPr>
          <p:cNvPr id="15" name="Text Placeholder 14">
            <a:hlinkClick r:id="rId8" action="ppaction://hlinksldjump"/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t>→</a:t>
            </a:r>
          </a:p>
        </p:txBody>
      </p:sp>
      <p:sp>
        <p:nvSpPr>
          <p:cNvPr id="16" name="Text Placeholder 15">
            <a:hlinkClick r:id="rId9" action="ppaction://hlinksldjump"/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fr-FR" dirty="0">
                <a:hlinkClick r:id="rId10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Aide</a:t>
            </a:r>
            <a:endParaRPr dirty="0">
              <a:hlinkClick r:id="rId10" action="ppaction://hlinksldjump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17" name="Text Placeholder 16">
            <a:hlinkClick r:id="rId9" action="ppaction://hlinksldjump"/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u="sng">
                <a:solidFill>
                  <a:schemeClr val="tx1"/>
                </a:solidFill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→</a:t>
            </a:r>
          </a:p>
        </p:txBody>
      </p:sp>
      <p:sp>
        <p:nvSpPr>
          <p:cNvPr id="18" name="Title 1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Sommaire</a:t>
            </a:r>
            <a:br>
              <a:rPr lang="fr-FR" dirty="0"/>
            </a:br>
            <a:br>
              <a:rPr lang="fr-FR" dirty="0"/>
            </a:br>
            <a:r>
              <a:rPr lang="fr-FR" dirty="0"/>
              <a:t>Entrées par thématique</a:t>
            </a:r>
            <a:endParaRPr dirty="0"/>
          </a:p>
        </p:txBody>
      </p:sp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BF974446-D450-AF9B-B7CA-62F468FED316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" y="4206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Cliquez sur une partie pour l’ouvrir.</a:t>
            </a:r>
          </a:p>
        </p:txBody>
      </p:sp>
      <p:sp>
        <p:nvSpPr>
          <p:cNvPr id="21" name="Text Placeholder 15">
            <a:hlinkClick r:id="rId9" action="ppaction://hlinksldjump"/>
            <a:extLst>
              <a:ext uri="{FF2B5EF4-FFF2-40B4-BE49-F238E27FC236}">
                <a16:creationId xmlns:a16="http://schemas.microsoft.com/office/drawing/2014/main" id="{491AD9AD-DD59-90C2-4056-627B6D6A22A4}"/>
              </a:ext>
            </a:extLst>
          </p:cNvPr>
          <p:cNvSpPr txBox="1">
            <a:spLocks/>
          </p:cNvSpPr>
          <p:nvPr/>
        </p:nvSpPr>
        <p:spPr>
          <a:xfrm>
            <a:off x="5219700" y="4054753"/>
            <a:ext cx="2856322" cy="2790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171446" indent="-171446">
              <a:buClr>
                <a:schemeClr val="accent5"/>
              </a:buClr>
              <a:buFont typeface="+mj-lt"/>
              <a:buAutoNum type="arabicPeriod" startAt="8"/>
              <a:defRPr sz="1400" b="0" cap="none" baseline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171446" indent="-171446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Clr>
                <a:schemeClr val="accent5"/>
              </a:buClr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Clr>
                <a:schemeClr val="accent5"/>
              </a:buClr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359991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285943">
              <a:defRPr>
                <a:latin typeface="+mn-lt"/>
                <a:ea typeface="+mn-ea"/>
                <a:cs typeface="+mn-cs"/>
              </a:defRPr>
            </a:lvl6pPr>
            <a:lvl7pPr marL="2743131">
              <a:defRPr>
                <a:latin typeface="+mn-lt"/>
                <a:ea typeface="+mn-ea"/>
                <a:cs typeface="+mn-cs"/>
              </a:defRPr>
            </a:lvl7pPr>
            <a:lvl8pPr marL="3200320">
              <a:defRPr>
                <a:latin typeface="+mn-lt"/>
                <a:ea typeface="+mn-ea"/>
                <a:cs typeface="+mn-cs"/>
              </a:defRPr>
            </a:lvl8pPr>
            <a:lvl9pPr marL="3657509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buFont typeface="+mj-lt"/>
              <a:buAutoNum type="arabicPeriod" startAt="9"/>
            </a:pPr>
            <a:r>
              <a:rPr lang="fr-FR" dirty="0"/>
              <a:t>Annexes</a:t>
            </a:r>
          </a:p>
        </p:txBody>
      </p:sp>
      <p:sp>
        <p:nvSpPr>
          <p:cNvPr id="22" name="Text Placeholder 16">
            <a:hlinkClick r:id="rId9" action="ppaction://hlinksldjump"/>
            <a:extLst>
              <a:ext uri="{FF2B5EF4-FFF2-40B4-BE49-F238E27FC236}">
                <a16:creationId xmlns:a16="http://schemas.microsoft.com/office/drawing/2014/main" id="{806A2A21-21F3-2F98-AD6A-375F93A9C22E}"/>
              </a:ext>
            </a:extLst>
          </p:cNvPr>
          <p:cNvSpPr txBox="1">
            <a:spLocks/>
          </p:cNvSpPr>
          <p:nvPr/>
        </p:nvSpPr>
        <p:spPr>
          <a:xfrm>
            <a:off x="8076022" y="4064512"/>
            <a:ext cx="544040" cy="14478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indent="0" algn="r">
              <a:buClr>
                <a:schemeClr val="accent5"/>
              </a:buClr>
              <a:buFont typeface="Times New Roman" panose="02020603050405020304" pitchFamily="18" charset="0"/>
              <a:buNone/>
              <a:defRPr sz="1400" b="0" cap="none" baseline="0">
                <a:solidFill>
                  <a:schemeClr val="tx2"/>
                </a:solidFill>
                <a:latin typeface="Roboto Black" panose="02000000000000000000" pitchFamily="2" charset="0"/>
                <a:ea typeface="Roboto Black" panose="02000000000000000000" pitchFamily="2" charset="0"/>
                <a:cs typeface="Roboto" panose="02000000000000000000" pitchFamily="2" charset="0"/>
              </a:defRPr>
            </a:lvl1pPr>
            <a:lvl2pPr marL="171446" indent="-171446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355600" indent="-169863">
              <a:buClr>
                <a:schemeClr val="accent5"/>
              </a:buClr>
              <a:buFont typeface="Times New Roman" panose="02020603050405020304" pitchFamily="18" charset="0"/>
              <a:buChar char="→"/>
              <a:defRPr lang="fr-FR" sz="1200" b="0" cap="none" baseline="0" dirty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3pPr>
            <a:lvl4pPr marL="538163" indent="-169863">
              <a:buClr>
                <a:schemeClr val="accent5"/>
              </a:buClr>
              <a:buFont typeface="Wingdings" panose="05000000000000000000" pitchFamily="2" charset="2"/>
              <a:buChar char="ü"/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359991">
              <a:defRPr sz="120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285943">
              <a:defRPr>
                <a:latin typeface="+mn-lt"/>
                <a:ea typeface="+mn-ea"/>
                <a:cs typeface="+mn-cs"/>
              </a:defRPr>
            </a:lvl6pPr>
            <a:lvl7pPr marL="2743131">
              <a:defRPr>
                <a:latin typeface="+mn-lt"/>
                <a:ea typeface="+mn-ea"/>
                <a:cs typeface="+mn-cs"/>
              </a:defRPr>
            </a:lvl7pPr>
            <a:lvl8pPr marL="3200320">
              <a:defRPr>
                <a:latin typeface="+mn-lt"/>
                <a:ea typeface="+mn-ea"/>
                <a:cs typeface="+mn-cs"/>
              </a:defRPr>
            </a:lvl8pPr>
            <a:lvl9pPr marL="3657509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458F8-F1D0-264A-54D0-16A100E6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0FE0E666-AEC7-3A94-E890-6D4A4A8C8401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9AB07350-882F-7E45-72E1-7B0B04158C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54" name="TextBox 5">
            <a:extLst>
              <a:ext uri="{FF2B5EF4-FFF2-40B4-BE49-F238E27FC236}">
                <a16:creationId xmlns:a16="http://schemas.microsoft.com/office/drawing/2014/main" id="{AA19BF0B-967A-760F-774D-FD2E9B744E27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55" name="TextBox 6">
            <a:extLst>
              <a:ext uri="{FF2B5EF4-FFF2-40B4-BE49-F238E27FC236}">
                <a16:creationId xmlns:a16="http://schemas.microsoft.com/office/drawing/2014/main" id="{65FAB804-E234-F36F-569E-EC18F162FBBD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56" name="TextBox 7">
            <a:extLst>
              <a:ext uri="{FF2B5EF4-FFF2-40B4-BE49-F238E27FC236}">
                <a16:creationId xmlns:a16="http://schemas.microsoft.com/office/drawing/2014/main" id="{64E7EB9A-2A06-8D21-052F-F9281A8F3578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B09E02E-E252-71AA-C2BD-F4A614BCBF20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39D7B5F7-B072-DD0C-43D1-A2EA4A8A2111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003059"/>
                </a:solidFill>
                <a:latin typeface="Roboto"/>
              </a:rPr>
              <a:t>Changer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mon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périmètre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ou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ma langue</a:t>
            </a:r>
          </a:p>
        </p:txBody>
      </p:sp>
      <p:sp>
        <p:nvSpPr>
          <p:cNvPr id="59" name="TextBox 10">
            <a:extLst>
              <a:ext uri="{FF2B5EF4-FFF2-40B4-BE49-F238E27FC236}">
                <a16:creationId xmlns:a16="http://schemas.microsoft.com/office/drawing/2014/main" id="{3A204231-101B-194C-5777-D3588C9E6ED8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Mon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profil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60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F93E8CEA-5224-74BD-300D-4C311662E291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1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2A2176C2-56EE-0A99-7FA5-4057C9BD87C8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Créer un projet</a:t>
            </a:r>
          </a:p>
        </p:txBody>
      </p:sp>
      <p:sp>
        <p:nvSpPr>
          <p:cNvPr id="62" name="TextBox 13">
            <a:extLst>
              <a:ext uri="{FF2B5EF4-FFF2-40B4-BE49-F238E27FC236}">
                <a16:creationId xmlns:a16="http://schemas.microsoft.com/office/drawing/2014/main" id="{CFBADC10-8B0F-18DA-AE1F-EFDDD9AB04F9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«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Créer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un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projet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63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10980FC7-18C0-9071-179A-CF92EB273F47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70C5F86-24B0-2B54-0FAA-3F3256F951E0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45AF09F0-D427-F510-6A6E-886B16E6C775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Reprendre un brouillon</a:t>
            </a: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00EBFE45-4B89-99B5-04B0-B6CDCAC37FE9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« Continuer l’édition »</a:t>
            </a:r>
          </a:p>
        </p:txBody>
      </p:sp>
      <p:sp>
        <p:nvSpPr>
          <p:cNvPr id="67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C8EEE7C0-54DF-C29E-13C0-5345C7EB0D7F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68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B8010820-3D43-43A3-49C3-DA28DCA7A52B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Repartir d’un projet existant</a:t>
            </a:r>
          </a:p>
        </p:txBody>
      </p:sp>
      <p:sp>
        <p:nvSpPr>
          <p:cNvPr id="69" name="TextBox 20">
            <a:extLst>
              <a:ext uri="{FF2B5EF4-FFF2-40B4-BE49-F238E27FC236}">
                <a16:creationId xmlns:a16="http://schemas.microsoft.com/office/drawing/2014/main" id="{330F5F3A-CE67-F48F-D079-1E66D7081AE1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« Dupliquer »</a:t>
            </a:r>
          </a:p>
        </p:txBody>
      </p:sp>
      <p:sp>
        <p:nvSpPr>
          <p:cNvPr id="70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3FDB85EB-5A21-8C7C-4B27-50EB575DB1AC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5A45-1436-D9F0-D3DA-E006F1F54959}"/>
              </a:ext>
            </a:extLst>
          </p:cNvPr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23">
            <a:hlinkClick r:id="rId6" action="ppaction://hlinksldjump"/>
            <a:extLst>
              <a:ext uri="{FF2B5EF4-FFF2-40B4-BE49-F238E27FC236}">
                <a16:creationId xmlns:a16="http://schemas.microsoft.com/office/drawing/2014/main" id="{D7E05B39-D3EE-9480-B3CC-B77D43F42599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Retrouver un projet supprimé</a:t>
            </a:r>
          </a:p>
        </p:txBody>
      </p:sp>
      <p:sp>
        <p:nvSpPr>
          <p:cNvPr id="73" name="TextBox 24">
            <a:extLst>
              <a:ext uri="{FF2B5EF4-FFF2-40B4-BE49-F238E27FC236}">
                <a16:creationId xmlns:a16="http://schemas.microsoft.com/office/drawing/2014/main" id="{C401CF1C-3570-39F8-87A1-4F5C05C8DBD1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Mes projets » → « Corbeille » → « Restaurer »</a:t>
            </a:r>
          </a:p>
        </p:txBody>
      </p:sp>
      <p:sp>
        <p:nvSpPr>
          <p:cNvPr id="74" name="TextBox 25">
            <a:hlinkClick r:id="rId6" action="ppaction://hlinksldjump"/>
            <a:extLst>
              <a:ext uri="{FF2B5EF4-FFF2-40B4-BE49-F238E27FC236}">
                <a16:creationId xmlns:a16="http://schemas.microsoft.com/office/drawing/2014/main" id="{E3FFC4A1-37EF-7567-352E-068DE321FE17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5" name="TextBox 26">
            <a:hlinkClick r:id="rId7" action="ppaction://hlinksldjump"/>
            <a:extLst>
              <a:ext uri="{FF2B5EF4-FFF2-40B4-BE49-F238E27FC236}">
                <a16:creationId xmlns:a16="http://schemas.microsoft.com/office/drawing/2014/main" id="{F0BAD606-FB62-1A93-D778-FAD3306B3592}"/>
              </a:ext>
            </a:extLst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projets de mes collaborateurs</a:t>
            </a:r>
          </a:p>
        </p:txBody>
      </p:sp>
      <p:sp>
        <p:nvSpPr>
          <p:cNvPr id="76" name="TextBox 27">
            <a:extLst>
              <a:ext uri="{FF2B5EF4-FFF2-40B4-BE49-F238E27FC236}">
                <a16:creationId xmlns:a16="http://schemas.microsoft.com/office/drawing/2014/main" id="{783C8A85-E13B-6DF7-D73E-F6B183C1A2EC}"/>
              </a:ext>
            </a:extLst>
          </p:cNvPr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onglet « Mon équipe »</a:t>
            </a:r>
          </a:p>
        </p:txBody>
      </p:sp>
      <p:sp>
        <p:nvSpPr>
          <p:cNvPr id="77" name="TextBox 28">
            <a:hlinkClick r:id="rId7" action="ppaction://hlinksldjump"/>
            <a:extLst>
              <a:ext uri="{FF2B5EF4-FFF2-40B4-BE49-F238E27FC236}">
                <a16:creationId xmlns:a16="http://schemas.microsoft.com/office/drawing/2014/main" id="{61C8E285-DBE4-6D1F-7CDB-950A093E8F23}"/>
              </a:ext>
            </a:extLst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B0B5C7A-5478-38EF-1B8C-2A38A6236F9C}"/>
              </a:ext>
            </a:extLst>
          </p:cNvPr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30">
            <a:hlinkClick r:id="rId8" action="ppaction://hlinksldjump"/>
            <a:extLst>
              <a:ext uri="{FF2B5EF4-FFF2-40B4-BE49-F238E27FC236}">
                <a16:creationId xmlns:a16="http://schemas.microsoft.com/office/drawing/2014/main" id="{FF0BC4DB-CF0B-A292-500D-F6A186D6BEE2}"/>
              </a:ext>
            </a:extLst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Être aidé sur une question</a:t>
            </a:r>
          </a:p>
        </p:txBody>
      </p:sp>
      <p:sp>
        <p:nvSpPr>
          <p:cNvPr id="80" name="TextBox 31">
            <a:extLst>
              <a:ext uri="{FF2B5EF4-FFF2-40B4-BE49-F238E27FC236}">
                <a16:creationId xmlns:a16="http://schemas.microsoft.com/office/drawing/2014/main" id="{03C00EB7-4D26-D7E2-E084-B0980FB81B52}"/>
              </a:ext>
            </a:extLst>
          </p:cNvPr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Comprendre cette question »</a:t>
            </a:r>
          </a:p>
        </p:txBody>
      </p:sp>
      <p:sp>
        <p:nvSpPr>
          <p:cNvPr id="81" name="TextBox 32">
            <a:hlinkClick r:id="rId8" action="ppaction://hlinksldjump"/>
            <a:extLst>
              <a:ext uri="{FF2B5EF4-FFF2-40B4-BE49-F238E27FC236}">
                <a16:creationId xmlns:a16="http://schemas.microsoft.com/office/drawing/2014/main" id="{B4596758-1A18-4258-29F0-F3FAE7120577}"/>
              </a:ext>
            </a:extLst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2" name="TextBox 33">
            <a:hlinkClick r:id="rId9" action="ppaction://hlinksldjump"/>
            <a:extLst>
              <a:ext uri="{FF2B5EF4-FFF2-40B4-BE49-F238E27FC236}">
                <a16:creationId xmlns:a16="http://schemas.microsoft.com/office/drawing/2014/main" id="{87E85080-E991-8674-0459-2D7A07DD2D60}"/>
              </a:ext>
            </a:extLst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sans être sûr</a:t>
            </a:r>
          </a:p>
        </p:txBody>
      </p:sp>
      <p:sp>
        <p:nvSpPr>
          <p:cNvPr id="83" name="TextBox 34">
            <a:extLst>
              <a:ext uri="{FF2B5EF4-FFF2-40B4-BE49-F238E27FC236}">
                <a16:creationId xmlns:a16="http://schemas.microsoft.com/office/drawing/2014/main" id="{75014773-8654-2942-3EC5-2C238BAF5EA1}"/>
              </a:ext>
            </a:extLst>
          </p:cNvPr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J’ai un doute »</a:t>
            </a:r>
          </a:p>
        </p:txBody>
      </p:sp>
      <p:sp>
        <p:nvSpPr>
          <p:cNvPr id="84" name="TextBox 35">
            <a:hlinkClick r:id="rId9" action="ppaction://hlinksldjump"/>
            <a:extLst>
              <a:ext uri="{FF2B5EF4-FFF2-40B4-BE49-F238E27FC236}">
                <a16:creationId xmlns:a16="http://schemas.microsoft.com/office/drawing/2014/main" id="{805BDA7E-1128-6291-57E8-D4782A94A5B5}"/>
              </a:ext>
            </a:extLst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64940C1-7D6B-D15F-0BEE-412FBEC9B76D}"/>
              </a:ext>
            </a:extLst>
          </p:cNvPr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37">
            <a:hlinkClick r:id="rId10" action="ppaction://hlinksldjump"/>
            <a:extLst>
              <a:ext uri="{FF2B5EF4-FFF2-40B4-BE49-F238E27FC236}">
                <a16:creationId xmlns:a16="http://schemas.microsoft.com/office/drawing/2014/main" id="{5BD595BD-D26C-891F-F4CC-A29C5793748C}"/>
              </a:ext>
            </a:extLst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la vitrine</a:t>
            </a:r>
          </a:p>
        </p:txBody>
      </p:sp>
      <p:sp>
        <p:nvSpPr>
          <p:cNvPr id="87" name="TextBox 38">
            <a:extLst>
              <a:ext uri="{FF2B5EF4-FFF2-40B4-BE49-F238E27FC236}">
                <a16:creationId xmlns:a16="http://schemas.microsoft.com/office/drawing/2014/main" id="{2E5FD837-2390-D541-ADD6-DDDF3603F4DE}"/>
              </a:ext>
            </a:extLst>
          </p:cNvPr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Modifier » → « Publier »</a:t>
            </a:r>
          </a:p>
        </p:txBody>
      </p:sp>
      <p:sp>
        <p:nvSpPr>
          <p:cNvPr id="88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88FF92FB-162D-AFFA-ACDC-8CB834D7F2E5}"/>
              </a:ext>
            </a:extLst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89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E5194AD9-94F9-13CC-E3F6-0B6ED8BA71BE}"/>
              </a:ext>
            </a:extLst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 err="1">
                <a:solidFill>
                  <a:srgbClr val="003059"/>
                </a:solidFill>
                <a:latin typeface="Roboto"/>
              </a:rPr>
              <a:t>Ajouter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</a:t>
            </a:r>
            <a:r>
              <a:rPr sz="950" b="1" i="0" dirty="0" err="1">
                <a:solidFill>
                  <a:srgbClr val="003059"/>
                </a:solidFill>
                <a:latin typeface="Roboto"/>
              </a:rPr>
              <a:t>une</a:t>
            </a:r>
            <a:r>
              <a:rPr sz="950" b="1" i="0" dirty="0">
                <a:solidFill>
                  <a:srgbClr val="003059"/>
                </a:solidFill>
                <a:latin typeface="Roboto"/>
              </a:rPr>
              <a:t> section à la vitrine</a:t>
            </a:r>
          </a:p>
        </p:txBody>
      </p:sp>
      <p:sp>
        <p:nvSpPr>
          <p:cNvPr id="90" name="TextBox 41">
            <a:extLst>
              <a:ext uri="{FF2B5EF4-FFF2-40B4-BE49-F238E27FC236}">
                <a16:creationId xmlns:a16="http://schemas.microsoft.com/office/drawing/2014/main" id="{825CE224-85CB-DDA8-ACF2-9E1438B7397F}"/>
              </a:ext>
            </a:extLst>
          </p:cNvPr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</a:t>
            </a:r>
          </a:p>
        </p:txBody>
      </p:sp>
      <p:sp>
        <p:nvSpPr>
          <p:cNvPr id="91" name="TextBox 42">
            <a:hlinkClick r:id="rId11" action="ppaction://hlinksldjump"/>
            <a:extLst>
              <a:ext uri="{FF2B5EF4-FFF2-40B4-BE49-F238E27FC236}">
                <a16:creationId xmlns:a16="http://schemas.microsoft.com/office/drawing/2014/main" id="{2C682A05-7E8A-1421-2261-67CAFEDE7779}"/>
              </a:ext>
            </a:extLst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ABCECDC-644B-AA70-FFF6-F515C60C13DB}"/>
              </a:ext>
            </a:extLst>
          </p:cNvPr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44">
            <a:hlinkClick r:id="rId12" action="ppaction://hlinksldjump"/>
            <a:extLst>
              <a:ext uri="{FF2B5EF4-FFF2-40B4-BE49-F238E27FC236}">
                <a16:creationId xmlns:a16="http://schemas.microsoft.com/office/drawing/2014/main" id="{DE15E042-BDAB-8876-B8CE-25D461A5AD5D}"/>
              </a:ext>
            </a:extLst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Masquer des sections</a:t>
            </a:r>
          </a:p>
        </p:txBody>
      </p:sp>
      <p:sp>
        <p:nvSpPr>
          <p:cNvPr id="94" name="TextBox 45">
            <a:extLst>
              <a:ext uri="{FF2B5EF4-FFF2-40B4-BE49-F238E27FC236}">
                <a16:creationId xmlns:a16="http://schemas.microsoft.com/office/drawing/2014/main" id="{5D2BD484-D917-ED8C-241C-F0B10ED5EE52}"/>
              </a:ext>
            </a:extLst>
          </p:cNvPr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Configurer » → « Mode Light »</a:t>
            </a:r>
          </a:p>
        </p:txBody>
      </p:sp>
      <p:sp>
        <p:nvSpPr>
          <p:cNvPr id="95" name="TextBox 46">
            <a:hlinkClick r:id="rId12" action="ppaction://hlinksldjump"/>
            <a:extLst>
              <a:ext uri="{FF2B5EF4-FFF2-40B4-BE49-F238E27FC236}">
                <a16:creationId xmlns:a16="http://schemas.microsoft.com/office/drawing/2014/main" id="{8FCDEACC-031B-E985-DC56-3A8BB80ADCAA}"/>
              </a:ext>
            </a:extLst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3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981AF06B-3B48-9CCB-9001-75DFA101441B}"/>
              </a:ext>
            </a:extLst>
          </p:cNvPr>
          <p:cNvSpPr txBox="1"/>
          <p:nvPr/>
        </p:nvSpPr>
        <p:spPr>
          <a:xfrm>
            <a:off x="533400" y="4443983"/>
            <a:ext cx="30175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003059"/>
                </a:solidFill>
                <a:latin typeface="Roboto"/>
              </a:rPr>
              <a:t>Mettre la vitrine en anglais</a:t>
            </a:r>
            <a:endParaRPr sz="950" b="1" i="0" dirty="0">
              <a:solidFill>
                <a:srgbClr val="003059"/>
              </a:solidFill>
              <a:latin typeface="Roboto"/>
            </a:endParaRPr>
          </a:p>
        </p:txBody>
      </p:sp>
      <p:sp>
        <p:nvSpPr>
          <p:cNvPr id="9" name="TextBox 10">
            <a:extLst>
              <a:ext uri="{FF2B5EF4-FFF2-40B4-BE49-F238E27FC236}">
                <a16:creationId xmlns:a16="http://schemas.microsoft.com/office/drawing/2014/main" id="{8DC7EC82-CB08-74CB-032A-B9C063B15B36}"/>
              </a:ext>
            </a:extLst>
          </p:cNvPr>
          <p:cNvSpPr txBox="1"/>
          <p:nvPr/>
        </p:nvSpPr>
        <p:spPr>
          <a:xfrm>
            <a:off x="3657600" y="44348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 err="1">
                <a:solidFill>
                  <a:srgbClr val="1F2A37"/>
                </a:solidFill>
                <a:latin typeface="Roboto"/>
              </a:rPr>
              <a:t>Accueil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→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Mon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profil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»</a:t>
            </a:r>
          </a:p>
        </p:txBody>
      </p:sp>
      <p:sp>
        <p:nvSpPr>
          <p:cNvPr id="11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4C0F8AD9-1C21-628B-3B00-865FB8916BBF}"/>
              </a:ext>
            </a:extLst>
          </p:cNvPr>
          <p:cNvSpPr txBox="1"/>
          <p:nvPr/>
        </p:nvSpPr>
        <p:spPr>
          <a:xfrm>
            <a:off x="8001000" y="44348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311321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94AD9-2268-ECF0-A60B-0BBC0B22F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8E6D9FF1-2416-CD9C-09B2-F064105F5063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39762658-B91D-8D8F-52AA-741C11641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46" name="TextBox 5">
            <a:extLst>
              <a:ext uri="{FF2B5EF4-FFF2-40B4-BE49-F238E27FC236}">
                <a16:creationId xmlns:a16="http://schemas.microsoft.com/office/drawing/2014/main" id="{70165260-49A0-B0CA-4012-DF88364F0EA0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48" name="TextBox 6">
            <a:extLst>
              <a:ext uri="{FF2B5EF4-FFF2-40B4-BE49-F238E27FC236}">
                <a16:creationId xmlns:a16="http://schemas.microsoft.com/office/drawing/2014/main" id="{7F1354F5-5BE7-837A-1061-B377179E62CA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50" name="TextBox 7">
            <a:extLst>
              <a:ext uri="{FF2B5EF4-FFF2-40B4-BE49-F238E27FC236}">
                <a16:creationId xmlns:a16="http://schemas.microsoft.com/office/drawing/2014/main" id="{1330EEDA-4ABC-4CD8-7B39-68D4B05443BF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24309DA-5DCF-DEB1-BEE0-B62B52B83523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0EF0DC3C-71A0-67E3-FD5B-E976CDA6D0D7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99" name="TextBox 10">
            <a:extLst>
              <a:ext uri="{FF2B5EF4-FFF2-40B4-BE49-F238E27FC236}">
                <a16:creationId xmlns:a16="http://schemas.microsoft.com/office/drawing/2014/main" id="{F536D033-3CD5-CF3A-6813-7DD4862BF971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Partager »</a:t>
            </a:r>
          </a:p>
        </p:txBody>
      </p:sp>
      <p:sp>
        <p:nvSpPr>
          <p:cNvPr id="101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E4512D60-5036-2CC4-A26C-574216894D9F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03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0F7F0182-E0D4-F14C-923E-5216618A7D92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Lire et traiter les post-its</a:t>
            </a:r>
          </a:p>
        </p:txBody>
      </p:sp>
      <p:sp>
        <p:nvSpPr>
          <p:cNvPr id="105" name="TextBox 13">
            <a:extLst>
              <a:ext uri="{FF2B5EF4-FFF2-40B4-BE49-F238E27FC236}">
                <a16:creationId xmlns:a16="http://schemas.microsoft.com/office/drawing/2014/main" id="{E83B351D-9018-6B61-E5BE-3B16B0F4A6EC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Commenter »</a:t>
            </a:r>
          </a:p>
        </p:txBody>
      </p:sp>
      <p:sp>
        <p:nvSpPr>
          <p:cNvPr id="107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39FDE3CA-25B6-18DA-DA5A-C1F61BC224AE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F3170908-AE2F-5112-3F48-54BD66C14ECF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E03C4F53-4009-0B69-A087-174C3336572D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Voir les enjeux compliance</a:t>
            </a:r>
          </a:p>
        </p:txBody>
      </p:sp>
      <p:sp>
        <p:nvSpPr>
          <p:cNvPr id="113" name="TextBox 17">
            <a:extLst>
              <a:ext uri="{FF2B5EF4-FFF2-40B4-BE49-F238E27FC236}">
                <a16:creationId xmlns:a16="http://schemas.microsoft.com/office/drawing/2014/main" id="{954DF09D-48D8-1126-D8AD-699577A93F75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Enjeux du projet »</a:t>
            </a:r>
          </a:p>
        </p:txBody>
      </p:sp>
      <p:sp>
        <p:nvSpPr>
          <p:cNvPr id="115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0A80FADD-1DE7-1035-2385-64147737A7FA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17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3A3E91C2-45C8-62F2-1DD9-6256F7ECFE68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Savoir ce qui manque avant de soumettre</a:t>
            </a:r>
          </a:p>
        </p:txBody>
      </p:sp>
      <p:sp>
        <p:nvSpPr>
          <p:cNvPr id="119" name="TextBox 20">
            <a:extLst>
              <a:ext uri="{FF2B5EF4-FFF2-40B4-BE49-F238E27FC236}">
                <a16:creationId xmlns:a16="http://schemas.microsoft.com/office/drawing/2014/main" id="{6C241EB6-4676-447E-6B41-1C0BC0BBA14F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Où en est votre projet »</a:t>
            </a:r>
          </a:p>
        </p:txBody>
      </p:sp>
      <p:sp>
        <p:nvSpPr>
          <p:cNvPr id="121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A0A89802-A5F1-A83C-E8F8-27ED23024364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9344BD40-48EC-B859-6D85-DB08B26D8A90}"/>
              </a:ext>
            </a:extLst>
          </p:cNvPr>
          <p:cNvSpPr/>
          <p:nvPr/>
        </p:nvSpPr>
        <p:spPr>
          <a:xfrm>
            <a:off x="457200" y="247802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3">
            <a:hlinkClick r:id="rId6" action="ppaction://hlinksldjump"/>
            <a:extLst>
              <a:ext uri="{FF2B5EF4-FFF2-40B4-BE49-F238E27FC236}">
                <a16:creationId xmlns:a16="http://schemas.microsoft.com/office/drawing/2014/main" id="{A8718EF8-A355-B336-CC53-2812A9B92354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une équipe oubliée</a:t>
            </a:r>
          </a:p>
        </p:txBody>
      </p:sp>
      <p:sp>
        <p:nvSpPr>
          <p:cNvPr id="129" name="TextBox 24">
            <a:extLst>
              <a:ext uri="{FF2B5EF4-FFF2-40B4-BE49-F238E27FC236}">
                <a16:creationId xmlns:a16="http://schemas.microsoft.com/office/drawing/2014/main" id="{B8CB2438-8769-D93D-30FC-168200388D30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Solliciter cette équipe »</a:t>
            </a:r>
          </a:p>
        </p:txBody>
      </p:sp>
      <p:sp>
        <p:nvSpPr>
          <p:cNvPr id="131" name="TextBox 25">
            <a:hlinkClick r:id="rId6" action="ppaction://hlinksldjump"/>
            <a:extLst>
              <a:ext uri="{FF2B5EF4-FFF2-40B4-BE49-F238E27FC236}">
                <a16:creationId xmlns:a16="http://schemas.microsoft.com/office/drawing/2014/main" id="{88DA3559-86D7-A69E-CE7E-3095E692496C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33" name="TextBox 26">
            <a:hlinkClick r:id="rId7" action="ppaction://hlinksldjump"/>
            <a:extLst>
              <a:ext uri="{FF2B5EF4-FFF2-40B4-BE49-F238E27FC236}">
                <a16:creationId xmlns:a16="http://schemas.microsoft.com/office/drawing/2014/main" id="{1FB409AC-B92E-E781-5EAF-B78BBDA94737}"/>
              </a:ext>
            </a:extLst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Associer un collègue au projet</a:t>
            </a:r>
          </a:p>
        </p:txBody>
      </p:sp>
      <p:sp>
        <p:nvSpPr>
          <p:cNvPr id="135" name="TextBox 27">
            <a:extLst>
              <a:ext uri="{FF2B5EF4-FFF2-40B4-BE49-F238E27FC236}">
                <a16:creationId xmlns:a16="http://schemas.microsoft.com/office/drawing/2014/main" id="{75A65276-1516-3A22-858D-31CC659C3DF2}"/>
              </a:ext>
            </a:extLst>
          </p:cNvPr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Partage du projet »</a:t>
            </a:r>
          </a:p>
        </p:txBody>
      </p:sp>
      <p:sp>
        <p:nvSpPr>
          <p:cNvPr id="137" name="TextBox 28">
            <a:hlinkClick r:id="rId7" action="ppaction://hlinksldjump"/>
            <a:extLst>
              <a:ext uri="{FF2B5EF4-FFF2-40B4-BE49-F238E27FC236}">
                <a16:creationId xmlns:a16="http://schemas.microsoft.com/office/drawing/2014/main" id="{32F272B3-D457-BAC0-19E0-4DB3BC33D403}"/>
              </a:ext>
            </a:extLst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42FE39D8-EEB1-8406-C649-7E56AF75505B}"/>
              </a:ext>
            </a:extLst>
          </p:cNvPr>
          <p:cNvSpPr/>
          <p:nvPr/>
        </p:nvSpPr>
        <p:spPr>
          <a:xfrm>
            <a:off x="457200" y="302666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30">
            <a:hlinkClick r:id="rId8" action="ppaction://hlinksldjump"/>
            <a:extLst>
              <a:ext uri="{FF2B5EF4-FFF2-40B4-BE49-F238E27FC236}">
                <a16:creationId xmlns:a16="http://schemas.microsoft.com/office/drawing/2014/main" id="{B4399280-8B5A-4391-F0B4-40D8AD1285E9}"/>
              </a:ext>
            </a:extLst>
          </p:cNvPr>
          <p:cNvSpPr txBox="1"/>
          <p:nvPr/>
        </p:nvSpPr>
        <p:spPr>
          <a:xfrm>
            <a:off x="548640" y="306323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Soumettre mon projet</a:t>
            </a:r>
          </a:p>
        </p:txBody>
      </p:sp>
      <p:sp>
        <p:nvSpPr>
          <p:cNvPr id="143" name="TextBox 31">
            <a:extLst>
              <a:ext uri="{FF2B5EF4-FFF2-40B4-BE49-F238E27FC236}">
                <a16:creationId xmlns:a16="http://schemas.microsoft.com/office/drawing/2014/main" id="{92961809-30D7-CE03-892D-BF46BA6E1B8B}"/>
              </a:ext>
            </a:extLst>
          </p:cNvPr>
          <p:cNvSpPr txBox="1"/>
          <p:nvPr/>
        </p:nvSpPr>
        <p:spPr>
          <a:xfrm>
            <a:off x="3657600" y="306323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un avis préliminaire » / « Demander la validation »</a:t>
            </a:r>
          </a:p>
        </p:txBody>
      </p:sp>
      <p:sp>
        <p:nvSpPr>
          <p:cNvPr id="145" name="TextBox 32">
            <a:hlinkClick r:id="rId8" action="ppaction://hlinksldjump"/>
            <a:extLst>
              <a:ext uri="{FF2B5EF4-FFF2-40B4-BE49-F238E27FC236}">
                <a16:creationId xmlns:a16="http://schemas.microsoft.com/office/drawing/2014/main" id="{118C86D4-722E-D0BF-B1E6-6E64931141D1}"/>
              </a:ext>
            </a:extLst>
          </p:cNvPr>
          <p:cNvSpPr txBox="1"/>
          <p:nvPr/>
        </p:nvSpPr>
        <p:spPr>
          <a:xfrm>
            <a:off x="8001000" y="306323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47" name="TextBox 33">
            <a:hlinkClick r:id="rId9" action="ppaction://hlinksldjump"/>
            <a:extLst>
              <a:ext uri="{FF2B5EF4-FFF2-40B4-BE49-F238E27FC236}">
                <a16:creationId xmlns:a16="http://schemas.microsoft.com/office/drawing/2014/main" id="{7D30D99B-C055-28C7-9A4E-0CFE35B7B740}"/>
              </a:ext>
            </a:extLst>
          </p:cNvPr>
          <p:cNvSpPr txBox="1"/>
          <p:nvPr/>
        </p:nvSpPr>
        <p:spPr>
          <a:xfrm>
            <a:off x="548640" y="333755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Répondre à un expert</a:t>
            </a:r>
          </a:p>
        </p:txBody>
      </p:sp>
      <p:sp>
        <p:nvSpPr>
          <p:cNvPr id="149" name="TextBox 34">
            <a:extLst>
              <a:ext uri="{FF2B5EF4-FFF2-40B4-BE49-F238E27FC236}">
                <a16:creationId xmlns:a16="http://schemas.microsoft.com/office/drawing/2014/main" id="{3B96BED8-0CC3-80FB-A017-1106D63113DC}"/>
              </a:ext>
            </a:extLst>
          </p:cNvPr>
          <p:cNvSpPr txBox="1"/>
          <p:nvPr/>
        </p:nvSpPr>
        <p:spPr>
          <a:xfrm>
            <a:off x="3657600" y="333755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de l’équipe → « Répondre »</a:t>
            </a:r>
          </a:p>
        </p:txBody>
      </p:sp>
      <p:sp>
        <p:nvSpPr>
          <p:cNvPr id="151" name="TextBox 35">
            <a:hlinkClick r:id="rId9" action="ppaction://hlinksldjump"/>
            <a:extLst>
              <a:ext uri="{FF2B5EF4-FFF2-40B4-BE49-F238E27FC236}">
                <a16:creationId xmlns:a16="http://schemas.microsoft.com/office/drawing/2014/main" id="{2EC3250B-A5AE-E40A-81B7-06A2919D1895}"/>
              </a:ext>
            </a:extLst>
          </p:cNvPr>
          <p:cNvSpPr txBox="1"/>
          <p:nvPr/>
        </p:nvSpPr>
        <p:spPr>
          <a:xfrm>
            <a:off x="8001000" y="333755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737FB38-217B-FCC8-3661-FE98B269FEE4}"/>
              </a:ext>
            </a:extLst>
          </p:cNvPr>
          <p:cNvSpPr/>
          <p:nvPr/>
        </p:nvSpPr>
        <p:spPr>
          <a:xfrm>
            <a:off x="457200" y="357530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37">
            <a:hlinkClick r:id="rId10" action="ppaction://hlinksldjump"/>
            <a:extLst>
              <a:ext uri="{FF2B5EF4-FFF2-40B4-BE49-F238E27FC236}">
                <a16:creationId xmlns:a16="http://schemas.microsoft.com/office/drawing/2014/main" id="{B5BBFF38-7A9C-EB2F-CAF8-06984E1E49D7}"/>
              </a:ext>
            </a:extLst>
          </p:cNvPr>
          <p:cNvSpPr txBox="1"/>
          <p:nvPr/>
        </p:nvSpPr>
        <p:spPr>
          <a:xfrm>
            <a:off x="548640" y="36118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une réponse après soumission</a:t>
            </a:r>
          </a:p>
        </p:txBody>
      </p:sp>
      <p:sp>
        <p:nvSpPr>
          <p:cNvPr id="157" name="TextBox 38">
            <a:extLst>
              <a:ext uri="{FF2B5EF4-FFF2-40B4-BE49-F238E27FC236}">
                <a16:creationId xmlns:a16="http://schemas.microsoft.com/office/drawing/2014/main" id="{338218CF-4DF7-3A18-F978-2EDE7EF57DF6}"/>
              </a:ext>
            </a:extLst>
          </p:cNvPr>
          <p:cNvSpPr txBox="1"/>
          <p:nvPr/>
        </p:nvSpPr>
        <p:spPr>
          <a:xfrm>
            <a:off x="3657600" y="36118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Crayon du « Rappel de vos réponses »</a:t>
            </a:r>
          </a:p>
        </p:txBody>
      </p:sp>
      <p:sp>
        <p:nvSpPr>
          <p:cNvPr id="159" name="TextBox 39">
            <a:hlinkClick r:id="rId10" action="ppaction://hlinksldjump"/>
            <a:extLst>
              <a:ext uri="{FF2B5EF4-FFF2-40B4-BE49-F238E27FC236}">
                <a16:creationId xmlns:a16="http://schemas.microsoft.com/office/drawing/2014/main" id="{F92A91B2-9C82-05B5-ECDA-9027E2259130}"/>
              </a:ext>
            </a:extLst>
          </p:cNvPr>
          <p:cNvSpPr txBox="1"/>
          <p:nvPr/>
        </p:nvSpPr>
        <p:spPr>
          <a:xfrm>
            <a:off x="8001000" y="36118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61" name="TextBox 40">
            <a:hlinkClick r:id="rId11" action="ppaction://hlinksldjump"/>
            <a:extLst>
              <a:ext uri="{FF2B5EF4-FFF2-40B4-BE49-F238E27FC236}">
                <a16:creationId xmlns:a16="http://schemas.microsoft.com/office/drawing/2014/main" id="{599E29C3-9565-31F4-76FB-0989DB6E19B8}"/>
              </a:ext>
            </a:extLst>
          </p:cNvPr>
          <p:cNvSpPr txBox="1"/>
          <p:nvPr/>
        </p:nvSpPr>
        <p:spPr>
          <a:xfrm>
            <a:off x="548640" y="38861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Prévenir les experts d’un changement</a:t>
            </a:r>
          </a:p>
        </p:txBody>
      </p:sp>
      <p:sp>
        <p:nvSpPr>
          <p:cNvPr id="163" name="TextBox 41">
            <a:extLst>
              <a:ext uri="{FF2B5EF4-FFF2-40B4-BE49-F238E27FC236}">
                <a16:creationId xmlns:a16="http://schemas.microsoft.com/office/drawing/2014/main" id="{8F4CCC8B-CECB-7EF3-998F-DDEEDDA04B73}"/>
              </a:ext>
            </a:extLst>
          </p:cNvPr>
          <p:cNvSpPr txBox="1"/>
          <p:nvPr/>
        </p:nvSpPr>
        <p:spPr>
          <a:xfrm>
            <a:off x="3657600" y="38861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Envoyer la mise à jour »</a:t>
            </a:r>
          </a:p>
        </p:txBody>
      </p:sp>
      <p:sp>
        <p:nvSpPr>
          <p:cNvPr id="165" name="TextBox 42">
            <a:hlinkClick r:id="rId11" action="ppaction://hlinksldjump"/>
            <a:extLst>
              <a:ext uri="{FF2B5EF4-FFF2-40B4-BE49-F238E27FC236}">
                <a16:creationId xmlns:a16="http://schemas.microsoft.com/office/drawing/2014/main" id="{0B247FB9-1A07-5770-A6EB-B4AE4EFA94D9}"/>
              </a:ext>
            </a:extLst>
          </p:cNvPr>
          <p:cNvSpPr txBox="1"/>
          <p:nvPr/>
        </p:nvSpPr>
        <p:spPr>
          <a:xfrm>
            <a:off x="8001000" y="38861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C8D4EA01-58A3-54EA-7735-7F4FE1360233}"/>
              </a:ext>
            </a:extLst>
          </p:cNvPr>
          <p:cNvSpPr/>
          <p:nvPr/>
        </p:nvSpPr>
        <p:spPr>
          <a:xfrm>
            <a:off x="457200" y="4123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44">
            <a:hlinkClick r:id="rId12" action="ppaction://hlinksldjump"/>
            <a:extLst>
              <a:ext uri="{FF2B5EF4-FFF2-40B4-BE49-F238E27FC236}">
                <a16:creationId xmlns:a16="http://schemas.microsoft.com/office/drawing/2014/main" id="{32C1DF47-EEF7-7DE9-931A-89FE843C1787}"/>
              </a:ext>
            </a:extLst>
          </p:cNvPr>
          <p:cNvSpPr txBox="1"/>
          <p:nvPr/>
        </p:nvSpPr>
        <p:spPr>
          <a:xfrm>
            <a:off x="548640" y="41605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Demander la confirmation finale</a:t>
            </a:r>
          </a:p>
        </p:txBody>
      </p:sp>
      <p:sp>
        <p:nvSpPr>
          <p:cNvPr id="171" name="TextBox 45">
            <a:extLst>
              <a:ext uri="{FF2B5EF4-FFF2-40B4-BE49-F238E27FC236}">
                <a16:creationId xmlns:a16="http://schemas.microsoft.com/office/drawing/2014/main" id="{7A0A17B9-DB75-3996-6C00-FF30639ECFDA}"/>
              </a:ext>
            </a:extLst>
          </p:cNvPr>
          <p:cNvSpPr txBox="1"/>
          <p:nvPr/>
        </p:nvSpPr>
        <p:spPr>
          <a:xfrm>
            <a:off x="3657600" y="41605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Demander la confirmation finale »</a:t>
            </a:r>
          </a:p>
        </p:txBody>
      </p:sp>
      <p:sp>
        <p:nvSpPr>
          <p:cNvPr id="173" name="TextBox 46">
            <a:hlinkClick r:id="rId12" action="ppaction://hlinksldjump"/>
            <a:extLst>
              <a:ext uri="{FF2B5EF4-FFF2-40B4-BE49-F238E27FC236}">
                <a16:creationId xmlns:a16="http://schemas.microsoft.com/office/drawing/2014/main" id="{0B326D41-9F6B-97D6-0D34-014F85BC7D0F}"/>
              </a:ext>
            </a:extLst>
          </p:cNvPr>
          <p:cNvSpPr txBox="1"/>
          <p:nvPr/>
        </p:nvSpPr>
        <p:spPr>
          <a:xfrm>
            <a:off x="8001000" y="41605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33570873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2048C-D26F-E29F-FB56-3D0397E51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Espace réservé du pied de page 124">
            <a:extLst>
              <a:ext uri="{FF2B5EF4-FFF2-40B4-BE49-F238E27FC236}">
                <a16:creationId xmlns:a16="http://schemas.microsoft.com/office/drawing/2014/main" id="{3D1E4BF0-EB7E-4B3D-E4CE-A290CFC05A2A}"/>
              </a:ext>
            </a:extLst>
          </p:cNvPr>
          <p:cNvSpPr>
            <a:spLocks noGrp="1"/>
          </p:cNvSpPr>
          <p:nvPr userDrawn="1">
            <p:ph type="ftr" sz="quarter" idx="28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3" name="Title 1">
            <a:extLst>
              <a:ext uri="{FF2B5EF4-FFF2-40B4-BE49-F238E27FC236}">
                <a16:creationId xmlns:a16="http://schemas.microsoft.com/office/drawing/2014/main" id="{0F9A044A-AF8F-B2B5-00ED-960A1A4E1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rPr lang="fr-FR" dirty="0"/>
              <a:t>Entrées par objectif</a:t>
            </a:r>
            <a:endParaRPr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76395F13-61C7-EC35-093A-0C922054EE33}"/>
              </a:ext>
            </a:extLst>
          </p:cNvPr>
          <p:cNvSpPr txBox="1"/>
          <p:nvPr/>
        </p:nvSpPr>
        <p:spPr>
          <a:xfrm>
            <a:off x="548640" y="114300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Je veux…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1300B22F-1DB6-1A52-5E88-6271C76C2D5B}"/>
              </a:ext>
            </a:extLst>
          </p:cNvPr>
          <p:cNvSpPr txBox="1"/>
          <p:nvPr/>
        </p:nvSpPr>
        <p:spPr>
          <a:xfrm>
            <a:off x="3657600" y="114300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Où cliquer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41A3910-896E-0DEA-A9CB-642C7747BC4D}"/>
              </a:ext>
            </a:extLst>
          </p:cNvPr>
          <p:cNvSpPr txBox="1"/>
          <p:nvPr/>
        </p:nvSpPr>
        <p:spPr>
          <a:xfrm>
            <a:off x="8001000" y="114300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996B14"/>
                </a:solidFill>
                <a:latin typeface="Roboto"/>
              </a:rPr>
              <a:t>Lien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A6EC7C-7563-7CC0-6296-A0B5E96EC74A}"/>
              </a:ext>
            </a:extLst>
          </p:cNvPr>
          <p:cNvSpPr/>
          <p:nvPr/>
        </p:nvSpPr>
        <p:spPr>
          <a:xfrm>
            <a:off x="457200" y="138074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9">
            <a:hlinkClick r:id="rId2" action="ppaction://hlinksldjump"/>
            <a:extLst>
              <a:ext uri="{FF2B5EF4-FFF2-40B4-BE49-F238E27FC236}">
                <a16:creationId xmlns:a16="http://schemas.microsoft.com/office/drawing/2014/main" id="{1BE59E64-1A4E-80C9-3CA1-01F07F372706}"/>
              </a:ext>
            </a:extLst>
          </p:cNvPr>
          <p:cNvSpPr txBox="1"/>
          <p:nvPr/>
        </p:nvSpPr>
        <p:spPr>
          <a:xfrm>
            <a:off x="548640" y="141732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CEEB36DB-2C34-642F-6EA4-FD951CE49794}"/>
              </a:ext>
            </a:extLst>
          </p:cNvPr>
          <p:cNvSpPr txBox="1"/>
          <p:nvPr/>
        </p:nvSpPr>
        <p:spPr>
          <a:xfrm>
            <a:off x="3657600" y="141732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Déclarer le projet lancé »</a:t>
            </a:r>
          </a:p>
        </p:txBody>
      </p:sp>
      <p:sp>
        <p:nvSpPr>
          <p:cNvPr id="15" name="TextBox 11">
            <a:hlinkClick r:id="rId2" action="ppaction://hlinksldjump"/>
            <a:extLst>
              <a:ext uri="{FF2B5EF4-FFF2-40B4-BE49-F238E27FC236}">
                <a16:creationId xmlns:a16="http://schemas.microsoft.com/office/drawing/2014/main" id="{B65FB91B-EF1A-099D-1326-309349D562A0}"/>
              </a:ext>
            </a:extLst>
          </p:cNvPr>
          <p:cNvSpPr txBox="1"/>
          <p:nvPr/>
        </p:nvSpPr>
        <p:spPr>
          <a:xfrm>
            <a:off x="8001000" y="141732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7" name="TextBox 12">
            <a:hlinkClick r:id="rId3" action="ppaction://hlinksldjump"/>
            <a:extLst>
              <a:ext uri="{FF2B5EF4-FFF2-40B4-BE49-F238E27FC236}">
                <a16:creationId xmlns:a16="http://schemas.microsoft.com/office/drawing/2014/main" id="{FD1E04DF-C364-6EF0-4FFB-3FB14DA1E9A3}"/>
              </a:ext>
            </a:extLst>
          </p:cNvPr>
          <p:cNvSpPr txBox="1"/>
          <p:nvPr/>
        </p:nvSpPr>
        <p:spPr>
          <a:xfrm>
            <a:off x="548640" y="169164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Annuler une soumission</a:t>
            </a:r>
          </a:p>
        </p:txBody>
      </p:sp>
      <p:sp>
        <p:nvSpPr>
          <p:cNvPr id="19" name="TextBox 13">
            <a:extLst>
              <a:ext uri="{FF2B5EF4-FFF2-40B4-BE49-F238E27FC236}">
                <a16:creationId xmlns:a16="http://schemas.microsoft.com/office/drawing/2014/main" id="{756D1E0A-9618-50B2-ADC5-3E83A5A26716}"/>
              </a:ext>
            </a:extLst>
          </p:cNvPr>
          <p:cNvSpPr txBox="1"/>
          <p:nvPr/>
        </p:nvSpPr>
        <p:spPr>
          <a:xfrm>
            <a:off x="3657600" y="169164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Carte → icône ⊗</a:t>
            </a:r>
          </a:p>
        </p:txBody>
      </p:sp>
      <p:sp>
        <p:nvSpPr>
          <p:cNvPr id="21" name="TextBox 14">
            <a:hlinkClick r:id="rId3" action="ppaction://hlinksldjump"/>
            <a:extLst>
              <a:ext uri="{FF2B5EF4-FFF2-40B4-BE49-F238E27FC236}">
                <a16:creationId xmlns:a16="http://schemas.microsoft.com/office/drawing/2014/main" id="{38B2744D-878D-B38E-634A-9DCA8A8F5F9A}"/>
              </a:ext>
            </a:extLst>
          </p:cNvPr>
          <p:cNvSpPr txBox="1"/>
          <p:nvPr/>
        </p:nvSpPr>
        <p:spPr>
          <a:xfrm>
            <a:off x="8001000" y="169164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B9CF83B-EC74-8BD5-6E88-384C3B07B37F}"/>
              </a:ext>
            </a:extLst>
          </p:cNvPr>
          <p:cNvSpPr/>
          <p:nvPr/>
        </p:nvSpPr>
        <p:spPr>
          <a:xfrm>
            <a:off x="457200" y="1929384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6">
            <a:hlinkClick r:id="rId4" action="ppaction://hlinksldjump"/>
            <a:extLst>
              <a:ext uri="{FF2B5EF4-FFF2-40B4-BE49-F238E27FC236}">
                <a16:creationId xmlns:a16="http://schemas.microsoft.com/office/drawing/2014/main" id="{616D99AB-4D7F-A30F-35BE-C400AC05BE3C}"/>
              </a:ext>
            </a:extLst>
          </p:cNvPr>
          <p:cNvSpPr txBox="1"/>
          <p:nvPr/>
        </p:nvSpPr>
        <p:spPr>
          <a:xfrm>
            <a:off x="548640" y="1965960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Partager une inspiration</a:t>
            </a:r>
          </a:p>
        </p:txBody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8F59B551-B880-C5C8-B756-9CC0A6C26495}"/>
              </a:ext>
            </a:extLst>
          </p:cNvPr>
          <p:cNvSpPr txBox="1"/>
          <p:nvPr/>
        </p:nvSpPr>
        <p:spPr>
          <a:xfrm>
            <a:off x="3657600" y="1965960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 projet inspirant » → « Partagé »</a:t>
            </a:r>
          </a:p>
        </p:txBody>
      </p:sp>
      <p:sp>
        <p:nvSpPr>
          <p:cNvPr id="29" name="TextBox 18">
            <a:hlinkClick r:id="rId4" action="ppaction://hlinksldjump"/>
            <a:extLst>
              <a:ext uri="{FF2B5EF4-FFF2-40B4-BE49-F238E27FC236}">
                <a16:creationId xmlns:a16="http://schemas.microsoft.com/office/drawing/2014/main" id="{6331A4ED-D680-D95B-DF96-5F7D3BEC9FB1}"/>
              </a:ext>
            </a:extLst>
          </p:cNvPr>
          <p:cNvSpPr txBox="1"/>
          <p:nvPr/>
        </p:nvSpPr>
        <p:spPr>
          <a:xfrm>
            <a:off x="8001000" y="1965960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31" name="TextBox 19">
            <a:hlinkClick r:id="rId5" action="ppaction://hlinksldjump"/>
            <a:extLst>
              <a:ext uri="{FF2B5EF4-FFF2-40B4-BE49-F238E27FC236}">
                <a16:creationId xmlns:a16="http://schemas.microsoft.com/office/drawing/2014/main" id="{AF6CFE72-20E5-2D59-19AC-984A171DDC59}"/>
              </a:ext>
            </a:extLst>
          </p:cNvPr>
          <p:cNvSpPr txBox="1"/>
          <p:nvPr/>
        </p:nvSpPr>
        <p:spPr>
          <a:xfrm>
            <a:off x="548640" y="224027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Revoir une visite guidée</a:t>
            </a:r>
          </a:p>
        </p:txBody>
      </p:sp>
      <p:sp>
        <p:nvSpPr>
          <p:cNvPr id="33" name="TextBox 20">
            <a:extLst>
              <a:ext uri="{FF2B5EF4-FFF2-40B4-BE49-F238E27FC236}">
                <a16:creationId xmlns:a16="http://schemas.microsoft.com/office/drawing/2014/main" id="{F5F6BB4A-7940-7C79-F241-A8E9DDF032AE}"/>
              </a:ext>
            </a:extLst>
          </p:cNvPr>
          <p:cNvSpPr txBox="1"/>
          <p:nvPr/>
        </p:nvSpPr>
        <p:spPr>
          <a:xfrm>
            <a:off x="3657600" y="224027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Accueil → « Guide interactif »</a:t>
            </a:r>
          </a:p>
        </p:txBody>
      </p:sp>
      <p:sp>
        <p:nvSpPr>
          <p:cNvPr id="35" name="TextBox 21">
            <a:hlinkClick r:id="rId5" action="ppaction://hlinksldjump"/>
            <a:extLst>
              <a:ext uri="{FF2B5EF4-FFF2-40B4-BE49-F238E27FC236}">
                <a16:creationId xmlns:a16="http://schemas.microsoft.com/office/drawing/2014/main" id="{24DD8798-BEF6-00F1-E6CA-A0A65F38743A}"/>
              </a:ext>
            </a:extLst>
          </p:cNvPr>
          <p:cNvSpPr txBox="1"/>
          <p:nvPr/>
        </p:nvSpPr>
        <p:spPr>
          <a:xfrm>
            <a:off x="8001000" y="224027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26" name="Rectangle 25">
            <a:extLst>
              <a:ext uri="{FF2B5EF4-FFF2-40B4-BE49-F238E27FC236}">
                <a16:creationId xmlns:a16="http://schemas.microsoft.com/office/drawing/2014/main" id="{6B9CF83B-EC74-8BD5-6E88-384C3B07B37F}"/>
              </a:ext>
            </a:extLst>
          </p:cNvPr>
          <p:cNvSpPr/>
          <p:nvPr/>
        </p:nvSpPr>
        <p:spPr>
          <a:xfrm>
            <a:off x="457200" y="2477943"/>
            <a:ext cx="8229600" cy="2743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26">
            <a:hlinkClick r:id="rId6" action="ppaction://hlinksldjump"/>
            <a:extLst>
              <a:ext uri="{FF2B5EF4-FFF2-40B4-BE49-F238E27FC236}">
                <a16:creationId xmlns:a16="http://schemas.microsoft.com/office/drawing/2014/main" id="{AF6CFE72-20E5-2D59-19AC-984A171DDC59}"/>
              </a:ext>
            </a:extLst>
          </p:cNvPr>
          <p:cNvSpPr txBox="1"/>
          <p:nvPr/>
        </p:nvSpPr>
        <p:spPr>
          <a:xfrm>
            <a:off x="548640" y="251459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Ajouter des images ou des vidéos</a:t>
            </a:r>
          </a:p>
        </p:txBody>
      </p:sp>
      <p:sp>
        <p:nvSpPr>
          <p:cNvPr id="128" name="TextBox 27">
            <a:extLst>
              <a:ext uri="{FF2B5EF4-FFF2-40B4-BE49-F238E27FC236}">
                <a16:creationId xmlns:a16="http://schemas.microsoft.com/office/drawing/2014/main" id="{F5F6BB4A-7940-7C79-F241-A8E9DDF032AE}"/>
              </a:ext>
            </a:extLst>
          </p:cNvPr>
          <p:cNvSpPr txBox="1"/>
          <p:nvPr/>
        </p:nvSpPr>
        <p:spPr>
          <a:xfrm>
            <a:off x="3657600" y="251459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Ajouter une section ici » → « Galerie média »</a:t>
            </a:r>
          </a:p>
        </p:txBody>
      </p:sp>
      <p:sp>
        <p:nvSpPr>
          <p:cNvPr id="129" name="TextBox 28">
            <a:hlinkClick r:id="rId6" action="ppaction://hlinksldjump"/>
            <a:extLst>
              <a:ext uri="{FF2B5EF4-FFF2-40B4-BE49-F238E27FC236}">
                <a16:creationId xmlns:a16="http://schemas.microsoft.com/office/drawing/2014/main" id="{24DD8798-BEF6-00F1-E6CA-A0A65F38743A}"/>
              </a:ext>
            </a:extLst>
          </p:cNvPr>
          <p:cNvSpPr txBox="1"/>
          <p:nvPr/>
        </p:nvSpPr>
        <p:spPr>
          <a:xfrm>
            <a:off x="8001000" y="251459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  <p:sp>
        <p:nvSpPr>
          <p:cNvPr id="130" name="TextBox 32">
            <a:hlinkClick r:id="rId7" action="ppaction://hlinksldjump"/>
            <a:extLst>
              <a:ext uri="{FF2B5EF4-FFF2-40B4-BE49-F238E27FC236}">
                <a16:creationId xmlns:a16="http://schemas.microsoft.com/office/drawing/2014/main" id="{AF6CFE72-20E5-2D59-19AC-984A171DDC59}"/>
              </a:ext>
            </a:extLst>
          </p:cNvPr>
          <p:cNvSpPr txBox="1"/>
          <p:nvPr/>
        </p:nvSpPr>
        <p:spPr>
          <a:xfrm>
            <a:off x="548640" y="2788919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Modifier le document d’une visionneuse</a:t>
            </a:r>
          </a:p>
        </p:txBody>
      </p:sp>
      <p:sp>
        <p:nvSpPr>
          <p:cNvPr id="131" name="TextBox 33">
            <a:extLst>
              <a:ext uri="{FF2B5EF4-FFF2-40B4-BE49-F238E27FC236}">
                <a16:creationId xmlns:a16="http://schemas.microsoft.com/office/drawing/2014/main" id="{F5F6BB4A-7940-7C79-F241-A8E9DDF032AE}"/>
              </a:ext>
            </a:extLst>
          </p:cNvPr>
          <p:cNvSpPr txBox="1"/>
          <p:nvPr/>
        </p:nvSpPr>
        <p:spPr>
          <a:xfrm>
            <a:off x="3657600" y="2788919"/>
            <a:ext cx="4206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Vitrine → « Modifier » → « Modifier dans … en ligne »</a:t>
            </a:r>
          </a:p>
        </p:txBody>
      </p:sp>
      <p:sp>
        <p:nvSpPr>
          <p:cNvPr id="132" name="TextBox 34">
            <a:hlinkClick r:id="rId7" action="ppaction://hlinksldjump"/>
            <a:extLst>
              <a:ext uri="{FF2B5EF4-FFF2-40B4-BE49-F238E27FC236}">
                <a16:creationId xmlns:a16="http://schemas.microsoft.com/office/drawing/2014/main" id="{24DD8798-BEF6-00F1-E6CA-A0A65F38743A}"/>
              </a:ext>
            </a:extLst>
          </p:cNvPr>
          <p:cNvSpPr txBox="1"/>
          <p:nvPr/>
        </p:nvSpPr>
        <p:spPr>
          <a:xfrm>
            <a:off x="8001000" y="2788919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0061B0"/>
                </a:solidFill>
                <a:latin typeface="Roboto"/>
              </a:rPr>
              <a:t>Voir →</a:t>
            </a:r>
          </a:p>
        </p:txBody>
      </p:sp>
    </p:spTree>
    <p:extLst>
      <p:ext uri="{BB962C8B-B14F-4D97-AF65-F5344CB8AC3E}">
        <p14:creationId xmlns:p14="http://schemas.microsoft.com/office/powerpoint/2010/main" val="1906196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parcours d’un projet en un coup d’œil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Project Navigator · Manuel du chef de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Oval 5">
            <a:hlinkClick r:id="rId3" action="ppaction://hlinksldjump"/>
          </p:cNvPr>
          <p:cNvSpPr/>
          <p:nvPr/>
        </p:nvSpPr>
        <p:spPr>
          <a:xfrm>
            <a:off x="758951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6245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6071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Créer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1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 questionnaire</a:t>
            </a:r>
          </a:p>
        </p:txBody>
      </p:sp>
      <p:sp>
        <p:nvSpPr>
          <p:cNvPr id="10" name="Oval 9">
            <a:hlinkClick r:id="rId4" action="ppaction://hlinksldjump"/>
          </p:cNvPr>
          <p:cNvSpPr/>
          <p:nvPr/>
        </p:nvSpPr>
        <p:spPr>
          <a:xfrm>
            <a:off x="176479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682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58191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Mettre en récit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Construire la vitrine</a:t>
            </a:r>
          </a:p>
        </p:txBody>
      </p:sp>
      <p:sp>
        <p:nvSpPr>
          <p:cNvPr id="14" name="Oval 13">
            <a:hlinkClick r:id="rId5" action="ppaction://hlinksldjump"/>
          </p:cNvPr>
          <p:cNvSpPr/>
          <p:nvPr/>
        </p:nvSpPr>
        <p:spPr>
          <a:xfrm>
            <a:off x="277063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37413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8775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relire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8775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Partager, recueillir des post-its</a:t>
            </a:r>
          </a:p>
        </p:txBody>
      </p:sp>
      <p:sp>
        <p:nvSpPr>
          <p:cNvPr id="18" name="Oval 17">
            <a:hlinkClick r:id="rId6" action="ppaction://hlinksldjump"/>
          </p:cNvPr>
          <p:cNvSpPr/>
          <p:nvPr/>
        </p:nvSpPr>
        <p:spPr>
          <a:xfrm>
            <a:off x="377647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7997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59359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Comprendre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9359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Lire les enjeux du projet</a:t>
            </a:r>
          </a:p>
        </p:txBody>
      </p:sp>
      <p:sp>
        <p:nvSpPr>
          <p:cNvPr id="22" name="Oval 21">
            <a:hlinkClick r:id="rId7" action="ppaction://hlinksldjump"/>
          </p:cNvPr>
          <p:cNvSpPr/>
          <p:nvPr/>
        </p:nvSpPr>
        <p:spPr>
          <a:xfrm>
            <a:off x="478231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38581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9943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943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26" name="Oval 25">
            <a:hlinkClick r:id="rId8" action="ppaction://hlinksldjump"/>
          </p:cNvPr>
          <p:cNvSpPr/>
          <p:nvPr/>
        </p:nvSpPr>
        <p:spPr>
          <a:xfrm>
            <a:off x="5788151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91655" y="1892807"/>
            <a:ext cx="384049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60527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Échanger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527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Répondre aux experts</a:t>
            </a:r>
          </a:p>
        </p:txBody>
      </p:sp>
      <p:sp>
        <p:nvSpPr>
          <p:cNvPr id="30" name="Oval 29">
            <a:hlinkClick r:id="rId9" action="ppaction://hlinksldjump"/>
          </p:cNvPr>
          <p:cNvSpPr/>
          <p:nvPr/>
        </p:nvSpPr>
        <p:spPr>
          <a:xfrm>
            <a:off x="6793992" y="1600200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97496" y="1892807"/>
            <a:ext cx="384048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1111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Faire évoluer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1111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Modifier, envoyer la mise à jour</a:t>
            </a:r>
          </a:p>
        </p:txBody>
      </p:sp>
      <p:sp>
        <p:nvSpPr>
          <p:cNvPr id="34" name="Oval 33">
            <a:hlinkClick r:id="rId10" action="ppaction://hlinksldjump"/>
          </p:cNvPr>
          <p:cNvSpPr/>
          <p:nvPr/>
        </p:nvSpPr>
        <p:spPr>
          <a:xfrm>
            <a:off x="7799832" y="1600200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16952" y="2331720"/>
            <a:ext cx="95097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003059"/>
                </a:solidFill>
                <a:latin typeface="Roboto"/>
              </a:rPr>
              <a:t>Lancer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16952" y="2606040"/>
            <a:ext cx="950976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 i="0">
                <a:solidFill>
                  <a:srgbClr val="5B6573"/>
                </a:solidFill>
                <a:latin typeface="Roboto"/>
              </a:rPr>
              <a:t>Confirmation finale, lancement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3429000"/>
            <a:ext cx="8046720" cy="11430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Ce qu’il faut retenir</a:t>
            </a:r>
          </a:p>
        </p:txBody>
      </p:sp>
      <p:sp>
        <p:nvSpPr>
          <p:cNvPr id="39" name="Oval 38"/>
          <p:cNvSpPr/>
          <p:nvPr/>
        </p:nvSpPr>
        <p:spPr>
          <a:xfrm>
            <a:off x="694944" y="38873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77824" y="3831336"/>
            <a:ext cx="7571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dirty="0">
                <a:solidFill>
                  <a:srgbClr val="1F2A37"/>
                </a:solidFill>
                <a:latin typeface="Roboto"/>
              </a:rPr>
              <a:t>Vous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pouvez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consulter l</a:t>
            </a:r>
            <a:r>
              <a:rPr lang="fr-FR" sz="1050" b="0" i="0" dirty="0">
                <a:solidFill>
                  <a:srgbClr val="1F2A37"/>
                </a:solidFill>
                <a:latin typeface="Roboto"/>
              </a:rPr>
              <a:t>es experts internes 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avant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que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projet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soit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terminé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c’est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rôle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l’avis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1F2A37"/>
                </a:solidFill>
                <a:latin typeface="Roboto"/>
              </a:rPr>
              <a:t>préliminaire</a:t>
            </a:r>
            <a:r>
              <a:rPr sz="10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41" name="Oval 40"/>
          <p:cNvSpPr/>
          <p:nvPr/>
        </p:nvSpPr>
        <p:spPr>
          <a:xfrm>
            <a:off x="694944" y="413118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77824" y="4075176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 projet soumis reste modifiable : seules les équipes concernées par vos changements sont prévenues.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/>
              <a:t>Prendre </a:t>
            </a:r>
            <a:r>
              <a:rPr dirty="0" err="1"/>
              <a:t>en</a:t>
            </a:r>
            <a:r>
              <a:rPr dirty="0"/>
              <a:t> main </a:t>
            </a:r>
            <a:r>
              <a:rPr dirty="0" err="1"/>
              <a:t>l’outil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dirty="0"/>
              <a:t>1</a:t>
            </a:r>
          </a:p>
        </p:txBody>
      </p:sp>
      <p:sp>
        <p:nvSpPr>
          <p:cNvPr id="22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Première connexion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 dirty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L’écran d’accueil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une carte projet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Projets partagés et duplication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62839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corbeille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62839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89255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Mon équipe » (managers)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89255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Mon profil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Première connexion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1-onboarding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336605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548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4064" y="1234440"/>
            <a:ext cx="3511296" cy="682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Votre périmètre d’activité.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Cochez les pays ou zones sur lesquels vous travaillez (plusieurs choix possibles). Il adapte les questions qui vous seront posées.</a:t>
            </a:r>
          </a:p>
        </p:txBody>
      </p:sp>
      <p:sp>
        <p:nvSpPr>
          <p:cNvPr id="9" name="Oval 8"/>
          <p:cNvSpPr/>
          <p:nvPr/>
        </p:nvSpPr>
        <p:spPr>
          <a:xfrm>
            <a:off x="4754880" y="20177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26920"/>
            <a:ext cx="35112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Continuer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devient actif dès qu’un périmètre est coché.</a:t>
            </a:r>
          </a:p>
        </p:txBody>
      </p:sp>
      <p:sp>
        <p:nvSpPr>
          <p:cNvPr id="11" name="Oval 10"/>
          <p:cNvSpPr/>
          <p:nvPr/>
        </p:nvSpPr>
        <p:spPr>
          <a:xfrm>
            <a:off x="4754880" y="24688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478024"/>
            <a:ext cx="35112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Aide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la foire aux questions dans l’application.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3337560"/>
            <a:ext cx="3840480" cy="110744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01184" y="3465576"/>
            <a:ext cx="35478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3739896"/>
            <a:ext cx="3547872" cy="61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L’écran suivant propose une visite guidée : « Démarrer la visite guidée » ou « Non merci, je découvrirai seul(e) ». Elle reste disponible ensuite via « Guide interactif » (partie 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L’écran d’accueil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3-home-top_13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120640" cy="2560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1188720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Créer un projet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lance le questionnaire d’un nouveau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534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543304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Guide interactif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relance une visite guidée à tout moment.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8887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897888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Partagez votre avis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remonter une remarque sur l’outil.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2433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252472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profil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périmètre d’activité et langue.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5979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607056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Onglets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Mes projets », « Mon équipe » (managers) et « Inspiration ».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9524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961640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Recherche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par nom de projet ou par lead.</a:t>
            </a:r>
          </a:p>
        </p:txBody>
      </p:sp>
      <p:sp>
        <p:nvSpPr>
          <p:cNvPr id="19" name="Oval 18"/>
          <p:cNvSpPr/>
          <p:nvPr/>
        </p:nvSpPr>
        <p:spPr>
          <a:xfrm>
            <a:off x="5897880" y="33070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7064" y="3316224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Filtres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équipe du lead, ordre d’affichage.</a:t>
            </a:r>
          </a:p>
        </p:txBody>
      </p:sp>
      <p:sp>
        <p:nvSpPr>
          <p:cNvPr id="21" name="Oval 20"/>
          <p:cNvSpPr/>
          <p:nvPr/>
        </p:nvSpPr>
        <p:spPr>
          <a:xfrm>
            <a:off x="5897880" y="3661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3670808"/>
            <a:ext cx="23682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Corbeille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projets supprimés.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une carte projet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4-home-card-draft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271803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projet : « Brouillon en cours », puis badge de validation une fois soumis.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crée une copie en brouillon, en haut de votre liste.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198526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Supprimer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met le projet à la corbeille, d’où il peut être restauré.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383536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Avancement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questions obligatoires renseignées sur le total.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781808"/>
            <a:ext cx="355701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Risques identifiés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d’après vos réponses actuelles.</a:t>
            </a:r>
          </a:p>
        </p:txBody>
      </p:sp>
      <p:sp>
        <p:nvSpPr>
          <p:cNvPr id="17" name="Oval 16"/>
          <p:cNvSpPr/>
          <p:nvPr/>
        </p:nvSpPr>
        <p:spPr>
          <a:xfrm>
            <a:off x="4709160" y="3101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8344" y="3110992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Continuer l’édition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reprend le questionnaire où vous l’aviez laissé.</a:t>
            </a:r>
          </a:p>
        </p:txBody>
      </p:sp>
      <p:sp>
        <p:nvSpPr>
          <p:cNvPr id="19" name="Oval 18"/>
          <p:cNvSpPr/>
          <p:nvPr/>
        </p:nvSpPr>
        <p:spPr>
          <a:xfrm>
            <a:off x="4709160" y="3500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38344" y="350926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présentation du projet (partie 3).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Projets partagés et duplication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5-home-shared_105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24337"/>
            <a:ext cx="4023360" cy="148157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800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9784" y="1188720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Projets partagés par d’autres équipes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projets soumis par d’autres et rendus visibles à tous.</a:t>
            </a:r>
          </a:p>
        </p:txBody>
      </p:sp>
      <p:sp>
        <p:nvSpPr>
          <p:cNvPr id="9" name="Oval 8"/>
          <p:cNvSpPr/>
          <p:nvPr/>
        </p:nvSpPr>
        <p:spPr>
          <a:xfrm>
            <a:off x="4800600" y="1568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9784" y="1577848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ce projet (voir l’annexe des statuts).</a:t>
            </a:r>
          </a:p>
        </p:txBody>
      </p:sp>
      <p:sp>
        <p:nvSpPr>
          <p:cNvPr id="11" name="Oval 10"/>
          <p:cNvSpPr/>
          <p:nvPr/>
        </p:nvSpPr>
        <p:spPr>
          <a:xfrm>
            <a:off x="4800600" y="19578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966976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Visible par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indique un projet partagé à toute l’organisation.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800600" y="23469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9784" y="2356104"/>
            <a:ext cx="34655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Dupliquer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repartir de ce projet sous votre nom.</a:t>
            </a:r>
          </a:p>
        </p:txBody>
      </p:sp>
      <p:sp>
        <p:nvSpPr>
          <p:cNvPr id="15" name="Oval 14"/>
          <p:cNvSpPr/>
          <p:nvPr/>
        </p:nvSpPr>
        <p:spPr>
          <a:xfrm>
            <a:off x="4800600" y="2667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9784" y="2676144"/>
            <a:ext cx="34655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 lecture seule.</a:t>
            </a:r>
          </a:p>
        </p:txBody>
      </p:sp>
      <p:sp>
        <p:nvSpPr>
          <p:cNvPr id="17" name="Oval 16"/>
          <p:cNvSpPr/>
          <p:nvPr/>
        </p:nvSpPr>
        <p:spPr>
          <a:xfrm>
            <a:off x="4800600" y="2987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996184"/>
            <a:ext cx="34655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découvrir sa présentation.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703320"/>
            <a:ext cx="402336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" y="3831335"/>
            <a:ext cx="37307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Ce que copie la 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3730752" cy="581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 copie reprend toutes les réponses et vous désigne comme lead. Elle ne reprend pas les avis des experts, les post-its ni la visibilité « Visible par tous » : c’est un nouveau projet à évaluer.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BB91594-1DE3-99E7-3135-512307BBA0CA}"/>
              </a:ext>
            </a:extLst>
          </p:cNvPr>
          <p:cNvSpPr txBox="1"/>
          <p:nvPr/>
        </p:nvSpPr>
        <p:spPr>
          <a:xfrm>
            <a:off x="466344" y="990463"/>
            <a:ext cx="4105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fr-FR" sz="1200" dirty="0">
                <a:solidFill>
                  <a:schemeClr val="tx1"/>
                </a:solidFill>
                <a:latin typeface="+mn-lt"/>
              </a:rPr>
              <a:t>Dans la 2</a:t>
            </a:r>
            <a:r>
              <a:rPr lang="fr-FR" sz="1200" baseline="30000" dirty="0">
                <a:solidFill>
                  <a:schemeClr val="tx1"/>
                </a:solidFill>
                <a:latin typeface="+mn-lt"/>
              </a:rPr>
              <a:t>ème</a:t>
            </a:r>
            <a:r>
              <a:rPr lang="fr-FR" sz="1200" dirty="0">
                <a:solidFill>
                  <a:schemeClr val="tx1"/>
                </a:solidFill>
                <a:latin typeface="+mn-lt"/>
              </a:rPr>
              <a:t> partie de la page d’accueil, retrouvez les projets partagés par d’autres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corbeille : restaurer un projet supprimé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8-trash_99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781395" cy="20116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234440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Date de suppression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et statut du projet au moment de la suppression.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685544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Restaurer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remet le projet exactement où il était, avec son statut.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36648"/>
            <a:ext cx="3282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Supprimer définitivement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efface vraiment le projet, tant qu’aucun expert n’a répondu.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29000"/>
            <a:ext cx="8046720" cy="11887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4944" y="355701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qu’il faut savoir</a:t>
            </a:r>
          </a:p>
        </p:txBody>
      </p:sp>
      <p:sp>
        <p:nvSpPr>
          <p:cNvPr id="15" name="Oval 14"/>
          <p:cNvSpPr/>
          <p:nvPr/>
        </p:nvSpPr>
        <p:spPr>
          <a:xfrm>
            <a:off x="694944" y="388467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3831336"/>
            <a:ext cx="757123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Supprimer un projet depuis sa carte (icône corbeille) le met ici : les experts ne le voient plus dans leurs files et aucune notification n’est envoyée.</a:t>
            </a:r>
          </a:p>
        </p:txBody>
      </p:sp>
      <p:sp>
        <p:nvSpPr>
          <p:cNvPr id="17" name="Oval 16"/>
          <p:cNvSpPr/>
          <p:nvPr/>
        </p:nvSpPr>
        <p:spPr>
          <a:xfrm>
            <a:off x="694944" y="4282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" y="4229608"/>
            <a:ext cx="757123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Si un expert a déjà répondu ou donné un avis, « Supprimer définitivement » le retire de votre corbeille mais il reste visible des experts sollicités.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Mon équipe » : vue manager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9-my-team_11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480560" cy="33604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2578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86984" y="1188720"/>
            <a:ext cx="300837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Mon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onglet visible seulement si des personnes vous sont rattachées dans l’organigramme.</a:t>
            </a:r>
          </a:p>
        </p:txBody>
      </p:sp>
      <p:sp>
        <p:nvSpPr>
          <p:cNvPr id="9" name="Oval 8"/>
          <p:cNvSpPr/>
          <p:nvPr/>
        </p:nvSpPr>
        <p:spPr>
          <a:xfrm>
            <a:off x="5257800" y="16977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86984" y="1706880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Consultation seule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vous ne pouvez pas modifier ces projets.</a:t>
            </a:r>
          </a:p>
        </p:txBody>
      </p:sp>
      <p:sp>
        <p:nvSpPr>
          <p:cNvPr id="11" name="Oval 10"/>
          <p:cNvSpPr/>
          <p:nvPr/>
        </p:nvSpPr>
        <p:spPr>
          <a:xfrm>
            <a:off x="5257800" y="20614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86984" y="2070608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Sous-équipes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un filtre par collaborateur direct (et son équipe).</a:t>
            </a:r>
          </a:p>
        </p:txBody>
      </p:sp>
      <p:sp>
        <p:nvSpPr>
          <p:cNvPr id="13" name="Oval 12"/>
          <p:cNvSpPr/>
          <p:nvPr/>
        </p:nvSpPr>
        <p:spPr>
          <a:xfrm>
            <a:off x="5257800" y="2425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86984" y="2434336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Points d’attention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avis défavorable, avis à revoir, lancement sans confirmation finale.</a:t>
            </a:r>
          </a:p>
        </p:txBody>
      </p:sp>
      <p:sp>
        <p:nvSpPr>
          <p:cNvPr id="15" name="Oval 14"/>
          <p:cNvSpPr/>
          <p:nvPr/>
        </p:nvSpPr>
        <p:spPr>
          <a:xfrm>
            <a:off x="5257800" y="2788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6984" y="2798064"/>
            <a:ext cx="30083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Porté par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 porteur du projet et son rattachement.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416052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Les brouillons restent privés jusqu’à leur envoi, sauf si un administrateur a choisi de les montrer aux managers.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 profil : périmètre et langue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01 · Prendre en main l’outil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07-profile_8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108960" cy="327755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977639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6824" y="1234440"/>
            <a:ext cx="428853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Périmètre d’activité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modifiable à tout moment, il change les questions qui vous sont posées et les règles qui s’appliquent.</a:t>
            </a:r>
          </a:p>
        </p:txBody>
      </p:sp>
      <p:sp>
        <p:nvSpPr>
          <p:cNvPr id="9" name="Oval 8"/>
          <p:cNvSpPr/>
          <p:nvPr/>
        </p:nvSpPr>
        <p:spPr>
          <a:xfrm>
            <a:off x="3977639" y="18470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6824" y="1856232"/>
            <a:ext cx="42885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Langue de l’interface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français, anglais, allemand ou espagnol. La langue choisie ici l’emporte sur celle de SharePoint.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3977639" y="22981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6824" y="2307336"/>
            <a:ext cx="42885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Enregistrer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appliquer vos changements.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940862"/>
            <a:ext cx="4617720" cy="14336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23944" y="3068878"/>
            <a:ext cx="4325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23944" y="3343198"/>
            <a:ext cx="4325112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 err="1">
                <a:solidFill>
                  <a:srgbClr val="1F2A37"/>
                </a:solidFill>
                <a:latin typeface="Roboto"/>
              </a:rPr>
              <a:t>Accès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icône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ronde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haut à droite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l’accueil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Si vous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êtes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contact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équipe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experte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, la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fenêtre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propose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aussi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absences et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suppléances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  <a:endParaRPr lang="fr-FR" sz="1000" b="0" i="0" dirty="0">
              <a:solidFill>
                <a:srgbClr val="1F2A37"/>
              </a:solidFill>
              <a:latin typeface="Roboto"/>
            </a:endParaRPr>
          </a:p>
          <a:p>
            <a:pPr algn="l"/>
            <a:endParaRPr lang="fr-FR" sz="1000" dirty="0">
              <a:solidFill>
                <a:srgbClr val="1F2A37"/>
              </a:solidFill>
              <a:latin typeface="Roboto"/>
            </a:endParaRPr>
          </a:p>
          <a:p>
            <a:pPr algn="l"/>
            <a:r>
              <a:rPr lang="fr-FR" sz="1000" b="0" i="0" dirty="0">
                <a:solidFill>
                  <a:srgbClr val="1F2A37"/>
                </a:solidFill>
                <a:latin typeface="Roboto"/>
              </a:rPr>
              <a:t>Changer la langue de l’interface permet aussi de mettre les titres présents sur la vitrine dans la langue sélectionnée : Utile pour une présentation à l’international</a:t>
            </a:r>
            <a:endParaRPr sz="1000" b="0" i="0" dirty="0">
              <a:solidFill>
                <a:srgbClr val="1F2A37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 err="1"/>
              <a:t>Décrire</a:t>
            </a:r>
            <a:r>
              <a:rPr dirty="0"/>
              <a:t> son </a:t>
            </a:r>
            <a:r>
              <a:rPr dirty="0" err="1"/>
              <a:t>projet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20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Créer un projet : le questionnaire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Comprendre une question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J’ai un doute »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36423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types de réponses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36423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62839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Questions obligatoires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62839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89255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Bon à savoir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89255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Créer un projet : le questionnaire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0-q-anatomy_13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120640" cy="3072383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897880" y="8839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7064" y="893088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Sommaire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toutes les questions, leur état, accès direct à chacune.</a:t>
            </a:r>
          </a:p>
        </p:txBody>
      </p:sp>
      <p:sp>
        <p:nvSpPr>
          <p:cNvPr id="9" name="Oval 8"/>
          <p:cNvSpPr/>
          <p:nvPr/>
        </p:nvSpPr>
        <p:spPr>
          <a:xfrm>
            <a:off x="5897880" y="1282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27064" y="1291360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Progression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question en cours et questions restantes.</a:t>
            </a:r>
          </a:p>
        </p:txBody>
      </p:sp>
      <p:sp>
        <p:nvSpPr>
          <p:cNvPr id="11" name="Oval 10"/>
          <p:cNvSpPr/>
          <p:nvPr/>
        </p:nvSpPr>
        <p:spPr>
          <a:xfrm>
            <a:off x="5897880" y="16804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7064" y="1689632"/>
            <a:ext cx="23682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La question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laquelle répondre.</a:t>
            </a:r>
          </a:p>
        </p:txBody>
      </p:sp>
      <p:sp>
        <p:nvSpPr>
          <p:cNvPr id="13" name="Oval 12"/>
          <p:cNvSpPr/>
          <p:nvPr/>
        </p:nvSpPr>
        <p:spPr>
          <a:xfrm>
            <a:off x="5897880" y="20096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018816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Comprendre cette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l’aide, quand elle existe.</a:t>
            </a:r>
          </a:p>
        </p:txBody>
      </p:sp>
      <p:sp>
        <p:nvSpPr>
          <p:cNvPr id="15" name="Oval 14"/>
          <p:cNvSpPr/>
          <p:nvPr/>
        </p:nvSpPr>
        <p:spPr>
          <a:xfrm>
            <a:off x="5897880" y="24079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417088"/>
            <a:ext cx="23682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Votre réponse.</a:t>
            </a:r>
          </a:p>
        </p:txBody>
      </p:sp>
      <p:sp>
        <p:nvSpPr>
          <p:cNvPr id="17" name="Oval 16"/>
          <p:cNvSpPr/>
          <p:nvPr/>
        </p:nvSpPr>
        <p:spPr>
          <a:xfrm>
            <a:off x="5897880" y="27371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2746272"/>
            <a:ext cx="23682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si la réponse est incertaine.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3085929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En bas de la question : </a:t>
            </a:r>
            <a:r>
              <a:rPr sz="1000" b="0" i="0">
                <a:solidFill>
                  <a:srgbClr val="003059"/>
                </a:solidFill>
                <a:latin typeface="Roboto"/>
              </a:rPr>
              <a:t>« Précédent », « Suivant » et « Terminer et voir la vitrine ».</a:t>
            </a:r>
          </a:p>
        </p:txBody>
      </p:sp>
      <p:sp>
        <p:nvSpPr>
          <p:cNvPr id="20" name="Espace réservé du numéro de diapositive 2">
            <a:extLst>
              <a:ext uri="{FF2B5EF4-FFF2-40B4-BE49-F238E27FC236}">
                <a16:creationId xmlns:a16="http://schemas.microsoft.com/office/drawing/2014/main" id="{81DB0728-04C4-DDCE-4F4A-D4EA08B4D65A}"/>
              </a:ext>
            </a:extLst>
          </p:cNvPr>
          <p:cNvSpPr txBox="1">
            <a:spLocks/>
          </p:cNvSpPr>
          <p:nvPr/>
        </p:nvSpPr>
        <p:spPr>
          <a:xfrm>
            <a:off x="7066957" y="4842133"/>
            <a:ext cx="2103120" cy="92333"/>
          </a:xfrm>
          <a:prstGeom prst="rect">
            <a:avLst/>
          </a:prstGeom>
        </p:spPr>
        <p:txBody>
          <a:bodyPr wrap="square" lIns="0" tIns="0" rIns="0" bIns="0">
            <a:noAutofit/>
          </a:bodyPr>
          <a:lstStyle>
            <a:defPPr>
              <a:defRPr kern="0"/>
            </a:defPPr>
            <a:lvl1pPr algn="r">
              <a:defRPr sz="800">
                <a:solidFill>
                  <a:schemeClr val="accent4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fld id="{B6F15528-21DE-4FAA-801E-634DDDAF4B2B}" type="slidenum">
              <a:rPr lang="fr-FR" smtClean="0"/>
              <a:pPr/>
              <a:t>17</a:t>
            </a:fld>
            <a:endParaRPr lang="fr-FR"/>
          </a:p>
        </p:txBody>
      </p:sp>
      <p:sp>
        <p:nvSpPr>
          <p:cNvPr id="22" name="Rounded Rectangle 10">
            <a:extLst>
              <a:ext uri="{FF2B5EF4-FFF2-40B4-BE49-F238E27FC236}">
                <a16:creationId xmlns:a16="http://schemas.microsoft.com/office/drawing/2014/main" id="{598D1480-2A63-25C5-8256-9032C97AD1EA}"/>
              </a:ext>
            </a:extLst>
          </p:cNvPr>
          <p:cNvSpPr/>
          <p:nvPr/>
        </p:nvSpPr>
        <p:spPr>
          <a:xfrm>
            <a:off x="5897880" y="3511633"/>
            <a:ext cx="2953512" cy="1350995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94F7FB4E-3A3E-3471-FEBF-1ACC713E84B7}"/>
              </a:ext>
            </a:extLst>
          </p:cNvPr>
          <p:cNvSpPr txBox="1"/>
          <p:nvPr/>
        </p:nvSpPr>
        <p:spPr>
          <a:xfrm>
            <a:off x="6044184" y="3639649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6" name="TextBox 12">
            <a:extLst>
              <a:ext uri="{FF2B5EF4-FFF2-40B4-BE49-F238E27FC236}">
                <a16:creationId xmlns:a16="http://schemas.microsoft.com/office/drawing/2014/main" id="{4B485C4F-66EC-6034-1BC4-AADC3044D72F}"/>
              </a:ext>
            </a:extLst>
          </p:cNvPr>
          <p:cNvSpPr txBox="1"/>
          <p:nvPr/>
        </p:nvSpPr>
        <p:spPr>
          <a:xfrm>
            <a:off x="6044184" y="3858969"/>
            <a:ext cx="268728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1F2A37"/>
                </a:solidFill>
                <a:latin typeface="Roboto"/>
              </a:rPr>
              <a:t>Le questionnaire est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adaptatif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certaines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questions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n’apparaissent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qu’en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fonction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et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périmètre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d’activité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Changer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peut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donc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faire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apparaître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disparaître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des questions plus loin.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Comprendre une question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2-q-guidance_12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572000" cy="1802205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3492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78424" y="1234440"/>
            <a:ext cx="29169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Explication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à quoi sert la question.</a:t>
            </a:r>
          </a:p>
        </p:txBody>
      </p:sp>
      <p:sp>
        <p:nvSpPr>
          <p:cNvPr id="9" name="Oval 8"/>
          <p:cNvSpPr/>
          <p:nvPr/>
        </p:nvSpPr>
        <p:spPr>
          <a:xfrm>
            <a:off x="5349240" y="159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600200"/>
            <a:ext cx="291693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Conseils pratiques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bien répondre.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514600"/>
            <a:ext cx="3246120" cy="139446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95544" y="2642616"/>
            <a:ext cx="29535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95544" y="2916936"/>
            <a:ext cx="2953512" cy="7694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 dirty="0">
                <a:solidFill>
                  <a:srgbClr val="1F2A37"/>
                </a:solidFill>
                <a:latin typeface="Roboto"/>
              </a:rPr>
              <a:t>Le questionnaire est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adaptatif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: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certaines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questions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n’apparaissent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qu’en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fonction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et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votre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périmètre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d’activité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 Changer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réponse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peut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donc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faire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apparaître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disparaître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des questions plus loin.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« J’ai un doute » : répondre sans être sûr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6-q-doubt_10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994967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5054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514600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J’ai un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signale que la réponse donnée n’est pas définitive.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565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965704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Expliquez votre doute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précisez ce qui manque pour trancher.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1234440"/>
            <a:ext cx="3200400" cy="2485136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41264" y="1362456"/>
            <a:ext cx="29077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Ce que change un doute</a:t>
            </a:r>
          </a:p>
        </p:txBody>
      </p:sp>
      <p:sp>
        <p:nvSpPr>
          <p:cNvPr id="13" name="Oval 12"/>
          <p:cNvSpPr/>
          <p:nvPr/>
        </p:nvSpPr>
        <p:spPr>
          <a:xfrm>
            <a:off x="5541264" y="169011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24144" y="1636776"/>
            <a:ext cx="2724912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point reste signalé comme ouvert, dans le questionnaire et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5541264" y="225094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24144" y="2197608"/>
            <a:ext cx="272491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n’empêche pas de demander un avis préliminaire.</a:t>
            </a:r>
          </a:p>
        </p:txBody>
      </p:sp>
      <p:sp>
        <p:nvSpPr>
          <p:cNvPr id="17" name="Oval 16"/>
          <p:cNvSpPr/>
          <p:nvPr/>
        </p:nvSpPr>
        <p:spPr>
          <a:xfrm>
            <a:off x="5541264" y="264922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24144" y="2595880"/>
            <a:ext cx="2724912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bloque la demande de validation : chaque doute doit être levé avant.</a:t>
            </a:r>
          </a:p>
        </p:txBody>
      </p:sp>
      <p:sp>
        <p:nvSpPr>
          <p:cNvPr id="19" name="Oval 18"/>
          <p:cNvSpPr/>
          <p:nvPr/>
        </p:nvSpPr>
        <p:spPr>
          <a:xfrm>
            <a:off x="5541264" y="3047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24144" y="2994152"/>
            <a:ext cx="2724912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Il est proposé sur les questions à choix, les nombres et les dates, pas sur les champs de texte libre.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Les </a:t>
            </a:r>
            <a:r>
              <a:rPr dirty="0" err="1"/>
              <a:t>différents</a:t>
            </a:r>
            <a:r>
              <a:rPr dirty="0"/>
              <a:t> types de </a:t>
            </a:r>
            <a:r>
              <a:rPr dirty="0" err="1"/>
              <a:t>réponses</a:t>
            </a:r>
            <a:r>
              <a:rPr lang="fr-FR" dirty="0"/>
              <a:t> existants</a:t>
            </a:r>
            <a:endParaRPr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3-q-milestones_93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557587" cy="27432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5-q-ranking_110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188720"/>
            <a:ext cx="4194566" cy="22402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023360"/>
            <a:ext cx="3566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 dirty="0">
                <a:solidFill>
                  <a:srgbClr val="C00000"/>
                </a:solidFill>
                <a:latin typeface="Roboto"/>
              </a:rPr>
              <a:t>①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Ajouter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un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»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②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date du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: les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jalons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datés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se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rangent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seuls par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ordre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chronologique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3520440"/>
            <a:ext cx="420624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 dirty="0">
                <a:solidFill>
                  <a:srgbClr val="C00000"/>
                </a:solidFill>
                <a:latin typeface="Roboto"/>
              </a:rPr>
              <a:t>①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flèches pour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ordonner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②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Sans importance » </a:t>
            </a:r>
            <a:r>
              <a:rPr sz="900" b="0" i="1" dirty="0">
                <a:solidFill>
                  <a:srgbClr val="C00000"/>
                </a:solidFill>
                <a:latin typeface="Roboto"/>
              </a:rPr>
              <a:t>③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«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Réinitialiser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</a:t>
            </a:r>
            <a:r>
              <a:rPr sz="900" b="0" i="1" dirty="0" err="1">
                <a:solidFill>
                  <a:srgbClr val="5B6573"/>
                </a:solidFill>
                <a:latin typeface="Roboto"/>
              </a:rPr>
              <a:t>l’ordre</a:t>
            </a:r>
            <a:r>
              <a:rPr sz="900" b="0" i="1" dirty="0">
                <a:solidFill>
                  <a:srgbClr val="5B6573"/>
                </a:solidFill>
                <a:latin typeface="Roboto"/>
              </a:rPr>
              <a:t> »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398526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931920"/>
            <a:ext cx="40233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Choix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unique ou multiple, avec parfois des sous-options à préciser.</a:t>
            </a:r>
          </a:p>
        </p:txBody>
      </p:sp>
      <p:sp>
        <p:nvSpPr>
          <p:cNvPr id="12" name="Oval 11"/>
          <p:cNvSpPr/>
          <p:nvPr/>
        </p:nvSpPr>
        <p:spPr>
          <a:xfrm>
            <a:off x="4389120" y="419790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4144562"/>
            <a:ext cx="40233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>
                <a:solidFill>
                  <a:srgbClr val="1F2A37"/>
                </a:solidFill>
                <a:latin typeface="Roboto"/>
              </a:rPr>
              <a:t>Texte riche 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: gras,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listes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, liens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cliquables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4389120" y="441298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4359649"/>
            <a:ext cx="40233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dirty="0" err="1">
                <a:solidFill>
                  <a:srgbClr val="1F2A37"/>
                </a:solidFill>
                <a:latin typeface="Roboto"/>
              </a:rPr>
              <a:t>Fichier</a:t>
            </a:r>
            <a:r>
              <a:rPr sz="1000" b="1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: un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plusieurs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 documents de </a:t>
            </a:r>
            <a:r>
              <a:rPr sz="1000" b="0" i="0" dirty="0" err="1">
                <a:solidFill>
                  <a:srgbClr val="1F2A37"/>
                </a:solidFill>
                <a:latin typeface="Roboto"/>
              </a:rPr>
              <a:t>référence</a:t>
            </a:r>
            <a:r>
              <a:rPr sz="100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questions obligatoires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17-q-summary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936837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18-q-mandatory_64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1188720"/>
            <a:ext cx="2468880" cy="171597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80644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5624" y="1188720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Compteur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du sommaire : questions obligatoires sans réponse.</a:t>
            </a:r>
          </a:p>
        </p:txBody>
      </p:sp>
      <p:sp>
        <p:nvSpPr>
          <p:cNvPr id="10" name="Oval 9"/>
          <p:cNvSpPr/>
          <p:nvPr/>
        </p:nvSpPr>
        <p:spPr>
          <a:xfrm>
            <a:off x="5806440" y="16144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35624" y="1623568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Compléter la question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mène directement à la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806440" y="2049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2058416"/>
            <a:ext cx="24597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Retour au questionnaire »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241503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35624" y="2424176"/>
            <a:ext cx="24597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Voir la vitrine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vous pouvez continuer sans tout remplir.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3337560"/>
            <a:ext cx="2788920" cy="118872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52744" y="3465576"/>
            <a:ext cx="2496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52744" y="3739896"/>
            <a:ext cx="2496312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Cet écran n’apparaît que s’il manque une question du socle : celles exigées dès l’avis préliminaire. Les autres questions obligatoires seront exigées pour l’avis technique et la validation.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 à savoir sur le questionnaire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02 · Décrire son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Sauvegarde continue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Chaque réponse est enregistrée immédiatement : il n’y a pas de bouton « Enregistrer ». Un projet non terminé reste en « Brouillon en cours » sur l’accueil.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Fin du questionnaire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Terminer et voir la vitrine » (ou « Voir la vitrine du projet » à la dernière question) mène à la vitrine, pas au rapport : l’outil vous invite d’abord à mettre votre projet en récit.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98464" y="1234440"/>
            <a:ext cx="2542032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44768" y="1362456"/>
            <a:ext cx="2249424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Accès hors ligne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1636776"/>
            <a:ext cx="2249424" cy="15636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connexion tombe, un bandeau le signale : vos modifications restent sur votre ordinateur et partent dès le retour de la connexion.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5B6573"/>
                </a:solidFill>
                <a:latin typeface="Roboto"/>
              </a:rPr>
              <a:t>Chaque projet a sa vitrine : selon son type, elle peut partir d’un modèle qui propose déjà ses sections.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La vitrine du projet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18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Découvrir la vitrine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mode édition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section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Régler une section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6">
            <a:hlinkClick r:id="rId8" action="ppaction://hlinksldjump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galerie média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738118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Aperçu et publication</a:t>
            </a:r>
          </a:p>
        </p:txBody>
      </p:sp>
      <p:sp>
        <p:nvSpPr>
          <p:cNvPr id="20" name="TextBox 17">
            <a:hlinkClick r:id="rId8" action="ppaction://hlinksldjump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738118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Découvrir la vitrine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0-sc-view_136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5212080" cy="20269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893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18504" y="1188720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Enjeux du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la vision compliance du même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8932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504" y="1586992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Commenter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poser et lire des post-its (partie 4).</a:t>
            </a:r>
          </a:p>
        </p:txBody>
      </p:sp>
      <p:sp>
        <p:nvSpPr>
          <p:cNvPr id="11" name="Oval 10"/>
          <p:cNvSpPr/>
          <p:nvPr/>
        </p:nvSpPr>
        <p:spPr>
          <a:xfrm>
            <a:off x="5989320" y="19761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18504" y="1985264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Partager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obtenir un lien vers la vitrine (partie 4).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23743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2383536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/ « Mode complet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et « Configurer » (partie 4).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2772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2781808"/>
            <a:ext cx="227685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le mode édition.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9194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quoi sert la vitrine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919472" cy="7406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met votre projet en récit à partir de vos réponses : problème, solution, bénéfices, objectifs, équipe, feuille de route, coût. C’est souvent en la relisant, ou en la faisant relire, qu’on voit ce qui manque.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mode édition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2-sc-editor_12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Plan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liste des sections pour s’y déplacer.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5433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55244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Annuler » / « Rétablir »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542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63344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Vue Light ou complète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pendant l’édition.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21792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227072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Aperçu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(touche P) masque les outils.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581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59080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État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« Tout est publié » ou « Modifications non publiées ».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945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954528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Publier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rend vos changements visibles.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30911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318256"/>
            <a:ext cx="232257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Barre de section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monter, descendre, masquer en vue Light, réglages, dupliquer, supprimer.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8272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836416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Section sélectionnée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réglages de la section cliquée.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On modifie la vitrine elle-même : titres et intitulés se modifient directement dans la page, et chaque texte modifié met à jour la réponse du questionnaire.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section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3-sc-inserter_10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840480" cy="97757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Sélecteur de gabarits, avec la galerie méd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331720"/>
            <a:ext cx="3718684" cy="232417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466344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2624" y="1234440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Ajouter une section ici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 l’espace entre deux sections, le bouton + apparaît.</a:t>
            </a:r>
          </a:p>
        </p:txBody>
      </p:sp>
      <p:sp>
        <p:nvSpPr>
          <p:cNvPr id="10" name="Oval 9"/>
          <p:cNvSpPr/>
          <p:nvPr/>
        </p:nvSpPr>
        <p:spPr>
          <a:xfrm>
            <a:off x="466344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1685544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Choisissez un gabarit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survolez-en un pour le voir à sa place dans la vitrine, cliquez pour l’ajouter.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51760"/>
            <a:ext cx="3931920" cy="201168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9744" y="277977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Les gabarits disponibles</a:t>
            </a:r>
          </a:p>
        </p:txBody>
      </p:sp>
      <p:sp>
        <p:nvSpPr>
          <p:cNvPr id="14" name="Oval 13"/>
          <p:cNvSpPr/>
          <p:nvPr/>
        </p:nvSpPr>
        <p:spPr>
          <a:xfrm>
            <a:off x="4809744" y="310743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92624" y="3054096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mise en avant · Chiffre en avant</a:t>
            </a:r>
          </a:p>
        </p:txBody>
      </p:sp>
      <p:sp>
        <p:nvSpPr>
          <p:cNvPr id="16" name="Oval 15"/>
          <p:cNvSpPr/>
          <p:nvPr/>
        </p:nvSpPr>
        <p:spPr>
          <a:xfrm>
            <a:off x="4809744" y="33431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92624" y="3289807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multi-colonnes · Grille de cartes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35788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92624" y="3525519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Visionneuse documentaire (un document déposé)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381457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92624" y="3761232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Bloc narratif · Points d’attention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405028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92624" y="3996944"/>
            <a:ext cx="3456432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Galerie média : images, vidéos, sons, Stream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Régler une section : gabarit et couleur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5-sc-added_103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50208" cy="24688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26-sc-color-crop_4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1188720"/>
            <a:ext cx="1600200" cy="1082216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48640" y="3785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836010"/>
            <a:ext cx="42428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Modifications non publiées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vos changements restent un brouillon personnel.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310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74575"/>
            <a:ext cx="424281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1F2A37"/>
                </a:solidFill>
                <a:latin typeface="Roboto"/>
              </a:rPr>
              <a:t>Barre de la section 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: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dupliquer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supprimer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déplacer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236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7183"/>
            <a:ext cx="424281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dirty="0">
                <a:solidFill>
                  <a:srgbClr val="1F2A37"/>
                </a:solidFill>
                <a:latin typeface="Roboto"/>
              </a:rPr>
              <a:t>« Changer de </a:t>
            </a:r>
            <a:r>
              <a:rPr sz="950" b="1" i="0" dirty="0" err="1">
                <a:solidFill>
                  <a:srgbClr val="1F2A37"/>
                </a:solidFill>
                <a:latin typeface="Roboto"/>
              </a:rPr>
              <a:t>gabarit</a:t>
            </a:r>
            <a:r>
              <a:rPr sz="950" b="1" i="0" dirty="0">
                <a:solidFill>
                  <a:srgbClr val="1F2A37"/>
                </a:solidFill>
                <a:latin typeface="Roboto"/>
              </a:rPr>
              <a:t> » 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sans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perdre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le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contenu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1188720"/>
            <a:ext cx="1463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 i="0">
                <a:solidFill>
                  <a:srgbClr val="1F2A37"/>
                </a:solidFill>
                <a:latin typeface="Roboto"/>
              </a:rPr>
              <a:t>Couleur de la section</a:t>
            </a:r>
          </a:p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Par défaut elle suit le thème. Les autres couleurs proposées sont celles de la palette du thème.</a:t>
            </a:r>
          </a:p>
        </p:txBody>
      </p:sp>
      <p:sp>
        <p:nvSpPr>
          <p:cNvPr id="15" name="Rounded Rectangle 30"/>
          <p:cNvSpPr/>
          <p:nvPr/>
        </p:nvSpPr>
        <p:spPr>
          <a:xfrm>
            <a:off x="5394960" y="25146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31"/>
          <p:cNvSpPr txBox="1"/>
          <p:nvPr/>
        </p:nvSpPr>
        <p:spPr>
          <a:xfrm>
            <a:off x="5532120" y="2633472"/>
            <a:ext cx="297180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Visionneuse : modifier le document</a:t>
            </a:r>
          </a:p>
          <a:p>
            <a:pPr algn="l">
              <a:spcAft>
                <a:spcPts val="400"/>
              </a:spcAft>
            </a:pP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Sur un fichier PowerPoint, Word ou Excel déposé, le mode édition propose </a:t>
            </a: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« Modifier dans PowerPoint en ligne »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(ou Word, Excel) et </a:t>
            </a: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« Ouvrir dans l’application PowerPoint »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.</a:t>
            </a:r>
          </a:p>
          <a:p>
            <a:pPr algn="l">
              <a:spcAft>
                <a:spcPts val="400"/>
              </a:spcAft>
            </a:pP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De retour sur la vitrine, l’aperçu se met à jour ; sinon, « Actualiser l’aperçu ».</a:t>
            </a:r>
          </a:p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Attention : le fichier est modifié là où il est stocké, les lecteurs voient les changements tout de suite, sans « Publier 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Aperçu, publication et brouillon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7-sc-preview_124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754880" cy="17170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48640" y="2971800"/>
            <a:ext cx="4754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Quitter l’aperçu » : l’aperçu montre exactement ce que verra un lecteur.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188720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78424" y="1316736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Publier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78424" y="1591056"/>
            <a:ext cx="2770632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« Publier » rend la nouvelle version visible de tous ceux qui ouvrent la vitrine.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32120" y="2350008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78424" y="2478024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Quitter sans publier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78424" y="2752344"/>
            <a:ext cx="2770632" cy="5577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L’application demande « Abandonner les modifications non publiées ? » : « Continuer l’édition » ou « Abandonner 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3511296"/>
            <a:ext cx="3063240" cy="105156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78424" y="3639312"/>
            <a:ext cx="27706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Brouillon retrouvé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8424" y="3913632"/>
            <a:ext cx="2770632" cy="5577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En revenant, le bandeau « Brouillon non publié » propose « Reprendre l’édition » ou « Supprimer le brouillon 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429000"/>
            <a:ext cx="475488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4944" y="3557016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3831336"/>
            <a:ext cx="4462272" cy="272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jalons datés de la feuille de route se replacent seuls par ordre chronologique : c’est voulu.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Présenter et recueillir des avis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16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Masquer des parties : le mode Light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Partager la vitrine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Ce que voit le destinataire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Les post-its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Masquer des parties : le mode Light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21-sc-light-config_171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7394" y="1188720"/>
            <a:ext cx="6549210" cy="17373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14553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154680"/>
            <a:ext cx="45171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Light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n’affiche que les sections cochées (le compteur indique combien).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8038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589528"/>
            <a:ext cx="45171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Configurer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ouvre la liste des sections et éléments.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9461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955288"/>
            <a:ext cx="451713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Décochez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ce qui ne doit pas apparaître, par exemple « Coût estimé du projet ».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809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90136"/>
            <a:ext cx="451713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enregistre la sélection.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154680"/>
            <a:ext cx="2971800" cy="170794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9864" y="3282696"/>
            <a:ext cx="26791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557016"/>
            <a:ext cx="2679192" cy="11695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 dirty="0">
                <a:solidFill>
                  <a:srgbClr val="1F2A37"/>
                </a:solidFill>
                <a:latin typeface="Roboto"/>
              </a:rPr>
              <a:t>Une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seule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vitrine, deux publics : le mode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complet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pour les experts, le mode Light pour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une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présentation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rapide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ou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un public qui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n’a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pas à tout voir. En mode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édition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,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chaque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section a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aussi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« Masquer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en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</a:t>
            </a:r>
            <a:r>
              <a:rPr sz="950" b="0" i="0" dirty="0" err="1">
                <a:solidFill>
                  <a:srgbClr val="1F2A37"/>
                </a:solidFill>
                <a:latin typeface="Roboto"/>
              </a:rPr>
              <a:t>vue</a:t>
            </a:r>
            <a:r>
              <a:rPr sz="950" b="0" i="0" dirty="0">
                <a:solidFill>
                  <a:srgbClr val="1F2A37"/>
                </a:solidFill>
                <a:latin typeface="Roboto"/>
              </a:rPr>
              <a:t> Light ».</a:t>
            </a:r>
            <a:endParaRPr lang="fr-FR" sz="950" b="0" i="0" dirty="0">
              <a:solidFill>
                <a:srgbClr val="1F2A37"/>
              </a:solidFill>
              <a:latin typeface="Roboto"/>
            </a:endParaRPr>
          </a:p>
          <a:p>
            <a:pPr algn="l"/>
            <a:endParaRPr lang="fr-FR" sz="950" dirty="0">
              <a:solidFill>
                <a:srgbClr val="1F2A37"/>
              </a:solidFill>
              <a:latin typeface="Roboto"/>
            </a:endParaRP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>Si vous voulez que la vitrine apparaisse en anglais, modifier votre langue dans votre profil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Partager la vitrine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0-share_74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709" y="1188720"/>
            <a:ext cx="2854260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0233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52544" y="1234440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Mode partagé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complet ou Light. En Light, le destinataire ne peut pas basculer vers la version complète.</a:t>
            </a:r>
          </a:p>
        </p:txBody>
      </p:sp>
      <p:sp>
        <p:nvSpPr>
          <p:cNvPr id="9" name="Oval 8"/>
          <p:cNvSpPr/>
          <p:nvPr/>
        </p:nvSpPr>
        <p:spPr>
          <a:xfrm>
            <a:off x="402336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2544" y="1685544"/>
            <a:ext cx="424281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possibles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ajoute un bouton pour poser des post-its.</a:t>
            </a:r>
          </a:p>
        </p:txBody>
      </p:sp>
      <p:sp>
        <p:nvSpPr>
          <p:cNvPr id="11" name="Oval 10"/>
          <p:cNvSpPr/>
          <p:nvPr/>
        </p:nvSpPr>
        <p:spPr>
          <a:xfrm>
            <a:off x="4023360" y="21275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136648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Visibilité des post-its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tous, ou seulement les siens.</a:t>
            </a:r>
          </a:p>
        </p:txBody>
      </p:sp>
      <p:sp>
        <p:nvSpPr>
          <p:cNvPr id="13" name="Oval 12"/>
          <p:cNvSpPr/>
          <p:nvPr/>
        </p:nvSpPr>
        <p:spPr>
          <a:xfrm>
            <a:off x="4023360" y="2493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2502407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Copier le lien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envoyer par Teams ou par mail.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0" y="28590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868167"/>
            <a:ext cx="424281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Télécharger le raccourci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pour l’ouvrir d’un double-clic.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 que voit le destinataire du lien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33-shared-view_12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937760" cy="30861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7150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4184" y="1234440"/>
            <a:ext cx="255117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Commentaires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bouton flottant visible si les commentaires sont autorisés. Il active la pose de post-its.</a:t>
            </a:r>
          </a:p>
        </p:txBody>
      </p:sp>
      <p:sp>
        <p:nvSpPr>
          <p:cNvPr id="9" name="Oval 8"/>
          <p:cNvSpPr/>
          <p:nvPr/>
        </p:nvSpPr>
        <p:spPr>
          <a:xfrm>
            <a:off x="5715000" y="22021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97880" y="2148840"/>
            <a:ext cx="269747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vitrine s’ouvre seule, sans la barre de navigation de l’application.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260045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97880" y="2547112"/>
            <a:ext cx="269747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Elle respecte le mode choisi au partage.</a:t>
            </a:r>
          </a:p>
        </p:txBody>
      </p:sp>
      <p:sp>
        <p:nvSpPr>
          <p:cNvPr id="13" name="Oval 12"/>
          <p:cNvSpPr/>
          <p:nvPr/>
        </p:nvSpPr>
        <p:spPr>
          <a:xfrm>
            <a:off x="5715000" y="283616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97880" y="2782824"/>
            <a:ext cx="269747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lien est protégé : le modifier à la main ne donne pas accès à plus que ce que vous avez partagé.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post-its : recueillir et traiter les retours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04 · Présenter et recueillir des avis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18" name="Picture 5" descr="31-postits_1267.jpg">
            <a:extLst>
              <a:ext uri="{FF2B5EF4-FFF2-40B4-BE49-F238E27FC236}">
                <a16:creationId xmlns:a16="http://schemas.microsoft.com/office/drawing/2014/main" id="{D76FF7FE-2071-3505-B195-8829227FD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20" name="Oval 6">
            <a:extLst>
              <a:ext uri="{FF2B5EF4-FFF2-40B4-BE49-F238E27FC236}">
                <a16:creationId xmlns:a16="http://schemas.microsoft.com/office/drawing/2014/main" id="{37425B85-A112-9462-1932-EDE93680AA15}"/>
              </a:ext>
            </a:extLst>
          </p:cNvPr>
          <p:cNvSpPr/>
          <p:nvPr/>
        </p:nvSpPr>
        <p:spPr>
          <a:xfrm>
            <a:off x="57150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99871849-EA9C-BF67-D53B-586156DB238B}"/>
              </a:ext>
            </a:extLst>
          </p:cNvPr>
          <p:cNvSpPr txBox="1"/>
          <p:nvPr/>
        </p:nvSpPr>
        <p:spPr>
          <a:xfrm>
            <a:off x="6044184" y="1188720"/>
            <a:ext cx="255117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Mode annotation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actif après « Commenter » (ou « Commentaires » chez le destinataire).</a:t>
            </a:r>
          </a:p>
        </p:txBody>
      </p:sp>
      <p:sp>
        <p:nvSpPr>
          <p:cNvPr id="24" name="Oval 8">
            <a:extLst>
              <a:ext uri="{FF2B5EF4-FFF2-40B4-BE49-F238E27FC236}">
                <a16:creationId xmlns:a16="http://schemas.microsoft.com/office/drawing/2014/main" id="{69694B99-4964-60A3-C333-D0D947923C7B}"/>
              </a:ext>
            </a:extLst>
          </p:cNvPr>
          <p:cNvSpPr/>
          <p:nvPr/>
        </p:nvSpPr>
        <p:spPr>
          <a:xfrm>
            <a:off x="5715000" y="193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26" name="TextBox 9">
            <a:extLst>
              <a:ext uri="{FF2B5EF4-FFF2-40B4-BE49-F238E27FC236}">
                <a16:creationId xmlns:a16="http://schemas.microsoft.com/office/drawing/2014/main" id="{ED11DAB8-FF3C-0C9D-5138-A2F5B395EE09}"/>
              </a:ext>
            </a:extLst>
          </p:cNvPr>
          <p:cNvSpPr txBox="1"/>
          <p:nvPr/>
        </p:nvSpPr>
        <p:spPr>
          <a:xfrm>
            <a:off x="6044184" y="1939144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Double-cliquez sur la vitrine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poser un post-it à cet endroit. Un simple clic reste un clic normal : vous pouvez naviguer sans rien créer.</a:t>
            </a:r>
          </a:p>
        </p:txBody>
      </p:sp>
      <p:sp>
        <p:nvSpPr>
          <p:cNvPr id="28" name="Oval 10">
            <a:extLst>
              <a:ext uri="{FF2B5EF4-FFF2-40B4-BE49-F238E27FC236}">
                <a16:creationId xmlns:a16="http://schemas.microsoft.com/office/drawing/2014/main" id="{A4314F93-263A-8859-6B94-55277792883E}"/>
              </a:ext>
            </a:extLst>
          </p:cNvPr>
          <p:cNvSpPr/>
          <p:nvPr/>
        </p:nvSpPr>
        <p:spPr>
          <a:xfrm>
            <a:off x="5715000" y="278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30FD33B1-5722-1EC4-256C-A5D03B91D4B8}"/>
              </a:ext>
            </a:extLst>
          </p:cNvPr>
          <p:cNvSpPr txBox="1"/>
          <p:nvPr/>
        </p:nvSpPr>
        <p:spPr>
          <a:xfrm>
            <a:off x="6044184" y="2789144"/>
            <a:ext cx="255117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Clôturer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une remarque traitée.</a:t>
            </a:r>
          </a:p>
        </p:txBody>
      </p:sp>
      <p:sp>
        <p:nvSpPr>
          <p:cNvPr id="32" name="Oval 12">
            <a:extLst>
              <a:ext uri="{FF2B5EF4-FFF2-40B4-BE49-F238E27FC236}">
                <a16:creationId xmlns:a16="http://schemas.microsoft.com/office/drawing/2014/main" id="{5AA9EEE5-A29D-FB2F-1B0F-A03C46D231EF}"/>
              </a:ext>
            </a:extLst>
          </p:cNvPr>
          <p:cNvSpPr/>
          <p:nvPr/>
        </p:nvSpPr>
        <p:spPr>
          <a:xfrm>
            <a:off x="5715000" y="31500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34" name="TextBox 13">
            <a:extLst>
              <a:ext uri="{FF2B5EF4-FFF2-40B4-BE49-F238E27FC236}">
                <a16:creationId xmlns:a16="http://schemas.microsoft.com/office/drawing/2014/main" id="{2DF0E9C0-D17D-F990-937B-E48F964D0015}"/>
              </a:ext>
            </a:extLst>
          </p:cNvPr>
          <p:cNvSpPr txBox="1"/>
          <p:nvPr/>
        </p:nvSpPr>
        <p:spPr>
          <a:xfrm>
            <a:off x="6044184" y="3159144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échanger sur le post-it.</a:t>
            </a:r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78FCA0DD-815A-EEE7-8A13-4DE1FFC43E91}"/>
              </a:ext>
            </a:extLst>
          </p:cNvPr>
          <p:cNvSpPr txBox="1"/>
          <p:nvPr/>
        </p:nvSpPr>
        <p:spPr>
          <a:xfrm>
            <a:off x="548640" y="434340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Sur l’accueil, un badge « N retours » signale les post-its posés par d’autres personnes et pas encore traités sur la vitrine de votre projet.</a:t>
            </a:r>
          </a:p>
        </p:txBody>
      </p:sp>
      <p:sp>
        <p:nvSpPr>
          <p:cNvPr id="38" name="TextBox A savoir">
            <a:extLst>
              <a:ext uri="{FF2B5EF4-FFF2-40B4-BE49-F238E27FC236}">
                <a16:creationId xmlns:a16="http://schemas.microsoft.com/office/drawing/2014/main" id="{18E91BF1-2252-CF40-F0F8-2014F2055F6A}"/>
              </a:ext>
            </a:extLst>
          </p:cNvPr>
          <p:cNvSpPr txBox="1"/>
          <p:nvPr/>
        </p:nvSpPr>
        <p:spPr>
          <a:xfrm>
            <a:off x="6044184" y="3750000"/>
            <a:ext cx="255117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À savoir.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À chaque arrivée en mode annotation, une fenêtre d’aide rappelle le fonctionnement du double-clic. Cochez « Ne plus afficher cette aide » pour ne plus la voir ; la barre du haut garde le rappel.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Les enjeux et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22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La page « Enjeux du projet »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8359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Où en est votre projet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83591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210007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Avis préliminaire ou validation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2100072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518664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Équipes et points à préparer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518664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937256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Risques identifiés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937256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3201415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Partage et rappel des réponses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3201415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620008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Soumettre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620008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page « Enjeux du projet »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0-syn-overview_126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8032" cy="30175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94360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72784" y="1188720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Statut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du projet.</a:t>
            </a:r>
          </a:p>
        </p:txBody>
      </p:sp>
      <p:sp>
        <p:nvSpPr>
          <p:cNvPr id="9" name="Oval 8"/>
          <p:cNvSpPr/>
          <p:nvPr/>
        </p:nvSpPr>
        <p:spPr>
          <a:xfrm>
            <a:off x="5943600" y="149047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2784" y="1499616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Paliers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de consultation atteints.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2784" y="1810512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la validation »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0" y="21122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12140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Demander un avis préliminaire »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2432304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Ouvrir la vitrine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faire avancer votre réflexion.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0" y="278688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2784" y="2796032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Équipes à solliciter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les experts concernés.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0" y="3150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2784" y="3159760"/>
            <a:ext cx="2322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Solliciter cette équipe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si une équipe manque.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0" y="351434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72784" y="3523488"/>
            <a:ext cx="2322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Retour au questionnaire 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9768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Accès : « Enjeux du projet » (vitrine) ou « Consulter les enjeux » (carte).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Où en est votre projet : trois paliers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6-syn-readiness-partial-a_3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1508760" cy="2444662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46-syn-readiness-partial-b_39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4560" y="1188720"/>
            <a:ext cx="1508760" cy="1940171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931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188720"/>
            <a:ext cx="191109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trois paliers</a:t>
            </a:r>
          </a:p>
        </p:txBody>
      </p:sp>
      <p:sp>
        <p:nvSpPr>
          <p:cNvPr id="10" name="Oval 9"/>
          <p:cNvSpPr/>
          <p:nvPr/>
        </p:nvSpPr>
        <p:spPr>
          <a:xfrm>
            <a:off x="3931920" y="14996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1508760"/>
            <a:ext cx="191109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Ce qui manque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pour atteindre le palier suivant, avec un lien vers chaque question.</a:t>
            </a:r>
          </a:p>
        </p:txBody>
      </p:sp>
      <p:sp>
        <p:nvSpPr>
          <p:cNvPr id="12" name="Oval 11"/>
          <p:cNvSpPr/>
          <p:nvPr/>
        </p:nvSpPr>
        <p:spPr>
          <a:xfrm>
            <a:off x="3931920" y="202692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61104" y="2036064"/>
            <a:ext cx="19110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Les doutes ouverts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à lever avant la validation.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3931920" y="239979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2408935"/>
            <a:ext cx="191109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Bouton grisé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avec la raison écrite en dessous.</a:t>
            </a:r>
          </a:p>
        </p:txBody>
      </p:sp>
      <p:sp>
        <p:nvSpPr>
          <p:cNvPr id="16" name="Oval 15"/>
          <p:cNvSpPr/>
          <p:nvPr/>
        </p:nvSpPr>
        <p:spPr>
          <a:xfrm>
            <a:off x="3931920" y="2772663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1104" y="2781807"/>
            <a:ext cx="191109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La validation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reste visible même quand elle n’est pas encore possible.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1188720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01384" y="1316736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Orientation possible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1591056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Les questions du socle sont renseignées.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76272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01384" y="2304288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Avis technique possible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1384" y="2578608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obligatoires sont remplies (des doutes peuvent rester).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163824"/>
            <a:ext cx="2240280" cy="9144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01384" y="3291840"/>
            <a:ext cx="19476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003059"/>
                </a:solidFill>
                <a:latin typeface="Roboto"/>
              </a:rPr>
              <a:t>Validation possible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4" y="3566160"/>
            <a:ext cx="1947672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1F2A37"/>
                </a:solidFill>
                <a:latin typeface="Roboto"/>
              </a:rPr>
              <a:t>Toutes les réponses sont définitives : aucun doute ouvert.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169663"/>
            <a:ext cx="2240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1">
                <a:solidFill>
                  <a:srgbClr val="5B6573"/>
                </a:solidFill>
                <a:latin typeface="Roboto"/>
              </a:rPr>
              <a:t>Avis technique et validation demandent le même dossier ; seule la fermeté des réponses les sépare.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Avis préliminaire ou validation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131673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Demander un avis préliminaire</a:t>
            </a:r>
          </a:p>
        </p:txBody>
      </p:sp>
      <p:sp>
        <p:nvSpPr>
          <p:cNvPr id="8" name="Oval 7"/>
          <p:cNvSpPr/>
          <p:nvPr/>
        </p:nvSpPr>
        <p:spPr>
          <a:xfrm>
            <a:off x="6949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591056"/>
            <a:ext cx="34564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encore en construction.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1834896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vous orientent, signalent les points de vigilance et les questions à préparer.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7824" y="2249424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Ce n’est pas une validation : le badge affiché sera « Avis préliminaire ».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2663952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Possible dès que les questions du socle sont renseignées, même avec des doutes.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1887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9744" y="1316736"/>
            <a:ext cx="36393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996B14"/>
                </a:solidFill>
                <a:latin typeface="Roboto"/>
              </a:rPr>
              <a:t>Demander la validation</a:t>
            </a:r>
          </a:p>
        </p:txBody>
      </p:sp>
      <p:sp>
        <p:nvSpPr>
          <p:cNvPr id="18" name="Oval 17"/>
          <p:cNvSpPr/>
          <p:nvPr/>
        </p:nvSpPr>
        <p:spPr>
          <a:xfrm>
            <a:off x="4809744" y="16470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92624" y="1591056"/>
            <a:ext cx="34564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Pour un projet arrêté.</a:t>
            </a:r>
          </a:p>
        </p:txBody>
      </p:sp>
      <p:sp>
        <p:nvSpPr>
          <p:cNvPr id="20" name="Oval 19"/>
          <p:cNvSpPr/>
          <p:nvPr/>
        </p:nvSpPr>
        <p:spPr>
          <a:xfrm>
            <a:off x="4809744" y="18909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92624" y="1834896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Les experts se prononcent formellement sur chaque périmètre concerné.</a:t>
            </a:r>
          </a:p>
        </p:txBody>
      </p:sp>
      <p:sp>
        <p:nvSpPr>
          <p:cNvPr id="22" name="Oval 21"/>
          <p:cNvSpPr/>
          <p:nvPr/>
        </p:nvSpPr>
        <p:spPr>
          <a:xfrm>
            <a:off x="4809744" y="230543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92624" y="2249424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Exige toutes les questions obligatoires avec une réponse ferme.</a:t>
            </a:r>
          </a:p>
        </p:txBody>
      </p:sp>
      <p:sp>
        <p:nvSpPr>
          <p:cNvPr id="24" name="Oval 23"/>
          <p:cNvSpPr/>
          <p:nvPr/>
        </p:nvSpPr>
        <p:spPr>
          <a:xfrm>
            <a:off x="4809744" y="2719958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92624" y="2663952"/>
            <a:ext cx="345643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évolue jusqu’à « Validé » quand tous les avis requis sont favorables.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840480"/>
            <a:ext cx="804672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4944" y="3968496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Dans les deux cas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" y="4242816"/>
            <a:ext cx="7754112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À l’envoi, l’application indique quelles équipes seront notifiées. Le projet reste modifiable ensuite (partie 6).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71320-EA44-98DE-D490-30122CE71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7821A48-2B99-CCE1-04E7-852B2E2FB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739E5D92-B118-C337-FF6D-2E20389E0B6D}"/>
              </a:ext>
            </a:extLst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A7613C65-CAC6-4C7D-01D7-3C87435874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38151"/>
            <a:ext cx="7143750" cy="685800"/>
          </a:xfrm>
        </p:spPr>
        <p:txBody>
          <a:bodyPr/>
          <a:lstStyle/>
          <a:p>
            <a:r>
              <a:t>Commencer par certains périmètres</a:t>
            </a:r>
          </a:p>
        </p:txBody>
      </p:sp>
      <p:sp>
        <p:nvSpPr>
          <p:cNvPr id="31" name="Oval étape 1">
            <a:extLst>
              <a:ext uri="{FF2B5EF4-FFF2-40B4-BE49-F238E27FC236}">
                <a16:creationId xmlns:a16="http://schemas.microsoft.com/office/drawing/2014/main" id="{638F82F6-1F69-A227-F929-7D76D45D3DE3}"/>
              </a:ext>
            </a:extLst>
          </p:cNvPr>
          <p:cNvSpPr/>
          <p:nvPr/>
        </p:nvSpPr>
        <p:spPr>
          <a:xfrm>
            <a:off x="1597152" y="1078992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cxnSp>
        <p:nvCxnSpPr>
          <p:cNvPr id="32" name="Connector 1">
            <a:extLst>
              <a:ext uri="{FF2B5EF4-FFF2-40B4-BE49-F238E27FC236}">
                <a16:creationId xmlns:a16="http://schemas.microsoft.com/office/drawing/2014/main" id="{DDEEF8D4-2351-3641-E101-AF6246E97D97}"/>
              </a:ext>
            </a:extLst>
          </p:cNvPr>
          <p:cNvCxnSpPr/>
          <p:nvPr/>
        </p:nvCxnSpPr>
        <p:spPr>
          <a:xfrm>
            <a:off x="2273808" y="1371600"/>
            <a:ext cx="1914144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Label étape 1">
            <a:extLst>
              <a:ext uri="{FF2B5EF4-FFF2-40B4-BE49-F238E27FC236}">
                <a16:creationId xmlns:a16="http://schemas.microsoft.com/office/drawing/2014/main" id="{EF2B030B-2B85-C9BA-051D-17BE20AE8EA6}"/>
              </a:ext>
            </a:extLst>
          </p:cNvPr>
          <p:cNvSpPr txBox="1"/>
          <p:nvPr/>
        </p:nvSpPr>
        <p:spPr>
          <a:xfrm>
            <a:off x="64008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Choisir qui consulter</a:t>
            </a:r>
          </a:p>
        </p:txBody>
      </p:sp>
      <p:sp>
        <p:nvSpPr>
          <p:cNvPr id="34" name="Texte étape 1">
            <a:extLst>
              <a:ext uri="{FF2B5EF4-FFF2-40B4-BE49-F238E27FC236}">
                <a16:creationId xmlns:a16="http://schemas.microsoft.com/office/drawing/2014/main" id="{26BD9E9F-878B-16C7-E2E8-4AB31F118F5D}"/>
              </a:ext>
            </a:extLst>
          </p:cNvPr>
          <p:cNvSpPr txBox="1"/>
          <p:nvPr/>
        </p:nvSpPr>
        <p:spPr>
          <a:xfrm>
            <a:off x="64008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 dirty="0">
                <a:solidFill>
                  <a:srgbClr val="5B6573"/>
                </a:solidFill>
                <a:latin typeface="Roboto"/>
              </a:rPr>
              <a:t>Après « Demander un avis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préliminaire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 »,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choisissez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« Commencer par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certains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périmètres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 » et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cochez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 qui consulter </a:t>
            </a:r>
            <a:r>
              <a:rPr sz="1050" b="0" i="0" dirty="0" err="1">
                <a:solidFill>
                  <a:srgbClr val="5B6573"/>
                </a:solidFill>
                <a:latin typeface="Roboto"/>
              </a:rPr>
              <a:t>d’abord</a:t>
            </a:r>
            <a:r>
              <a:rPr sz="1050" b="0" i="0" dirty="0">
                <a:solidFill>
                  <a:srgbClr val="5B6573"/>
                </a:solidFill>
                <a:latin typeface="Roboto"/>
              </a:rPr>
              <a:t>.</a:t>
            </a:r>
          </a:p>
        </p:txBody>
      </p:sp>
      <p:sp>
        <p:nvSpPr>
          <p:cNvPr id="35" name="Oval étape 2">
            <a:extLst>
              <a:ext uri="{FF2B5EF4-FFF2-40B4-BE49-F238E27FC236}">
                <a16:creationId xmlns:a16="http://schemas.microsoft.com/office/drawing/2014/main" id="{12E0615F-4D1A-80EE-E018-851174991C83}"/>
              </a:ext>
            </a:extLst>
          </p:cNvPr>
          <p:cNvSpPr/>
          <p:nvPr/>
        </p:nvSpPr>
        <p:spPr>
          <a:xfrm>
            <a:off x="4279392" y="1078992"/>
            <a:ext cx="585216" cy="585216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cxnSp>
        <p:nvCxnSpPr>
          <p:cNvPr id="36" name="Connector 2">
            <a:extLst>
              <a:ext uri="{FF2B5EF4-FFF2-40B4-BE49-F238E27FC236}">
                <a16:creationId xmlns:a16="http://schemas.microsoft.com/office/drawing/2014/main" id="{3720485D-D054-8A17-EB38-4D4482839DED}"/>
              </a:ext>
            </a:extLst>
          </p:cNvPr>
          <p:cNvCxnSpPr/>
          <p:nvPr/>
        </p:nvCxnSpPr>
        <p:spPr>
          <a:xfrm>
            <a:off x="4956048" y="1371600"/>
            <a:ext cx="1914144" cy="0"/>
          </a:xfrm>
          <a:prstGeom prst="line">
            <a:avLst/>
          </a:prstGeom>
          <a:ln w="19050">
            <a:solidFill>
              <a:srgbClr val="6BB0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Label étape 2">
            <a:extLst>
              <a:ext uri="{FF2B5EF4-FFF2-40B4-BE49-F238E27FC236}">
                <a16:creationId xmlns:a16="http://schemas.microsoft.com/office/drawing/2014/main" id="{05E1D44B-3F36-2A64-205D-A65F301443F1}"/>
              </a:ext>
            </a:extLst>
          </p:cNvPr>
          <p:cNvSpPr txBox="1"/>
          <p:nvPr/>
        </p:nvSpPr>
        <p:spPr>
          <a:xfrm>
            <a:off x="332232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Ajuster le projet</a:t>
            </a:r>
          </a:p>
        </p:txBody>
      </p:sp>
      <p:sp>
        <p:nvSpPr>
          <p:cNvPr id="38" name="Texte étape 2">
            <a:extLst>
              <a:ext uri="{FF2B5EF4-FFF2-40B4-BE49-F238E27FC236}">
                <a16:creationId xmlns:a16="http://schemas.microsoft.com/office/drawing/2014/main" id="{2DC5F4AF-7849-B6A7-8D4F-6484A9F51EA7}"/>
              </a:ext>
            </a:extLst>
          </p:cNvPr>
          <p:cNvSpPr txBox="1"/>
          <p:nvPr/>
        </p:nvSpPr>
        <p:spPr>
          <a:xfrm>
            <a:off x="332232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5B6573"/>
                </a:solidFill>
                <a:latin typeface="Roboto"/>
              </a:rPr>
              <a:t>Lisez le premier avis et modifiez votre projet si besoin. Les autres périmètres n’ont encore rien reçu.</a:t>
            </a:r>
          </a:p>
        </p:txBody>
      </p:sp>
      <p:sp>
        <p:nvSpPr>
          <p:cNvPr id="39" name="Oval étape 3">
            <a:extLst>
              <a:ext uri="{FF2B5EF4-FFF2-40B4-BE49-F238E27FC236}">
                <a16:creationId xmlns:a16="http://schemas.microsoft.com/office/drawing/2014/main" id="{8EFD9557-00C4-3141-5C9D-F8E677EB21AB}"/>
              </a:ext>
            </a:extLst>
          </p:cNvPr>
          <p:cNvSpPr/>
          <p:nvPr/>
        </p:nvSpPr>
        <p:spPr>
          <a:xfrm>
            <a:off x="6961632" y="1078992"/>
            <a:ext cx="585216" cy="585216"/>
          </a:xfrm>
          <a:prstGeom prst="ellipse">
            <a:avLst/>
          </a:prstGeom>
          <a:solidFill>
            <a:srgbClr val="0030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40" name="Label étape 3">
            <a:extLst>
              <a:ext uri="{FF2B5EF4-FFF2-40B4-BE49-F238E27FC236}">
                <a16:creationId xmlns:a16="http://schemas.microsoft.com/office/drawing/2014/main" id="{6210F44B-DEB6-8AD9-3E0E-7945F1E93744}"/>
              </a:ext>
            </a:extLst>
          </p:cNvPr>
          <p:cNvSpPr txBox="1"/>
          <p:nvPr/>
        </p:nvSpPr>
        <p:spPr>
          <a:xfrm>
            <a:off x="6004560" y="1801368"/>
            <a:ext cx="2499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003059"/>
                </a:solidFill>
                <a:latin typeface="Roboto"/>
              </a:rPr>
              <a:t>Solliciter les autres</a:t>
            </a:r>
          </a:p>
        </p:txBody>
      </p:sp>
      <p:sp>
        <p:nvSpPr>
          <p:cNvPr id="41" name="Texte étape 3">
            <a:extLst>
              <a:ext uri="{FF2B5EF4-FFF2-40B4-BE49-F238E27FC236}">
                <a16:creationId xmlns:a16="http://schemas.microsoft.com/office/drawing/2014/main" id="{6D3C4C74-3849-D32D-40B2-29731E36E793}"/>
              </a:ext>
            </a:extLst>
          </p:cNvPr>
          <p:cNvSpPr txBox="1"/>
          <p:nvPr/>
        </p:nvSpPr>
        <p:spPr>
          <a:xfrm>
            <a:off x="6004560" y="2101368"/>
            <a:ext cx="24993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5B6573"/>
                </a:solidFill>
                <a:latin typeface="Roboto"/>
              </a:rPr>
              <a:t>Cliquez sur « Solliciter les autres périmètres » ou, sur une carte, « Solliciter maintenant ». Vos modifications partent avec.</a:t>
            </a:r>
          </a:p>
        </p:txBody>
      </p:sp>
      <p:sp>
        <p:nvSpPr>
          <p:cNvPr id="42" name="Encadré à savoir">
            <a:extLst>
              <a:ext uri="{FF2B5EF4-FFF2-40B4-BE49-F238E27FC236}">
                <a16:creationId xmlns:a16="http://schemas.microsoft.com/office/drawing/2014/main" id="{CAE5D94A-EFAE-4717-C9E3-4BE228DDE4A4}"/>
              </a:ext>
            </a:extLst>
          </p:cNvPr>
          <p:cNvSpPr/>
          <p:nvPr/>
        </p:nvSpPr>
        <p:spPr>
          <a:xfrm>
            <a:off x="548640" y="3054096"/>
            <a:ext cx="804672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itre à savoir">
            <a:extLst>
              <a:ext uri="{FF2B5EF4-FFF2-40B4-BE49-F238E27FC236}">
                <a16:creationId xmlns:a16="http://schemas.microsoft.com/office/drawing/2014/main" id="{79523FF4-512B-2D9C-1805-6CAE9DAFE0AA}"/>
              </a:ext>
            </a:extLst>
          </p:cNvPr>
          <p:cNvSpPr txBox="1"/>
          <p:nvPr/>
        </p:nvSpPr>
        <p:spPr>
          <a:xfrm>
            <a:off x="694944" y="3182112"/>
            <a:ext cx="77541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À savoir</a:t>
            </a:r>
          </a:p>
        </p:txBody>
      </p:sp>
      <p:sp>
        <p:nvSpPr>
          <p:cNvPr id="44" name="Puce">
            <a:extLst>
              <a:ext uri="{FF2B5EF4-FFF2-40B4-BE49-F238E27FC236}">
                <a16:creationId xmlns:a16="http://schemas.microsoft.com/office/drawing/2014/main" id="{8A4201DB-389E-A4D5-03E5-B49BC0614D38}"/>
              </a:ext>
            </a:extLst>
          </p:cNvPr>
          <p:cNvSpPr/>
          <p:nvPr/>
        </p:nvSpPr>
        <p:spPr>
          <a:xfrm>
            <a:off x="694944" y="356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e puce">
            <a:extLst>
              <a:ext uri="{FF2B5EF4-FFF2-40B4-BE49-F238E27FC236}">
                <a16:creationId xmlns:a16="http://schemas.microsoft.com/office/drawing/2014/main" id="{25835F38-BA91-BB4A-10CF-41630F5BF749}"/>
              </a:ext>
            </a:extLst>
          </p:cNvPr>
          <p:cNvSpPr txBox="1"/>
          <p:nvPr/>
        </p:nvSpPr>
        <p:spPr>
          <a:xfrm>
            <a:off x="877824" y="351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Tant qu’ils ne sont pas sollicités, les périmètres mis de côté ne reçoivent rien et ne voient pas le projet.</a:t>
            </a:r>
          </a:p>
        </p:txBody>
      </p:sp>
      <p:sp>
        <p:nvSpPr>
          <p:cNvPr id="46" name="Puce">
            <a:extLst>
              <a:ext uri="{FF2B5EF4-FFF2-40B4-BE49-F238E27FC236}">
                <a16:creationId xmlns:a16="http://schemas.microsoft.com/office/drawing/2014/main" id="{712836EE-FC15-2AF1-089A-4DE4F2D30478}"/>
              </a:ext>
            </a:extLst>
          </p:cNvPr>
          <p:cNvSpPr/>
          <p:nvPr/>
        </p:nvSpPr>
        <p:spPr>
          <a:xfrm>
            <a:off x="694944" y="382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e puce">
            <a:extLst>
              <a:ext uri="{FF2B5EF4-FFF2-40B4-BE49-F238E27FC236}">
                <a16:creationId xmlns:a16="http://schemas.microsoft.com/office/drawing/2014/main" id="{EDBAEB41-FCE4-8251-DF96-7D0B01CB70D2}"/>
              </a:ext>
            </a:extLst>
          </p:cNvPr>
          <p:cNvSpPr txBox="1"/>
          <p:nvPr/>
        </p:nvSpPr>
        <p:spPr>
          <a:xfrm>
            <a:off x="877824" y="377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du projet affiche « Consultation partielle » : aucun avis ne vaut encore pour l’ensemble du projet.</a:t>
            </a:r>
          </a:p>
        </p:txBody>
      </p:sp>
      <p:sp>
        <p:nvSpPr>
          <p:cNvPr id="48" name="Puce">
            <a:extLst>
              <a:ext uri="{FF2B5EF4-FFF2-40B4-BE49-F238E27FC236}">
                <a16:creationId xmlns:a16="http://schemas.microsoft.com/office/drawing/2014/main" id="{C6D4D754-42E9-582C-6E5D-F0EF5C845EF2}"/>
              </a:ext>
            </a:extLst>
          </p:cNvPr>
          <p:cNvSpPr/>
          <p:nvPr/>
        </p:nvSpPr>
        <p:spPr>
          <a:xfrm>
            <a:off x="694944" y="408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e puce">
            <a:extLst>
              <a:ext uri="{FF2B5EF4-FFF2-40B4-BE49-F238E27FC236}">
                <a16:creationId xmlns:a16="http://schemas.microsoft.com/office/drawing/2014/main" id="{BE394A3C-2729-E2C9-06EA-ED05793EB7B2}"/>
              </a:ext>
            </a:extLst>
          </p:cNvPr>
          <p:cNvSpPr txBox="1"/>
          <p:nvPr/>
        </p:nvSpPr>
        <p:spPr>
          <a:xfrm>
            <a:off x="877824" y="403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Une demande de validation sollicite tous les périmètres, sans exception.</a:t>
            </a:r>
          </a:p>
        </p:txBody>
      </p:sp>
      <p:sp>
        <p:nvSpPr>
          <p:cNvPr id="50" name="Puce">
            <a:extLst>
              <a:ext uri="{FF2B5EF4-FFF2-40B4-BE49-F238E27FC236}">
                <a16:creationId xmlns:a16="http://schemas.microsoft.com/office/drawing/2014/main" id="{C81C73C2-6BD1-D66A-9D91-3006F69CAB87}"/>
              </a:ext>
            </a:extLst>
          </p:cNvPr>
          <p:cNvSpPr/>
          <p:nvPr/>
        </p:nvSpPr>
        <p:spPr>
          <a:xfrm>
            <a:off x="694944" y="434811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e puce">
            <a:extLst>
              <a:ext uri="{FF2B5EF4-FFF2-40B4-BE49-F238E27FC236}">
                <a16:creationId xmlns:a16="http://schemas.microsoft.com/office/drawing/2014/main" id="{DAEEC170-9E61-1556-61FD-C1FAF8A6E4C7}"/>
              </a:ext>
            </a:extLst>
          </p:cNvPr>
          <p:cNvSpPr txBox="1"/>
          <p:nvPr/>
        </p:nvSpPr>
        <p:spPr>
          <a:xfrm>
            <a:off x="877824" y="4292112"/>
            <a:ext cx="757123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choix proposé par défaut reste « Tous les périmètres concernés (recommandé) ».</a:t>
            </a:r>
          </a:p>
        </p:txBody>
      </p:sp>
    </p:spTree>
    <p:extLst>
      <p:ext uri="{BB962C8B-B14F-4D97-AF65-F5344CB8AC3E}">
        <p14:creationId xmlns:p14="http://schemas.microsoft.com/office/powerpoint/2010/main" val="3562121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Équipes à solliciter et points à préparer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1-syn-team_93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544788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07492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4104" y="1188720"/>
            <a:ext cx="319125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Points à préparer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les questions que cette équipe pose systématiquement. Préparez-y une réponse.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180136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04104" y="1810512"/>
            <a:ext cx="319125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Échange en cours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aucun avis n’a encore été rendu, vous pouvez déjà poser vos questions.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5074920" y="2423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04104" y="2432304"/>
            <a:ext cx="319125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ouvre le fil d’échange avec l’équipe.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3108960"/>
            <a:ext cx="3520440" cy="1074928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21224" y="3236976"/>
            <a:ext cx="32278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1224" y="3511296"/>
            <a:ext cx="3227832" cy="581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cartes d’équipe sont repliées : un clic sur le nom de l’équipe les déplie. Une équipe manque ? « Solliciter cette équipe », sous la liste, l’ajoute aux enjeux et la notifie.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Risques identifiés et points de vigilance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2-syn-risks_124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73059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6235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06440" y="1234440"/>
            <a:ext cx="27889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Niveau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criticité (faible, moyen, élevé) et priorité (« À réaliser », « À anticiper »…).</a:t>
            </a:r>
          </a:p>
        </p:txBody>
      </p:sp>
      <p:sp>
        <p:nvSpPr>
          <p:cNvPr id="9" name="Oval 8"/>
          <p:cNvSpPr/>
          <p:nvPr/>
        </p:nvSpPr>
        <p:spPr>
          <a:xfrm>
            <a:off x="5623560" y="184861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06440" y="1795272"/>
            <a:ext cx="278892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Équipe référente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pour chaque risque.</a:t>
            </a:r>
          </a:p>
        </p:txBody>
      </p:sp>
      <p:sp>
        <p:nvSpPr>
          <p:cNvPr id="11" name="Oval 10"/>
          <p:cNvSpPr/>
          <p:nvPr/>
        </p:nvSpPr>
        <p:spPr>
          <a:xfrm>
            <a:off x="5623560" y="208432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06440" y="2030984"/>
            <a:ext cx="278892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Mitigation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l’action attendue pour réduire le risque.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24825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06440" y="2429256"/>
            <a:ext cx="27889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Points de vigilance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délais à respecter entre vos dates, quand une règle en prévoit.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23560" y="3429000"/>
            <a:ext cx="297180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9864" y="3557016"/>
            <a:ext cx="267919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9864" y="3831336"/>
            <a:ext cx="2679192" cy="426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risques se recalculent à chaque réponse modifiée : ils décrivent toujours l’état actuel du projet.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Partage du projet et rappel des réponses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4-syn-share_97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714813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21854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194560"/>
            <a:ext cx="3511296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Partage du projet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un collègue, il retrouvera le projet dans sa liste et pourra le faire évoluer avec vous.</a:t>
            </a:r>
          </a:p>
        </p:txBody>
      </p:sp>
      <p:pic>
        <p:nvPicPr>
          <p:cNvPr id="9" name="Picture 8" descr="45-syn-recap_103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188720"/>
            <a:ext cx="393192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4663440" y="32826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4" y="3291840"/>
            <a:ext cx="360273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Crayon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à côté d’une réponse : ouvre directement la question pour la modifier (partie 6).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3840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La section « Rappel de vos réponses » se déplie avec « Afficher ».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Soumettre et vérifier l’envoi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05 · Les enjeux et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15" name="Picture 5" descr="Choix des périmètres à consulter">
            <a:extLst>
              <a:ext uri="{FF2B5EF4-FFF2-40B4-BE49-F238E27FC236}">
                <a16:creationId xmlns:a16="http://schemas.microsoft.com/office/drawing/2014/main" id="{CF5FCD78-6683-3F3D-D25E-0F022AADD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33456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17" name="Picture 6" descr="Consultation partielle après l’envoi">
            <a:extLst>
              <a:ext uri="{FF2B5EF4-FFF2-40B4-BE49-F238E27FC236}">
                <a16:creationId xmlns:a16="http://schemas.microsoft.com/office/drawing/2014/main" id="{46756BEB-C9A8-C0F0-14CD-89D92BB87E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9256" y="1188720"/>
            <a:ext cx="2231755" cy="32004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9" name="Oval 6">
            <a:extLst>
              <a:ext uri="{FF2B5EF4-FFF2-40B4-BE49-F238E27FC236}">
                <a16:creationId xmlns:a16="http://schemas.microsoft.com/office/drawing/2014/main" id="{789A6A60-204B-4638-9A54-F145FCE918B4}"/>
              </a:ext>
            </a:extLst>
          </p:cNvPr>
          <p:cNvSpPr/>
          <p:nvPr/>
        </p:nvSpPr>
        <p:spPr>
          <a:xfrm>
            <a:off x="539496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F19859C6-887C-6B0F-C02C-EA4E8CE3BABE}"/>
              </a:ext>
            </a:extLst>
          </p:cNvPr>
          <p:cNvSpPr txBox="1"/>
          <p:nvPr/>
        </p:nvSpPr>
        <p:spPr>
          <a:xfrm>
            <a:off x="5724144" y="1234440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 Qui voulez-vous consulter ? 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tous les périmètres (par défaut) ou certains d’abord.</a:t>
            </a:r>
          </a:p>
        </p:txBody>
      </p:sp>
      <p:sp>
        <p:nvSpPr>
          <p:cNvPr id="23" name="Oval 6">
            <a:extLst>
              <a:ext uri="{FF2B5EF4-FFF2-40B4-BE49-F238E27FC236}">
                <a16:creationId xmlns:a16="http://schemas.microsoft.com/office/drawing/2014/main" id="{C2779362-2534-E3D1-8B3D-8C8DFF550FF5}"/>
              </a:ext>
            </a:extLst>
          </p:cNvPr>
          <p:cNvSpPr/>
          <p:nvPr/>
        </p:nvSpPr>
        <p:spPr>
          <a:xfrm>
            <a:off x="5394960" y="170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ADA88679-2A18-856C-A50A-9DB4B678139B}"/>
              </a:ext>
            </a:extLst>
          </p:cNvPr>
          <p:cNvSpPr txBox="1"/>
          <p:nvPr/>
        </p:nvSpPr>
        <p:spPr>
          <a:xfrm>
            <a:off x="5724144" y="1714440"/>
            <a:ext cx="287121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Cochez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qui consulter en premier.</a:t>
            </a:r>
          </a:p>
        </p:txBody>
      </p:sp>
      <p:sp>
        <p:nvSpPr>
          <p:cNvPr id="27" name="Oval 6">
            <a:extLst>
              <a:ext uri="{FF2B5EF4-FFF2-40B4-BE49-F238E27FC236}">
                <a16:creationId xmlns:a16="http://schemas.microsoft.com/office/drawing/2014/main" id="{555F119E-27E2-896E-D73F-82552E09196C}"/>
              </a:ext>
            </a:extLst>
          </p:cNvPr>
          <p:cNvSpPr/>
          <p:nvPr/>
        </p:nvSpPr>
        <p:spPr>
          <a:xfrm>
            <a:off x="5394960" y="2063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29" name="TextBox 7">
            <a:extLst>
              <a:ext uri="{FF2B5EF4-FFF2-40B4-BE49-F238E27FC236}">
                <a16:creationId xmlns:a16="http://schemas.microsoft.com/office/drawing/2014/main" id="{2D8B4119-41D6-6BB1-348C-23F3C4A8F525}"/>
              </a:ext>
            </a:extLst>
          </p:cNvPr>
          <p:cNvSpPr txBox="1"/>
          <p:nvPr/>
        </p:nvSpPr>
        <p:spPr>
          <a:xfrm>
            <a:off x="5724144" y="2072184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Le bouton annonce l’envoi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à qui, et combien attendront.</a:t>
            </a:r>
          </a:p>
        </p:txBody>
      </p:sp>
      <p:sp>
        <p:nvSpPr>
          <p:cNvPr id="31" name="Oval 6">
            <a:extLst>
              <a:ext uri="{FF2B5EF4-FFF2-40B4-BE49-F238E27FC236}">
                <a16:creationId xmlns:a16="http://schemas.microsoft.com/office/drawing/2014/main" id="{73424795-9A16-8DC2-716C-34BEDBB8CF05}"/>
              </a:ext>
            </a:extLst>
          </p:cNvPr>
          <p:cNvSpPr/>
          <p:nvPr/>
        </p:nvSpPr>
        <p:spPr>
          <a:xfrm>
            <a:off x="5394960" y="254304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33" name="TextBox 7">
            <a:extLst>
              <a:ext uri="{FF2B5EF4-FFF2-40B4-BE49-F238E27FC236}">
                <a16:creationId xmlns:a16="http://schemas.microsoft.com/office/drawing/2014/main" id="{F94C88AC-FE59-1872-644F-4A532FB9DF05}"/>
              </a:ext>
            </a:extLst>
          </p:cNvPr>
          <p:cNvSpPr txBox="1"/>
          <p:nvPr/>
        </p:nvSpPr>
        <p:spPr>
          <a:xfrm>
            <a:off x="5724144" y="2552184"/>
            <a:ext cx="2871216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Après l’envoi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 Consultation partielle » et les périmètres à solliciter ensuite.</a:t>
            </a:r>
          </a:p>
        </p:txBody>
      </p:sp>
      <p:sp>
        <p:nvSpPr>
          <p:cNvPr id="35" name="Oval 8">
            <a:extLst>
              <a:ext uri="{FF2B5EF4-FFF2-40B4-BE49-F238E27FC236}">
                <a16:creationId xmlns:a16="http://schemas.microsoft.com/office/drawing/2014/main" id="{3EE0A109-6C0F-ACAC-E5B6-22ADEBD070BA}"/>
              </a:ext>
            </a:extLst>
          </p:cNvPr>
          <p:cNvSpPr/>
          <p:nvPr/>
        </p:nvSpPr>
        <p:spPr>
          <a:xfrm>
            <a:off x="5394960" y="313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9">
            <a:extLst>
              <a:ext uri="{FF2B5EF4-FFF2-40B4-BE49-F238E27FC236}">
                <a16:creationId xmlns:a16="http://schemas.microsoft.com/office/drawing/2014/main" id="{71B6612C-408D-39FB-DB58-CEAF96AB3491}"/>
              </a:ext>
            </a:extLst>
          </p:cNvPr>
          <p:cNvSpPr txBox="1"/>
          <p:nvPr/>
        </p:nvSpPr>
        <p:spPr>
          <a:xfrm>
            <a:off x="5577840" y="3083040"/>
            <a:ext cx="301752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Confirmation : « Avis préliminaire demandé : … » ou « Projet soumis : … ».</a:t>
            </a:r>
          </a:p>
        </p:txBody>
      </p:sp>
      <p:sp>
        <p:nvSpPr>
          <p:cNvPr id="39" name="Oval 8">
            <a:extLst>
              <a:ext uri="{FF2B5EF4-FFF2-40B4-BE49-F238E27FC236}">
                <a16:creationId xmlns:a16="http://schemas.microsoft.com/office/drawing/2014/main" id="{435498A5-8309-2CBC-8695-0193BE63C23C}"/>
              </a:ext>
            </a:extLst>
          </p:cNvPr>
          <p:cNvSpPr/>
          <p:nvPr/>
        </p:nvSpPr>
        <p:spPr>
          <a:xfrm>
            <a:off x="5394960" y="358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">
            <a:extLst>
              <a:ext uri="{FF2B5EF4-FFF2-40B4-BE49-F238E27FC236}">
                <a16:creationId xmlns:a16="http://schemas.microsoft.com/office/drawing/2014/main" id="{B28FC9D7-E865-B44A-05A0-59DB7C6FADC8}"/>
              </a:ext>
            </a:extLst>
          </p:cNvPr>
          <p:cNvSpPr txBox="1"/>
          <p:nvPr/>
        </p:nvSpPr>
        <p:spPr>
          <a:xfrm>
            <a:off x="5577840" y="3533040"/>
            <a:ext cx="301752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Seuls les périmètres retenus sont notifiés.</a:t>
            </a:r>
          </a:p>
        </p:txBody>
      </p:sp>
      <p:sp>
        <p:nvSpPr>
          <p:cNvPr id="43" name="Oval 8">
            <a:extLst>
              <a:ext uri="{FF2B5EF4-FFF2-40B4-BE49-F238E27FC236}">
                <a16:creationId xmlns:a16="http://schemas.microsoft.com/office/drawing/2014/main" id="{449B4EE6-C538-3C42-D4CB-A2162D77F5C8}"/>
              </a:ext>
            </a:extLst>
          </p:cNvPr>
          <p:cNvSpPr/>
          <p:nvPr/>
        </p:nvSpPr>
        <p:spPr>
          <a:xfrm>
            <a:off x="5394960" y="385904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">
            <a:extLst>
              <a:ext uri="{FF2B5EF4-FFF2-40B4-BE49-F238E27FC236}">
                <a16:creationId xmlns:a16="http://schemas.microsoft.com/office/drawing/2014/main" id="{218DA2ED-EAA9-668D-83F4-2A27DD588932}"/>
              </a:ext>
            </a:extLst>
          </p:cNvPr>
          <p:cNvSpPr txBox="1"/>
          <p:nvPr/>
        </p:nvSpPr>
        <p:spPr>
          <a:xfrm>
            <a:off x="5577840" y="3803040"/>
            <a:ext cx="301752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badge de la carte suit l’avancement des avis (annexe des statuts).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t>Après la soumission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2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Suivre depuis l’accueil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Lire l’avis et répondre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Modifier un projet soumis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3" name="TextBox 12">
            <a:hlinkClick r:id="rId6" action="ppaction://hlinksldjump"/>
          </p:cNvPr>
          <p:cNvSpPr txBox="1"/>
          <p:nvPr/>
        </p:nvSpPr>
        <p:spPr>
          <a:xfrm>
            <a:off x="6629400" y="220980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Envoyer la mise à jour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8321040" y="220980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5" name="TextBox 14">
            <a:hlinkClick r:id="rId7" action="ppaction://hlinksldjump"/>
          </p:cNvPr>
          <p:cNvSpPr txBox="1"/>
          <p:nvPr/>
        </p:nvSpPr>
        <p:spPr>
          <a:xfrm>
            <a:off x="6629400" y="247395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« À ré-examiner »</a:t>
            </a:r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321040" y="247395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7" name="TextBox 16">
            <a:hlinkClick r:id="rId8" action="ppaction://hlinksldjump"/>
          </p:cNvPr>
          <p:cNvSpPr txBox="1"/>
          <p:nvPr/>
        </p:nvSpPr>
        <p:spPr>
          <a:xfrm>
            <a:off x="6629400" y="2738119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dernier tour avant lancement</a:t>
            </a:r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8321040" y="2738119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9" name="TextBox 18">
            <a:hlinkClick r:id="rId9" action="ppaction://hlinksldjump"/>
          </p:cNvPr>
          <p:cNvSpPr txBox="1"/>
          <p:nvPr/>
        </p:nvSpPr>
        <p:spPr>
          <a:xfrm>
            <a:off x="6629400" y="315671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Déclarer le lancement</a:t>
            </a:r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8321040" y="315671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21" name="TextBox 20">
            <a:hlinkClick r:id="rId10" action="ppaction://hlinksldjump"/>
          </p:cNvPr>
          <p:cNvSpPr txBox="1"/>
          <p:nvPr/>
        </p:nvSpPr>
        <p:spPr>
          <a:xfrm>
            <a:off x="6629400" y="3420871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Annuler, supprimer, rendre visible</a:t>
            </a:r>
          </a:p>
        </p:txBody>
      </p:sp>
      <p:sp>
        <p:nvSpPr>
          <p:cNvPr id="22" name="TextBox 21">
            <a:hlinkClick r:id="rId10" action="ppaction://hlinksldjump"/>
          </p:cNvPr>
          <p:cNvSpPr txBox="1"/>
          <p:nvPr/>
        </p:nvSpPr>
        <p:spPr>
          <a:xfrm>
            <a:off x="8321040" y="3420871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Suivre son projet depuis l’accueil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49-home-card-submitted_10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931920" cy="2493734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70916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38344" y="1188720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Badge de validation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il remplace le statut une fois le projet soumis. Survolez-le pour le détail des avis.</a:t>
            </a:r>
          </a:p>
        </p:txBody>
      </p:sp>
      <p:sp>
        <p:nvSpPr>
          <p:cNvPr id="9" name="Oval 8"/>
          <p:cNvSpPr/>
          <p:nvPr/>
        </p:nvSpPr>
        <p:spPr>
          <a:xfrm>
            <a:off x="4709160" y="15778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38344" y="1586992"/>
            <a:ext cx="355701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Rendre visible à tous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apparaît chez les autres dans « Projets partagés par d’autres équipes ».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8344" y="2147824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Annuler la soumission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voir « Annuler, supprimer, rendre visible ».</a:t>
            </a:r>
          </a:p>
        </p:txBody>
      </p:sp>
      <p:sp>
        <p:nvSpPr>
          <p:cNvPr id="13" name="Oval 12"/>
          <p:cNvSpPr/>
          <p:nvPr/>
        </p:nvSpPr>
        <p:spPr>
          <a:xfrm>
            <a:off x="4709160" y="25369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38344" y="2546096"/>
            <a:ext cx="355701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Modifier le projet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projet soumis reste modifiable.</a:t>
            </a:r>
          </a:p>
        </p:txBody>
      </p:sp>
      <p:sp>
        <p:nvSpPr>
          <p:cNvPr id="15" name="Oval 14"/>
          <p:cNvSpPr/>
          <p:nvPr/>
        </p:nvSpPr>
        <p:spPr>
          <a:xfrm>
            <a:off x="4709160" y="293522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38344" y="2944368"/>
            <a:ext cx="355701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Consulter les enjeux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1148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1">
                <a:solidFill>
                  <a:srgbClr val="5B6573"/>
                </a:solidFill>
                <a:latin typeface="Roboto"/>
              </a:rPr>
              <a:t>Les badges possibles sont détaillés dans l’annexe « Les badges de vos projets ».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Lire l’avis des experts et leur répondre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2-syn-opinion_7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840255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983480" y="11795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12664" y="1188720"/>
            <a:ext cx="3282696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Statut de l’équipe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validé, validé sous conditions, en attente d’informations, non concerné ou refusé.</a:t>
            </a:r>
          </a:p>
        </p:txBody>
      </p:sp>
      <p:sp>
        <p:nvSpPr>
          <p:cNvPr id="9" name="Oval 8"/>
          <p:cNvSpPr/>
          <p:nvPr/>
        </p:nvSpPr>
        <p:spPr>
          <a:xfrm>
            <a:off x="4983480" y="174040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2664" y="1749552"/>
            <a:ext cx="32826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Prise en charge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l’expert qui suit votre projet ; les échanges suivants lui sont adressés.</a:t>
            </a:r>
          </a:p>
        </p:txBody>
      </p:sp>
      <p:sp>
        <p:nvSpPr>
          <p:cNvPr id="11" name="Oval 10"/>
          <p:cNvSpPr/>
          <p:nvPr/>
        </p:nvSpPr>
        <p:spPr>
          <a:xfrm>
            <a:off x="4983480" y="213868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2664" y="2147824"/>
            <a:ext cx="32826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Avis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de l’équipe.</a:t>
            </a:r>
          </a:p>
        </p:txBody>
      </p:sp>
      <p:sp>
        <p:nvSpPr>
          <p:cNvPr id="13" name="Oval 12"/>
          <p:cNvSpPr/>
          <p:nvPr/>
        </p:nvSpPr>
        <p:spPr>
          <a:xfrm>
            <a:off x="4983480" y="246786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477008"/>
            <a:ext cx="3282696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Échanges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 fil entre vous et l’équipe.</a:t>
            </a:r>
          </a:p>
        </p:txBody>
      </p:sp>
      <p:sp>
        <p:nvSpPr>
          <p:cNvPr id="15" name="Oval 14"/>
          <p:cNvSpPr/>
          <p:nvPr/>
        </p:nvSpPr>
        <p:spPr>
          <a:xfrm>
            <a:off x="4983480" y="27970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806191"/>
            <a:ext cx="3282696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Répondre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puis « Envoyer la réponse » (texte riche, liens, pièces jointes).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Modifier un projet soumis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6-q-from-synthesis_7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693901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384048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9664" y="1234440"/>
            <a:ext cx="4425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Bandeau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« Modification depuis les enjeux du projet » : vous savez d’où vous venez.</a:t>
            </a:r>
          </a:p>
        </p:txBody>
      </p:sp>
      <p:sp>
        <p:nvSpPr>
          <p:cNvPr id="9" name="Oval 8"/>
          <p:cNvSpPr/>
          <p:nvPr/>
        </p:nvSpPr>
        <p:spPr>
          <a:xfrm>
            <a:off x="384048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4" y="1685544"/>
            <a:ext cx="442569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et revenir aux enjeux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et vous ramène à la page des enjeux.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514600"/>
            <a:ext cx="4754880" cy="210312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86784" y="2642616"/>
            <a:ext cx="44622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003059"/>
                </a:solidFill>
                <a:latin typeface="Roboto"/>
              </a:rPr>
              <a:t>Trois façons d’ouvrir une réponse</a:t>
            </a:r>
          </a:p>
        </p:txBody>
      </p:sp>
      <p:sp>
        <p:nvSpPr>
          <p:cNvPr id="13" name="Oval 12"/>
          <p:cNvSpPr/>
          <p:nvPr/>
        </p:nvSpPr>
        <p:spPr>
          <a:xfrm>
            <a:off x="3986784" y="297294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169664" y="2916936"/>
            <a:ext cx="4279392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Le crayon du « Rappel de vos réponses », dans les enjeux du projet.</a:t>
            </a:r>
          </a:p>
        </p:txBody>
      </p:sp>
      <p:sp>
        <p:nvSpPr>
          <p:cNvPr id="15" name="Oval 14"/>
          <p:cNvSpPr/>
          <p:nvPr/>
        </p:nvSpPr>
        <p:spPr>
          <a:xfrm>
            <a:off x="3986784" y="338747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69664" y="3331464"/>
            <a:ext cx="427939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Modifier le projet » sur la carte de l’accueil.</a:t>
            </a:r>
          </a:p>
        </p:txBody>
      </p:sp>
      <p:sp>
        <p:nvSpPr>
          <p:cNvPr id="17" name="Oval 16"/>
          <p:cNvSpPr/>
          <p:nvPr/>
        </p:nvSpPr>
        <p:spPr>
          <a:xfrm>
            <a:off x="3986784" y="363131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69664" y="3575303"/>
            <a:ext cx="4279392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« Retour au questionnaire » en haut des enjeux.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Envoyer la mise à jour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7-syn-pending-update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401421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023360"/>
            <a:ext cx="2048256" cy="772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Envoyer la mise à jour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: à cliquer quand vous jugez utile de prévenir les experts. La liste montre les réponses modifiées depuis le dernier envoi.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46704" y="1316736"/>
            <a:ext cx="23134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Le périmètre d’une équipe change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4" y="1591056"/>
            <a:ext cx="2313432" cy="1563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Seules les équipes réellement concernées sont notifiées : nouvelle équipe, règles modifiées, ou équipe qui n’est plus concernée (elle en est informée).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188720"/>
            <a:ext cx="2606040" cy="20574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35624" y="1316736"/>
            <a:ext cx="231343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03059"/>
                </a:solidFill>
                <a:latin typeface="Roboto"/>
              </a:rPr>
              <a:t>Aucun périmètre ne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35624" y="1591056"/>
            <a:ext cx="2313432" cy="1563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La mise à jour est enregistrée sans déranger personne : les équipes gardent leur avis.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429000"/>
            <a:ext cx="5394960" cy="920496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6704" y="3557016"/>
            <a:ext cx="51023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704" y="3831336"/>
            <a:ext cx="5102352" cy="426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Les champs de texte libre (descriptions, jalons, fichiers) ne déclenchent jamais de notification : aucune règle ne les lit. Les experts en voient le nombre lors de leur prochaine revue.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Quand un avis est à revoir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9-syn-review-pending_109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156429" cy="10515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8-home-badge-outdated_72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468880"/>
            <a:ext cx="2743200" cy="8219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539496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7840" y="1234440"/>
            <a:ext cx="3017520" cy="65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Quand une mise à jour touche le périmètre d’une équipe qui avait déjà rendu son avis, sa carte affiche « À ré-examiner » avec la liste des modifications.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394960" y="201117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77840" y="1957831"/>
            <a:ext cx="3017520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Sur l’accueil, un projet validé passe à « Validé — modifié depuis » : un « Validé » ne couvre que l’état du projet qui a été validé.</a:t>
            </a:r>
          </a:p>
        </p:txBody>
      </p:sp>
      <p:sp>
        <p:nvSpPr>
          <p:cNvPr id="12" name="Oval 11"/>
          <p:cNvSpPr/>
          <p:nvPr/>
        </p:nvSpPr>
        <p:spPr>
          <a:xfrm>
            <a:off x="5394960" y="25720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577840" y="2518664"/>
            <a:ext cx="301752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badge redevient « Validé » quand l’équipe a rendu un nouvel avis favorable.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dernier tour avant lancement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54-syn-final-round_55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097492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55-syn-final-awaiting_56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6120"/>
            <a:ext cx="2141057" cy="141732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Oval 7"/>
          <p:cNvSpPr/>
          <p:nvPr/>
        </p:nvSpPr>
        <p:spPr>
          <a:xfrm>
            <a:off x="301752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46703" y="1234440"/>
            <a:ext cx="524865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Demander la confirmation finale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: les experts qui se sont déjà prononcés sont invités à confirmer leur avis sur l’état actuel du projet. Pour eux, c’est un clic dans le cas nominal.</a:t>
            </a:r>
          </a:p>
        </p:txBody>
      </p:sp>
      <p:sp>
        <p:nvSpPr>
          <p:cNvPr id="10" name="Oval 9"/>
          <p:cNvSpPr/>
          <p:nvPr/>
        </p:nvSpPr>
        <p:spPr>
          <a:xfrm>
            <a:off x="3017520" y="1822704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6703" y="1831848"/>
            <a:ext cx="5248655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2A37"/>
                </a:solidFill>
                <a:latin typeface="Roboto"/>
              </a:rPr>
              <a:t>« Déclarer le projet lancé » </a:t>
            </a:r>
            <a:r>
              <a:rPr sz="1000" b="0" i="0">
                <a:solidFill>
                  <a:srgbClr val="1F2A37"/>
                </a:solidFill>
                <a:latin typeface="Roboto"/>
              </a:rPr>
              <a:t>(page suivante).</a:t>
            </a:r>
          </a:p>
        </p:txBody>
      </p:sp>
      <p:sp>
        <p:nvSpPr>
          <p:cNvPr id="12" name="Oval 11"/>
          <p:cNvSpPr/>
          <p:nvPr/>
        </p:nvSpPr>
        <p:spPr>
          <a:xfrm>
            <a:off x="3017520" y="279654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0" y="2743200"/>
            <a:ext cx="53949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Confirmation finale en cours » indique combien de périmètres ont confirmé.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3032251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0" y="2978912"/>
            <a:ext cx="53949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 expert peut aussi répondre qu’il doit réexaminer : le tour reste ouvert jusqu’à son nouvel avis.</a:t>
            </a:r>
          </a:p>
        </p:txBody>
      </p:sp>
      <p:sp>
        <p:nvSpPr>
          <p:cNvPr id="16" name="Oval 15"/>
          <p:cNvSpPr/>
          <p:nvPr/>
        </p:nvSpPr>
        <p:spPr>
          <a:xfrm>
            <a:off x="3017520" y="343052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0" y="3377184"/>
            <a:ext cx="5394959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Rappels : à l’approche de la date de lancement, si la confirmation n’a pas été demandée, vous recevez un rappel (par défaut 30 puis 10 jours avant).</a:t>
            </a:r>
          </a:p>
        </p:txBody>
      </p:sp>
      <p:sp>
        <p:nvSpPr>
          <p:cNvPr id="18" name="Oval 17"/>
          <p:cNvSpPr/>
          <p:nvPr/>
        </p:nvSpPr>
        <p:spPr>
          <a:xfrm>
            <a:off x="3017520" y="3828796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00400" y="3775455"/>
            <a:ext cx="5394959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 tour peut être relancé si le lancement est repoussé.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Déclarer le lancement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0-syn-launched_62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377440" cy="2310469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548640" y="369417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703320"/>
            <a:ext cx="2048256" cy="4632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Le projet n’est pas lancé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annule une déclaration faite par erreur.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129044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L’application ne devine pas un lancement : une date prévisionnelle dépassée ne prouve rien. C’est à vous (ou à un administrateur, ou à un expert du projet) de le déclarer.</a:t>
            </a:r>
          </a:p>
        </p:txBody>
      </p:sp>
      <p:sp>
        <p:nvSpPr>
          <p:cNvPr id="11" name="Oval 10"/>
          <p:cNvSpPr/>
          <p:nvPr/>
        </p:nvSpPr>
        <p:spPr>
          <a:xfrm>
            <a:off x="3200400" y="187566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819656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Lancé avec une confirmation incomplète, le projet affiche « Projet lancé sans confirmation finale » ; les périmètres concernés et les administrateurs en sont informés.</a:t>
            </a:r>
          </a:p>
        </p:txBody>
      </p:sp>
      <p:sp>
        <p:nvSpPr>
          <p:cNvPr id="13" name="Oval 12"/>
          <p:cNvSpPr/>
          <p:nvPr/>
        </p:nvSpPr>
        <p:spPr>
          <a:xfrm>
            <a:off x="3200400" y="246087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83280" y="2404872"/>
            <a:ext cx="5212080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Roboto"/>
              </a:rPr>
              <a:t>Si la date annoncée est passée alors que la confirmation est encore en cours, le badge « Lancement en attente » indique que le délai est côté revue, pas côté porteur.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Annuler, supprimer, rendre visible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06 · Après la soumission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61-cancel-dialog_8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253848" cy="178308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4114800" y="1188720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61104" y="1316736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Annuler la soumission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61104" y="1591056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⊗ sur la carte. Le projet n’est plus traité par les équipes et n’envoie plus de notification ; il reste dans votre liste avec « Soumission annulée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50008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61104" y="2478024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Supprimer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2752344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Icône corbeille : le projet part dans la « Corbeille » (partie 1), d’où il peut être restauré. Les experts ne le voient plus dans leurs files.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511296"/>
            <a:ext cx="4480560" cy="1069848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61104" y="3639312"/>
            <a:ext cx="418795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03059"/>
                </a:solidFill>
                <a:latin typeface="Roboto"/>
              </a:rPr>
              <a:t>Rendre visible à tous / Rendre privé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1104" y="3913632"/>
            <a:ext cx="4187952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Sur un projet soumis : il apparaît (ou disparaît) chez les autres utilisateurs, dans « Projets partagés par d’autres équipes ».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02152" y="2724912"/>
            <a:ext cx="3017520" cy="1152144"/>
          </a:xfrm>
        </p:spPr>
        <p:txBody>
          <a:bodyPr/>
          <a:lstStyle/>
          <a:p>
            <a:r>
              <a:rPr dirty="0"/>
              <a:t>Inspiration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14" name="Espace réservé du pied de page 3">
            <a:extLst>
              <a:ext uri="{FF2B5EF4-FFF2-40B4-BE49-F238E27FC236}">
                <a16:creationId xmlns:a16="http://schemas.microsoft.com/office/drawing/2014/main" id="{1F5D09D0-C788-9797-D7A7-47DB05945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11430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996B14"/>
                </a:solidFill>
                <a:latin typeface="Roboto"/>
              </a:rPr>
              <a:t>Dans cette partie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6629400" y="141732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Ajouter une inspiration</a:t>
            </a:r>
          </a:p>
        </p:txBody>
      </p:sp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8321040" y="141732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6629400" y="168148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Retrouver une inspiration</a:t>
            </a:r>
          </a:p>
        </p:txBody>
      </p:sp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8321040" y="168148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  <p:sp>
        <p:nvSpPr>
          <p:cNvPr id="11" name="TextBox 10">
            <a:hlinkClick r:id="rId5" action="ppaction://hlinksldjump"/>
          </p:cNvPr>
          <p:cNvSpPr txBox="1"/>
          <p:nvPr/>
        </p:nvSpPr>
        <p:spPr>
          <a:xfrm>
            <a:off x="6629400" y="1945640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003059"/>
                </a:solidFill>
                <a:latin typeface="Roboto"/>
              </a:rPr>
              <a:t>Le guide interactif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8321040" y="1945640"/>
            <a:ext cx="320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1" i="0">
                <a:solidFill>
                  <a:srgbClr val="996B14"/>
                </a:solidFill>
                <a:latin typeface="Roboto"/>
              </a:rPr>
              <a:t>→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Ajouter une inspiration et la partager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1-insp-form_7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870798" cy="3520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7" name="Oval 6"/>
          <p:cNvSpPr/>
          <p:nvPr/>
        </p:nvSpPr>
        <p:spPr>
          <a:xfrm>
            <a:off x="4114800" y="12252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3984" y="1234440"/>
            <a:ext cx="4151376" cy="3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Portée de l’inspiration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« Personnel » (vous seul) ou « Partagé » (tout le monde).</a:t>
            </a:r>
          </a:p>
        </p:txBody>
      </p:sp>
      <p:sp>
        <p:nvSpPr>
          <p:cNvPr id="9" name="Oval 8"/>
          <p:cNvSpPr/>
          <p:nvPr/>
        </p:nvSpPr>
        <p:spPr>
          <a:xfrm>
            <a:off x="4114800" y="167640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1685544"/>
            <a:ext cx="415137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Documents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: ajoutez supports, photos ou présentations.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0" y="20421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2051303"/>
            <a:ext cx="4151376" cy="170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1F2A37"/>
                </a:solidFill>
                <a:latin typeface="Roboto"/>
              </a:rPr>
              <a:t>« Valider » </a:t>
            </a:r>
            <a:r>
              <a:rPr sz="1050" b="0" i="0">
                <a:solidFill>
                  <a:srgbClr val="1F2A37"/>
                </a:solidFill>
                <a:latin typeface="Roboto"/>
              </a:rPr>
              <a:t>enregistre l’inspiration.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4114800" y="2842259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788920"/>
            <a:ext cx="429768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Accès : onglet « Inspiration » de l’accueil, puis « Ajouter un projet inspirant ».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0" y="324053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3187192"/>
            <a:ext cx="4297680" cy="325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Les champs marqués * sont obligatoires : titre, laboratoire, cible, typologie, aire thérapeutique, pays.</a:t>
            </a:r>
          </a:p>
        </p:txBody>
      </p:sp>
      <p:sp>
        <p:nvSpPr>
          <p:cNvPr id="17" name="Oval 16"/>
          <p:cNvSpPr/>
          <p:nvPr/>
        </p:nvSpPr>
        <p:spPr>
          <a:xfrm>
            <a:off x="4114800" y="3638804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3585464"/>
            <a:ext cx="429768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Une bonne idée vue ailleurs profite à tous si elle est partagée.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Retrouver et modifier une inspiration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72b-insp-filters_126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4823686" cy="82296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72-insp-list_7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148840"/>
            <a:ext cx="2926080" cy="114604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8" name="Picture 7" descr="73-insp-detail_75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1188720"/>
            <a:ext cx="2880360" cy="19202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20116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Filtres : laboratoire, cible, typologie, aire thérapeutique, pays.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1056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114800"/>
            <a:ext cx="460857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Inspirations partagées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et « Inspirations personnelles » sont listées séparément.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5109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460240"/>
            <a:ext cx="4608576" cy="154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« Fiche complète »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ouvre l’inspiration.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24612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F2A37"/>
                </a:solidFill>
                <a:latin typeface="Roboto"/>
              </a:rPr>
              <a:t>Sur la fiche : </a:t>
            </a:r>
            <a:r>
              <a:rPr sz="950" b="0" i="0">
                <a:solidFill>
                  <a:srgbClr val="1F2A37"/>
                </a:solidFill>
                <a:latin typeface="Roboto"/>
              </a:rPr>
              <a:t>« Modifier » sur chaque champ, et « Mode de partage » pour passer de Personnel à Partagé.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 guide interactif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07 · Inspiration et aide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80-guide-menu_5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2079304" cy="237744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pic>
        <p:nvPicPr>
          <p:cNvPr id="7" name="Picture 6" descr="81-guide-step_76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188720"/>
            <a:ext cx="2926080" cy="208076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365760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Le menu d’entrée : cinq parcours au choix.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566160"/>
            <a:ext cx="2926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5B6573"/>
                </a:solidFill>
                <a:latin typeface="Roboto"/>
              </a:rPr>
              <a:t>① « Aide » : ouvre la foire aux questions.</a:t>
            </a:r>
          </a:p>
        </p:txBody>
      </p:sp>
      <p:sp>
        <p:nvSpPr>
          <p:cNvPr id="10" name="Oval 9"/>
          <p:cNvSpPr/>
          <p:nvPr/>
        </p:nvSpPr>
        <p:spPr>
          <a:xfrm>
            <a:off x="6629400" y="1287780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12280" y="1234440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Tour rapide »</a:t>
            </a:r>
          </a:p>
        </p:txBody>
      </p:sp>
      <p:sp>
        <p:nvSpPr>
          <p:cNvPr id="12" name="Oval 11"/>
          <p:cNvSpPr/>
          <p:nvPr/>
        </p:nvSpPr>
        <p:spPr>
          <a:xfrm>
            <a:off x="6629400" y="1523492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12280" y="1470152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Créer un projet »</a:t>
            </a:r>
          </a:p>
        </p:txBody>
      </p:sp>
      <p:sp>
        <p:nvSpPr>
          <p:cNvPr id="14" name="Oval 13"/>
          <p:cNvSpPr/>
          <p:nvPr/>
        </p:nvSpPr>
        <p:spPr>
          <a:xfrm>
            <a:off x="6629400" y="1759203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12280" y="1705863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Valider son projet »</a:t>
            </a:r>
          </a:p>
        </p:txBody>
      </p:sp>
      <p:sp>
        <p:nvSpPr>
          <p:cNvPr id="16" name="Oval 15"/>
          <p:cNvSpPr/>
          <p:nvPr/>
        </p:nvSpPr>
        <p:spPr>
          <a:xfrm>
            <a:off x="6629400" y="1994915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12280" y="1941575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Présenter son projet »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230627"/>
            <a:ext cx="73152" cy="73152"/>
          </a:xfrm>
          <a:prstGeom prst="ellipse">
            <a:avLst/>
          </a:prstGeom>
          <a:solidFill>
            <a:srgbClr val="0061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12280" y="2177287"/>
            <a:ext cx="1828800" cy="162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A37"/>
                </a:solidFill>
                <a:latin typeface="Roboto"/>
              </a:rPr>
              <a:t>« Trouver l’inspiration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77639"/>
            <a:ext cx="6446520" cy="766064"/>
          </a:xfrm>
          <a:prstGeom prst="roundRect">
            <a:avLst>
              <a:gd name="adj" fmla="val 6000"/>
            </a:avLst>
          </a:prstGeom>
          <a:solidFill>
            <a:srgbClr val="FA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4944" y="4105655"/>
            <a:ext cx="615391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À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4379975"/>
            <a:ext cx="6153912" cy="272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guide tourne sur un projet de démonstration : il ne modifie aucun de vos projets. Relancez-le depuis « Guide interactif » sur l’accueil.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Annexes</a:t>
            </a:r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397EEB30-9265-4C06-98E2-6D60BF6DFF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13" name="TextBox 12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3108960"/>
            <a:ext cx="5943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5B6573"/>
                </a:solidFill>
                <a:latin typeface="Roboto"/>
              </a:rPr>
              <a:t>Les </a:t>
            </a:r>
            <a:r>
              <a:rPr sz="1200" b="0" i="0" dirty="0" err="1">
                <a:solidFill>
                  <a:srgbClr val="5B6573"/>
                </a:solidFill>
                <a:latin typeface="Roboto"/>
              </a:rPr>
              <a:t>statuts</a:t>
            </a:r>
            <a:endParaRPr sz="1200" b="0" i="0" dirty="0">
              <a:solidFill>
                <a:srgbClr val="5B6573"/>
              </a:solidFill>
              <a:latin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badges de vos projets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Brouillon en cours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8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Projet pas encore soumis.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En attente de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1801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Soumis ; tous les avis requis ne sont pas encore favorables.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Avis préliminaire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35000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Avis rendus sur une demande préliminaire : ce n’est pas une validation.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8986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Tous les avis requis sont favorables.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Validé — modifié depuis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344728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Validé, puis modifié : au moins un périmètre doit ré-examiner.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399592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Au moins un avis défavorable.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7720" y="12344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Confirmation en cours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25272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Confirmation finale demandée, pas encore complète.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17830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9A6A00"/>
                </a:solidFill>
                <a:latin typeface="Roboto"/>
              </a:rPr>
              <a:t>Lancement en attente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180136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Date de lancement passée, confirmation incomplète.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233172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B42318"/>
                </a:solidFill>
                <a:latin typeface="Roboto"/>
              </a:rPr>
              <a:t>Lancé sans confirmation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35000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Lancement déclaré avec une confirmation incomplète.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28803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4B5563"/>
                </a:solidFill>
                <a:latin typeface="Roboto"/>
              </a:rPr>
              <a:t>Soumission annulée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986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n’est plus traité par les équipes.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7720" y="34290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3795B"/>
                </a:solidFill>
                <a:latin typeface="Roboto"/>
              </a:rPr>
              <a:t>Visible par tous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Le projet apparaît chez les autres utilisateurs.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977639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E7F0FB"/>
          </a:solidFill>
          <a:ln w="63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576" tIns="0" rIns="36576" bIns="0" rtlCol="0" anchor="ctr"/>
          <a:lstStyle/>
          <a:p>
            <a:pPr algn="ctr"/>
            <a:r>
              <a:rPr sz="850" b="1">
                <a:solidFill>
                  <a:srgbClr val="1D4ED8"/>
                </a:solidFill>
                <a:latin typeface="Roboto"/>
              </a:rPr>
              <a:t>N retours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99592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1F2A37"/>
                </a:solidFill>
                <a:latin typeface="Roboto"/>
              </a:rPr>
              <a:t>Post-its d’autres personnes, non traités, sur la vitrine.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 avis des experts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Annexes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996B14"/>
                </a:solidFill>
                <a:latin typeface="Roboto"/>
              </a:rPr>
              <a:t>Statut posé par chaque équipe sur son périmètre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E3F6EC"/>
          </a:solidFill>
          <a:ln w="6350">
            <a:solidFill>
              <a:srgbClr val="1379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13795B"/>
                </a:solidFill>
                <a:latin typeface="Roboto"/>
              </a:rPr>
              <a:t>Validé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Validé sous conditions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5146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1F3F5"/>
          </a:solidFill>
          <a:ln w="6350">
            <a:solidFill>
              <a:srgbClr val="4B55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4B5563"/>
                </a:solidFill>
                <a:latin typeface="Roboto"/>
              </a:rPr>
              <a:t>Non concerné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EF6D8"/>
          </a:solidFill>
          <a:ln w="6350">
            <a:solidFill>
              <a:srgbClr val="9A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9A6A00"/>
                </a:solidFill>
                <a:latin typeface="Roboto"/>
              </a:rPr>
              <a:t>En attente d’informations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DE8E8"/>
          </a:solidFill>
          <a:ln w="6350">
            <a:solidFill>
              <a:srgbClr val="B42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ctr"/>
          <a:lstStyle/>
          <a:p>
            <a:pPr algn="ctr"/>
            <a:r>
              <a:rPr sz="900" b="1">
                <a:solidFill>
                  <a:srgbClr val="B42318"/>
                </a:solidFill>
                <a:latin typeface="Roboto"/>
              </a:rPr>
              <a:t>Refusé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galerie média : images, vidéos et sons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D77D12DE-AC0B-DC1C-8701-434038699D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sz="800">
                <a:latin typeface="Roboto"/>
              </a:rPr>
              <a:t>03 · La vitrine du projet</a:t>
            </a:r>
          </a:p>
        </p:txBody>
      </p:sp>
      <p:sp>
        <p:nvSpPr>
          <p:cNvPr id="5" name="TextBox 4">
            <a:hlinkClick r:id="rId2" action="ppaction://hlinksldjump"/>
          </p:cNvPr>
          <p:cNvSpPr txBox="1"/>
          <p:nvPr/>
        </p:nvSpPr>
        <p:spPr>
          <a:xfrm>
            <a:off x="7543800" y="16459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 i="0">
                <a:solidFill>
                  <a:srgbClr val="0061B0"/>
                </a:solidFill>
                <a:latin typeface="Roboto"/>
              </a:rPr>
              <a:t>← Sommaire</a:t>
            </a:r>
          </a:p>
        </p:txBody>
      </p:sp>
      <p:pic>
        <p:nvPicPr>
          <p:cNvPr id="6" name="Picture 5" descr="Galerie média en mode édi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88720"/>
            <a:ext cx="3474720" cy="2171700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10" name="Oval 9"/>
          <p:cNvSpPr/>
          <p:nvPr/>
        </p:nvSpPr>
        <p:spPr>
          <a:xfrm>
            <a:off x="548640" y="3451860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88436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Poignée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glissez-la pour régler la taille du média, les proportions sont conservées.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762756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799332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Carrousel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dès deux médias : flèches et points, il ne défile qu’au clic.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4073652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110228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Médias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réordonnez (↑ ↓), retirez, et légendez chacun si besoin.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384548"/>
            <a:ext cx="237744" cy="237744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000" b="1">
                <a:solidFill>
                  <a:srgbClr val="FFFFFF"/>
                </a:solidFill>
                <a:latin typeface="Roboto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21124"/>
            <a:ext cx="3328416" cy="308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« Ajouter des images, vidéos ou sons »</a:t>
            </a: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 : plusieurs fichiers à la fois, ou glissez-les sur la vitrine.</a:t>
            </a:r>
          </a:p>
        </p:txBody>
      </p:sp>
      <p:pic>
        <p:nvPicPr>
          <p:cNvPr id="7" name="Picture 6" descr="Galerie média vue par un visiteur : carrousel, légende sous le médi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1188720"/>
            <a:ext cx="2286000" cy="1207698"/>
          </a:xfrm>
          <a:prstGeom prst="rect">
            <a:avLst/>
          </a:prstGeom>
          <a:ln w="9525">
            <a:solidFill>
              <a:srgbClr val="D5DCE4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949440" y="1188720"/>
            <a:ext cx="1645920" cy="12076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Ce que voit le visiteur</a:t>
            </a: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Légende à gauche, à droite ou sous le média. Sur un écran étroit, elle passe dessous.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2606040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TextBox 30"/>
          <p:cNvSpPr txBox="1"/>
          <p:nvPr/>
        </p:nvSpPr>
        <p:spPr>
          <a:xfrm>
            <a:off x="4663440" y="2743200"/>
            <a:ext cx="374904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Une vidéo trop lourde ? Microsoft Stream</a:t>
            </a:r>
          </a:p>
          <a:p>
            <a:pPr algn="l">
              <a:spcAft>
                <a:spcPts val="400"/>
              </a:spcAft>
            </a:pPr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Collez le lien ou, pour la lire dans la vitrine, le code d’intégration (dans Stream : Partager › Incorporer).</a:t>
            </a:r>
          </a:p>
          <a:p>
            <a:pPr algn="l">
              <a:spcAft>
                <a:spcPts val="400"/>
              </a:spcAft>
            </a:pPr>
            <a:r>
              <a:rPr lang="fr-FR" sz="950" b="1" i="0" dirty="0">
                <a:solidFill>
                  <a:srgbClr val="1F2A37"/>
                </a:solidFill>
                <a:latin typeface="Roboto"/>
              </a:rPr>
              <a:t xml:space="preserve">Important : partagez la vidéo dans Stream avec les visiteurs de la vitrine, sinon ils ne la verront pas.</a:t>
            </a:r>
          </a:p>
          <a:p>
            <a:pPr algn="l"/>
            <a:r>
              <a:rPr lang="fr-FR" sz="950" b="0" i="0" dirty="0">
                <a:solidFill>
                  <a:srgbClr val="1F2A37"/>
                </a:solidFill>
                <a:latin typeface="Roboto"/>
              </a:rPr>
              <a:t xml:space="preserve">Accès : « Ajouter une section ici » → « Galerie média 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3_Office Theme">
  <a:themeElements>
    <a:clrScheme name="LFB-2026">
      <a:dk1>
        <a:srgbClr val="003059"/>
      </a:dk1>
      <a:lt1>
        <a:sysClr val="window" lastClr="FFFFFF"/>
      </a:lt1>
      <a:dk2>
        <a:srgbClr val="003059"/>
      </a:dk2>
      <a:lt2>
        <a:srgbClr val="E8D4AB"/>
      </a:lt2>
      <a:accent1>
        <a:srgbClr val="003059"/>
      </a:accent1>
      <a:accent2>
        <a:srgbClr val="0061B0"/>
      </a:accent2>
      <a:accent3>
        <a:srgbClr val="6BB0CF"/>
      </a:accent3>
      <a:accent4>
        <a:srgbClr val="37290C"/>
      </a:accent4>
      <a:accent5>
        <a:srgbClr val="996B14"/>
      </a:accent5>
      <a:accent6>
        <a:srgbClr val="E2C386"/>
      </a:accent6>
      <a:hlink>
        <a:srgbClr val="6BB0CF"/>
      </a:hlink>
      <a:folHlink>
        <a:srgbClr val="996B14"/>
      </a:folHlink>
    </a:clrScheme>
    <a:fontScheme name="MasqueLFB">
      <a:majorFont>
        <a:latin typeface="Roboto Light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>
            <a:solidFill>
              <a:schemeClr val="tx1"/>
            </a:solidFill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A680F56D598AF48895FD65636B7099C" ma:contentTypeVersion="11" ma:contentTypeDescription="Crée un document." ma:contentTypeScope="" ma:versionID="c10cc5aa533382c2bf377b5cc7daa35e">
  <xsd:schema xmlns:xsd="http://www.w3.org/2001/XMLSchema" xmlns:xs="http://www.w3.org/2001/XMLSchema" xmlns:p="http://schemas.microsoft.com/office/2006/metadata/properties" xmlns:ns2="3f005565-df45-469f-9667-e24999810575" xmlns:ns3="a9adc06b-4697-48c7-a036-8e5d61601ccd" targetNamespace="http://schemas.microsoft.com/office/2006/metadata/properties" ma:root="true" ma:fieldsID="16621fbe1258d010bf7125c946bb7000" ns2:_="" ns3:_="">
    <xsd:import namespace="3f005565-df45-469f-9667-e24999810575"/>
    <xsd:import namespace="a9adc06b-4697-48c7-a036-8e5d61601c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005565-df45-469f-9667-e249998105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6f3cd56c-c2c5-47c6-80d7-a62c1de3238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adc06b-4697-48c7-a036-8e5d61601ccd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b442f2d-0dee-4b4e-ac57-f12d8d2405db}" ma:internalName="TaxCatchAll" ma:showField="CatchAllData" ma:web="a9adc06b-4697-48c7-a036-8e5d61601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f005565-df45-469f-9667-e24999810575">
      <Terms xmlns="http://schemas.microsoft.com/office/infopath/2007/PartnerControls"/>
    </lcf76f155ced4ddcb4097134ff3c332f>
    <TaxCatchAll xmlns="a9adc06b-4697-48c7-a036-8e5d61601ccd" xsi:nil="true"/>
  </documentManagement>
</p:properties>
</file>

<file path=customXml/itemProps1.xml><?xml version="1.0" encoding="utf-8"?>
<ds:datastoreItem xmlns:ds="http://schemas.openxmlformats.org/officeDocument/2006/customXml" ds:itemID="{7854A56A-71C2-41A8-AEF7-D5A89594EF27}">
  <ds:schemaRefs>
    <ds:schemaRef ds:uri="3f005565-df45-469f-9667-e24999810575"/>
    <ds:schemaRef ds:uri="a9adc06b-4697-48c7-a036-8e5d61601cc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31C3163-3B6B-4CF1-96A4-93514C5C90E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B9DA977-7A93-49E1-B926-3A4C91BC8CA9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a9adc06b-4697-48c7-a036-8e5d61601ccd"/>
    <ds:schemaRef ds:uri="http://www.w3.org/XML/1998/namespace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3f005565-df45-469f-9667-e24999810575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5665</Words>
  <Application>Microsoft Office PowerPoint</Application>
  <PresentationFormat>Affichage à l'écran (16:9)</PresentationFormat>
  <Paragraphs>842</Paragraphs>
  <Slides>58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58</vt:i4>
      </vt:variant>
    </vt:vector>
  </HeadingPairs>
  <TitlesOfParts>
    <vt:vector size="67" baseType="lpstr">
      <vt:lpstr>Arial</vt:lpstr>
      <vt:lpstr>Roboto</vt:lpstr>
      <vt:lpstr>Roboto Black</vt:lpstr>
      <vt:lpstr>Roboto Bold</vt:lpstr>
      <vt:lpstr>Roboto Light</vt:lpstr>
      <vt:lpstr>Roboto Thin</vt:lpstr>
      <vt:lpstr>Times New Roman</vt:lpstr>
      <vt:lpstr>Wingdings</vt:lpstr>
      <vt:lpstr>3_Office Theme</vt:lpstr>
      <vt:lpstr>Project Navigator Porteur des projets A consulter en mode présentation</vt:lpstr>
      <vt:lpstr>Comment utiliser ce manuel</vt:lpstr>
      <vt:lpstr>Sommaire  Entrées par thématique</vt:lpstr>
      <vt:lpstr>Entrées par objectif</vt:lpstr>
      <vt:lpstr>Entrées par objectif</vt:lpstr>
      <vt:lpstr>Entrées par objectif</vt:lpstr>
      <vt:lpstr>Le parcours d’un projet en un coup d’œil</vt:lpstr>
      <vt:lpstr>Prendre en main l’outil</vt:lpstr>
      <vt:lpstr>Première connexion</vt:lpstr>
      <vt:lpstr>L’écran d’accueil</vt:lpstr>
      <vt:lpstr>Lire une carte projet</vt:lpstr>
      <vt:lpstr>Projets partagés et duplication</vt:lpstr>
      <vt:lpstr>La corbeille : restaurer un projet supprimé</vt:lpstr>
      <vt:lpstr>« Mon équipe » : vue manager</vt:lpstr>
      <vt:lpstr>Mon profil : périmètre et langue</vt:lpstr>
      <vt:lpstr>Décrire son projet</vt:lpstr>
      <vt:lpstr>Créer un projet : le questionnaire</vt:lpstr>
      <vt:lpstr>Comprendre une question</vt:lpstr>
      <vt:lpstr>« J’ai un doute » : répondre sans être sûr</vt:lpstr>
      <vt:lpstr>Les différents types de réponses existants</vt:lpstr>
      <vt:lpstr>Les questions obligatoires</vt:lpstr>
      <vt:lpstr>Bon à savoir sur le questionnaire</vt:lpstr>
      <vt:lpstr>La vitrine du projet</vt:lpstr>
      <vt:lpstr>Découvrir la vitrine</vt:lpstr>
      <vt:lpstr>Le mode édition</vt:lpstr>
      <vt:lpstr>Ajouter une section</vt:lpstr>
      <vt:lpstr>Régler une section : gabarit et couleur</vt:lpstr>
      <vt:lpstr>Aperçu, publication et brouillon</vt:lpstr>
      <vt:lpstr>Présenter et recueillir des avis</vt:lpstr>
      <vt:lpstr>Masquer des parties : le mode Light</vt:lpstr>
      <vt:lpstr>Partager la vitrine</vt:lpstr>
      <vt:lpstr>Ce que voit le destinataire du lien</vt:lpstr>
      <vt:lpstr>Les post-its : recueillir et traiter les retours</vt:lpstr>
      <vt:lpstr>Les enjeux et la soumission</vt:lpstr>
      <vt:lpstr>La page « Enjeux du projet »</vt:lpstr>
      <vt:lpstr>Où en est votre projet : trois paliers</vt:lpstr>
      <vt:lpstr>Avis préliminaire ou validation</vt:lpstr>
      <vt:lpstr>Commencer par certains périmètres</vt:lpstr>
      <vt:lpstr>Équipes à solliciter et points à préparer</vt:lpstr>
      <vt:lpstr>Risques identifiés et points de vigilance</vt:lpstr>
      <vt:lpstr>Partage du projet et rappel des réponses</vt:lpstr>
      <vt:lpstr>Soumettre et vérifier l’envoi</vt:lpstr>
      <vt:lpstr>Après la soumission</vt:lpstr>
      <vt:lpstr>Suivre son projet depuis l’accueil</vt:lpstr>
      <vt:lpstr>Lire l’avis des experts et leur répondre</vt:lpstr>
      <vt:lpstr>Modifier un projet soumis</vt:lpstr>
      <vt:lpstr>Envoyer la mise à jour</vt:lpstr>
      <vt:lpstr>Quand un avis est à revoir</vt:lpstr>
      <vt:lpstr>Le dernier tour avant lancement</vt:lpstr>
      <vt:lpstr>Déclarer le lancement</vt:lpstr>
      <vt:lpstr>Annuler, supprimer, rendre visible</vt:lpstr>
      <vt:lpstr>Inspiration</vt:lpstr>
      <vt:lpstr>Ajouter une inspiration et la partager</vt:lpstr>
      <vt:lpstr>Retrouver et modifier une inspiration</vt:lpstr>
      <vt:lpstr>Le guide interactif</vt:lpstr>
      <vt:lpstr>Annexes</vt:lpstr>
      <vt:lpstr>Les badges de vos projets</vt:lpstr>
      <vt:lpstr>Les avis des experts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LASSAUGE Antoine</cp:lastModifiedBy>
  <cp:revision>8</cp:revision>
  <dcterms:created xsi:type="dcterms:W3CDTF">2025-06-02T07:25:18Z</dcterms:created>
  <dcterms:modified xsi:type="dcterms:W3CDTF">2026-10-20T18:02:19Z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2025-05-23T00:00:00Z</vt:filetime>
  </property>
  <property fmtid="{D5CDD505-2E9C-101B-9397-08002B2CF9AE}" pid="3" name="Creator">
    <vt:lpwstr>Adobe InDesign 20.3 (Windows)</vt:lpwstr>
  </property>
  <property fmtid="{D5CDD505-2E9C-101B-9397-08002B2CF9AE}" pid="4" name="LastSaved">
    <vt:filetime>2025-06-02T00:00:00Z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0x0101002A680F56D598AF48895FD65636B7099C</vt:lpwstr>
  </property>
  <property fmtid="{D5CDD505-2E9C-101B-9397-08002B2CF9AE}" pid="7" name="MediaServiceImageTags">
    <vt:lpwstr/>
  </property>
</Properties>
</file>