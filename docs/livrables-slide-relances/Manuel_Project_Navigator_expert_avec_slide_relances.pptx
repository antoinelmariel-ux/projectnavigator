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5"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98" r:id="rId55"/>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Lst>
  <p:sldSz cx="9144000" cy="5143500" type="screen16x9"/>
  <p:notesSz cx="9144000" cy="6858000"/>
  <p:defaultTextStyle>
    <a:defPPr>
      <a:defRPr kern="0"/>
    </a:def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39F4BF-0341-AFAC-5855-B26460CBBB83}" name="LASAGNI Sandra" initials="" userId="S::sandra.lasagni@lfb.fr::e0f77007-77bf-4b17-b508-8ab4747f542e" providerId="AD"/>
  <p188:author id="{D2C424F3-3822-045C-2FA4-A186F71A2E74}" name="LASSAUGE Antoine" initials="AL" userId="S::antoine.lassauge@lfb.fr::084dd7b9-c075-4e44-b110-7ae25ba4373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059"/>
    <a:srgbClr val="B69C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Style moyen 1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Style moyen 1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8B1032C-EA38-4F05-BA0D-38AFFFC7BED3}" styleName="Style léger 3 - Accentuation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216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8/10/relationships/authors" Target="authors.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3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SSAUGE Antoine" userId="084dd7b9-c075-4e44-b110-7ae25ba4373a" providerId="ADAL" clId="{8167A0E6-82FA-4EE2-BC68-10136220967F}"/>
    <pc:docChg chg="delSld delMainMaster delSection modSection">
      <pc:chgData name="LASSAUGE Antoine" userId="084dd7b9-c075-4e44-b110-7ae25ba4373a" providerId="ADAL" clId="{8167A0E6-82FA-4EE2-BC68-10136220967F}" dt="2026-10-16T07:54:22.126" v="0" actId="47"/>
      <pc:docMkLst>
        <pc:docMk/>
      </pc:docMkLst>
      <pc:sldChg chg="del">
        <pc:chgData name="LASSAUGE Antoine" userId="084dd7b9-c075-4e44-b110-7ae25ba4373a" providerId="ADAL" clId="{8167A0E6-82FA-4EE2-BC68-10136220967F}" dt="2026-10-16T07:54:22.126" v="0" actId="47"/>
        <pc:sldMkLst>
          <pc:docMk/>
          <pc:sldMk cId="1727656303" sldId="283"/>
        </pc:sldMkLst>
      </pc:sldChg>
      <pc:sldChg chg="del">
        <pc:chgData name="LASSAUGE Antoine" userId="084dd7b9-c075-4e44-b110-7ae25ba4373a" providerId="ADAL" clId="{8167A0E6-82FA-4EE2-BC68-10136220967F}" dt="2026-10-16T07:54:22.126" v="0" actId="47"/>
        <pc:sldMkLst>
          <pc:docMk/>
          <pc:sldMk cId="3074527865" sldId="284"/>
        </pc:sldMkLst>
      </pc:sldChg>
      <pc:sldChg chg="del">
        <pc:chgData name="LASSAUGE Antoine" userId="084dd7b9-c075-4e44-b110-7ae25ba4373a" providerId="ADAL" clId="{8167A0E6-82FA-4EE2-BC68-10136220967F}" dt="2026-10-16T07:54:22.126" v="0" actId="47"/>
        <pc:sldMkLst>
          <pc:docMk/>
          <pc:sldMk cId="3852779469" sldId="285"/>
        </pc:sldMkLst>
      </pc:sldChg>
      <pc:sldChg chg="del">
        <pc:chgData name="LASSAUGE Antoine" userId="084dd7b9-c075-4e44-b110-7ae25ba4373a" providerId="ADAL" clId="{8167A0E6-82FA-4EE2-BC68-10136220967F}" dt="2026-10-16T07:54:22.126" v="0" actId="47"/>
        <pc:sldMkLst>
          <pc:docMk/>
          <pc:sldMk cId="1462667797" sldId="286"/>
        </pc:sldMkLst>
      </pc:sldChg>
      <pc:sldChg chg="del">
        <pc:chgData name="LASSAUGE Antoine" userId="084dd7b9-c075-4e44-b110-7ae25ba4373a" providerId="ADAL" clId="{8167A0E6-82FA-4EE2-BC68-10136220967F}" dt="2026-10-16T07:54:22.126" v="0" actId="47"/>
        <pc:sldMkLst>
          <pc:docMk/>
          <pc:sldMk cId="126581385" sldId="287"/>
        </pc:sldMkLst>
      </pc:sldChg>
      <pc:sldChg chg="del">
        <pc:chgData name="LASSAUGE Antoine" userId="084dd7b9-c075-4e44-b110-7ae25ba4373a" providerId="ADAL" clId="{8167A0E6-82FA-4EE2-BC68-10136220967F}" dt="2026-10-16T07:54:22.126" v="0" actId="47"/>
        <pc:sldMkLst>
          <pc:docMk/>
          <pc:sldMk cId="1804289858" sldId="288"/>
        </pc:sldMkLst>
      </pc:sldChg>
      <pc:sldChg chg="del">
        <pc:chgData name="LASSAUGE Antoine" userId="084dd7b9-c075-4e44-b110-7ae25ba4373a" providerId="ADAL" clId="{8167A0E6-82FA-4EE2-BC68-10136220967F}" dt="2026-10-16T07:54:22.126" v="0" actId="47"/>
        <pc:sldMkLst>
          <pc:docMk/>
          <pc:sldMk cId="742957264" sldId="289"/>
        </pc:sldMkLst>
      </pc:sldChg>
      <pc:sldChg chg="del">
        <pc:chgData name="LASSAUGE Antoine" userId="084dd7b9-c075-4e44-b110-7ae25ba4373a" providerId="ADAL" clId="{8167A0E6-82FA-4EE2-BC68-10136220967F}" dt="2026-10-16T07:54:22.126" v="0" actId="47"/>
        <pc:sldMkLst>
          <pc:docMk/>
          <pc:sldMk cId="406218306" sldId="290"/>
        </pc:sldMkLst>
      </pc:sldChg>
      <pc:sldChg chg="del">
        <pc:chgData name="LASSAUGE Antoine" userId="084dd7b9-c075-4e44-b110-7ae25ba4373a" providerId="ADAL" clId="{8167A0E6-82FA-4EE2-BC68-10136220967F}" dt="2026-10-16T07:54:22.126" v="0" actId="47"/>
        <pc:sldMkLst>
          <pc:docMk/>
          <pc:sldMk cId="4018586193" sldId="2147479300"/>
        </pc:sldMkLst>
      </pc:sldChg>
      <pc:sldChg chg="del">
        <pc:chgData name="LASSAUGE Antoine" userId="084dd7b9-c075-4e44-b110-7ae25ba4373a" providerId="ADAL" clId="{8167A0E6-82FA-4EE2-BC68-10136220967F}" dt="2026-10-16T07:54:22.126" v="0" actId="47"/>
        <pc:sldMkLst>
          <pc:docMk/>
          <pc:sldMk cId="3986270846" sldId="2147479307"/>
        </pc:sldMkLst>
      </pc:sldChg>
      <pc:sldChg chg="del">
        <pc:chgData name="LASSAUGE Antoine" userId="084dd7b9-c075-4e44-b110-7ae25ba4373a" providerId="ADAL" clId="{8167A0E6-82FA-4EE2-BC68-10136220967F}" dt="2026-10-16T07:54:22.126" v="0" actId="47"/>
        <pc:sldMkLst>
          <pc:docMk/>
          <pc:sldMk cId="222404018" sldId="2147479312"/>
        </pc:sldMkLst>
      </pc:sldChg>
      <pc:sldChg chg="del">
        <pc:chgData name="LASSAUGE Antoine" userId="084dd7b9-c075-4e44-b110-7ae25ba4373a" providerId="ADAL" clId="{8167A0E6-82FA-4EE2-BC68-10136220967F}" dt="2026-10-16T07:54:22.126" v="0" actId="47"/>
        <pc:sldMkLst>
          <pc:docMk/>
          <pc:sldMk cId="1943243117" sldId="2147479314"/>
        </pc:sldMkLst>
      </pc:sldChg>
      <pc:sldChg chg="del">
        <pc:chgData name="LASSAUGE Antoine" userId="084dd7b9-c075-4e44-b110-7ae25ba4373a" providerId="ADAL" clId="{8167A0E6-82FA-4EE2-BC68-10136220967F}" dt="2026-10-16T07:54:22.126" v="0" actId="47"/>
        <pc:sldMkLst>
          <pc:docMk/>
          <pc:sldMk cId="3838209721" sldId="2147479389"/>
        </pc:sldMkLst>
      </pc:sldChg>
      <pc:sldChg chg="del">
        <pc:chgData name="LASSAUGE Antoine" userId="084dd7b9-c075-4e44-b110-7ae25ba4373a" providerId="ADAL" clId="{8167A0E6-82FA-4EE2-BC68-10136220967F}" dt="2026-10-16T07:54:22.126" v="0" actId="47"/>
        <pc:sldMkLst>
          <pc:docMk/>
          <pc:sldMk cId="3033411034" sldId="2147479390"/>
        </pc:sldMkLst>
      </pc:sldChg>
      <pc:sldChg chg="del">
        <pc:chgData name="LASSAUGE Antoine" userId="084dd7b9-c075-4e44-b110-7ae25ba4373a" providerId="ADAL" clId="{8167A0E6-82FA-4EE2-BC68-10136220967F}" dt="2026-10-16T07:54:22.126" v="0" actId="47"/>
        <pc:sldMkLst>
          <pc:docMk/>
          <pc:sldMk cId="590609980" sldId="2147479391"/>
        </pc:sldMkLst>
      </pc:sldChg>
      <pc:sldChg chg="del">
        <pc:chgData name="LASSAUGE Antoine" userId="084dd7b9-c075-4e44-b110-7ae25ba4373a" providerId="ADAL" clId="{8167A0E6-82FA-4EE2-BC68-10136220967F}" dt="2026-10-16T07:54:22.126" v="0" actId="47"/>
        <pc:sldMkLst>
          <pc:docMk/>
          <pc:sldMk cId="402276802" sldId="2147479392"/>
        </pc:sldMkLst>
      </pc:sldChg>
      <pc:sldChg chg="del">
        <pc:chgData name="LASSAUGE Antoine" userId="084dd7b9-c075-4e44-b110-7ae25ba4373a" providerId="ADAL" clId="{8167A0E6-82FA-4EE2-BC68-10136220967F}" dt="2026-10-16T07:54:22.126" v="0" actId="47"/>
        <pc:sldMkLst>
          <pc:docMk/>
          <pc:sldMk cId="2428582466" sldId="2147479394"/>
        </pc:sldMkLst>
      </pc:sldChg>
      <pc:sldChg chg="del">
        <pc:chgData name="LASSAUGE Antoine" userId="084dd7b9-c075-4e44-b110-7ae25ba4373a" providerId="ADAL" clId="{8167A0E6-82FA-4EE2-BC68-10136220967F}" dt="2026-10-16T07:54:22.126" v="0" actId="47"/>
        <pc:sldMkLst>
          <pc:docMk/>
          <pc:sldMk cId="641549490" sldId="2147479399"/>
        </pc:sldMkLst>
      </pc:sldChg>
      <pc:sldChg chg="del">
        <pc:chgData name="LASSAUGE Antoine" userId="084dd7b9-c075-4e44-b110-7ae25ba4373a" providerId="ADAL" clId="{8167A0E6-82FA-4EE2-BC68-10136220967F}" dt="2026-10-16T07:54:22.126" v="0" actId="47"/>
        <pc:sldMkLst>
          <pc:docMk/>
          <pc:sldMk cId="2744668011" sldId="2147479403"/>
        </pc:sldMkLst>
      </pc:sldChg>
      <pc:sldChg chg="del">
        <pc:chgData name="LASSAUGE Antoine" userId="084dd7b9-c075-4e44-b110-7ae25ba4373a" providerId="ADAL" clId="{8167A0E6-82FA-4EE2-BC68-10136220967F}" dt="2026-10-16T07:54:22.126" v="0" actId="47"/>
        <pc:sldMkLst>
          <pc:docMk/>
          <pc:sldMk cId="3879977954" sldId="2147479404"/>
        </pc:sldMkLst>
      </pc:sldChg>
      <pc:sldChg chg="del">
        <pc:chgData name="LASSAUGE Antoine" userId="084dd7b9-c075-4e44-b110-7ae25ba4373a" providerId="ADAL" clId="{8167A0E6-82FA-4EE2-BC68-10136220967F}" dt="2026-10-16T07:54:22.126" v="0" actId="47"/>
        <pc:sldMkLst>
          <pc:docMk/>
          <pc:sldMk cId="1913670971" sldId="2147479405"/>
        </pc:sldMkLst>
      </pc:sldChg>
      <pc:sldChg chg="del">
        <pc:chgData name="LASSAUGE Antoine" userId="084dd7b9-c075-4e44-b110-7ae25ba4373a" providerId="ADAL" clId="{8167A0E6-82FA-4EE2-BC68-10136220967F}" dt="2026-10-16T07:54:22.126" v="0" actId="47"/>
        <pc:sldMkLst>
          <pc:docMk/>
          <pc:sldMk cId="996878766" sldId="2147479406"/>
        </pc:sldMkLst>
      </pc:sldChg>
      <pc:sldChg chg="del">
        <pc:chgData name="LASSAUGE Antoine" userId="084dd7b9-c075-4e44-b110-7ae25ba4373a" providerId="ADAL" clId="{8167A0E6-82FA-4EE2-BC68-10136220967F}" dt="2026-10-16T07:54:22.126" v="0" actId="47"/>
        <pc:sldMkLst>
          <pc:docMk/>
          <pc:sldMk cId="1286861412" sldId="2147479407"/>
        </pc:sldMkLst>
      </pc:sldChg>
      <pc:sldChg chg="del">
        <pc:chgData name="LASSAUGE Antoine" userId="084dd7b9-c075-4e44-b110-7ae25ba4373a" providerId="ADAL" clId="{8167A0E6-82FA-4EE2-BC68-10136220967F}" dt="2026-10-16T07:54:22.126" v="0" actId="47"/>
        <pc:sldMkLst>
          <pc:docMk/>
          <pc:sldMk cId="4222817383" sldId="2147479408"/>
        </pc:sldMkLst>
      </pc:sldChg>
      <pc:sldChg chg="del">
        <pc:chgData name="LASSAUGE Antoine" userId="084dd7b9-c075-4e44-b110-7ae25ba4373a" providerId="ADAL" clId="{8167A0E6-82FA-4EE2-BC68-10136220967F}" dt="2026-10-16T07:54:22.126" v="0" actId="47"/>
        <pc:sldMkLst>
          <pc:docMk/>
          <pc:sldMk cId="3902284328" sldId="2147479409"/>
        </pc:sldMkLst>
      </pc:sldChg>
      <pc:sldChg chg="del">
        <pc:chgData name="LASSAUGE Antoine" userId="084dd7b9-c075-4e44-b110-7ae25ba4373a" providerId="ADAL" clId="{8167A0E6-82FA-4EE2-BC68-10136220967F}" dt="2026-10-16T07:54:22.126" v="0" actId="47"/>
        <pc:sldMkLst>
          <pc:docMk/>
          <pc:sldMk cId="3275799596" sldId="2147479411"/>
        </pc:sldMkLst>
      </pc:sldChg>
      <pc:sldChg chg="del">
        <pc:chgData name="LASSAUGE Antoine" userId="084dd7b9-c075-4e44-b110-7ae25ba4373a" providerId="ADAL" clId="{8167A0E6-82FA-4EE2-BC68-10136220967F}" dt="2026-10-16T07:54:22.126" v="0" actId="47"/>
        <pc:sldMkLst>
          <pc:docMk/>
          <pc:sldMk cId="3566936073" sldId="2147479413"/>
        </pc:sldMkLst>
      </pc:sldChg>
      <pc:sldChg chg="del">
        <pc:chgData name="LASSAUGE Antoine" userId="084dd7b9-c075-4e44-b110-7ae25ba4373a" providerId="ADAL" clId="{8167A0E6-82FA-4EE2-BC68-10136220967F}" dt="2026-10-16T07:54:22.126" v="0" actId="47"/>
        <pc:sldMkLst>
          <pc:docMk/>
          <pc:sldMk cId="524303922" sldId="2147479414"/>
        </pc:sldMkLst>
      </pc:sldChg>
      <pc:sldChg chg="del">
        <pc:chgData name="LASSAUGE Antoine" userId="084dd7b9-c075-4e44-b110-7ae25ba4373a" providerId="ADAL" clId="{8167A0E6-82FA-4EE2-BC68-10136220967F}" dt="2026-10-16T07:54:22.126" v="0" actId="47"/>
        <pc:sldMkLst>
          <pc:docMk/>
          <pc:sldMk cId="1767667957" sldId="2147479415"/>
        </pc:sldMkLst>
      </pc:sldChg>
      <pc:sldChg chg="del">
        <pc:chgData name="LASSAUGE Antoine" userId="084dd7b9-c075-4e44-b110-7ae25ba4373a" providerId="ADAL" clId="{8167A0E6-82FA-4EE2-BC68-10136220967F}" dt="2026-10-16T07:54:22.126" v="0" actId="47"/>
        <pc:sldMkLst>
          <pc:docMk/>
          <pc:sldMk cId="3215411923" sldId="2147479417"/>
        </pc:sldMkLst>
      </pc:sldChg>
      <pc:sldChg chg="del">
        <pc:chgData name="LASSAUGE Antoine" userId="084dd7b9-c075-4e44-b110-7ae25ba4373a" providerId="ADAL" clId="{8167A0E6-82FA-4EE2-BC68-10136220967F}" dt="2026-10-16T07:54:22.126" v="0" actId="47"/>
        <pc:sldMkLst>
          <pc:docMk/>
          <pc:sldMk cId="3803320857" sldId="2147479418"/>
        </pc:sldMkLst>
      </pc:sldChg>
      <pc:sldChg chg="del">
        <pc:chgData name="LASSAUGE Antoine" userId="084dd7b9-c075-4e44-b110-7ae25ba4373a" providerId="ADAL" clId="{8167A0E6-82FA-4EE2-BC68-10136220967F}" dt="2026-10-16T07:54:22.126" v="0" actId="47"/>
        <pc:sldMkLst>
          <pc:docMk/>
          <pc:sldMk cId="2648614323" sldId="2147479419"/>
        </pc:sldMkLst>
      </pc:sldChg>
      <pc:sldChg chg="del">
        <pc:chgData name="LASSAUGE Antoine" userId="084dd7b9-c075-4e44-b110-7ae25ba4373a" providerId="ADAL" clId="{8167A0E6-82FA-4EE2-BC68-10136220967F}" dt="2026-10-16T07:54:22.126" v="0" actId="47"/>
        <pc:sldMkLst>
          <pc:docMk/>
          <pc:sldMk cId="4068224638" sldId="2147479420"/>
        </pc:sldMkLst>
      </pc:sldChg>
      <pc:sldChg chg="del">
        <pc:chgData name="LASSAUGE Antoine" userId="084dd7b9-c075-4e44-b110-7ae25ba4373a" providerId="ADAL" clId="{8167A0E6-82FA-4EE2-BC68-10136220967F}" dt="2026-10-16T07:54:22.126" v="0" actId="47"/>
        <pc:sldMkLst>
          <pc:docMk/>
          <pc:sldMk cId="207808926" sldId="2147479421"/>
        </pc:sldMkLst>
      </pc:sldChg>
      <pc:sldChg chg="del">
        <pc:chgData name="LASSAUGE Antoine" userId="084dd7b9-c075-4e44-b110-7ae25ba4373a" providerId="ADAL" clId="{8167A0E6-82FA-4EE2-BC68-10136220967F}" dt="2026-10-16T07:54:22.126" v="0" actId="47"/>
        <pc:sldMkLst>
          <pc:docMk/>
          <pc:sldMk cId="516514924" sldId="2147479422"/>
        </pc:sldMkLst>
      </pc:sldChg>
      <pc:sldChg chg="del">
        <pc:chgData name="LASSAUGE Antoine" userId="084dd7b9-c075-4e44-b110-7ae25ba4373a" providerId="ADAL" clId="{8167A0E6-82FA-4EE2-BC68-10136220967F}" dt="2026-10-16T07:54:22.126" v="0" actId="47"/>
        <pc:sldMkLst>
          <pc:docMk/>
          <pc:sldMk cId="4037628817" sldId="2147479424"/>
        </pc:sldMkLst>
      </pc:sldChg>
      <pc:sldMasterChg chg="del delSldLayout">
        <pc:chgData name="LASSAUGE Antoine" userId="084dd7b9-c075-4e44-b110-7ae25ba4373a" providerId="ADAL" clId="{8167A0E6-82FA-4EE2-BC68-10136220967F}" dt="2026-10-16T07:54:22.126" v="0" actId="47"/>
        <pc:sldMasterMkLst>
          <pc:docMk/>
          <pc:sldMasterMk cId="0" sldId="2147483648"/>
        </pc:sldMasterMkLst>
        <pc:sldLayoutChg chg="del">
          <pc:chgData name="LASSAUGE Antoine" userId="084dd7b9-c075-4e44-b110-7ae25ba4373a" providerId="ADAL" clId="{8167A0E6-82FA-4EE2-BC68-10136220967F}" dt="2026-10-16T07:54:22.126" v="0" actId="47"/>
          <pc:sldLayoutMkLst>
            <pc:docMk/>
            <pc:sldMasterMk cId="0" sldId="2147483648"/>
            <pc:sldLayoutMk cId="0" sldId="2147483661"/>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0" sldId="2147483662"/>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0" sldId="2147483663"/>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0" sldId="2147483664"/>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0" sldId="2147483665"/>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822688767" sldId="2147483666"/>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1591790522" sldId="2147483667"/>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1136847957" sldId="2147483668"/>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1905338765" sldId="2147483669"/>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2371480725" sldId="2147483670"/>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1437568387" sldId="2147483671"/>
          </pc:sldLayoutMkLst>
        </pc:sldLayoutChg>
      </pc:sldMasterChg>
      <pc:sldMasterChg chg="del delSldLayout">
        <pc:chgData name="LASSAUGE Antoine" userId="084dd7b9-c075-4e44-b110-7ae25ba4373a" providerId="ADAL" clId="{8167A0E6-82FA-4EE2-BC68-10136220967F}" dt="2026-10-16T07:54:22.126" v="0" actId="47"/>
        <pc:sldMasterMkLst>
          <pc:docMk/>
          <pc:sldMasterMk cId="3565061637" sldId="2147483673"/>
        </pc:sldMasterMkLst>
        <pc:sldLayoutChg chg="del">
          <pc:chgData name="LASSAUGE Antoine" userId="084dd7b9-c075-4e44-b110-7ae25ba4373a" providerId="ADAL" clId="{8167A0E6-82FA-4EE2-BC68-10136220967F}" dt="2026-10-16T07:54:22.126" v="0" actId="47"/>
          <pc:sldLayoutMkLst>
            <pc:docMk/>
            <pc:sldMasterMk cId="3565061637" sldId="2147483673"/>
            <pc:sldLayoutMk cId="67581825" sldId="2147483674"/>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1926560265" sldId="2147483675"/>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1786875924" sldId="2147483676"/>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2043020610" sldId="2147483677"/>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795548132" sldId="2147483678"/>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661145824" sldId="2147483679"/>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1104001246" sldId="2147483680"/>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49163691" sldId="2147483681"/>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2586393979" sldId="2147483682"/>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4023830793" sldId="2147483683"/>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2705388760" sldId="2147483684"/>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3795012147" sldId="2147483685"/>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639740493" sldId="2147483686"/>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1594440989" sldId="2147483687"/>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3574059817" sldId="2147483688"/>
          </pc:sldLayoutMkLst>
        </pc:sldLayoutChg>
      </pc:sldMasterChg>
      <pc:sldMasterChg chg="del delSldLayout">
        <pc:chgData name="LASSAUGE Antoine" userId="084dd7b9-c075-4e44-b110-7ae25ba4373a" providerId="ADAL" clId="{8167A0E6-82FA-4EE2-BC68-10136220967F}" dt="2026-10-16T07:54:22.126" v="0" actId="47"/>
        <pc:sldMasterMkLst>
          <pc:docMk/>
          <pc:sldMasterMk cId="2285304288" sldId="2147483689"/>
        </pc:sldMasterMkLst>
        <pc:sldLayoutChg chg="del">
          <pc:chgData name="LASSAUGE Antoine" userId="084dd7b9-c075-4e44-b110-7ae25ba4373a" providerId="ADAL" clId="{8167A0E6-82FA-4EE2-BC68-10136220967F}" dt="2026-10-16T07:54:22.126" v="0" actId="47"/>
          <pc:sldLayoutMkLst>
            <pc:docMk/>
            <pc:sldMasterMk cId="2285304288" sldId="2147483689"/>
            <pc:sldLayoutMk cId="938981352" sldId="2147483690"/>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4201397024" sldId="2147483691"/>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2578132580" sldId="2147483692"/>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709305364" sldId="2147483693"/>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263762396" sldId="2147483694"/>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188653734" sldId="2147483695"/>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3045208015" sldId="2147483696"/>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3465556572" sldId="2147483697"/>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3467903136" sldId="2147483698"/>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4112855140" sldId="2147483699"/>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1719654944" sldId="2147483700"/>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2957045087" sldId="2147483701"/>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2531793074" sldId="2147483702"/>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557571389" sldId="2147483703"/>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1027591501" sldId="2147483704"/>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117714072" sldId="214748371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2CE7B6D-F95D-2D22-BE43-7FF4085629F4}"/>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E32D6A0B-14D2-2229-8487-3FB60739A908}"/>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61A404C1-B096-4F23-BBD3-2A961249D839}" type="datetimeFigureOut">
              <a:rPr lang="fr-FR" smtClean="0"/>
              <a:t>16/10/2026</a:t>
            </a:fld>
            <a:endParaRPr lang="fr-FR"/>
          </a:p>
        </p:txBody>
      </p:sp>
      <p:sp>
        <p:nvSpPr>
          <p:cNvPr id="4" name="Espace réservé du pied de page 3">
            <a:extLst>
              <a:ext uri="{FF2B5EF4-FFF2-40B4-BE49-F238E27FC236}">
                <a16:creationId xmlns:a16="http://schemas.microsoft.com/office/drawing/2014/main" id="{E415B24E-325C-CD04-0024-8620E8FA69B8}"/>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D00258C6-E311-196B-54D6-6EA51B823BC4}"/>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E16339A6-0A49-4036-A30D-EA8393A9DCDC}" type="slidenum">
              <a:rPr lang="fr-FR" smtClean="0"/>
              <a:t>‹N°›</a:t>
            </a:fld>
            <a:endParaRPr lang="fr-FR"/>
          </a:p>
        </p:txBody>
      </p:sp>
    </p:spTree>
    <p:extLst>
      <p:ext uri="{BB962C8B-B14F-4D97-AF65-F5344CB8AC3E}">
        <p14:creationId xmlns:p14="http://schemas.microsoft.com/office/powerpoint/2010/main" val="218651637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45BBAB1-F7A1-481C-B2C4-C67D719ACC75}" type="datetimeFigureOut">
              <a:rPr lang="fr-FR" smtClean="0"/>
              <a:t>16/10/2026</a:t>
            </a:fld>
            <a:endParaRPr lang="fr-FR"/>
          </a:p>
        </p:txBody>
      </p:sp>
      <p:sp>
        <p:nvSpPr>
          <p:cNvPr id="4" name="Espace réservé de l'image des diapositives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5E41B19-7CA3-44B0-834C-F69EE93D8C51}" type="slidenum">
              <a:rPr lang="fr-FR" smtClean="0"/>
              <a:t>‹N°›</a:t>
            </a:fld>
            <a:endParaRPr lang="fr-FR"/>
          </a:p>
        </p:txBody>
      </p:sp>
    </p:spTree>
    <p:extLst>
      <p:ext uri="{BB962C8B-B14F-4D97-AF65-F5344CB8AC3E}">
        <p14:creationId xmlns:p14="http://schemas.microsoft.com/office/powerpoint/2010/main" val="2780189382"/>
      </p:ext>
    </p:extLst>
  </p:cSld>
  <p:clrMap bg1="lt1" tx1="dk1" bg2="lt2" tx2="dk2" accent1="accent1" accent2="accent2" accent3="accent3" accent4="accent4" accent5="accent5" accent6="accent6" hlink="hlink" folHlink="folHlink"/>
  <p:hf hdr="0" dt="0"/>
  <p:notesStyle>
    <a:lvl1pPr marL="0" algn="l" defTabSz="914377" rtl="0" eaLnBrk="1" latinLnBrk="0" hangingPunct="1">
      <a:defRPr sz="1200" kern="1200">
        <a:solidFill>
          <a:schemeClr val="tx1"/>
        </a:solidFill>
        <a:latin typeface="Roboto" panose="02000000000000000000" pitchFamily="2" charset="0"/>
        <a:ea typeface="+mn-ea"/>
        <a:cs typeface="+mn-cs"/>
      </a:defRPr>
    </a:lvl1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de la présentation">
    <p:spTree>
      <p:nvGrpSpPr>
        <p:cNvPr id="1" name=""/>
        <p:cNvGrpSpPr/>
        <p:nvPr/>
      </p:nvGrpSpPr>
      <p:grpSpPr>
        <a:xfrm>
          <a:off x="0" y="0"/>
          <a:ext cx="0" cy="0"/>
          <a:chOff x="0" y="0"/>
          <a:chExt cx="0" cy="0"/>
        </a:xfrm>
      </p:grpSpPr>
      <p:sp>
        <p:nvSpPr>
          <p:cNvPr id="8" name="Espace réservé du pied de page 7">
            <a:extLst>
              <a:ext uri="{FF2B5EF4-FFF2-40B4-BE49-F238E27FC236}">
                <a16:creationId xmlns:a16="http://schemas.microsoft.com/office/drawing/2014/main" id="{E3BC9315-5B51-B82E-C9EE-D6D33B4389B6}"/>
              </a:ext>
            </a:extLst>
          </p:cNvPr>
          <p:cNvSpPr>
            <a:spLocks noGrp="1"/>
          </p:cNvSpPr>
          <p:nvPr>
            <p:ph type="ftr" sz="quarter" idx="10"/>
          </p:nvPr>
        </p:nvSpPr>
        <p:spPr/>
        <p:txBody>
          <a:bodyPr/>
          <a:lstStyle/>
          <a:p>
            <a:endParaRPr lang="fr-FR"/>
          </a:p>
        </p:txBody>
      </p:sp>
      <p:sp>
        <p:nvSpPr>
          <p:cNvPr id="9" name="Espace réservé du numéro de diapositive 8">
            <a:extLst>
              <a:ext uri="{FF2B5EF4-FFF2-40B4-BE49-F238E27FC236}">
                <a16:creationId xmlns:a16="http://schemas.microsoft.com/office/drawing/2014/main" id="{8F93D73F-6B7A-ADF0-C3B7-C61F97F901B3}"/>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10" name="Rectangle 9">
            <a:extLst>
              <a:ext uri="{FF2B5EF4-FFF2-40B4-BE49-F238E27FC236}">
                <a16:creationId xmlns:a16="http://schemas.microsoft.com/office/drawing/2014/main" id="{BE602DCA-E586-7608-A3BF-E293439D096B}"/>
              </a:ext>
            </a:extLst>
          </p:cNvPr>
          <p:cNvSpPr/>
          <p:nvPr userDrawn="1"/>
        </p:nvSpPr>
        <p:spPr>
          <a:xfrm>
            <a:off x="0" y="4691178"/>
            <a:ext cx="9144000" cy="342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21B7DCAC-2F30-3770-92F4-B7D496BA75C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Titre 14">
            <a:extLst>
              <a:ext uri="{FF2B5EF4-FFF2-40B4-BE49-F238E27FC236}">
                <a16:creationId xmlns:a16="http://schemas.microsoft.com/office/drawing/2014/main" id="{5B4E63CF-2376-B72A-875A-CE5CFD414868}"/>
              </a:ext>
            </a:extLst>
          </p:cNvPr>
          <p:cNvSpPr>
            <a:spLocks noGrp="1"/>
          </p:cNvSpPr>
          <p:nvPr>
            <p:ph type="title" hasCustomPrompt="1"/>
          </p:nvPr>
        </p:nvSpPr>
        <p:spPr>
          <a:xfrm>
            <a:off x="3348692" y="1807943"/>
            <a:ext cx="4748219" cy="1527284"/>
          </a:xfrm>
        </p:spPr>
        <p:txBody>
          <a:bodyPr anchor="ctr" anchorCtr="0"/>
          <a:lstStyle>
            <a:lvl1pPr>
              <a:defRPr sz="3500" b="0">
                <a:latin typeface="Roboto Black" panose="02000000000000000000" pitchFamily="2" charset="0"/>
                <a:ea typeface="Roboto Black" panose="02000000000000000000" pitchFamily="2" charset="0"/>
                <a:cs typeface="Roboto Black" panose="02000000000000000000" pitchFamily="2" charset="0"/>
              </a:defRPr>
            </a:lvl1pPr>
          </a:lstStyle>
          <a:p>
            <a:r>
              <a:rPr lang="fr-FR"/>
              <a:t>Cliquez </a:t>
            </a:r>
            <a:br>
              <a:rPr lang="fr-FR"/>
            </a:br>
            <a:r>
              <a:rPr lang="fr-FR"/>
              <a:t>pour modifier</a:t>
            </a:r>
            <a:br>
              <a:rPr lang="fr-FR"/>
            </a:br>
            <a:r>
              <a:rPr lang="fr-FR"/>
              <a:t>le titre</a:t>
            </a:r>
          </a:p>
        </p:txBody>
      </p:sp>
      <p:sp>
        <p:nvSpPr>
          <p:cNvPr id="30" name="Espace réservé du texte 29">
            <a:extLst>
              <a:ext uri="{FF2B5EF4-FFF2-40B4-BE49-F238E27FC236}">
                <a16:creationId xmlns:a16="http://schemas.microsoft.com/office/drawing/2014/main" id="{D0FA12C8-4E1D-0751-DB3C-8BEC539492FA}"/>
              </a:ext>
            </a:extLst>
          </p:cNvPr>
          <p:cNvSpPr>
            <a:spLocks noGrp="1"/>
          </p:cNvSpPr>
          <p:nvPr>
            <p:ph type="body" sz="quarter" idx="12" hasCustomPrompt="1"/>
          </p:nvPr>
        </p:nvSpPr>
        <p:spPr>
          <a:xfrm>
            <a:off x="3348692" y="4324350"/>
            <a:ext cx="2578100" cy="277953"/>
          </a:xfrm>
        </p:spPr>
        <p:txBody>
          <a:bodyPr anchor="b" anchorCtr="0"/>
          <a:lstStyle>
            <a:lvl1pPr>
              <a:defRPr sz="1200" cap="none" baseline="0">
                <a:solidFill>
                  <a:schemeClr val="tx2"/>
                </a:solidFill>
                <a:latin typeface="Roboto Bold" panose="02000000000000000000" pitchFamily="2" charset="0"/>
              </a:defRPr>
            </a:lvl1pPr>
          </a:lstStyle>
          <a:p>
            <a:pPr lvl="0"/>
            <a:r>
              <a:rPr lang="fr-FR"/>
              <a:t>Date ici</a:t>
            </a:r>
          </a:p>
        </p:txBody>
      </p:sp>
      <p:sp>
        <p:nvSpPr>
          <p:cNvPr id="18" name="object 2">
            <a:extLst>
              <a:ext uri="{FF2B5EF4-FFF2-40B4-BE49-F238E27FC236}">
                <a16:creationId xmlns:a16="http://schemas.microsoft.com/office/drawing/2014/main" id="{1A8BA232-1762-24CE-92C9-1C4E61E8D216}"/>
              </a:ext>
            </a:extLst>
          </p:cNvPr>
          <p:cNvSpPr/>
          <p:nvPr/>
        </p:nvSpPr>
        <p:spPr>
          <a:xfrm>
            <a:off x="0" y="541198"/>
            <a:ext cx="536575" cy="1073150"/>
          </a:xfrm>
          <a:custGeom>
            <a:avLst/>
            <a:gdLst/>
            <a:ahLst/>
            <a:cxnLst/>
            <a:rect l="l" t="t" r="r" b="b"/>
            <a:pathLst>
              <a:path w="536575" h="1073150">
                <a:moveTo>
                  <a:pt x="536397" y="536397"/>
                </a:moveTo>
                <a:lnTo>
                  <a:pt x="5105" y="536397"/>
                </a:lnTo>
                <a:lnTo>
                  <a:pt x="0" y="536397"/>
                </a:lnTo>
                <a:lnTo>
                  <a:pt x="0" y="1072667"/>
                </a:lnTo>
                <a:lnTo>
                  <a:pt x="53454" y="1070597"/>
                </a:lnTo>
                <a:lnTo>
                  <a:pt x="100596" y="1064158"/>
                </a:lnTo>
                <a:lnTo>
                  <a:pt x="146342" y="1053630"/>
                </a:lnTo>
                <a:lnTo>
                  <a:pt x="190487" y="1039241"/>
                </a:lnTo>
                <a:lnTo>
                  <a:pt x="232854" y="1021143"/>
                </a:lnTo>
                <a:lnTo>
                  <a:pt x="273253" y="999566"/>
                </a:lnTo>
                <a:lnTo>
                  <a:pt x="311505" y="974661"/>
                </a:lnTo>
                <a:lnTo>
                  <a:pt x="347408" y="946645"/>
                </a:lnTo>
                <a:lnTo>
                  <a:pt x="380784" y="915682"/>
                </a:lnTo>
                <a:lnTo>
                  <a:pt x="411441" y="881989"/>
                </a:lnTo>
                <a:lnTo>
                  <a:pt x="439191" y="845743"/>
                </a:lnTo>
                <a:lnTo>
                  <a:pt x="463854" y="807123"/>
                </a:lnTo>
                <a:lnTo>
                  <a:pt x="485241" y="766343"/>
                </a:lnTo>
                <a:lnTo>
                  <a:pt x="503148" y="723557"/>
                </a:lnTo>
                <a:lnTo>
                  <a:pt x="517410" y="678992"/>
                </a:lnTo>
                <a:lnTo>
                  <a:pt x="527837" y="632815"/>
                </a:lnTo>
                <a:lnTo>
                  <a:pt x="534225" y="585216"/>
                </a:lnTo>
                <a:lnTo>
                  <a:pt x="536397" y="536397"/>
                </a:lnTo>
                <a:close/>
              </a:path>
              <a:path w="536575" h="1073150">
                <a:moveTo>
                  <a:pt x="536397" y="0"/>
                </a:moveTo>
                <a:lnTo>
                  <a:pt x="0" y="0"/>
                </a:lnTo>
                <a:lnTo>
                  <a:pt x="0" y="536270"/>
                </a:lnTo>
                <a:lnTo>
                  <a:pt x="5105" y="536397"/>
                </a:lnTo>
                <a:lnTo>
                  <a:pt x="53454" y="534200"/>
                </a:lnTo>
                <a:lnTo>
                  <a:pt x="100596" y="527748"/>
                </a:lnTo>
                <a:lnTo>
                  <a:pt x="146342" y="517232"/>
                </a:lnTo>
                <a:lnTo>
                  <a:pt x="190487" y="502831"/>
                </a:lnTo>
                <a:lnTo>
                  <a:pt x="232854" y="484746"/>
                </a:lnTo>
                <a:lnTo>
                  <a:pt x="273253" y="463156"/>
                </a:lnTo>
                <a:lnTo>
                  <a:pt x="311505" y="438264"/>
                </a:lnTo>
                <a:lnTo>
                  <a:pt x="347408" y="410235"/>
                </a:lnTo>
                <a:lnTo>
                  <a:pt x="380784" y="379285"/>
                </a:lnTo>
                <a:lnTo>
                  <a:pt x="411441" y="345592"/>
                </a:lnTo>
                <a:lnTo>
                  <a:pt x="439191" y="309333"/>
                </a:lnTo>
                <a:lnTo>
                  <a:pt x="463854" y="270725"/>
                </a:lnTo>
                <a:lnTo>
                  <a:pt x="485241" y="229933"/>
                </a:lnTo>
                <a:lnTo>
                  <a:pt x="503148" y="187159"/>
                </a:lnTo>
                <a:lnTo>
                  <a:pt x="517410" y="142595"/>
                </a:lnTo>
                <a:lnTo>
                  <a:pt x="527837" y="96418"/>
                </a:lnTo>
                <a:lnTo>
                  <a:pt x="534225" y="48818"/>
                </a:lnTo>
                <a:lnTo>
                  <a:pt x="536397" y="0"/>
                </a:lnTo>
                <a:close/>
              </a:path>
            </a:pathLst>
          </a:custGeom>
          <a:solidFill>
            <a:srgbClr val="E5EDF4"/>
          </a:solidFill>
        </p:spPr>
        <p:txBody>
          <a:bodyPr wrap="square" lIns="0" tIns="0" rIns="0" bIns="0" rtlCol="0"/>
          <a:lstStyle/>
          <a:p>
            <a:endParaRPr/>
          </a:p>
        </p:txBody>
      </p:sp>
      <p:sp>
        <p:nvSpPr>
          <p:cNvPr id="19" name="object 3">
            <a:extLst>
              <a:ext uri="{FF2B5EF4-FFF2-40B4-BE49-F238E27FC236}">
                <a16:creationId xmlns:a16="http://schemas.microsoft.com/office/drawing/2014/main" id="{E87A0883-9331-5D02-4631-0D71DB709C5F}"/>
              </a:ext>
            </a:extLst>
          </p:cNvPr>
          <p:cNvSpPr/>
          <p:nvPr/>
        </p:nvSpPr>
        <p:spPr>
          <a:xfrm>
            <a:off x="2727693" y="541186"/>
            <a:ext cx="260350" cy="2030730"/>
          </a:xfrm>
          <a:custGeom>
            <a:avLst/>
            <a:gdLst/>
            <a:ahLst/>
            <a:cxnLst/>
            <a:rect l="l" t="t" r="r" b="b"/>
            <a:pathLst>
              <a:path w="260350" h="2030730">
                <a:moveTo>
                  <a:pt x="260311" y="0"/>
                </a:moveTo>
                <a:lnTo>
                  <a:pt x="0" y="0"/>
                </a:lnTo>
                <a:lnTo>
                  <a:pt x="0" y="2030399"/>
                </a:lnTo>
                <a:lnTo>
                  <a:pt x="260311" y="2030399"/>
                </a:lnTo>
                <a:lnTo>
                  <a:pt x="260311" y="0"/>
                </a:lnTo>
                <a:close/>
              </a:path>
            </a:pathLst>
          </a:custGeom>
          <a:solidFill>
            <a:srgbClr val="003059"/>
          </a:solidFill>
        </p:spPr>
        <p:txBody>
          <a:bodyPr wrap="square" lIns="0" tIns="0" rIns="0" bIns="0" rtlCol="0"/>
          <a:lstStyle/>
          <a:p>
            <a:endParaRPr/>
          </a:p>
        </p:txBody>
      </p:sp>
      <p:sp>
        <p:nvSpPr>
          <p:cNvPr id="20" name="object 14">
            <a:extLst>
              <a:ext uri="{FF2B5EF4-FFF2-40B4-BE49-F238E27FC236}">
                <a16:creationId xmlns:a16="http://schemas.microsoft.com/office/drawing/2014/main" id="{8F881973-DA93-3507-4631-E8D204C84E39}"/>
              </a:ext>
            </a:extLst>
          </p:cNvPr>
          <p:cNvSpPr/>
          <p:nvPr/>
        </p:nvSpPr>
        <p:spPr>
          <a:xfrm>
            <a:off x="2727693" y="2571585"/>
            <a:ext cx="260350" cy="2030730"/>
          </a:xfrm>
          <a:custGeom>
            <a:avLst/>
            <a:gdLst/>
            <a:ahLst/>
            <a:cxnLst/>
            <a:rect l="l" t="t" r="r" b="b"/>
            <a:pathLst>
              <a:path w="260350" h="2030729">
                <a:moveTo>
                  <a:pt x="260311" y="0"/>
                </a:moveTo>
                <a:lnTo>
                  <a:pt x="0" y="0"/>
                </a:lnTo>
                <a:lnTo>
                  <a:pt x="0" y="2030399"/>
                </a:lnTo>
                <a:lnTo>
                  <a:pt x="260311" y="2030399"/>
                </a:lnTo>
                <a:lnTo>
                  <a:pt x="260311" y="0"/>
                </a:lnTo>
                <a:close/>
              </a:path>
            </a:pathLst>
          </a:custGeom>
          <a:solidFill>
            <a:srgbClr val="00AEEF"/>
          </a:solidFill>
        </p:spPr>
        <p:txBody>
          <a:bodyPr wrap="square" lIns="0" tIns="0" rIns="0" bIns="0" rtlCol="0"/>
          <a:lstStyle/>
          <a:p>
            <a:endParaRPr/>
          </a:p>
        </p:txBody>
      </p:sp>
      <p:sp>
        <p:nvSpPr>
          <p:cNvPr id="21" name="object 15">
            <a:extLst>
              <a:ext uri="{FF2B5EF4-FFF2-40B4-BE49-F238E27FC236}">
                <a16:creationId xmlns:a16="http://schemas.microsoft.com/office/drawing/2014/main" id="{CB58EE91-9F66-698E-9351-E8224C8422C2}"/>
              </a:ext>
            </a:extLst>
          </p:cNvPr>
          <p:cNvSpPr/>
          <p:nvPr/>
        </p:nvSpPr>
        <p:spPr>
          <a:xfrm>
            <a:off x="0" y="1613993"/>
            <a:ext cx="540385" cy="2988310"/>
          </a:xfrm>
          <a:custGeom>
            <a:avLst/>
            <a:gdLst/>
            <a:ahLst/>
            <a:cxnLst/>
            <a:rect l="l" t="t" r="r" b="b"/>
            <a:pathLst>
              <a:path w="540385" h="2988310">
                <a:moveTo>
                  <a:pt x="540004" y="0"/>
                </a:moveTo>
                <a:lnTo>
                  <a:pt x="0" y="0"/>
                </a:lnTo>
                <a:lnTo>
                  <a:pt x="0" y="2987992"/>
                </a:lnTo>
                <a:lnTo>
                  <a:pt x="540004" y="2987992"/>
                </a:lnTo>
                <a:lnTo>
                  <a:pt x="540004" y="0"/>
                </a:lnTo>
                <a:close/>
              </a:path>
            </a:pathLst>
          </a:custGeom>
          <a:solidFill>
            <a:srgbClr val="E8DDC6"/>
          </a:solidFill>
        </p:spPr>
        <p:txBody>
          <a:bodyPr wrap="square" lIns="0" tIns="0" rIns="0" bIns="0" rtlCol="0"/>
          <a:lstStyle/>
          <a:p>
            <a:endParaRPr/>
          </a:p>
        </p:txBody>
      </p:sp>
      <p:sp>
        <p:nvSpPr>
          <p:cNvPr id="90" name="Espace réservé pour une image  89">
            <a:extLst>
              <a:ext uri="{FF2B5EF4-FFF2-40B4-BE49-F238E27FC236}">
                <a16:creationId xmlns:a16="http://schemas.microsoft.com/office/drawing/2014/main" id="{DD4D3EE9-6092-1071-706C-5E442A3B5B34}"/>
              </a:ext>
            </a:extLst>
          </p:cNvPr>
          <p:cNvSpPr>
            <a:spLocks noGrp="1"/>
          </p:cNvSpPr>
          <p:nvPr userDrawn="1">
            <p:ph type="pic" sz="quarter" idx="13"/>
          </p:nvPr>
        </p:nvSpPr>
        <p:spPr>
          <a:xfrm>
            <a:off x="533400" y="541186"/>
            <a:ext cx="2198103" cy="4061118"/>
          </a:xfrm>
        </p:spPr>
        <p:txBody>
          <a:bodyPr/>
          <a:lstStyle/>
          <a:p>
            <a:endParaRPr lang="fr-FR"/>
          </a:p>
        </p:txBody>
      </p:sp>
      <p:pic>
        <p:nvPicPr>
          <p:cNvPr id="22" name="Image 21" descr="Une image contenant texte, Police, capture d’écran, Graphique&#10;&#10;Le contenu généré par l’IA peut être incorrect.">
            <a:extLst>
              <a:ext uri="{FF2B5EF4-FFF2-40B4-BE49-F238E27FC236}">
                <a16:creationId xmlns:a16="http://schemas.microsoft.com/office/drawing/2014/main" id="{98193FC7-55B3-095B-8EEC-DBF2B6E0A55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pic>
        <p:nvPicPr>
          <p:cNvPr id="2" name="Espace réservé pour une image  7" descr="Une image contenant personne, habits, Visage humain, sourire&#10;&#10;Le contenu généré par l’IA peut être incorrect.">
            <a:extLst>
              <a:ext uri="{FF2B5EF4-FFF2-40B4-BE49-F238E27FC236}">
                <a16:creationId xmlns:a16="http://schemas.microsoft.com/office/drawing/2014/main" id="{9528A68B-83C1-2AD5-BD91-DDB7C039345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3737" t="-90" r="21104" b="90"/>
          <a:stretch>
            <a:fillRect/>
          </a:stretch>
        </p:blipFill>
        <p:spPr>
          <a:xfrm>
            <a:off x="533400" y="541185"/>
            <a:ext cx="2198104" cy="4061118"/>
          </a:xfrm>
          <a:prstGeom prst="rect">
            <a:avLst/>
          </a:prstGeom>
        </p:spPr>
      </p:pic>
    </p:spTree>
    <p:extLst>
      <p:ext uri="{BB962C8B-B14F-4D97-AF65-F5344CB8AC3E}">
        <p14:creationId xmlns:p14="http://schemas.microsoft.com/office/powerpoint/2010/main" val="1451363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E94F234-E42C-3145-F800-46F86EF1A17A}"/>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Espace réservé du texte 105">
            <a:extLst>
              <a:ext uri="{FF2B5EF4-FFF2-40B4-BE49-F238E27FC236}">
                <a16:creationId xmlns:a16="http://schemas.microsoft.com/office/drawing/2014/main" id="{AFC3790F-95A4-FE3A-9007-21495798CE32}"/>
              </a:ext>
            </a:extLst>
          </p:cNvPr>
          <p:cNvSpPr>
            <a:spLocks noGrp="1"/>
          </p:cNvSpPr>
          <p:nvPr userDrawn="1">
            <p:ph type="body" sz="quarter" idx="12" hasCustomPrompt="1"/>
          </p:nvPr>
        </p:nvSpPr>
        <p:spPr>
          <a:xfrm>
            <a:off x="555994" y="2296343"/>
            <a:ext cx="2873006" cy="274047"/>
          </a:xfrm>
        </p:spPr>
        <p:txBody>
          <a:bodyPr anchor="t" anchorCtr="0">
            <a:noAutofit/>
          </a:bodyPr>
          <a:lstStyle>
            <a:lvl1pPr marL="171446" indent="-171446">
              <a:buClr>
                <a:schemeClr val="accent5"/>
              </a:buClr>
              <a:buFont typeface="+mj-lt"/>
              <a:buAutoNum type="arabicPeriod"/>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07" name="Espace réservé du texte 105">
            <a:extLst>
              <a:ext uri="{FF2B5EF4-FFF2-40B4-BE49-F238E27FC236}">
                <a16:creationId xmlns:a16="http://schemas.microsoft.com/office/drawing/2014/main" id="{47E54E45-A80B-F4EF-0528-1E66CA4C5FFE}"/>
              </a:ext>
            </a:extLst>
          </p:cNvPr>
          <p:cNvSpPr>
            <a:spLocks noGrp="1"/>
          </p:cNvSpPr>
          <p:nvPr userDrawn="1">
            <p:ph type="body" sz="quarter" idx="13" hasCustomPrompt="1"/>
          </p:nvPr>
        </p:nvSpPr>
        <p:spPr>
          <a:xfrm>
            <a:off x="3429000" y="2303306"/>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08" name="Espace réservé du texte 105">
            <a:extLst>
              <a:ext uri="{FF2B5EF4-FFF2-40B4-BE49-F238E27FC236}">
                <a16:creationId xmlns:a16="http://schemas.microsoft.com/office/drawing/2014/main" id="{E64ACC75-D2EF-FEC1-4D08-441A7B979846}"/>
              </a:ext>
            </a:extLst>
          </p:cNvPr>
          <p:cNvSpPr>
            <a:spLocks noGrp="1"/>
          </p:cNvSpPr>
          <p:nvPr userDrawn="1">
            <p:ph type="body" sz="quarter" idx="14" hasCustomPrompt="1"/>
          </p:nvPr>
        </p:nvSpPr>
        <p:spPr>
          <a:xfrm>
            <a:off x="555994" y="2749256"/>
            <a:ext cx="2873006" cy="274047"/>
          </a:xfrm>
        </p:spPr>
        <p:txBody>
          <a:bodyPr anchor="t" anchorCtr="0">
            <a:noAutofit/>
          </a:bodyPr>
          <a:lstStyle>
            <a:lvl1pPr marL="171446" indent="-171446">
              <a:buClr>
                <a:schemeClr val="accent5"/>
              </a:buClr>
              <a:buFont typeface="+mj-lt"/>
              <a:buAutoNum type="arabicPeriod" startAt="2"/>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09" name="Espace réservé du texte 105">
            <a:extLst>
              <a:ext uri="{FF2B5EF4-FFF2-40B4-BE49-F238E27FC236}">
                <a16:creationId xmlns:a16="http://schemas.microsoft.com/office/drawing/2014/main" id="{D1CCC70D-372A-86D5-2597-8E5C0B36BAFF}"/>
              </a:ext>
            </a:extLst>
          </p:cNvPr>
          <p:cNvSpPr>
            <a:spLocks noGrp="1"/>
          </p:cNvSpPr>
          <p:nvPr userDrawn="1">
            <p:ph type="body" sz="quarter" idx="15" hasCustomPrompt="1"/>
          </p:nvPr>
        </p:nvSpPr>
        <p:spPr>
          <a:xfrm>
            <a:off x="3429000" y="2756219"/>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0" name="Espace réservé du texte 105">
            <a:extLst>
              <a:ext uri="{FF2B5EF4-FFF2-40B4-BE49-F238E27FC236}">
                <a16:creationId xmlns:a16="http://schemas.microsoft.com/office/drawing/2014/main" id="{8D65A185-5084-FB2D-5067-F51092665620}"/>
              </a:ext>
            </a:extLst>
          </p:cNvPr>
          <p:cNvSpPr>
            <a:spLocks noGrp="1"/>
          </p:cNvSpPr>
          <p:nvPr userDrawn="1">
            <p:ph type="body" sz="quarter" idx="16" hasCustomPrompt="1"/>
          </p:nvPr>
        </p:nvSpPr>
        <p:spPr>
          <a:xfrm>
            <a:off x="555994" y="3209132"/>
            <a:ext cx="2873006" cy="274047"/>
          </a:xfrm>
        </p:spPr>
        <p:txBody>
          <a:bodyPr anchor="t" anchorCtr="0">
            <a:noAutofit/>
          </a:bodyPr>
          <a:lstStyle>
            <a:lvl1pPr marL="171446" indent="-171446">
              <a:buClr>
                <a:schemeClr val="accent5"/>
              </a:buClr>
              <a:buFont typeface="+mj-lt"/>
              <a:buAutoNum type="arabicPeriod" startAt="3"/>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1" name="Espace réservé du texte 105">
            <a:extLst>
              <a:ext uri="{FF2B5EF4-FFF2-40B4-BE49-F238E27FC236}">
                <a16:creationId xmlns:a16="http://schemas.microsoft.com/office/drawing/2014/main" id="{BE029831-9CFB-95BE-3748-974465291047}"/>
              </a:ext>
            </a:extLst>
          </p:cNvPr>
          <p:cNvSpPr>
            <a:spLocks noGrp="1"/>
          </p:cNvSpPr>
          <p:nvPr userDrawn="1">
            <p:ph type="body" sz="quarter" idx="17" hasCustomPrompt="1"/>
          </p:nvPr>
        </p:nvSpPr>
        <p:spPr>
          <a:xfrm>
            <a:off x="3429000" y="3216095"/>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2" name="Espace réservé du texte 105">
            <a:extLst>
              <a:ext uri="{FF2B5EF4-FFF2-40B4-BE49-F238E27FC236}">
                <a16:creationId xmlns:a16="http://schemas.microsoft.com/office/drawing/2014/main" id="{B55C7AB3-52F6-62F3-B0E3-6A4F2520A19D}"/>
              </a:ext>
            </a:extLst>
          </p:cNvPr>
          <p:cNvSpPr>
            <a:spLocks noGrp="1"/>
          </p:cNvSpPr>
          <p:nvPr userDrawn="1">
            <p:ph type="body" sz="quarter" idx="18" hasCustomPrompt="1"/>
          </p:nvPr>
        </p:nvSpPr>
        <p:spPr>
          <a:xfrm>
            <a:off x="555994" y="3637780"/>
            <a:ext cx="2873006" cy="274047"/>
          </a:xfrm>
        </p:spPr>
        <p:txBody>
          <a:bodyPr anchor="t" anchorCtr="0">
            <a:noAutofit/>
          </a:bodyPr>
          <a:lstStyle>
            <a:lvl1pPr marL="171446" indent="-171446">
              <a:buClr>
                <a:schemeClr val="accent5"/>
              </a:buClr>
              <a:buFont typeface="+mj-lt"/>
              <a:buAutoNum type="arabicPeriod" startAt="4"/>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3" name="Espace réservé du texte 105">
            <a:extLst>
              <a:ext uri="{FF2B5EF4-FFF2-40B4-BE49-F238E27FC236}">
                <a16:creationId xmlns:a16="http://schemas.microsoft.com/office/drawing/2014/main" id="{8E1AF094-4A70-E6FE-DF85-918DCDBB13FD}"/>
              </a:ext>
            </a:extLst>
          </p:cNvPr>
          <p:cNvSpPr>
            <a:spLocks noGrp="1"/>
          </p:cNvSpPr>
          <p:nvPr userDrawn="1">
            <p:ph type="body" sz="quarter" idx="19" hasCustomPrompt="1"/>
          </p:nvPr>
        </p:nvSpPr>
        <p:spPr>
          <a:xfrm>
            <a:off x="3429000" y="3644743"/>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4" name="Espace réservé du texte 105">
            <a:extLst>
              <a:ext uri="{FF2B5EF4-FFF2-40B4-BE49-F238E27FC236}">
                <a16:creationId xmlns:a16="http://schemas.microsoft.com/office/drawing/2014/main" id="{76E4D111-CC39-D743-67B1-48B1B121E5A3}"/>
              </a:ext>
            </a:extLst>
          </p:cNvPr>
          <p:cNvSpPr>
            <a:spLocks noGrp="1"/>
          </p:cNvSpPr>
          <p:nvPr userDrawn="1">
            <p:ph type="body" sz="quarter" idx="20" hasCustomPrompt="1"/>
          </p:nvPr>
        </p:nvSpPr>
        <p:spPr>
          <a:xfrm>
            <a:off x="5219700" y="2296342"/>
            <a:ext cx="2856322" cy="279097"/>
          </a:xfrm>
        </p:spPr>
        <p:txBody>
          <a:bodyPr anchor="t" anchorCtr="0">
            <a:noAutofit/>
          </a:bodyPr>
          <a:lstStyle>
            <a:lvl1pPr marL="171446" indent="-171446">
              <a:buClr>
                <a:schemeClr val="accent5"/>
              </a:buClr>
              <a:buFont typeface="+mj-lt"/>
              <a:buAutoNum type="arabicPeriod" startAt="5"/>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5" name="Espace réservé du texte 105">
            <a:extLst>
              <a:ext uri="{FF2B5EF4-FFF2-40B4-BE49-F238E27FC236}">
                <a16:creationId xmlns:a16="http://schemas.microsoft.com/office/drawing/2014/main" id="{F4FB5A0E-2175-5868-C394-6245612A9DEC}"/>
              </a:ext>
            </a:extLst>
          </p:cNvPr>
          <p:cNvSpPr>
            <a:spLocks noGrp="1"/>
          </p:cNvSpPr>
          <p:nvPr userDrawn="1">
            <p:ph type="body" sz="quarter" idx="21" hasCustomPrompt="1"/>
          </p:nvPr>
        </p:nvSpPr>
        <p:spPr>
          <a:xfrm>
            <a:off x="8076022" y="2306101"/>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6" name="Espace réservé du texte 105">
            <a:extLst>
              <a:ext uri="{FF2B5EF4-FFF2-40B4-BE49-F238E27FC236}">
                <a16:creationId xmlns:a16="http://schemas.microsoft.com/office/drawing/2014/main" id="{E2E6260F-363A-57B7-23BF-D9123A1532F3}"/>
              </a:ext>
            </a:extLst>
          </p:cNvPr>
          <p:cNvSpPr>
            <a:spLocks noGrp="1"/>
          </p:cNvSpPr>
          <p:nvPr userDrawn="1">
            <p:ph type="body" sz="quarter" idx="22" hasCustomPrompt="1"/>
          </p:nvPr>
        </p:nvSpPr>
        <p:spPr>
          <a:xfrm>
            <a:off x="5219700" y="2749256"/>
            <a:ext cx="2856322" cy="279097"/>
          </a:xfrm>
        </p:spPr>
        <p:txBody>
          <a:bodyPr anchor="t" anchorCtr="0">
            <a:noAutofit/>
          </a:bodyPr>
          <a:lstStyle>
            <a:lvl1pPr marL="171446" indent="-171446">
              <a:buClr>
                <a:schemeClr val="accent5"/>
              </a:buClr>
              <a:buFont typeface="+mj-lt"/>
              <a:buAutoNum type="arabicPeriod" startAt="6"/>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7" name="Espace réservé du texte 105">
            <a:extLst>
              <a:ext uri="{FF2B5EF4-FFF2-40B4-BE49-F238E27FC236}">
                <a16:creationId xmlns:a16="http://schemas.microsoft.com/office/drawing/2014/main" id="{25EA6477-4019-2F41-55A3-085B7971C8F4}"/>
              </a:ext>
            </a:extLst>
          </p:cNvPr>
          <p:cNvSpPr>
            <a:spLocks noGrp="1"/>
          </p:cNvSpPr>
          <p:nvPr userDrawn="1">
            <p:ph type="body" sz="quarter" idx="23" hasCustomPrompt="1"/>
          </p:nvPr>
        </p:nvSpPr>
        <p:spPr>
          <a:xfrm>
            <a:off x="8076022" y="2759015"/>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8" name="Espace réservé du texte 105">
            <a:extLst>
              <a:ext uri="{FF2B5EF4-FFF2-40B4-BE49-F238E27FC236}">
                <a16:creationId xmlns:a16="http://schemas.microsoft.com/office/drawing/2014/main" id="{41E19886-1FCB-C0CB-B499-8B3BFA8EBEBD}"/>
              </a:ext>
            </a:extLst>
          </p:cNvPr>
          <p:cNvSpPr>
            <a:spLocks noGrp="1"/>
          </p:cNvSpPr>
          <p:nvPr userDrawn="1">
            <p:ph type="body" sz="quarter" idx="24" hasCustomPrompt="1"/>
          </p:nvPr>
        </p:nvSpPr>
        <p:spPr>
          <a:xfrm>
            <a:off x="5219700" y="3209132"/>
            <a:ext cx="2856322" cy="279097"/>
          </a:xfrm>
        </p:spPr>
        <p:txBody>
          <a:bodyPr anchor="t" anchorCtr="0">
            <a:noAutofit/>
          </a:bodyPr>
          <a:lstStyle>
            <a:lvl1pPr marL="171446" indent="-171446">
              <a:buClr>
                <a:schemeClr val="accent5"/>
              </a:buClr>
              <a:buFont typeface="+mj-lt"/>
              <a:buAutoNum type="arabicPeriod" startAt="7"/>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9" name="Espace réservé du texte 105">
            <a:extLst>
              <a:ext uri="{FF2B5EF4-FFF2-40B4-BE49-F238E27FC236}">
                <a16:creationId xmlns:a16="http://schemas.microsoft.com/office/drawing/2014/main" id="{A40ED9E4-19CA-79F7-F897-80052FFF5A92}"/>
              </a:ext>
            </a:extLst>
          </p:cNvPr>
          <p:cNvSpPr>
            <a:spLocks noGrp="1"/>
          </p:cNvSpPr>
          <p:nvPr userDrawn="1">
            <p:ph type="body" sz="quarter" idx="25" hasCustomPrompt="1"/>
          </p:nvPr>
        </p:nvSpPr>
        <p:spPr>
          <a:xfrm>
            <a:off x="8076022" y="3218891"/>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20" name="Espace réservé du texte 105">
            <a:extLst>
              <a:ext uri="{FF2B5EF4-FFF2-40B4-BE49-F238E27FC236}">
                <a16:creationId xmlns:a16="http://schemas.microsoft.com/office/drawing/2014/main" id="{0E31F892-7816-6952-89E6-B43965C4C226}"/>
              </a:ext>
            </a:extLst>
          </p:cNvPr>
          <p:cNvSpPr>
            <a:spLocks noGrp="1"/>
          </p:cNvSpPr>
          <p:nvPr userDrawn="1">
            <p:ph type="body" sz="quarter" idx="26" hasCustomPrompt="1"/>
          </p:nvPr>
        </p:nvSpPr>
        <p:spPr>
          <a:xfrm>
            <a:off x="5219700" y="3637779"/>
            <a:ext cx="2856322" cy="279097"/>
          </a:xfrm>
        </p:spPr>
        <p:txBody>
          <a:bodyPr anchor="t" anchorCtr="0">
            <a:noAutofit/>
          </a:bodyPr>
          <a:lstStyle>
            <a:lvl1pPr marL="171446" indent="-171446">
              <a:buClr>
                <a:schemeClr val="accent5"/>
              </a:buClr>
              <a:buFont typeface="+mj-lt"/>
              <a:buAutoNum type="arabicPeriod" startAt="8"/>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21" name="Espace réservé du texte 105">
            <a:extLst>
              <a:ext uri="{FF2B5EF4-FFF2-40B4-BE49-F238E27FC236}">
                <a16:creationId xmlns:a16="http://schemas.microsoft.com/office/drawing/2014/main" id="{F99C2A6E-9E00-1A0F-0288-5D885C6AE328}"/>
              </a:ext>
            </a:extLst>
          </p:cNvPr>
          <p:cNvSpPr>
            <a:spLocks noGrp="1"/>
          </p:cNvSpPr>
          <p:nvPr userDrawn="1">
            <p:ph type="body" sz="quarter" idx="27" hasCustomPrompt="1"/>
          </p:nvPr>
        </p:nvSpPr>
        <p:spPr>
          <a:xfrm>
            <a:off x="8076022" y="3647538"/>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25" name="Espace réservé du pied de page 124">
            <a:extLst>
              <a:ext uri="{FF2B5EF4-FFF2-40B4-BE49-F238E27FC236}">
                <a16:creationId xmlns:a16="http://schemas.microsoft.com/office/drawing/2014/main" id="{BF974446-D450-AF9B-B7CA-62F468FED316}"/>
              </a:ext>
            </a:extLst>
          </p:cNvPr>
          <p:cNvSpPr>
            <a:spLocks noGrp="1"/>
          </p:cNvSpPr>
          <p:nvPr userDrawn="1">
            <p:ph type="ftr" sz="quarter" idx="28"/>
          </p:nvPr>
        </p:nvSpPr>
        <p:spPr/>
        <p:txBody>
          <a:bodyPr/>
          <a:lstStyle/>
          <a:p>
            <a:r>
              <a:rPr lang="fr-FR"/>
              <a:t>LFB Group Corruption Risk </a:t>
            </a:r>
            <a:r>
              <a:rPr lang="fr-FR" err="1"/>
              <a:t>Map</a:t>
            </a:r>
            <a:r>
              <a:rPr lang="fr-FR"/>
              <a:t> 2026</a:t>
            </a:r>
          </a:p>
        </p:txBody>
      </p:sp>
      <p:sp>
        <p:nvSpPr>
          <p:cNvPr id="126" name="Espace réservé du numéro de diapositive 125">
            <a:extLst>
              <a:ext uri="{FF2B5EF4-FFF2-40B4-BE49-F238E27FC236}">
                <a16:creationId xmlns:a16="http://schemas.microsoft.com/office/drawing/2014/main" id="{7C502C72-215E-C49D-2060-58E72CA97A3B}"/>
              </a:ext>
            </a:extLst>
          </p:cNvPr>
          <p:cNvSpPr>
            <a:spLocks noGrp="1"/>
          </p:cNvSpPr>
          <p:nvPr userDrawn="1">
            <p:ph type="sldNum" sz="quarter" idx="29"/>
          </p:nvPr>
        </p:nvSpPr>
        <p:spPr/>
        <p:txBody>
          <a:bodyPr/>
          <a:lstStyle/>
          <a:p>
            <a:fld id="{B6F15528-21DE-4FAA-801E-634DDDAF4B2B}" type="slidenum">
              <a:rPr lang="fr-FR" smtClean="0"/>
              <a:pPr/>
              <a:t>‹N°›</a:t>
            </a:fld>
            <a:endParaRPr lang="fr-FR"/>
          </a:p>
        </p:txBody>
      </p:sp>
      <p:sp>
        <p:nvSpPr>
          <p:cNvPr id="24" name="object 12">
            <a:extLst>
              <a:ext uri="{FF2B5EF4-FFF2-40B4-BE49-F238E27FC236}">
                <a16:creationId xmlns:a16="http://schemas.microsoft.com/office/drawing/2014/main" id="{51A9525E-DFC5-4ACE-9666-35BE515C9387}"/>
              </a:ext>
            </a:extLst>
          </p:cNvPr>
          <p:cNvSpPr/>
          <p:nvPr/>
        </p:nvSpPr>
        <p:spPr>
          <a:xfrm>
            <a:off x="0" y="-12"/>
            <a:ext cx="260350" cy="2570480"/>
          </a:xfrm>
          <a:custGeom>
            <a:avLst/>
            <a:gdLst/>
            <a:ahLst/>
            <a:cxnLst/>
            <a:rect l="l" t="t" r="r" b="b"/>
            <a:pathLst>
              <a:path w="260350" h="2570480">
                <a:moveTo>
                  <a:pt x="260311" y="0"/>
                </a:moveTo>
                <a:lnTo>
                  <a:pt x="0" y="0"/>
                </a:lnTo>
                <a:lnTo>
                  <a:pt x="0" y="2570403"/>
                </a:lnTo>
                <a:lnTo>
                  <a:pt x="260311" y="2570403"/>
                </a:lnTo>
                <a:lnTo>
                  <a:pt x="260311" y="0"/>
                </a:lnTo>
                <a:close/>
              </a:path>
            </a:pathLst>
          </a:custGeom>
          <a:solidFill>
            <a:srgbClr val="003059"/>
          </a:solidFill>
        </p:spPr>
        <p:txBody>
          <a:bodyPr wrap="square" lIns="0" tIns="0" rIns="0" bIns="0" rtlCol="0"/>
          <a:lstStyle/>
          <a:p>
            <a:endParaRPr/>
          </a:p>
        </p:txBody>
      </p:sp>
      <p:sp>
        <p:nvSpPr>
          <p:cNvPr id="25" name="object 13">
            <a:extLst>
              <a:ext uri="{FF2B5EF4-FFF2-40B4-BE49-F238E27FC236}">
                <a16:creationId xmlns:a16="http://schemas.microsoft.com/office/drawing/2014/main" id="{739E489F-EBE7-7CE1-8930-FB823BE693FF}"/>
              </a:ext>
            </a:extLst>
          </p:cNvPr>
          <p:cNvSpPr/>
          <p:nvPr/>
        </p:nvSpPr>
        <p:spPr>
          <a:xfrm>
            <a:off x="0" y="2570390"/>
            <a:ext cx="260350" cy="2570480"/>
          </a:xfrm>
          <a:custGeom>
            <a:avLst/>
            <a:gdLst/>
            <a:ahLst/>
            <a:cxnLst/>
            <a:rect l="l" t="t" r="r" b="b"/>
            <a:pathLst>
              <a:path w="260350" h="2570479">
                <a:moveTo>
                  <a:pt x="260311" y="0"/>
                </a:moveTo>
                <a:lnTo>
                  <a:pt x="0" y="0"/>
                </a:lnTo>
                <a:lnTo>
                  <a:pt x="0" y="2570403"/>
                </a:lnTo>
                <a:lnTo>
                  <a:pt x="260311" y="2570403"/>
                </a:lnTo>
                <a:lnTo>
                  <a:pt x="260311" y="0"/>
                </a:lnTo>
                <a:close/>
              </a:path>
            </a:pathLst>
          </a:custGeom>
          <a:solidFill>
            <a:srgbClr val="00AEEF"/>
          </a:solidFill>
        </p:spPr>
        <p:txBody>
          <a:bodyPr wrap="square" lIns="0" tIns="0" rIns="0" bIns="0" rtlCol="0"/>
          <a:lstStyle/>
          <a:p>
            <a:endParaRPr/>
          </a:p>
        </p:txBody>
      </p:sp>
      <p:pic>
        <p:nvPicPr>
          <p:cNvPr id="26" name="Image 25" descr="Une image contenant texte, Police, capture d’écran, Graphique&#10;&#10;Le contenu généré par l’IA peut être incorrect.">
            <a:extLst>
              <a:ext uri="{FF2B5EF4-FFF2-40B4-BE49-F238E27FC236}">
                <a16:creationId xmlns:a16="http://schemas.microsoft.com/office/drawing/2014/main" id="{9C5B991F-6F2F-F8EC-033E-1CE0AE6B04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27" name="Titre 26">
            <a:extLst>
              <a:ext uri="{FF2B5EF4-FFF2-40B4-BE49-F238E27FC236}">
                <a16:creationId xmlns:a16="http://schemas.microsoft.com/office/drawing/2014/main" id="{917B67AB-E45C-7BB4-6A94-FCC6F5893191}"/>
              </a:ext>
            </a:extLst>
          </p:cNvPr>
          <p:cNvSpPr>
            <a:spLocks noGrp="1"/>
          </p:cNvSpPr>
          <p:nvPr>
            <p:ph type="title"/>
          </p:nvPr>
        </p:nvSpPr>
        <p:spPr>
          <a:xfrm>
            <a:off x="552450" y="438150"/>
            <a:ext cx="6610350" cy="925737"/>
          </a:xfrm>
        </p:spPr>
        <p:txBody>
          <a:bodyPr/>
          <a:lstStyle>
            <a:lvl1pPr>
              <a:defRPr sz="3500"/>
            </a:lvl1pPr>
          </a:lstStyle>
          <a:p>
            <a:r>
              <a:rPr lang="fr-FR"/>
              <a:t>Modifiez le style du titre</a:t>
            </a:r>
          </a:p>
        </p:txBody>
      </p:sp>
    </p:spTree>
    <p:extLst>
      <p:ext uri="{BB962C8B-B14F-4D97-AF65-F5344CB8AC3E}">
        <p14:creationId xmlns:p14="http://schemas.microsoft.com/office/powerpoint/2010/main" val="1514281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partie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CF011-D9F0-4847-2A8C-39F75C991449}"/>
              </a:ext>
            </a:extLst>
          </p:cNvPr>
          <p:cNvSpPr>
            <a:spLocks noGrp="1"/>
          </p:cNvSpPr>
          <p:nvPr>
            <p:ph type="title" hasCustomPrompt="1"/>
          </p:nvPr>
        </p:nvSpPr>
        <p:spPr>
          <a:xfrm>
            <a:off x="3505200" y="2724150"/>
            <a:ext cx="3870060" cy="1153340"/>
          </a:xfrm>
        </p:spPr>
        <p:txBody>
          <a:bodyPr anchor="b" anchorCtr="0">
            <a:noAutofit/>
          </a:bodyPr>
          <a:lstStyle>
            <a:lvl1pPr>
              <a:defRPr sz="3000">
                <a:latin typeface="Roboto Bold" panose="02000000000000000000" pitchFamily="2" charset="0"/>
                <a:ea typeface="Roboto Bold" panose="02000000000000000000" pitchFamily="2" charset="0"/>
              </a:defRPr>
            </a:lvl1pPr>
          </a:lstStyle>
          <a:p>
            <a:r>
              <a:rPr lang="fr-FR"/>
              <a:t>Cliquez pour </a:t>
            </a:r>
            <a:br>
              <a:rPr lang="fr-FR"/>
            </a:br>
            <a:r>
              <a:rPr lang="fr-FR"/>
              <a:t>modifier le titre</a:t>
            </a:r>
          </a:p>
        </p:txBody>
      </p:sp>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endParaRPr lang="fr-FR"/>
          </a:p>
        </p:txBody>
      </p:sp>
      <p:sp>
        <p:nvSpPr>
          <p:cNvPr id="12" name="Espace réservé du texte 11">
            <a:extLst>
              <a:ext uri="{FF2B5EF4-FFF2-40B4-BE49-F238E27FC236}">
                <a16:creationId xmlns:a16="http://schemas.microsoft.com/office/drawing/2014/main" id="{9696FE2E-462E-B964-8974-C167AD4C84D2}"/>
              </a:ext>
            </a:extLst>
          </p:cNvPr>
          <p:cNvSpPr>
            <a:spLocks noGrp="1"/>
          </p:cNvSpPr>
          <p:nvPr>
            <p:ph type="body" sz="quarter" idx="13" hasCustomPrompt="1"/>
          </p:nvPr>
        </p:nvSpPr>
        <p:spPr>
          <a:xfrm>
            <a:off x="3505200" y="1123950"/>
            <a:ext cx="2895600" cy="1378500"/>
          </a:xfrm>
        </p:spPr>
        <p:txBody>
          <a:bodyPr anchor="ctr" anchorCtr="0">
            <a:noAutofit/>
          </a:bodyPr>
          <a:lstStyle>
            <a:lvl1pPr>
              <a:defRPr sz="9000">
                <a:latin typeface="Roboto Thin" panose="02000000000000000000" pitchFamily="2" charset="0"/>
                <a:ea typeface="Roboto Thin" panose="02000000000000000000" pitchFamily="2" charset="0"/>
              </a:defRPr>
            </a:lvl1pPr>
          </a:lstStyle>
          <a:p>
            <a:pPr lvl="0"/>
            <a:r>
              <a:rPr lang="fr-FR"/>
              <a:t>1</a:t>
            </a:r>
          </a:p>
        </p:txBody>
      </p:sp>
      <p:sp>
        <p:nvSpPr>
          <p:cNvPr id="13" name="Rectangle 12">
            <a:extLst>
              <a:ext uri="{FF2B5EF4-FFF2-40B4-BE49-F238E27FC236}">
                <a16:creationId xmlns:a16="http://schemas.microsoft.com/office/drawing/2014/main" id="{E768042C-91C7-9E1B-DC50-E26BF7BB846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bject 9">
            <a:extLst>
              <a:ext uri="{FF2B5EF4-FFF2-40B4-BE49-F238E27FC236}">
                <a16:creationId xmlns:a16="http://schemas.microsoft.com/office/drawing/2014/main" id="{CCEFD188-7B52-61F9-3B20-3871DFEB37C7}"/>
              </a:ext>
            </a:extLst>
          </p:cNvPr>
          <p:cNvSpPr/>
          <p:nvPr userDrawn="1"/>
        </p:nvSpPr>
        <p:spPr>
          <a:xfrm>
            <a:off x="539991" y="540003"/>
            <a:ext cx="1612900" cy="806450"/>
          </a:xfrm>
          <a:custGeom>
            <a:avLst/>
            <a:gdLst/>
            <a:ahLst/>
            <a:cxnLst/>
            <a:rect l="l" t="t" r="r" b="b"/>
            <a:pathLst>
              <a:path w="1612900" h="806450">
                <a:moveTo>
                  <a:pt x="806399" y="798728"/>
                </a:moveTo>
                <a:lnTo>
                  <a:pt x="804926" y="750074"/>
                </a:lnTo>
                <a:lnTo>
                  <a:pt x="800569" y="702183"/>
                </a:lnTo>
                <a:lnTo>
                  <a:pt x="793407" y="655154"/>
                </a:lnTo>
                <a:lnTo>
                  <a:pt x="783526" y="609066"/>
                </a:lnTo>
                <a:lnTo>
                  <a:pt x="771017" y="563994"/>
                </a:lnTo>
                <a:lnTo>
                  <a:pt x="755954" y="520026"/>
                </a:lnTo>
                <a:lnTo>
                  <a:pt x="738416" y="477253"/>
                </a:lnTo>
                <a:lnTo>
                  <a:pt x="718515" y="435737"/>
                </a:lnTo>
                <a:lnTo>
                  <a:pt x="696302" y="395592"/>
                </a:lnTo>
                <a:lnTo>
                  <a:pt x="671880" y="356882"/>
                </a:lnTo>
                <a:lnTo>
                  <a:pt x="645337" y="319697"/>
                </a:lnTo>
                <a:lnTo>
                  <a:pt x="616750" y="284111"/>
                </a:lnTo>
                <a:lnTo>
                  <a:pt x="586193" y="250228"/>
                </a:lnTo>
                <a:lnTo>
                  <a:pt x="553770" y="218109"/>
                </a:lnTo>
                <a:lnTo>
                  <a:pt x="519557" y="187845"/>
                </a:lnTo>
                <a:lnTo>
                  <a:pt x="483628" y="159524"/>
                </a:lnTo>
                <a:lnTo>
                  <a:pt x="446087" y="133235"/>
                </a:lnTo>
                <a:lnTo>
                  <a:pt x="407009" y="109042"/>
                </a:lnTo>
                <a:lnTo>
                  <a:pt x="366471" y="87058"/>
                </a:lnTo>
                <a:lnTo>
                  <a:pt x="324573" y="67335"/>
                </a:lnTo>
                <a:lnTo>
                  <a:pt x="281381" y="49974"/>
                </a:lnTo>
                <a:lnTo>
                  <a:pt x="236994" y="35052"/>
                </a:lnTo>
                <a:lnTo>
                  <a:pt x="191490" y="22656"/>
                </a:lnTo>
                <a:lnTo>
                  <a:pt x="144957" y="12865"/>
                </a:lnTo>
                <a:lnTo>
                  <a:pt x="97472" y="5778"/>
                </a:lnTo>
                <a:lnTo>
                  <a:pt x="49123" y="1460"/>
                </a:lnTo>
                <a:lnTo>
                  <a:pt x="0" y="0"/>
                </a:lnTo>
                <a:lnTo>
                  <a:pt x="0" y="806399"/>
                </a:lnTo>
                <a:lnTo>
                  <a:pt x="806208" y="806399"/>
                </a:lnTo>
                <a:lnTo>
                  <a:pt x="806399" y="798728"/>
                </a:lnTo>
                <a:close/>
              </a:path>
              <a:path w="1612900" h="806450">
                <a:moveTo>
                  <a:pt x="1612798" y="798728"/>
                </a:moveTo>
                <a:lnTo>
                  <a:pt x="1611325" y="750074"/>
                </a:lnTo>
                <a:lnTo>
                  <a:pt x="1606969" y="702183"/>
                </a:lnTo>
                <a:lnTo>
                  <a:pt x="1599806" y="655154"/>
                </a:lnTo>
                <a:lnTo>
                  <a:pt x="1589925" y="609066"/>
                </a:lnTo>
                <a:lnTo>
                  <a:pt x="1577416" y="563994"/>
                </a:lnTo>
                <a:lnTo>
                  <a:pt x="1562354" y="520026"/>
                </a:lnTo>
                <a:lnTo>
                  <a:pt x="1544815" y="477253"/>
                </a:lnTo>
                <a:lnTo>
                  <a:pt x="1524914" y="435737"/>
                </a:lnTo>
                <a:lnTo>
                  <a:pt x="1502702" y="395592"/>
                </a:lnTo>
                <a:lnTo>
                  <a:pt x="1478280" y="356882"/>
                </a:lnTo>
                <a:lnTo>
                  <a:pt x="1451737" y="319697"/>
                </a:lnTo>
                <a:lnTo>
                  <a:pt x="1423149" y="284111"/>
                </a:lnTo>
                <a:lnTo>
                  <a:pt x="1392593" y="250228"/>
                </a:lnTo>
                <a:lnTo>
                  <a:pt x="1360170" y="218109"/>
                </a:lnTo>
                <a:lnTo>
                  <a:pt x="1325956" y="187845"/>
                </a:lnTo>
                <a:lnTo>
                  <a:pt x="1290027" y="159524"/>
                </a:lnTo>
                <a:lnTo>
                  <a:pt x="1252486" y="133235"/>
                </a:lnTo>
                <a:lnTo>
                  <a:pt x="1213408" y="109042"/>
                </a:lnTo>
                <a:lnTo>
                  <a:pt x="1172870" y="87058"/>
                </a:lnTo>
                <a:lnTo>
                  <a:pt x="1130973" y="67335"/>
                </a:lnTo>
                <a:lnTo>
                  <a:pt x="1087780" y="49974"/>
                </a:lnTo>
                <a:lnTo>
                  <a:pt x="1043393" y="35052"/>
                </a:lnTo>
                <a:lnTo>
                  <a:pt x="997889" y="22656"/>
                </a:lnTo>
                <a:lnTo>
                  <a:pt x="951357" y="12865"/>
                </a:lnTo>
                <a:lnTo>
                  <a:pt x="903871" y="5778"/>
                </a:lnTo>
                <a:lnTo>
                  <a:pt x="855522" y="1460"/>
                </a:lnTo>
                <a:lnTo>
                  <a:pt x="806399" y="0"/>
                </a:lnTo>
                <a:lnTo>
                  <a:pt x="806399" y="798728"/>
                </a:lnTo>
                <a:lnTo>
                  <a:pt x="806399" y="806399"/>
                </a:lnTo>
                <a:lnTo>
                  <a:pt x="1612607" y="806399"/>
                </a:lnTo>
                <a:lnTo>
                  <a:pt x="1612798" y="798728"/>
                </a:lnTo>
                <a:close/>
              </a:path>
            </a:pathLst>
          </a:custGeom>
          <a:solidFill>
            <a:srgbClr val="E5EDF4"/>
          </a:solidFill>
        </p:spPr>
        <p:txBody>
          <a:bodyPr wrap="square" lIns="0" tIns="0" rIns="0" bIns="0" rtlCol="0"/>
          <a:lstStyle/>
          <a:p>
            <a:endParaRPr/>
          </a:p>
        </p:txBody>
      </p:sp>
      <p:sp>
        <p:nvSpPr>
          <p:cNvPr id="8" name="object 10">
            <a:extLst>
              <a:ext uri="{FF2B5EF4-FFF2-40B4-BE49-F238E27FC236}">
                <a16:creationId xmlns:a16="http://schemas.microsoft.com/office/drawing/2014/main" id="{E514093A-5094-D8D6-C2B6-EC249AACCE59}"/>
              </a:ext>
            </a:extLst>
          </p:cNvPr>
          <p:cNvSpPr/>
          <p:nvPr userDrawn="1"/>
        </p:nvSpPr>
        <p:spPr>
          <a:xfrm>
            <a:off x="2152802" y="3794391"/>
            <a:ext cx="835660" cy="806450"/>
          </a:xfrm>
          <a:custGeom>
            <a:avLst/>
            <a:gdLst/>
            <a:ahLst/>
            <a:cxnLst/>
            <a:rect l="l" t="t" r="r" b="b"/>
            <a:pathLst>
              <a:path w="835660" h="806450">
                <a:moveTo>
                  <a:pt x="835202" y="0"/>
                </a:moveTo>
                <a:lnTo>
                  <a:pt x="0" y="0"/>
                </a:lnTo>
                <a:lnTo>
                  <a:pt x="0" y="806399"/>
                </a:lnTo>
                <a:lnTo>
                  <a:pt x="835202" y="806399"/>
                </a:lnTo>
                <a:lnTo>
                  <a:pt x="835202" y="0"/>
                </a:lnTo>
                <a:close/>
              </a:path>
            </a:pathLst>
          </a:custGeom>
          <a:solidFill>
            <a:srgbClr val="E8DDC6"/>
          </a:solidFill>
        </p:spPr>
        <p:txBody>
          <a:bodyPr wrap="square" lIns="0" tIns="0" rIns="0" bIns="0" rtlCol="0"/>
          <a:lstStyle/>
          <a:p>
            <a:endParaRPr/>
          </a:p>
        </p:txBody>
      </p:sp>
      <p:pic>
        <p:nvPicPr>
          <p:cNvPr id="9" name="Image 8" descr="Une image contenant texte, Police, capture d’écran, Graphique&#10;&#10;Le contenu généré par l’IA peut être incorrect.">
            <a:extLst>
              <a:ext uri="{FF2B5EF4-FFF2-40B4-BE49-F238E27FC236}">
                <a16:creationId xmlns:a16="http://schemas.microsoft.com/office/drawing/2014/main" id="{1710EE12-1647-E901-C0AC-40AA73947D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10" name="Espace réservé pour une image  9">
            <a:extLst>
              <a:ext uri="{FF2B5EF4-FFF2-40B4-BE49-F238E27FC236}">
                <a16:creationId xmlns:a16="http://schemas.microsoft.com/office/drawing/2014/main" id="{60E539D7-2272-5F7F-5773-3A41F143A10D}"/>
              </a:ext>
            </a:extLst>
          </p:cNvPr>
          <p:cNvSpPr>
            <a:spLocks noGrp="1"/>
          </p:cNvSpPr>
          <p:nvPr>
            <p:ph type="pic" sz="quarter" idx="12"/>
          </p:nvPr>
        </p:nvSpPr>
        <p:spPr>
          <a:xfrm>
            <a:off x="539991" y="1346454"/>
            <a:ext cx="2448471" cy="2447937"/>
          </a:xfrm>
        </p:spPr>
        <p:txBody>
          <a:bodyPr/>
          <a:lstStyle/>
          <a:p>
            <a:endParaRPr lang="fr-FR"/>
          </a:p>
        </p:txBody>
      </p:sp>
      <p:pic>
        <p:nvPicPr>
          <p:cNvPr id="5" name="Espace réservé pour une image  7">
            <a:extLst>
              <a:ext uri="{FF2B5EF4-FFF2-40B4-BE49-F238E27FC236}">
                <a16:creationId xmlns:a16="http://schemas.microsoft.com/office/drawing/2014/main" id="{FD366B24-6D5A-0E2C-7FFD-A72BD2ADE353}"/>
              </a:ext>
            </a:extLst>
          </p:cNvPr>
          <p:cNvPicPr>
            <a:picLocks noChangeAspect="1"/>
          </p:cNvPicPr>
          <p:nvPr userDrawn="1"/>
        </p:nvPicPr>
        <p:blipFill rotWithShape="1">
          <a:blip r:embed="rId3"/>
          <a:srcRect l="7647" r="7647"/>
          <a:stretch/>
        </p:blipFill>
        <p:spPr>
          <a:xfrm>
            <a:off x="539991" y="1346453"/>
            <a:ext cx="2448471" cy="2447937"/>
          </a:xfrm>
          <a:prstGeom prst="rect">
            <a:avLst/>
          </a:prstGeom>
        </p:spPr>
      </p:pic>
    </p:spTree>
    <p:extLst>
      <p:ext uri="{BB962C8B-B14F-4D97-AF65-F5344CB8AC3E}">
        <p14:creationId xmlns:p14="http://schemas.microsoft.com/office/powerpoint/2010/main" val="2135965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parti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CF011-D9F0-4847-2A8C-39F75C991449}"/>
              </a:ext>
            </a:extLst>
          </p:cNvPr>
          <p:cNvSpPr>
            <a:spLocks noGrp="1"/>
          </p:cNvSpPr>
          <p:nvPr>
            <p:ph type="title" hasCustomPrompt="1"/>
          </p:nvPr>
        </p:nvSpPr>
        <p:spPr>
          <a:xfrm>
            <a:off x="3505200" y="2724150"/>
            <a:ext cx="3870060" cy="1153340"/>
          </a:xfrm>
        </p:spPr>
        <p:txBody>
          <a:bodyPr anchor="b" anchorCtr="0">
            <a:noAutofit/>
          </a:bodyPr>
          <a:lstStyle>
            <a:lvl1pPr>
              <a:defRPr sz="3000">
                <a:latin typeface="Roboto Bold" panose="02000000000000000000" pitchFamily="2" charset="0"/>
                <a:ea typeface="Roboto Bold" panose="02000000000000000000" pitchFamily="2" charset="0"/>
              </a:defRPr>
            </a:lvl1pPr>
          </a:lstStyle>
          <a:p>
            <a:r>
              <a:rPr lang="fr-FR"/>
              <a:t>Cliquez pour </a:t>
            </a:r>
            <a:br>
              <a:rPr lang="fr-FR"/>
            </a:br>
            <a:r>
              <a:rPr lang="fr-FR"/>
              <a:t>modifier le titre</a:t>
            </a:r>
          </a:p>
        </p:txBody>
      </p:sp>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a:t>LFB Group Corruption Risk </a:t>
            </a:r>
            <a:r>
              <a:rPr lang="fr-FR" err="1"/>
              <a:t>Map</a:t>
            </a:r>
            <a:r>
              <a:rPr lang="fr-FR"/>
              <a:t> 2026</a:t>
            </a:r>
          </a:p>
        </p:txBody>
      </p:sp>
      <p:sp>
        <p:nvSpPr>
          <p:cNvPr id="12" name="Espace réservé du texte 11">
            <a:extLst>
              <a:ext uri="{FF2B5EF4-FFF2-40B4-BE49-F238E27FC236}">
                <a16:creationId xmlns:a16="http://schemas.microsoft.com/office/drawing/2014/main" id="{9696FE2E-462E-B964-8974-C167AD4C84D2}"/>
              </a:ext>
            </a:extLst>
          </p:cNvPr>
          <p:cNvSpPr>
            <a:spLocks noGrp="1"/>
          </p:cNvSpPr>
          <p:nvPr>
            <p:ph type="body" sz="quarter" idx="13" hasCustomPrompt="1"/>
          </p:nvPr>
        </p:nvSpPr>
        <p:spPr>
          <a:xfrm>
            <a:off x="3505200" y="1123950"/>
            <a:ext cx="2895600" cy="1378500"/>
          </a:xfrm>
        </p:spPr>
        <p:txBody>
          <a:bodyPr anchor="ctr" anchorCtr="0">
            <a:noAutofit/>
          </a:bodyPr>
          <a:lstStyle>
            <a:lvl1pPr>
              <a:defRPr sz="9000">
                <a:latin typeface="Roboto Thin" panose="02000000000000000000" pitchFamily="2" charset="0"/>
                <a:ea typeface="Roboto Thin" panose="02000000000000000000" pitchFamily="2" charset="0"/>
              </a:defRPr>
            </a:lvl1pPr>
          </a:lstStyle>
          <a:p>
            <a:pPr lvl="0"/>
            <a:r>
              <a:rPr lang="fr-FR"/>
              <a:t>2</a:t>
            </a:r>
          </a:p>
        </p:txBody>
      </p:sp>
      <p:sp>
        <p:nvSpPr>
          <p:cNvPr id="13" name="Rectangle 12">
            <a:extLst>
              <a:ext uri="{FF2B5EF4-FFF2-40B4-BE49-F238E27FC236}">
                <a16:creationId xmlns:a16="http://schemas.microsoft.com/office/drawing/2014/main" id="{E768042C-91C7-9E1B-DC50-E26BF7BB846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bject 9">
            <a:extLst>
              <a:ext uri="{FF2B5EF4-FFF2-40B4-BE49-F238E27FC236}">
                <a16:creationId xmlns:a16="http://schemas.microsoft.com/office/drawing/2014/main" id="{CCEFD188-7B52-61F9-3B20-3871DFEB37C7}"/>
              </a:ext>
            </a:extLst>
          </p:cNvPr>
          <p:cNvSpPr/>
          <p:nvPr userDrawn="1"/>
        </p:nvSpPr>
        <p:spPr>
          <a:xfrm>
            <a:off x="539991" y="540003"/>
            <a:ext cx="1612900" cy="806450"/>
          </a:xfrm>
          <a:custGeom>
            <a:avLst/>
            <a:gdLst/>
            <a:ahLst/>
            <a:cxnLst/>
            <a:rect l="l" t="t" r="r" b="b"/>
            <a:pathLst>
              <a:path w="1612900" h="806450">
                <a:moveTo>
                  <a:pt x="806399" y="798728"/>
                </a:moveTo>
                <a:lnTo>
                  <a:pt x="804926" y="750074"/>
                </a:lnTo>
                <a:lnTo>
                  <a:pt x="800569" y="702183"/>
                </a:lnTo>
                <a:lnTo>
                  <a:pt x="793407" y="655154"/>
                </a:lnTo>
                <a:lnTo>
                  <a:pt x="783526" y="609066"/>
                </a:lnTo>
                <a:lnTo>
                  <a:pt x="771017" y="563994"/>
                </a:lnTo>
                <a:lnTo>
                  <a:pt x="755954" y="520026"/>
                </a:lnTo>
                <a:lnTo>
                  <a:pt x="738416" y="477253"/>
                </a:lnTo>
                <a:lnTo>
                  <a:pt x="718515" y="435737"/>
                </a:lnTo>
                <a:lnTo>
                  <a:pt x="696302" y="395592"/>
                </a:lnTo>
                <a:lnTo>
                  <a:pt x="671880" y="356882"/>
                </a:lnTo>
                <a:lnTo>
                  <a:pt x="645337" y="319697"/>
                </a:lnTo>
                <a:lnTo>
                  <a:pt x="616750" y="284111"/>
                </a:lnTo>
                <a:lnTo>
                  <a:pt x="586193" y="250228"/>
                </a:lnTo>
                <a:lnTo>
                  <a:pt x="553770" y="218109"/>
                </a:lnTo>
                <a:lnTo>
                  <a:pt x="519557" y="187845"/>
                </a:lnTo>
                <a:lnTo>
                  <a:pt x="483628" y="159524"/>
                </a:lnTo>
                <a:lnTo>
                  <a:pt x="446087" y="133235"/>
                </a:lnTo>
                <a:lnTo>
                  <a:pt x="407009" y="109042"/>
                </a:lnTo>
                <a:lnTo>
                  <a:pt x="366471" y="87058"/>
                </a:lnTo>
                <a:lnTo>
                  <a:pt x="324573" y="67335"/>
                </a:lnTo>
                <a:lnTo>
                  <a:pt x="281381" y="49974"/>
                </a:lnTo>
                <a:lnTo>
                  <a:pt x="236994" y="35052"/>
                </a:lnTo>
                <a:lnTo>
                  <a:pt x="191490" y="22656"/>
                </a:lnTo>
                <a:lnTo>
                  <a:pt x="144957" y="12865"/>
                </a:lnTo>
                <a:lnTo>
                  <a:pt x="97472" y="5778"/>
                </a:lnTo>
                <a:lnTo>
                  <a:pt x="49123" y="1460"/>
                </a:lnTo>
                <a:lnTo>
                  <a:pt x="0" y="0"/>
                </a:lnTo>
                <a:lnTo>
                  <a:pt x="0" y="806399"/>
                </a:lnTo>
                <a:lnTo>
                  <a:pt x="806208" y="806399"/>
                </a:lnTo>
                <a:lnTo>
                  <a:pt x="806399" y="798728"/>
                </a:lnTo>
                <a:close/>
              </a:path>
              <a:path w="1612900" h="806450">
                <a:moveTo>
                  <a:pt x="1612798" y="798728"/>
                </a:moveTo>
                <a:lnTo>
                  <a:pt x="1611325" y="750074"/>
                </a:lnTo>
                <a:lnTo>
                  <a:pt x="1606969" y="702183"/>
                </a:lnTo>
                <a:lnTo>
                  <a:pt x="1599806" y="655154"/>
                </a:lnTo>
                <a:lnTo>
                  <a:pt x="1589925" y="609066"/>
                </a:lnTo>
                <a:lnTo>
                  <a:pt x="1577416" y="563994"/>
                </a:lnTo>
                <a:lnTo>
                  <a:pt x="1562354" y="520026"/>
                </a:lnTo>
                <a:lnTo>
                  <a:pt x="1544815" y="477253"/>
                </a:lnTo>
                <a:lnTo>
                  <a:pt x="1524914" y="435737"/>
                </a:lnTo>
                <a:lnTo>
                  <a:pt x="1502702" y="395592"/>
                </a:lnTo>
                <a:lnTo>
                  <a:pt x="1478280" y="356882"/>
                </a:lnTo>
                <a:lnTo>
                  <a:pt x="1451737" y="319697"/>
                </a:lnTo>
                <a:lnTo>
                  <a:pt x="1423149" y="284111"/>
                </a:lnTo>
                <a:lnTo>
                  <a:pt x="1392593" y="250228"/>
                </a:lnTo>
                <a:lnTo>
                  <a:pt x="1360170" y="218109"/>
                </a:lnTo>
                <a:lnTo>
                  <a:pt x="1325956" y="187845"/>
                </a:lnTo>
                <a:lnTo>
                  <a:pt x="1290027" y="159524"/>
                </a:lnTo>
                <a:lnTo>
                  <a:pt x="1252486" y="133235"/>
                </a:lnTo>
                <a:lnTo>
                  <a:pt x="1213408" y="109042"/>
                </a:lnTo>
                <a:lnTo>
                  <a:pt x="1172870" y="87058"/>
                </a:lnTo>
                <a:lnTo>
                  <a:pt x="1130973" y="67335"/>
                </a:lnTo>
                <a:lnTo>
                  <a:pt x="1087780" y="49974"/>
                </a:lnTo>
                <a:lnTo>
                  <a:pt x="1043393" y="35052"/>
                </a:lnTo>
                <a:lnTo>
                  <a:pt x="997889" y="22656"/>
                </a:lnTo>
                <a:lnTo>
                  <a:pt x="951357" y="12865"/>
                </a:lnTo>
                <a:lnTo>
                  <a:pt x="903871" y="5778"/>
                </a:lnTo>
                <a:lnTo>
                  <a:pt x="855522" y="1460"/>
                </a:lnTo>
                <a:lnTo>
                  <a:pt x="806399" y="0"/>
                </a:lnTo>
                <a:lnTo>
                  <a:pt x="806399" y="798728"/>
                </a:lnTo>
                <a:lnTo>
                  <a:pt x="806399" y="806399"/>
                </a:lnTo>
                <a:lnTo>
                  <a:pt x="1612607" y="806399"/>
                </a:lnTo>
                <a:lnTo>
                  <a:pt x="1612798" y="798728"/>
                </a:lnTo>
                <a:close/>
              </a:path>
            </a:pathLst>
          </a:custGeom>
          <a:solidFill>
            <a:srgbClr val="E5EDF4"/>
          </a:solidFill>
        </p:spPr>
        <p:txBody>
          <a:bodyPr wrap="square" lIns="0" tIns="0" rIns="0" bIns="0" rtlCol="0"/>
          <a:lstStyle/>
          <a:p>
            <a:endParaRPr/>
          </a:p>
        </p:txBody>
      </p:sp>
      <p:sp>
        <p:nvSpPr>
          <p:cNvPr id="8" name="object 10">
            <a:extLst>
              <a:ext uri="{FF2B5EF4-FFF2-40B4-BE49-F238E27FC236}">
                <a16:creationId xmlns:a16="http://schemas.microsoft.com/office/drawing/2014/main" id="{E514093A-5094-D8D6-C2B6-EC249AACCE59}"/>
              </a:ext>
            </a:extLst>
          </p:cNvPr>
          <p:cNvSpPr/>
          <p:nvPr userDrawn="1"/>
        </p:nvSpPr>
        <p:spPr>
          <a:xfrm>
            <a:off x="2152802" y="3794391"/>
            <a:ext cx="835660" cy="806450"/>
          </a:xfrm>
          <a:custGeom>
            <a:avLst/>
            <a:gdLst/>
            <a:ahLst/>
            <a:cxnLst/>
            <a:rect l="l" t="t" r="r" b="b"/>
            <a:pathLst>
              <a:path w="835660" h="806450">
                <a:moveTo>
                  <a:pt x="835202" y="0"/>
                </a:moveTo>
                <a:lnTo>
                  <a:pt x="0" y="0"/>
                </a:lnTo>
                <a:lnTo>
                  <a:pt x="0" y="806399"/>
                </a:lnTo>
                <a:lnTo>
                  <a:pt x="835202" y="806399"/>
                </a:lnTo>
                <a:lnTo>
                  <a:pt x="835202" y="0"/>
                </a:lnTo>
                <a:close/>
              </a:path>
            </a:pathLst>
          </a:custGeom>
          <a:solidFill>
            <a:srgbClr val="E8DDC6"/>
          </a:solidFill>
        </p:spPr>
        <p:txBody>
          <a:bodyPr wrap="square" lIns="0" tIns="0" rIns="0" bIns="0" rtlCol="0"/>
          <a:lstStyle/>
          <a:p>
            <a:endParaRPr/>
          </a:p>
        </p:txBody>
      </p:sp>
      <p:pic>
        <p:nvPicPr>
          <p:cNvPr id="9" name="Image 8" descr="Une image contenant texte, Police, capture d’écran, Graphique&#10;&#10;Le contenu généré par l’IA peut être incorrect.">
            <a:extLst>
              <a:ext uri="{FF2B5EF4-FFF2-40B4-BE49-F238E27FC236}">
                <a16:creationId xmlns:a16="http://schemas.microsoft.com/office/drawing/2014/main" id="{1710EE12-1647-E901-C0AC-40AA73947D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10" name="Espace réservé pour une image  9">
            <a:extLst>
              <a:ext uri="{FF2B5EF4-FFF2-40B4-BE49-F238E27FC236}">
                <a16:creationId xmlns:a16="http://schemas.microsoft.com/office/drawing/2014/main" id="{60E539D7-2272-5F7F-5773-3A41F143A10D}"/>
              </a:ext>
            </a:extLst>
          </p:cNvPr>
          <p:cNvSpPr>
            <a:spLocks noGrp="1"/>
          </p:cNvSpPr>
          <p:nvPr>
            <p:ph type="pic" sz="quarter" idx="12"/>
          </p:nvPr>
        </p:nvSpPr>
        <p:spPr>
          <a:xfrm>
            <a:off x="539991" y="1346454"/>
            <a:ext cx="2448471" cy="2447937"/>
          </a:xfrm>
        </p:spPr>
        <p:txBody>
          <a:bodyPr/>
          <a:lstStyle/>
          <a:p>
            <a:endParaRPr lang="fr-FR"/>
          </a:p>
        </p:txBody>
      </p:sp>
      <p:pic>
        <p:nvPicPr>
          <p:cNvPr id="5" name="Espace réservé pour une image  7">
            <a:extLst>
              <a:ext uri="{FF2B5EF4-FFF2-40B4-BE49-F238E27FC236}">
                <a16:creationId xmlns:a16="http://schemas.microsoft.com/office/drawing/2014/main" id="{FD366B24-6D5A-0E2C-7FFD-A72BD2ADE353}"/>
              </a:ext>
            </a:extLst>
          </p:cNvPr>
          <p:cNvPicPr>
            <a:picLocks noChangeAspect="1"/>
          </p:cNvPicPr>
          <p:nvPr userDrawn="1"/>
        </p:nvPicPr>
        <p:blipFill rotWithShape="1">
          <a:blip r:embed="rId3"/>
          <a:srcRect l="7647" r="7647"/>
          <a:stretch/>
        </p:blipFill>
        <p:spPr>
          <a:xfrm>
            <a:off x="539991" y="1346453"/>
            <a:ext cx="2448471" cy="2447937"/>
          </a:xfrm>
          <a:prstGeom prst="rect">
            <a:avLst/>
          </a:prstGeom>
        </p:spPr>
      </p:pic>
    </p:spTree>
    <p:extLst>
      <p:ext uri="{BB962C8B-B14F-4D97-AF65-F5344CB8AC3E}">
        <p14:creationId xmlns:p14="http://schemas.microsoft.com/office/powerpoint/2010/main" val="2762136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parti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CF011-D9F0-4847-2A8C-39F75C991449}"/>
              </a:ext>
            </a:extLst>
          </p:cNvPr>
          <p:cNvSpPr>
            <a:spLocks noGrp="1"/>
          </p:cNvSpPr>
          <p:nvPr>
            <p:ph type="title" hasCustomPrompt="1"/>
          </p:nvPr>
        </p:nvSpPr>
        <p:spPr>
          <a:xfrm>
            <a:off x="3505200" y="2724150"/>
            <a:ext cx="3870060" cy="1153340"/>
          </a:xfrm>
        </p:spPr>
        <p:txBody>
          <a:bodyPr anchor="b" anchorCtr="0">
            <a:noAutofit/>
          </a:bodyPr>
          <a:lstStyle>
            <a:lvl1pPr>
              <a:defRPr sz="3000">
                <a:latin typeface="Roboto Bold" panose="02000000000000000000" pitchFamily="2" charset="0"/>
                <a:ea typeface="Roboto Bold" panose="02000000000000000000" pitchFamily="2" charset="0"/>
              </a:defRPr>
            </a:lvl1pPr>
          </a:lstStyle>
          <a:p>
            <a:r>
              <a:rPr lang="fr-FR"/>
              <a:t>Cliquez pour </a:t>
            </a:r>
            <a:br>
              <a:rPr lang="fr-FR"/>
            </a:br>
            <a:r>
              <a:rPr lang="fr-FR"/>
              <a:t>modifier le titre</a:t>
            </a:r>
          </a:p>
        </p:txBody>
      </p:sp>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a:t>LFB Group Corruption Risk </a:t>
            </a:r>
            <a:r>
              <a:rPr lang="fr-FR" err="1"/>
              <a:t>Map</a:t>
            </a:r>
            <a:r>
              <a:rPr lang="fr-FR"/>
              <a:t> 2026</a:t>
            </a:r>
          </a:p>
        </p:txBody>
      </p:sp>
      <p:sp>
        <p:nvSpPr>
          <p:cNvPr id="12" name="Espace réservé du texte 11">
            <a:extLst>
              <a:ext uri="{FF2B5EF4-FFF2-40B4-BE49-F238E27FC236}">
                <a16:creationId xmlns:a16="http://schemas.microsoft.com/office/drawing/2014/main" id="{9696FE2E-462E-B964-8974-C167AD4C84D2}"/>
              </a:ext>
            </a:extLst>
          </p:cNvPr>
          <p:cNvSpPr>
            <a:spLocks noGrp="1"/>
          </p:cNvSpPr>
          <p:nvPr>
            <p:ph type="body" sz="quarter" idx="13" hasCustomPrompt="1"/>
          </p:nvPr>
        </p:nvSpPr>
        <p:spPr>
          <a:xfrm>
            <a:off x="3505200" y="1123950"/>
            <a:ext cx="2895600" cy="1378500"/>
          </a:xfrm>
        </p:spPr>
        <p:txBody>
          <a:bodyPr anchor="ctr" anchorCtr="0">
            <a:noAutofit/>
          </a:bodyPr>
          <a:lstStyle>
            <a:lvl1pPr>
              <a:defRPr sz="9000">
                <a:latin typeface="Roboto Thin" panose="02000000000000000000" pitchFamily="2" charset="0"/>
                <a:ea typeface="Roboto Thin" panose="02000000000000000000" pitchFamily="2" charset="0"/>
              </a:defRPr>
            </a:lvl1pPr>
          </a:lstStyle>
          <a:p>
            <a:pPr lvl="0"/>
            <a:r>
              <a:rPr lang="fr-FR"/>
              <a:t>3</a:t>
            </a:r>
          </a:p>
        </p:txBody>
      </p:sp>
      <p:sp>
        <p:nvSpPr>
          <p:cNvPr id="13" name="Rectangle 12">
            <a:extLst>
              <a:ext uri="{FF2B5EF4-FFF2-40B4-BE49-F238E27FC236}">
                <a16:creationId xmlns:a16="http://schemas.microsoft.com/office/drawing/2014/main" id="{E768042C-91C7-9E1B-DC50-E26BF7BB846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bject 9">
            <a:extLst>
              <a:ext uri="{FF2B5EF4-FFF2-40B4-BE49-F238E27FC236}">
                <a16:creationId xmlns:a16="http://schemas.microsoft.com/office/drawing/2014/main" id="{CCEFD188-7B52-61F9-3B20-3871DFEB37C7}"/>
              </a:ext>
            </a:extLst>
          </p:cNvPr>
          <p:cNvSpPr/>
          <p:nvPr userDrawn="1"/>
        </p:nvSpPr>
        <p:spPr>
          <a:xfrm>
            <a:off x="539991" y="540003"/>
            <a:ext cx="1612900" cy="806450"/>
          </a:xfrm>
          <a:custGeom>
            <a:avLst/>
            <a:gdLst/>
            <a:ahLst/>
            <a:cxnLst/>
            <a:rect l="l" t="t" r="r" b="b"/>
            <a:pathLst>
              <a:path w="1612900" h="806450">
                <a:moveTo>
                  <a:pt x="806399" y="798728"/>
                </a:moveTo>
                <a:lnTo>
                  <a:pt x="804926" y="750074"/>
                </a:lnTo>
                <a:lnTo>
                  <a:pt x="800569" y="702183"/>
                </a:lnTo>
                <a:lnTo>
                  <a:pt x="793407" y="655154"/>
                </a:lnTo>
                <a:lnTo>
                  <a:pt x="783526" y="609066"/>
                </a:lnTo>
                <a:lnTo>
                  <a:pt x="771017" y="563994"/>
                </a:lnTo>
                <a:lnTo>
                  <a:pt x="755954" y="520026"/>
                </a:lnTo>
                <a:lnTo>
                  <a:pt x="738416" y="477253"/>
                </a:lnTo>
                <a:lnTo>
                  <a:pt x="718515" y="435737"/>
                </a:lnTo>
                <a:lnTo>
                  <a:pt x="696302" y="395592"/>
                </a:lnTo>
                <a:lnTo>
                  <a:pt x="671880" y="356882"/>
                </a:lnTo>
                <a:lnTo>
                  <a:pt x="645337" y="319697"/>
                </a:lnTo>
                <a:lnTo>
                  <a:pt x="616750" y="284111"/>
                </a:lnTo>
                <a:lnTo>
                  <a:pt x="586193" y="250228"/>
                </a:lnTo>
                <a:lnTo>
                  <a:pt x="553770" y="218109"/>
                </a:lnTo>
                <a:lnTo>
                  <a:pt x="519557" y="187845"/>
                </a:lnTo>
                <a:lnTo>
                  <a:pt x="483628" y="159524"/>
                </a:lnTo>
                <a:lnTo>
                  <a:pt x="446087" y="133235"/>
                </a:lnTo>
                <a:lnTo>
                  <a:pt x="407009" y="109042"/>
                </a:lnTo>
                <a:lnTo>
                  <a:pt x="366471" y="87058"/>
                </a:lnTo>
                <a:lnTo>
                  <a:pt x="324573" y="67335"/>
                </a:lnTo>
                <a:lnTo>
                  <a:pt x="281381" y="49974"/>
                </a:lnTo>
                <a:lnTo>
                  <a:pt x="236994" y="35052"/>
                </a:lnTo>
                <a:lnTo>
                  <a:pt x="191490" y="22656"/>
                </a:lnTo>
                <a:lnTo>
                  <a:pt x="144957" y="12865"/>
                </a:lnTo>
                <a:lnTo>
                  <a:pt x="97472" y="5778"/>
                </a:lnTo>
                <a:lnTo>
                  <a:pt x="49123" y="1460"/>
                </a:lnTo>
                <a:lnTo>
                  <a:pt x="0" y="0"/>
                </a:lnTo>
                <a:lnTo>
                  <a:pt x="0" y="806399"/>
                </a:lnTo>
                <a:lnTo>
                  <a:pt x="806208" y="806399"/>
                </a:lnTo>
                <a:lnTo>
                  <a:pt x="806399" y="798728"/>
                </a:lnTo>
                <a:close/>
              </a:path>
              <a:path w="1612900" h="806450">
                <a:moveTo>
                  <a:pt x="1612798" y="798728"/>
                </a:moveTo>
                <a:lnTo>
                  <a:pt x="1611325" y="750074"/>
                </a:lnTo>
                <a:lnTo>
                  <a:pt x="1606969" y="702183"/>
                </a:lnTo>
                <a:lnTo>
                  <a:pt x="1599806" y="655154"/>
                </a:lnTo>
                <a:lnTo>
                  <a:pt x="1589925" y="609066"/>
                </a:lnTo>
                <a:lnTo>
                  <a:pt x="1577416" y="563994"/>
                </a:lnTo>
                <a:lnTo>
                  <a:pt x="1562354" y="520026"/>
                </a:lnTo>
                <a:lnTo>
                  <a:pt x="1544815" y="477253"/>
                </a:lnTo>
                <a:lnTo>
                  <a:pt x="1524914" y="435737"/>
                </a:lnTo>
                <a:lnTo>
                  <a:pt x="1502702" y="395592"/>
                </a:lnTo>
                <a:lnTo>
                  <a:pt x="1478280" y="356882"/>
                </a:lnTo>
                <a:lnTo>
                  <a:pt x="1451737" y="319697"/>
                </a:lnTo>
                <a:lnTo>
                  <a:pt x="1423149" y="284111"/>
                </a:lnTo>
                <a:lnTo>
                  <a:pt x="1392593" y="250228"/>
                </a:lnTo>
                <a:lnTo>
                  <a:pt x="1360170" y="218109"/>
                </a:lnTo>
                <a:lnTo>
                  <a:pt x="1325956" y="187845"/>
                </a:lnTo>
                <a:lnTo>
                  <a:pt x="1290027" y="159524"/>
                </a:lnTo>
                <a:lnTo>
                  <a:pt x="1252486" y="133235"/>
                </a:lnTo>
                <a:lnTo>
                  <a:pt x="1213408" y="109042"/>
                </a:lnTo>
                <a:lnTo>
                  <a:pt x="1172870" y="87058"/>
                </a:lnTo>
                <a:lnTo>
                  <a:pt x="1130973" y="67335"/>
                </a:lnTo>
                <a:lnTo>
                  <a:pt x="1087780" y="49974"/>
                </a:lnTo>
                <a:lnTo>
                  <a:pt x="1043393" y="35052"/>
                </a:lnTo>
                <a:lnTo>
                  <a:pt x="997889" y="22656"/>
                </a:lnTo>
                <a:lnTo>
                  <a:pt x="951357" y="12865"/>
                </a:lnTo>
                <a:lnTo>
                  <a:pt x="903871" y="5778"/>
                </a:lnTo>
                <a:lnTo>
                  <a:pt x="855522" y="1460"/>
                </a:lnTo>
                <a:lnTo>
                  <a:pt x="806399" y="0"/>
                </a:lnTo>
                <a:lnTo>
                  <a:pt x="806399" y="798728"/>
                </a:lnTo>
                <a:lnTo>
                  <a:pt x="806399" y="806399"/>
                </a:lnTo>
                <a:lnTo>
                  <a:pt x="1612607" y="806399"/>
                </a:lnTo>
                <a:lnTo>
                  <a:pt x="1612798" y="798728"/>
                </a:lnTo>
                <a:close/>
              </a:path>
            </a:pathLst>
          </a:custGeom>
          <a:solidFill>
            <a:srgbClr val="E5EDF4"/>
          </a:solidFill>
        </p:spPr>
        <p:txBody>
          <a:bodyPr wrap="square" lIns="0" tIns="0" rIns="0" bIns="0" rtlCol="0"/>
          <a:lstStyle/>
          <a:p>
            <a:endParaRPr/>
          </a:p>
        </p:txBody>
      </p:sp>
      <p:sp>
        <p:nvSpPr>
          <p:cNvPr id="8" name="object 10">
            <a:extLst>
              <a:ext uri="{FF2B5EF4-FFF2-40B4-BE49-F238E27FC236}">
                <a16:creationId xmlns:a16="http://schemas.microsoft.com/office/drawing/2014/main" id="{E514093A-5094-D8D6-C2B6-EC249AACCE59}"/>
              </a:ext>
            </a:extLst>
          </p:cNvPr>
          <p:cNvSpPr/>
          <p:nvPr userDrawn="1"/>
        </p:nvSpPr>
        <p:spPr>
          <a:xfrm>
            <a:off x="2152802" y="3794391"/>
            <a:ext cx="835660" cy="806450"/>
          </a:xfrm>
          <a:custGeom>
            <a:avLst/>
            <a:gdLst/>
            <a:ahLst/>
            <a:cxnLst/>
            <a:rect l="l" t="t" r="r" b="b"/>
            <a:pathLst>
              <a:path w="835660" h="806450">
                <a:moveTo>
                  <a:pt x="835202" y="0"/>
                </a:moveTo>
                <a:lnTo>
                  <a:pt x="0" y="0"/>
                </a:lnTo>
                <a:lnTo>
                  <a:pt x="0" y="806399"/>
                </a:lnTo>
                <a:lnTo>
                  <a:pt x="835202" y="806399"/>
                </a:lnTo>
                <a:lnTo>
                  <a:pt x="835202" y="0"/>
                </a:lnTo>
                <a:close/>
              </a:path>
            </a:pathLst>
          </a:custGeom>
          <a:solidFill>
            <a:srgbClr val="E8DDC6"/>
          </a:solidFill>
        </p:spPr>
        <p:txBody>
          <a:bodyPr wrap="square" lIns="0" tIns="0" rIns="0" bIns="0" rtlCol="0"/>
          <a:lstStyle/>
          <a:p>
            <a:endParaRPr/>
          </a:p>
        </p:txBody>
      </p:sp>
      <p:pic>
        <p:nvPicPr>
          <p:cNvPr id="9" name="Image 8" descr="Une image contenant texte, Police, capture d’écran, Graphique&#10;&#10;Le contenu généré par l’IA peut être incorrect.">
            <a:extLst>
              <a:ext uri="{FF2B5EF4-FFF2-40B4-BE49-F238E27FC236}">
                <a16:creationId xmlns:a16="http://schemas.microsoft.com/office/drawing/2014/main" id="{1710EE12-1647-E901-C0AC-40AA73947D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10" name="Espace réservé pour une image  9">
            <a:extLst>
              <a:ext uri="{FF2B5EF4-FFF2-40B4-BE49-F238E27FC236}">
                <a16:creationId xmlns:a16="http://schemas.microsoft.com/office/drawing/2014/main" id="{60E539D7-2272-5F7F-5773-3A41F143A10D}"/>
              </a:ext>
            </a:extLst>
          </p:cNvPr>
          <p:cNvSpPr>
            <a:spLocks noGrp="1"/>
          </p:cNvSpPr>
          <p:nvPr>
            <p:ph type="pic" sz="quarter" idx="12"/>
          </p:nvPr>
        </p:nvSpPr>
        <p:spPr>
          <a:xfrm>
            <a:off x="539991" y="1346454"/>
            <a:ext cx="2448471" cy="2447937"/>
          </a:xfrm>
        </p:spPr>
        <p:txBody>
          <a:bodyPr/>
          <a:lstStyle/>
          <a:p>
            <a:endParaRPr lang="fr-FR"/>
          </a:p>
        </p:txBody>
      </p:sp>
      <p:pic>
        <p:nvPicPr>
          <p:cNvPr id="5" name="Espace réservé pour une image  7">
            <a:extLst>
              <a:ext uri="{FF2B5EF4-FFF2-40B4-BE49-F238E27FC236}">
                <a16:creationId xmlns:a16="http://schemas.microsoft.com/office/drawing/2014/main" id="{FD366B24-6D5A-0E2C-7FFD-A72BD2ADE353}"/>
              </a:ext>
            </a:extLst>
          </p:cNvPr>
          <p:cNvPicPr>
            <a:picLocks noChangeAspect="1"/>
          </p:cNvPicPr>
          <p:nvPr userDrawn="1"/>
        </p:nvPicPr>
        <p:blipFill rotWithShape="1">
          <a:blip r:embed="rId3"/>
          <a:srcRect l="7647" r="7647"/>
          <a:stretch/>
        </p:blipFill>
        <p:spPr>
          <a:xfrm>
            <a:off x="539991" y="1346453"/>
            <a:ext cx="2448471" cy="2447937"/>
          </a:xfrm>
          <a:prstGeom prst="rect">
            <a:avLst/>
          </a:prstGeom>
        </p:spPr>
      </p:pic>
    </p:spTree>
    <p:extLst>
      <p:ext uri="{BB962C8B-B14F-4D97-AF65-F5344CB8AC3E}">
        <p14:creationId xmlns:p14="http://schemas.microsoft.com/office/powerpoint/2010/main" val="153238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u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78C4E6-BB2A-1515-1203-53429793774D}"/>
              </a:ext>
            </a:extLst>
          </p:cNvPr>
          <p:cNvSpPr>
            <a:spLocks noGrp="1"/>
          </p:cNvSpPr>
          <p:nvPr>
            <p:ph type="title"/>
          </p:nvPr>
        </p:nvSpPr>
        <p:spPr/>
        <p:txBody>
          <a:bodyPr/>
          <a:lstStyle>
            <a:lvl1pPr>
              <a:defRPr b="1"/>
            </a:lvl1pPr>
          </a:lstStyle>
          <a:p>
            <a:r>
              <a:rPr lang="fr-FR"/>
              <a:t>Modifiez le style du titre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a:t>LFB Group Corruption Risk </a:t>
            </a:r>
            <a:r>
              <a:rPr lang="fr-FR" err="1"/>
              <a:t>Map</a:t>
            </a:r>
            <a:r>
              <a:rPr lang="fr-FR"/>
              <a:t> 2026</a:t>
            </a:r>
          </a:p>
        </p:txBody>
      </p:sp>
      <p:sp>
        <p:nvSpPr>
          <p:cNvPr id="5" name="Espace réservé du texte 11">
            <a:extLst>
              <a:ext uri="{FF2B5EF4-FFF2-40B4-BE49-F238E27FC236}">
                <a16:creationId xmlns:a16="http://schemas.microsoft.com/office/drawing/2014/main" id="{B9E89C33-9F7B-B54F-C142-EFACF9FCAF35}"/>
              </a:ext>
            </a:extLst>
          </p:cNvPr>
          <p:cNvSpPr>
            <a:spLocks noGrp="1"/>
          </p:cNvSpPr>
          <p:nvPr>
            <p:ph idx="1"/>
          </p:nvPr>
        </p:nvSpPr>
        <p:spPr>
          <a:xfrm>
            <a:off x="552450" y="1352550"/>
            <a:ext cx="7989376" cy="3243884"/>
          </a:xfrm>
          <a:prstGeom prst="rect">
            <a:avLst/>
          </a:prstGeom>
        </p:spPr>
        <p:txBody>
          <a:bodyPr vert="horz" lIns="0" tIns="0" rIns="0" bIns="0" rtlCol="0">
            <a:noAutofit/>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a:buFont typeface="Arial" panose="020B0604020202020204" pitchFamily="34" charset="0"/>
              <a:buNone/>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2pPr>
            <a:lvl3pPr marL="355600" indent="-169863">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3pPr>
            <a:lvl4pPr marL="625475" indent="-169863">
              <a:buFont typeface="Wingdings" panose="05000000000000000000" pitchFamily="2" charset="2"/>
              <a:buChar char="ü"/>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4pPr>
          </a:lstStyle>
          <a:p>
            <a:pPr lvl="0"/>
            <a:r>
              <a:rPr lang="fr-FR"/>
              <a:t>Cliquez pour modifier les styles du texte du masque</a:t>
            </a:r>
          </a:p>
          <a:p>
            <a:pPr marL="171446" lvl="2" indent="-171446">
              <a:buClr>
                <a:schemeClr val="accent5"/>
              </a:buClr>
              <a:buFont typeface="Arial" panose="020B0604020202020204" pitchFamily="34" charset="0"/>
              <a:buChar char="•"/>
            </a:pPr>
            <a:r>
              <a:rPr lang="fr-FR"/>
              <a:t>Deuxième niveau</a:t>
            </a:r>
          </a:p>
          <a:p>
            <a:pPr lvl="2"/>
            <a:r>
              <a:rPr lang="fr-FR"/>
              <a:t> Troisième niveau</a:t>
            </a:r>
          </a:p>
          <a:p>
            <a:pPr lvl="3"/>
            <a:r>
              <a:rPr lang="fr-FR"/>
              <a:t>Quatrième niveau</a:t>
            </a:r>
          </a:p>
          <a:p>
            <a:pPr lvl="4"/>
            <a:endParaRPr lang="fr-FR"/>
          </a:p>
        </p:txBody>
      </p:sp>
    </p:spTree>
    <p:extLst>
      <p:ext uri="{BB962C8B-B14F-4D97-AF65-F5344CB8AC3E}">
        <p14:creationId xmlns:p14="http://schemas.microsoft.com/office/powerpoint/2010/main" val="372750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vi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78C4E6-BB2A-1515-1203-53429793774D}"/>
              </a:ext>
            </a:extLst>
          </p:cNvPr>
          <p:cNvSpPr>
            <a:spLocks noGrp="1"/>
          </p:cNvSpPr>
          <p:nvPr>
            <p:ph type="title"/>
          </p:nvPr>
        </p:nvSpPr>
        <p:spPr/>
        <p:txBody>
          <a:bodyPr/>
          <a:lstStyle>
            <a:lvl1pPr>
              <a:defRPr b="1"/>
            </a:lvl1pPr>
          </a:lstStyle>
          <a:p>
            <a:r>
              <a:rPr lang="fr-FR"/>
              <a:t>Modifiez le style du titre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a:t>LFB Group Corruption Risk </a:t>
            </a:r>
            <a:r>
              <a:rPr lang="fr-FR" err="1"/>
              <a:t>Map</a:t>
            </a:r>
            <a:r>
              <a:rPr lang="fr-FR"/>
              <a:t> 2026</a:t>
            </a:r>
          </a:p>
        </p:txBody>
      </p:sp>
    </p:spTree>
    <p:extLst>
      <p:ext uri="{BB962C8B-B14F-4D97-AF65-F5344CB8AC3E}">
        <p14:creationId xmlns:p14="http://schemas.microsoft.com/office/powerpoint/2010/main" val="1867355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onnes">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10ABCF8B-9D49-DCB1-47AD-F507F3159BAD}"/>
              </a:ext>
            </a:extLst>
          </p:cNvPr>
          <p:cNvSpPr/>
          <p:nvPr userDrawn="1"/>
        </p:nvSpPr>
        <p:spPr>
          <a:xfrm>
            <a:off x="538675"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2400"/>
          </a:p>
        </p:txBody>
      </p:sp>
      <p:sp>
        <p:nvSpPr>
          <p:cNvPr id="11" name="object 3">
            <a:extLst>
              <a:ext uri="{FF2B5EF4-FFF2-40B4-BE49-F238E27FC236}">
                <a16:creationId xmlns:a16="http://schemas.microsoft.com/office/drawing/2014/main" id="{F0DB024A-E023-95B8-0A52-384CC4439887}"/>
              </a:ext>
            </a:extLst>
          </p:cNvPr>
          <p:cNvSpPr/>
          <p:nvPr userDrawn="1"/>
        </p:nvSpPr>
        <p:spPr>
          <a:xfrm>
            <a:off x="3330108"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2400"/>
          </a:p>
        </p:txBody>
      </p:sp>
      <p:sp>
        <p:nvSpPr>
          <p:cNvPr id="12" name="object 4">
            <a:extLst>
              <a:ext uri="{FF2B5EF4-FFF2-40B4-BE49-F238E27FC236}">
                <a16:creationId xmlns:a16="http://schemas.microsoft.com/office/drawing/2014/main" id="{18107B72-76A4-39CA-6BBC-5ED7150AA812}"/>
              </a:ext>
            </a:extLst>
          </p:cNvPr>
          <p:cNvSpPr/>
          <p:nvPr userDrawn="1"/>
        </p:nvSpPr>
        <p:spPr>
          <a:xfrm>
            <a:off x="6121541"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2400"/>
          </a:p>
        </p:txBody>
      </p:sp>
      <p:sp>
        <p:nvSpPr>
          <p:cNvPr id="36" name="Espace réservé du texte 35">
            <a:extLst>
              <a:ext uri="{FF2B5EF4-FFF2-40B4-BE49-F238E27FC236}">
                <a16:creationId xmlns:a16="http://schemas.microsoft.com/office/drawing/2014/main" id="{021D7BB4-BA97-15AC-44BD-A45FE0639B9F}"/>
              </a:ext>
            </a:extLst>
          </p:cNvPr>
          <p:cNvSpPr>
            <a:spLocks noGrp="1"/>
          </p:cNvSpPr>
          <p:nvPr>
            <p:ph type="body" sz="quarter" idx="11" hasCustomPrompt="1"/>
          </p:nvPr>
        </p:nvSpPr>
        <p:spPr>
          <a:xfrm>
            <a:off x="724144" y="1676337"/>
            <a:ext cx="2420495" cy="2600681"/>
          </a:xfrm>
          <a:prstGeom prst="rect">
            <a:avLst/>
          </a:prstGeom>
        </p:spPr>
        <p:txBody>
          <a:bodyPr/>
          <a:lstStyle>
            <a:lvl1pPr>
              <a:defRPr sz="1400" b="0" cap="none" baseline="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2pPr>
            <a:lvl3pPr marL="355600" indent="-169863">
              <a:buFont typeface="Times New Roman" panose="02020603050405020304" pitchFamily="18" charset="0"/>
              <a:buChar char="→"/>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lvl="0"/>
            <a:r>
              <a:rPr lang="fr-FR"/>
              <a:t>Cliquez pour modifier </a:t>
            </a:r>
            <a:br>
              <a:rPr lang="fr-FR"/>
            </a:br>
            <a:r>
              <a:rPr lang="fr-FR"/>
              <a:t>les styles 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54" name="Espace réservé du pied de page 53">
            <a:extLst>
              <a:ext uri="{FF2B5EF4-FFF2-40B4-BE49-F238E27FC236}">
                <a16:creationId xmlns:a16="http://schemas.microsoft.com/office/drawing/2014/main" id="{6071AE48-3798-4B3E-2DBB-784904DF6AEC}"/>
              </a:ext>
            </a:extLst>
          </p:cNvPr>
          <p:cNvSpPr>
            <a:spLocks noGrp="1"/>
          </p:cNvSpPr>
          <p:nvPr>
            <p:ph type="ftr" sz="quarter" idx="14"/>
          </p:nvPr>
        </p:nvSpPr>
        <p:spPr/>
        <p:txBody>
          <a:bodyPr/>
          <a:lstStyle/>
          <a:p>
            <a:endParaRPr lang="fr-FR"/>
          </a:p>
        </p:txBody>
      </p:sp>
      <p:sp>
        <p:nvSpPr>
          <p:cNvPr id="55" name="Espace réservé du numéro de diapositive 54">
            <a:extLst>
              <a:ext uri="{FF2B5EF4-FFF2-40B4-BE49-F238E27FC236}">
                <a16:creationId xmlns:a16="http://schemas.microsoft.com/office/drawing/2014/main" id="{391B25DF-AAF5-9BCE-022C-031BDAFAA04B}"/>
              </a:ext>
            </a:extLst>
          </p:cNvPr>
          <p:cNvSpPr>
            <a:spLocks noGrp="1"/>
          </p:cNvSpPr>
          <p:nvPr>
            <p:ph type="sldNum" sz="quarter" idx="15"/>
          </p:nvPr>
        </p:nvSpPr>
        <p:spPr/>
        <p:txBody>
          <a:bodyPr/>
          <a:lstStyle/>
          <a:p>
            <a:fld id="{B6F15528-21DE-4FAA-801E-634DDDAF4B2B}" type="slidenum">
              <a:rPr lang="fr-FR" smtClean="0"/>
              <a:pPr/>
              <a:t>‹N°›</a:t>
            </a:fld>
            <a:endParaRPr lang="fr-FR"/>
          </a:p>
        </p:txBody>
      </p:sp>
      <p:sp>
        <p:nvSpPr>
          <p:cNvPr id="58" name="Espace réservé du texte 35">
            <a:extLst>
              <a:ext uri="{FF2B5EF4-FFF2-40B4-BE49-F238E27FC236}">
                <a16:creationId xmlns:a16="http://schemas.microsoft.com/office/drawing/2014/main" id="{DFDDC45F-E6B0-DF04-4F24-AA0E7283E58B}"/>
              </a:ext>
            </a:extLst>
          </p:cNvPr>
          <p:cNvSpPr>
            <a:spLocks noGrp="1"/>
          </p:cNvSpPr>
          <p:nvPr>
            <p:ph type="body" sz="quarter" idx="16" hasCustomPrompt="1"/>
          </p:nvPr>
        </p:nvSpPr>
        <p:spPr>
          <a:xfrm>
            <a:off x="3515577" y="1678980"/>
            <a:ext cx="2420495" cy="2598036"/>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sz="1200">
                <a:solidFill>
                  <a:schemeClr val="tx2"/>
                </a:solidFill>
                <a:latin typeface="Roboto" panose="02000000000000000000" pitchFamily="2" charset="0"/>
                <a:ea typeface="Roboto" panose="02000000000000000000" pitchFamily="2" charset="0"/>
              </a:defRPr>
            </a:lvl2pPr>
            <a:lvl3pPr marL="171446" indent="-171446">
              <a:buClr>
                <a:schemeClr val="accent5"/>
              </a:buClr>
              <a:buFont typeface="Arial" panose="020B0604020202020204" pitchFamily="34" charset="0"/>
              <a:buChar char="•"/>
              <a:defRPr lang="fr-FR" sz="1200" b="0" cap="none" baseline="0" dirty="0" smtClean="0">
                <a:solidFill>
                  <a:schemeClr val="tx2"/>
                </a:solidFill>
                <a:latin typeface="Roboto" panose="02000000000000000000" pitchFamily="2" charset="0"/>
                <a:ea typeface="Roboto" panose="02000000000000000000" pitchFamily="2" charset="0"/>
                <a:cs typeface="Roboto" panose="02000000000000000000" pitchFamily="2" charset="0"/>
              </a:defRPr>
            </a:lvl3pPr>
            <a:lvl4pPr marL="351442" indent="-171446">
              <a:buFont typeface="Arial" panose="020B0604020202020204" pitchFamily="34" charset="0"/>
              <a:buChar char="•"/>
              <a:defRPr lang="fr-FR" sz="1200" dirty="0">
                <a:solidFill>
                  <a:schemeClr val="tx2"/>
                </a:solidFill>
                <a:latin typeface="Roboto" panose="02000000000000000000" pitchFamily="2" charset="0"/>
                <a:ea typeface="Roboto" panose="02000000000000000000" pitchFamily="2" charset="0"/>
                <a:cs typeface="+mn-cs"/>
              </a:defRPr>
            </a:lvl4pPr>
            <a:lvl5pPr>
              <a:defRPr sz="1200">
                <a:solidFill>
                  <a:schemeClr val="tx2"/>
                </a:solidFill>
                <a:latin typeface="Roboto" panose="02000000000000000000" pitchFamily="2" charset="0"/>
                <a:ea typeface="Roboto" panose="02000000000000000000" pitchFamily="2" charset="0"/>
              </a:defRPr>
            </a:lvl5pPr>
          </a:lstStyle>
          <a:p>
            <a:pPr lvl="0"/>
            <a:r>
              <a:rPr lang="fr-FR"/>
              <a:t>Cliquez pour modifier </a:t>
            </a:r>
            <a:br>
              <a:rPr lang="fr-FR"/>
            </a:br>
            <a:r>
              <a:rPr lang="fr-FR"/>
              <a:t>les styles du texte du masque</a:t>
            </a:r>
          </a:p>
          <a:p>
            <a:pPr marL="171446" lvl="2" indent="-171446">
              <a:buClr>
                <a:schemeClr val="accent5"/>
              </a:buClr>
              <a:buFont typeface="Arial" panose="020B0604020202020204" pitchFamily="34" charset="0"/>
              <a:buChar char="•"/>
            </a:pPr>
            <a:r>
              <a:rPr lang="fr-FR"/>
              <a:t>Deuxième niveau</a:t>
            </a:r>
          </a:p>
          <a:p>
            <a:pPr marL="355600" lvl="2" indent="-169863">
              <a:buClr>
                <a:schemeClr val="accent5"/>
              </a:buClr>
              <a:buFont typeface="Times New Roman" panose="02020603050405020304" pitchFamily="18" charset="0"/>
              <a:buChar char="→"/>
            </a:pPr>
            <a:r>
              <a:rPr lang="fr-FR"/>
              <a:t>Troisième niveau</a:t>
            </a:r>
          </a:p>
          <a:p>
            <a:pPr marL="538163" lvl="3" indent="-169863">
              <a:buClr>
                <a:schemeClr val="accent5"/>
              </a:buClr>
              <a:buFont typeface="Wingdings" panose="05000000000000000000" pitchFamily="2" charset="2"/>
              <a:buChar char="ü"/>
            </a:pPr>
            <a:r>
              <a:rPr lang="fr-FR"/>
              <a:t>Quatrième niveau</a:t>
            </a:r>
          </a:p>
        </p:txBody>
      </p:sp>
      <p:sp>
        <p:nvSpPr>
          <p:cNvPr id="59" name="Espace réservé du texte 35">
            <a:extLst>
              <a:ext uri="{FF2B5EF4-FFF2-40B4-BE49-F238E27FC236}">
                <a16:creationId xmlns:a16="http://schemas.microsoft.com/office/drawing/2014/main" id="{4210277C-2A66-C749-F50A-FAA3F137C666}"/>
              </a:ext>
            </a:extLst>
          </p:cNvPr>
          <p:cNvSpPr>
            <a:spLocks noGrp="1"/>
          </p:cNvSpPr>
          <p:nvPr>
            <p:ph type="body" sz="quarter" idx="17" hasCustomPrompt="1"/>
          </p:nvPr>
        </p:nvSpPr>
        <p:spPr>
          <a:xfrm>
            <a:off x="6307008" y="1676337"/>
            <a:ext cx="2420495"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sz="1200">
                <a:solidFill>
                  <a:schemeClr val="tx2"/>
                </a:solidFill>
                <a:latin typeface="Roboto" panose="02000000000000000000" pitchFamily="2" charset="0"/>
                <a:ea typeface="Roboto" panose="02000000000000000000" pitchFamily="2" charset="0"/>
              </a:defRPr>
            </a:lvl2pPr>
            <a:lvl3pPr marL="171446" indent="-171446">
              <a:buClr>
                <a:schemeClr val="accent5"/>
              </a:buClr>
              <a:buFont typeface="Arial" panose="020B0604020202020204" pitchFamily="34" charset="0"/>
              <a:buChar char="•"/>
              <a:defRPr lang="fr-FR" sz="1200" b="0" cap="none" baseline="0" dirty="0" smtClean="0">
                <a:solidFill>
                  <a:schemeClr val="tx2"/>
                </a:solidFill>
                <a:latin typeface="Roboto" panose="02000000000000000000" pitchFamily="2" charset="0"/>
                <a:ea typeface="Roboto" panose="02000000000000000000" pitchFamily="2" charset="0"/>
                <a:cs typeface="Roboto" panose="02000000000000000000" pitchFamily="2" charset="0"/>
              </a:defRPr>
            </a:lvl3pPr>
            <a:lvl4pPr marL="351442" indent="-171446">
              <a:buFont typeface="Arial" panose="020B0604020202020204" pitchFamily="34" charset="0"/>
              <a:buChar char="•"/>
              <a:defRPr lang="fr-FR" sz="1200" dirty="0">
                <a:solidFill>
                  <a:schemeClr val="tx2"/>
                </a:solidFill>
                <a:latin typeface="Roboto" panose="02000000000000000000" pitchFamily="2" charset="0"/>
                <a:ea typeface="Roboto" panose="02000000000000000000" pitchFamily="2" charset="0"/>
                <a:cs typeface="+mn-cs"/>
              </a:defRPr>
            </a:lvl4pPr>
            <a:lvl5pPr>
              <a:defRPr sz="1200">
                <a:solidFill>
                  <a:schemeClr val="tx2"/>
                </a:solidFill>
                <a:latin typeface="Roboto" panose="02000000000000000000" pitchFamily="2" charset="0"/>
                <a:ea typeface="Roboto" panose="02000000000000000000" pitchFamily="2" charset="0"/>
              </a:defRPr>
            </a:lvl5pPr>
          </a:lstStyle>
          <a:p>
            <a:pPr lvl="0"/>
            <a:r>
              <a:rPr lang="fr-FR"/>
              <a:t>Cliquez pour modifier </a:t>
            </a:r>
            <a:br>
              <a:rPr lang="fr-FR"/>
            </a:br>
            <a:r>
              <a:rPr lang="fr-FR"/>
              <a:t>les styles du texte du masque</a:t>
            </a:r>
          </a:p>
          <a:p>
            <a:pPr marL="171446" lvl="2" indent="-171446">
              <a:buClr>
                <a:schemeClr val="accent5"/>
              </a:buClr>
              <a:buFont typeface="Arial" panose="020B0604020202020204" pitchFamily="34" charset="0"/>
              <a:buChar char="•"/>
            </a:pPr>
            <a:r>
              <a:rPr lang="fr-FR"/>
              <a:t>Deuxième niveau</a:t>
            </a:r>
          </a:p>
          <a:p>
            <a:pPr marL="355600" lvl="2" indent="-169863">
              <a:buClr>
                <a:schemeClr val="accent5"/>
              </a:buClr>
              <a:buFont typeface="Times New Roman" panose="02020603050405020304" pitchFamily="18" charset="0"/>
              <a:buChar char="→"/>
            </a:pPr>
            <a:r>
              <a:rPr lang="fr-FR"/>
              <a:t>Troisième niveau</a:t>
            </a:r>
          </a:p>
          <a:p>
            <a:pPr marL="538163" lvl="3" indent="-169863">
              <a:buClr>
                <a:schemeClr val="accent5"/>
              </a:buClr>
              <a:buFont typeface="Wingdings" panose="05000000000000000000" pitchFamily="2" charset="2"/>
              <a:buChar char="ü"/>
            </a:pPr>
            <a:r>
              <a:rPr lang="fr-FR"/>
              <a:t>Quatrième niveau</a:t>
            </a:r>
          </a:p>
        </p:txBody>
      </p:sp>
      <p:sp>
        <p:nvSpPr>
          <p:cNvPr id="2" name="Titre 1">
            <a:extLst>
              <a:ext uri="{FF2B5EF4-FFF2-40B4-BE49-F238E27FC236}">
                <a16:creationId xmlns:a16="http://schemas.microsoft.com/office/drawing/2014/main" id="{98F37916-2FC1-A62B-278F-6266F2663C07}"/>
              </a:ext>
            </a:extLst>
          </p:cNvPr>
          <p:cNvSpPr>
            <a:spLocks noGrp="1"/>
          </p:cNvSpPr>
          <p:nvPr>
            <p:ph type="title"/>
          </p:nvPr>
        </p:nvSpPr>
        <p:spPr/>
        <p:txBody>
          <a:bodyPr/>
          <a:lstStyle>
            <a:lvl1pPr>
              <a:defRPr b="1"/>
            </a:lvl1pPr>
          </a:lstStyle>
          <a:p>
            <a:r>
              <a:rPr lang="fr-FR"/>
              <a:t>Modifiez le style du titre</a:t>
            </a:r>
          </a:p>
        </p:txBody>
      </p:sp>
    </p:spTree>
    <p:extLst>
      <p:ext uri="{BB962C8B-B14F-4D97-AF65-F5344CB8AC3E}">
        <p14:creationId xmlns:p14="http://schemas.microsoft.com/office/powerpoint/2010/main" val="3285386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onne">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10ABCF8B-9D49-DCB1-47AD-F507F3159BAD}"/>
              </a:ext>
            </a:extLst>
          </p:cNvPr>
          <p:cNvSpPr/>
          <p:nvPr userDrawn="1"/>
        </p:nvSpPr>
        <p:spPr>
          <a:xfrm>
            <a:off x="538675"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a:p>
        </p:txBody>
      </p:sp>
      <p:sp>
        <p:nvSpPr>
          <p:cNvPr id="36" name="Espace réservé du texte 35">
            <a:extLst>
              <a:ext uri="{FF2B5EF4-FFF2-40B4-BE49-F238E27FC236}">
                <a16:creationId xmlns:a16="http://schemas.microsoft.com/office/drawing/2014/main" id="{021D7BB4-BA97-15AC-44BD-A45FE0639B9F}"/>
              </a:ext>
            </a:extLst>
          </p:cNvPr>
          <p:cNvSpPr>
            <a:spLocks noGrp="1"/>
          </p:cNvSpPr>
          <p:nvPr>
            <p:ph type="body" sz="quarter" idx="11"/>
          </p:nvPr>
        </p:nvSpPr>
        <p:spPr>
          <a:xfrm>
            <a:off x="703708" y="1676337"/>
            <a:ext cx="4706495"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2pPr>
            <a:lvl3pPr marL="355600" indent="-169863">
              <a:buFont typeface="Times New Roman" panose="02020603050405020304" pitchFamily="18" charset="0"/>
              <a:buChar char="→"/>
              <a:defRPr sz="1200">
                <a:solidFill>
                  <a:schemeClr val="tx2"/>
                </a:solidFill>
                <a:latin typeface="Roboto" panose="02000000000000000000" pitchFamily="2" charset="0"/>
                <a:ea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marL="0" lvl="0"/>
            <a:r>
              <a:rPr lang="fr-FR"/>
              <a:t>Cliquez pour modifier les styles 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54" name="Espace réservé du pied de page 53">
            <a:extLst>
              <a:ext uri="{FF2B5EF4-FFF2-40B4-BE49-F238E27FC236}">
                <a16:creationId xmlns:a16="http://schemas.microsoft.com/office/drawing/2014/main" id="{6071AE48-3798-4B3E-2DBB-784904DF6AEC}"/>
              </a:ext>
            </a:extLst>
          </p:cNvPr>
          <p:cNvSpPr>
            <a:spLocks noGrp="1"/>
          </p:cNvSpPr>
          <p:nvPr>
            <p:ph type="ftr" sz="quarter" idx="14"/>
          </p:nvPr>
        </p:nvSpPr>
        <p:spPr/>
        <p:txBody>
          <a:bodyPr/>
          <a:lstStyle/>
          <a:p>
            <a:r>
              <a:rPr lang="fr-FR"/>
              <a:t>LFB Group Corruption Risk </a:t>
            </a:r>
            <a:r>
              <a:rPr lang="fr-FR" err="1"/>
              <a:t>Map</a:t>
            </a:r>
            <a:r>
              <a:rPr lang="fr-FR"/>
              <a:t> 2026</a:t>
            </a:r>
          </a:p>
        </p:txBody>
      </p:sp>
      <p:sp>
        <p:nvSpPr>
          <p:cNvPr id="55" name="Espace réservé du numéro de diapositive 54">
            <a:extLst>
              <a:ext uri="{FF2B5EF4-FFF2-40B4-BE49-F238E27FC236}">
                <a16:creationId xmlns:a16="http://schemas.microsoft.com/office/drawing/2014/main" id="{391B25DF-AAF5-9BCE-022C-031BDAFAA04B}"/>
              </a:ext>
            </a:extLst>
          </p:cNvPr>
          <p:cNvSpPr>
            <a:spLocks noGrp="1"/>
          </p:cNvSpPr>
          <p:nvPr>
            <p:ph type="sldNum" sz="quarter" idx="15"/>
          </p:nvPr>
        </p:nvSpPr>
        <p:spPr/>
        <p:txBody>
          <a:bodyPr/>
          <a:lstStyle/>
          <a:p>
            <a:fld id="{B6F15528-21DE-4FAA-801E-634DDDAF4B2B}" type="slidenum">
              <a:rPr lang="fr-FR" smtClean="0"/>
              <a:pPr/>
              <a:t>‹N°›</a:t>
            </a:fld>
            <a:endParaRPr lang="fr-FR"/>
          </a:p>
        </p:txBody>
      </p:sp>
      <p:sp>
        <p:nvSpPr>
          <p:cNvPr id="2" name="Titre 1">
            <a:extLst>
              <a:ext uri="{FF2B5EF4-FFF2-40B4-BE49-F238E27FC236}">
                <a16:creationId xmlns:a16="http://schemas.microsoft.com/office/drawing/2014/main" id="{3DB92B57-7DFD-D1E2-7312-D2CC485C01E8}"/>
              </a:ext>
            </a:extLst>
          </p:cNvPr>
          <p:cNvSpPr>
            <a:spLocks noGrp="1"/>
          </p:cNvSpPr>
          <p:nvPr>
            <p:ph type="title"/>
          </p:nvPr>
        </p:nvSpPr>
        <p:spPr/>
        <p:txBody>
          <a:bodyPr/>
          <a:lstStyle>
            <a:lvl1pPr>
              <a:defRPr b="1"/>
            </a:lvl1pPr>
          </a:lstStyle>
          <a:p>
            <a:r>
              <a:rPr lang="fr-FR"/>
              <a:t>Modifiez le style du titre</a:t>
            </a:r>
          </a:p>
        </p:txBody>
      </p:sp>
      <p:sp>
        <p:nvSpPr>
          <p:cNvPr id="3" name="Espace réservé pour une image  7">
            <a:extLst>
              <a:ext uri="{FF2B5EF4-FFF2-40B4-BE49-F238E27FC236}">
                <a16:creationId xmlns:a16="http://schemas.microsoft.com/office/drawing/2014/main" id="{C238880B-D635-9C63-7125-A57ACC43344F}"/>
              </a:ext>
            </a:extLst>
          </p:cNvPr>
          <p:cNvSpPr>
            <a:spLocks noGrp="1"/>
          </p:cNvSpPr>
          <p:nvPr>
            <p:ph type="pic" sz="quarter" idx="13"/>
          </p:nvPr>
        </p:nvSpPr>
        <p:spPr>
          <a:xfrm>
            <a:off x="5827848" y="1386776"/>
            <a:ext cx="2776149" cy="3214370"/>
          </a:xfrm>
        </p:spPr>
        <p:txBody>
          <a:bodyPr/>
          <a:lstStyle/>
          <a:p>
            <a:endParaRPr lang="fr-FR"/>
          </a:p>
        </p:txBody>
      </p:sp>
    </p:spTree>
    <p:extLst>
      <p:ext uri="{BB962C8B-B14F-4D97-AF65-F5344CB8AC3E}">
        <p14:creationId xmlns:p14="http://schemas.microsoft.com/office/powerpoint/2010/main" val="1667631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onnes">
    <p:spTree>
      <p:nvGrpSpPr>
        <p:cNvPr id="1" name=""/>
        <p:cNvGrpSpPr/>
        <p:nvPr/>
      </p:nvGrpSpPr>
      <p:grpSpPr>
        <a:xfrm>
          <a:off x="0" y="0"/>
          <a:ext cx="0" cy="0"/>
          <a:chOff x="0" y="0"/>
          <a:chExt cx="0" cy="0"/>
        </a:xfrm>
      </p:grpSpPr>
      <p:sp>
        <p:nvSpPr>
          <p:cNvPr id="8" name="Espace réservé du pied de page 7">
            <a:extLst>
              <a:ext uri="{FF2B5EF4-FFF2-40B4-BE49-F238E27FC236}">
                <a16:creationId xmlns:a16="http://schemas.microsoft.com/office/drawing/2014/main" id="{FC347D6D-18B2-F726-E6ED-ED308011FF0D}"/>
              </a:ext>
            </a:extLst>
          </p:cNvPr>
          <p:cNvSpPr>
            <a:spLocks noGrp="1"/>
          </p:cNvSpPr>
          <p:nvPr>
            <p:ph type="ftr" sz="quarter" idx="10"/>
          </p:nvPr>
        </p:nvSpPr>
        <p:spPr/>
        <p:txBody>
          <a:bodyPr/>
          <a:lstStyle/>
          <a:p>
            <a:endParaRPr lang="fr-FR"/>
          </a:p>
        </p:txBody>
      </p:sp>
      <p:sp>
        <p:nvSpPr>
          <p:cNvPr id="9" name="Espace réservé du numéro de diapositive 8">
            <a:extLst>
              <a:ext uri="{FF2B5EF4-FFF2-40B4-BE49-F238E27FC236}">
                <a16:creationId xmlns:a16="http://schemas.microsoft.com/office/drawing/2014/main" id="{9F210E11-5AD9-CBD3-751C-9E0A26E5EB32}"/>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11" name="object 2">
            <a:extLst>
              <a:ext uri="{FF2B5EF4-FFF2-40B4-BE49-F238E27FC236}">
                <a16:creationId xmlns:a16="http://schemas.microsoft.com/office/drawing/2014/main" id="{4B151FC6-C560-C453-6BFC-E362236F5D83}"/>
              </a:ext>
            </a:extLst>
          </p:cNvPr>
          <p:cNvSpPr/>
          <p:nvPr userDrawn="1"/>
        </p:nvSpPr>
        <p:spPr>
          <a:xfrm>
            <a:off x="538675"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3600"/>
          </a:p>
        </p:txBody>
      </p:sp>
      <p:sp>
        <p:nvSpPr>
          <p:cNvPr id="12" name="Espace réservé du texte 35">
            <a:extLst>
              <a:ext uri="{FF2B5EF4-FFF2-40B4-BE49-F238E27FC236}">
                <a16:creationId xmlns:a16="http://schemas.microsoft.com/office/drawing/2014/main" id="{69D18321-49D4-CD25-7C98-8147F235FCEB}"/>
              </a:ext>
            </a:extLst>
          </p:cNvPr>
          <p:cNvSpPr>
            <a:spLocks noGrp="1"/>
          </p:cNvSpPr>
          <p:nvPr>
            <p:ph type="body" sz="quarter" idx="12" hasCustomPrompt="1"/>
          </p:nvPr>
        </p:nvSpPr>
        <p:spPr>
          <a:xfrm>
            <a:off x="703706" y="1676337"/>
            <a:ext cx="3639693"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dirty="0">
                <a:solidFill>
                  <a:schemeClr val="tx2"/>
                </a:solidFill>
                <a:latin typeface="Roboto" panose="02000000000000000000" pitchFamily="2" charset="0"/>
                <a:ea typeface="Roboto" panose="02000000000000000000" pitchFamily="2" charset="0"/>
                <a:cs typeface="+mn-cs"/>
              </a:defRPr>
            </a:lvl2pPr>
            <a:lvl3pPr marL="355600" indent="-169863">
              <a:buFont typeface="Times New Roman" panose="02020603050405020304" pitchFamily="18" charset="0"/>
              <a:buChar char="→"/>
              <a:defRPr sz="1200">
                <a:solidFill>
                  <a:schemeClr val="tx2"/>
                </a:solidFill>
                <a:latin typeface="Roboto" panose="02000000000000000000" pitchFamily="2" charset="0"/>
                <a:ea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marL="0" lvl="0"/>
            <a:r>
              <a:rPr lang="fr-FR"/>
              <a:t>Cliquez pour modifier les styles </a:t>
            </a:r>
            <a:br>
              <a:rPr lang="fr-FR"/>
            </a:br>
            <a:r>
              <a:rPr lang="fr-FR"/>
              <a:t>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13" name="object 2">
            <a:extLst>
              <a:ext uri="{FF2B5EF4-FFF2-40B4-BE49-F238E27FC236}">
                <a16:creationId xmlns:a16="http://schemas.microsoft.com/office/drawing/2014/main" id="{7BE3115B-6BA7-5A00-B8A0-6D4E1F14BAF7}"/>
              </a:ext>
            </a:extLst>
          </p:cNvPr>
          <p:cNvSpPr/>
          <p:nvPr userDrawn="1"/>
        </p:nvSpPr>
        <p:spPr>
          <a:xfrm>
            <a:off x="4729678"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3600"/>
          </a:p>
        </p:txBody>
      </p:sp>
      <p:sp>
        <p:nvSpPr>
          <p:cNvPr id="14" name="Espace réservé du texte 35">
            <a:extLst>
              <a:ext uri="{FF2B5EF4-FFF2-40B4-BE49-F238E27FC236}">
                <a16:creationId xmlns:a16="http://schemas.microsoft.com/office/drawing/2014/main" id="{9A4705F5-9F76-569D-8520-B447AD288432}"/>
              </a:ext>
            </a:extLst>
          </p:cNvPr>
          <p:cNvSpPr>
            <a:spLocks noGrp="1"/>
          </p:cNvSpPr>
          <p:nvPr>
            <p:ph type="body" sz="quarter" idx="13" hasCustomPrompt="1"/>
          </p:nvPr>
        </p:nvSpPr>
        <p:spPr>
          <a:xfrm>
            <a:off x="4894710" y="1676337"/>
            <a:ext cx="3639693"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dirty="0">
                <a:solidFill>
                  <a:schemeClr val="tx2"/>
                </a:solidFill>
                <a:latin typeface="Roboto" panose="02000000000000000000" pitchFamily="2" charset="0"/>
                <a:ea typeface="Roboto" panose="02000000000000000000" pitchFamily="2" charset="0"/>
                <a:cs typeface="+mn-cs"/>
              </a:defRPr>
            </a:lvl2pPr>
            <a:lvl3pPr marL="355600" indent="-169863">
              <a:buFont typeface="Times New Roman" panose="02020603050405020304" pitchFamily="18" charset="0"/>
              <a:buChar char="→"/>
              <a:defRPr sz="1200">
                <a:solidFill>
                  <a:schemeClr val="tx2"/>
                </a:solidFill>
                <a:latin typeface="Roboto" panose="02000000000000000000" pitchFamily="2" charset="0"/>
                <a:ea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marL="0" lvl="0"/>
            <a:r>
              <a:rPr lang="fr-FR"/>
              <a:t>Cliquez pour modifier les styles </a:t>
            </a:r>
            <a:br>
              <a:rPr lang="fr-FR"/>
            </a:br>
            <a:r>
              <a:rPr lang="fr-FR"/>
              <a:t>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2" name="Titre 1">
            <a:extLst>
              <a:ext uri="{FF2B5EF4-FFF2-40B4-BE49-F238E27FC236}">
                <a16:creationId xmlns:a16="http://schemas.microsoft.com/office/drawing/2014/main" id="{0978B762-6A11-1EA5-75A7-21E4BA2115CF}"/>
              </a:ext>
            </a:extLst>
          </p:cNvPr>
          <p:cNvSpPr>
            <a:spLocks noGrp="1"/>
          </p:cNvSpPr>
          <p:nvPr>
            <p:ph type="title"/>
          </p:nvPr>
        </p:nvSpPr>
        <p:spPr/>
        <p:txBody>
          <a:bodyPr/>
          <a:lstStyle>
            <a:lvl1pPr>
              <a:defRPr b="1"/>
            </a:lvl1pPr>
          </a:lstStyle>
          <a:p>
            <a:r>
              <a:rPr lang="fr-FR"/>
              <a:t>Modifiez le style du titre</a:t>
            </a:r>
          </a:p>
        </p:txBody>
      </p:sp>
    </p:spTree>
    <p:extLst>
      <p:ext uri="{BB962C8B-B14F-4D97-AF65-F5344CB8AC3E}">
        <p14:creationId xmlns:p14="http://schemas.microsoft.com/office/powerpoint/2010/main" val="4153337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photo">
    <p:spTree>
      <p:nvGrpSpPr>
        <p:cNvPr id="1" name=""/>
        <p:cNvGrpSpPr/>
        <p:nvPr/>
      </p:nvGrpSpPr>
      <p:grpSpPr>
        <a:xfrm>
          <a:off x="0" y="0"/>
          <a:ext cx="0" cy="0"/>
          <a:chOff x="0" y="0"/>
          <a:chExt cx="0" cy="0"/>
        </a:xfrm>
      </p:grpSpPr>
      <p:sp>
        <p:nvSpPr>
          <p:cNvPr id="16" name="Espace réservé pour une image  14">
            <a:extLst>
              <a:ext uri="{FF2B5EF4-FFF2-40B4-BE49-F238E27FC236}">
                <a16:creationId xmlns:a16="http://schemas.microsoft.com/office/drawing/2014/main" id="{E9A31D0E-43FF-8E56-EE40-5C7AD56B9300}"/>
              </a:ext>
            </a:extLst>
          </p:cNvPr>
          <p:cNvSpPr>
            <a:spLocks noGrp="1"/>
          </p:cNvSpPr>
          <p:nvPr>
            <p:ph type="pic" sz="quarter" idx="12"/>
          </p:nvPr>
        </p:nvSpPr>
        <p:spPr>
          <a:xfrm>
            <a:off x="1151992" y="539991"/>
            <a:ext cx="6432550" cy="4060825"/>
          </a:xfrm>
        </p:spPr>
        <p:txBody>
          <a:bodyPr/>
          <a:lstStyle/>
          <a:p>
            <a:endParaRPr lang="fr-FR"/>
          </a:p>
        </p:txBody>
      </p:sp>
      <p:sp>
        <p:nvSpPr>
          <p:cNvPr id="7" name="Espace réservé du pied de page 6">
            <a:extLst>
              <a:ext uri="{FF2B5EF4-FFF2-40B4-BE49-F238E27FC236}">
                <a16:creationId xmlns:a16="http://schemas.microsoft.com/office/drawing/2014/main" id="{DFB6A741-EC1D-A0C0-90DB-264445411261}"/>
              </a:ext>
            </a:extLst>
          </p:cNvPr>
          <p:cNvSpPr>
            <a:spLocks noGrp="1"/>
          </p:cNvSpPr>
          <p:nvPr>
            <p:ph type="ftr" sz="quarter" idx="10"/>
          </p:nvPr>
        </p:nvSpPr>
        <p:spPr/>
        <p:txBody>
          <a:bodyPr/>
          <a:lstStyle/>
          <a:p>
            <a:endParaRPr lang="fr-FR"/>
          </a:p>
        </p:txBody>
      </p:sp>
      <p:sp>
        <p:nvSpPr>
          <p:cNvPr id="8" name="Espace réservé du numéro de diapositive 7">
            <a:extLst>
              <a:ext uri="{FF2B5EF4-FFF2-40B4-BE49-F238E27FC236}">
                <a16:creationId xmlns:a16="http://schemas.microsoft.com/office/drawing/2014/main" id="{9362B28A-24FA-EA61-797D-F9031AF2EFAE}"/>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9" name="object 12">
            <a:extLst>
              <a:ext uri="{FF2B5EF4-FFF2-40B4-BE49-F238E27FC236}">
                <a16:creationId xmlns:a16="http://schemas.microsoft.com/office/drawing/2014/main" id="{BE6E5EEF-5B45-4175-15E6-9C384CE51260}"/>
              </a:ext>
            </a:extLst>
          </p:cNvPr>
          <p:cNvSpPr/>
          <p:nvPr userDrawn="1"/>
        </p:nvSpPr>
        <p:spPr>
          <a:xfrm>
            <a:off x="6084000" y="2848499"/>
            <a:ext cx="2537439" cy="1952102"/>
          </a:xfrm>
          <a:custGeom>
            <a:avLst/>
            <a:gdLst/>
            <a:ahLst/>
            <a:cxnLst/>
            <a:rect l="l" t="t" r="r" b="b"/>
            <a:pathLst>
              <a:path w="2520315" h="2520315">
                <a:moveTo>
                  <a:pt x="2519997" y="0"/>
                </a:moveTo>
                <a:lnTo>
                  <a:pt x="0" y="0"/>
                </a:lnTo>
                <a:lnTo>
                  <a:pt x="0" y="2519997"/>
                </a:lnTo>
                <a:lnTo>
                  <a:pt x="2519997" y="2519997"/>
                </a:lnTo>
                <a:lnTo>
                  <a:pt x="2519997" y="0"/>
                </a:lnTo>
                <a:close/>
              </a:path>
            </a:pathLst>
          </a:custGeom>
          <a:solidFill>
            <a:schemeClr val="bg1"/>
          </a:solidFill>
          <a:ln>
            <a:solidFill>
              <a:schemeClr val="bg1"/>
            </a:solidFill>
          </a:ln>
        </p:spPr>
        <p:txBody>
          <a:bodyPr wrap="square" lIns="0" tIns="0" rIns="0" bIns="0" rtlCol="0"/>
          <a:lstStyle/>
          <a:p>
            <a:endParaRPr/>
          </a:p>
        </p:txBody>
      </p:sp>
      <p:sp>
        <p:nvSpPr>
          <p:cNvPr id="10" name="Espace réservé du texte 11">
            <a:extLst>
              <a:ext uri="{FF2B5EF4-FFF2-40B4-BE49-F238E27FC236}">
                <a16:creationId xmlns:a16="http://schemas.microsoft.com/office/drawing/2014/main" id="{AFF982BE-C331-C0BA-FC7F-3160C62595D2}"/>
              </a:ext>
            </a:extLst>
          </p:cNvPr>
          <p:cNvSpPr>
            <a:spLocks noGrp="1"/>
          </p:cNvSpPr>
          <p:nvPr>
            <p:ph type="body" sz="quarter" idx="15" hasCustomPrompt="1"/>
          </p:nvPr>
        </p:nvSpPr>
        <p:spPr>
          <a:xfrm>
            <a:off x="6518319" y="3314464"/>
            <a:ext cx="2103118" cy="857487"/>
          </a:xfrm>
        </p:spPr>
        <p:txBody>
          <a:bodyPr>
            <a:noAutofit/>
          </a:bodyPr>
          <a:lstStyle>
            <a:lvl1pPr marL="171446" indent="-171446">
              <a:buClr>
                <a:schemeClr val="accent5"/>
              </a:buClr>
              <a:buFont typeface="Times New Roman" panose="02020603050405020304" pitchFamily="18" charset="0"/>
              <a:buChar char="→"/>
              <a:defRPr sz="1400" cap="none" baseline="0">
                <a:latin typeface="Roboto" panose="02000000000000000000" pitchFamily="2" charset="0"/>
                <a:ea typeface="Roboto" panose="02000000000000000000" pitchFamily="2" charset="0"/>
              </a:defRPr>
            </a:lvl1pPr>
          </a:lstStyle>
          <a:p>
            <a:pPr lvl="0"/>
            <a:r>
              <a:rPr lang="fr-FR"/>
              <a:t>Légende de la photo ici</a:t>
            </a:r>
          </a:p>
        </p:txBody>
      </p:sp>
      <p:sp>
        <p:nvSpPr>
          <p:cNvPr id="2" name="object 3">
            <a:extLst>
              <a:ext uri="{FF2B5EF4-FFF2-40B4-BE49-F238E27FC236}">
                <a16:creationId xmlns:a16="http://schemas.microsoft.com/office/drawing/2014/main" id="{6B0CA141-2DE3-43CA-D1E3-95B2C6E8FE2A}"/>
              </a:ext>
            </a:extLst>
          </p:cNvPr>
          <p:cNvSpPr/>
          <p:nvPr userDrawn="1"/>
        </p:nvSpPr>
        <p:spPr>
          <a:xfrm>
            <a:off x="539991" y="540003"/>
            <a:ext cx="612140" cy="1224280"/>
          </a:xfrm>
          <a:custGeom>
            <a:avLst/>
            <a:gdLst/>
            <a:ahLst/>
            <a:cxnLst/>
            <a:rect l="l" t="t" r="r" b="b"/>
            <a:pathLst>
              <a:path w="612140" h="1224280">
                <a:moveTo>
                  <a:pt x="612000" y="612000"/>
                </a:moveTo>
                <a:lnTo>
                  <a:pt x="5816" y="612000"/>
                </a:lnTo>
                <a:lnTo>
                  <a:pt x="0" y="612000"/>
                </a:lnTo>
                <a:lnTo>
                  <a:pt x="0" y="1223848"/>
                </a:lnTo>
                <a:lnTo>
                  <a:pt x="53187" y="1222159"/>
                </a:lnTo>
                <a:lnTo>
                  <a:pt x="99568" y="1216723"/>
                </a:lnTo>
                <a:lnTo>
                  <a:pt x="144805" y="1207833"/>
                </a:lnTo>
                <a:lnTo>
                  <a:pt x="188785" y="1195628"/>
                </a:lnTo>
                <a:lnTo>
                  <a:pt x="231368" y="1180236"/>
                </a:lnTo>
                <a:lnTo>
                  <a:pt x="272402" y="1161796"/>
                </a:lnTo>
                <a:lnTo>
                  <a:pt x="311772" y="1140447"/>
                </a:lnTo>
                <a:lnTo>
                  <a:pt x="349338" y="1116317"/>
                </a:lnTo>
                <a:lnTo>
                  <a:pt x="384949" y="1089545"/>
                </a:lnTo>
                <a:lnTo>
                  <a:pt x="418503" y="1060272"/>
                </a:lnTo>
                <a:lnTo>
                  <a:pt x="449834" y="1028636"/>
                </a:lnTo>
                <a:lnTo>
                  <a:pt x="478828" y="994778"/>
                </a:lnTo>
                <a:lnTo>
                  <a:pt x="505345" y="958811"/>
                </a:lnTo>
                <a:lnTo>
                  <a:pt x="529234" y="920889"/>
                </a:lnTo>
                <a:lnTo>
                  <a:pt x="550392" y="881138"/>
                </a:lnTo>
                <a:lnTo>
                  <a:pt x="568655" y="839711"/>
                </a:lnTo>
                <a:lnTo>
                  <a:pt x="583895" y="796721"/>
                </a:lnTo>
                <a:lnTo>
                  <a:pt x="595998" y="752322"/>
                </a:lnTo>
                <a:lnTo>
                  <a:pt x="604799" y="706640"/>
                </a:lnTo>
                <a:lnTo>
                  <a:pt x="610184" y="659828"/>
                </a:lnTo>
                <a:lnTo>
                  <a:pt x="612000" y="612000"/>
                </a:lnTo>
                <a:close/>
              </a:path>
              <a:path w="612140" h="1224280">
                <a:moveTo>
                  <a:pt x="612000" y="0"/>
                </a:moveTo>
                <a:lnTo>
                  <a:pt x="0" y="0"/>
                </a:lnTo>
                <a:lnTo>
                  <a:pt x="0" y="611847"/>
                </a:lnTo>
                <a:lnTo>
                  <a:pt x="5816" y="612000"/>
                </a:lnTo>
                <a:lnTo>
                  <a:pt x="53187" y="610158"/>
                </a:lnTo>
                <a:lnTo>
                  <a:pt x="99568" y="604723"/>
                </a:lnTo>
                <a:lnTo>
                  <a:pt x="144805" y="595833"/>
                </a:lnTo>
                <a:lnTo>
                  <a:pt x="188785" y="583628"/>
                </a:lnTo>
                <a:lnTo>
                  <a:pt x="231368" y="568236"/>
                </a:lnTo>
                <a:lnTo>
                  <a:pt x="272402" y="549795"/>
                </a:lnTo>
                <a:lnTo>
                  <a:pt x="311772" y="528447"/>
                </a:lnTo>
                <a:lnTo>
                  <a:pt x="349338" y="504317"/>
                </a:lnTo>
                <a:lnTo>
                  <a:pt x="384949" y="477545"/>
                </a:lnTo>
                <a:lnTo>
                  <a:pt x="418503" y="448271"/>
                </a:lnTo>
                <a:lnTo>
                  <a:pt x="449834" y="416636"/>
                </a:lnTo>
                <a:lnTo>
                  <a:pt x="478828" y="382778"/>
                </a:lnTo>
                <a:lnTo>
                  <a:pt x="505345" y="346811"/>
                </a:lnTo>
                <a:lnTo>
                  <a:pt x="529234" y="308889"/>
                </a:lnTo>
                <a:lnTo>
                  <a:pt x="550392" y="269138"/>
                </a:lnTo>
                <a:lnTo>
                  <a:pt x="568655" y="227711"/>
                </a:lnTo>
                <a:lnTo>
                  <a:pt x="583895" y="184721"/>
                </a:lnTo>
                <a:lnTo>
                  <a:pt x="595998" y="140322"/>
                </a:lnTo>
                <a:lnTo>
                  <a:pt x="604799" y="94640"/>
                </a:lnTo>
                <a:lnTo>
                  <a:pt x="610184" y="47828"/>
                </a:lnTo>
                <a:lnTo>
                  <a:pt x="612000" y="0"/>
                </a:lnTo>
                <a:close/>
              </a:path>
            </a:pathLst>
          </a:custGeom>
          <a:solidFill>
            <a:srgbClr val="E5EDF4"/>
          </a:solidFill>
        </p:spPr>
        <p:txBody>
          <a:bodyPr wrap="square" lIns="0" tIns="0" rIns="0" bIns="0" rtlCol="0"/>
          <a:lstStyle/>
          <a:p>
            <a:endParaRPr/>
          </a:p>
        </p:txBody>
      </p:sp>
    </p:spTree>
    <p:extLst>
      <p:ext uri="{BB962C8B-B14F-4D97-AF65-F5344CB8AC3E}">
        <p14:creationId xmlns:p14="http://schemas.microsoft.com/office/powerpoint/2010/main" val="3934327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photos">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F4F04665-EC1D-7124-8547-0BAF536273F5}"/>
              </a:ext>
            </a:extLst>
          </p:cNvPr>
          <p:cNvSpPr>
            <a:spLocks noGrp="1"/>
          </p:cNvSpPr>
          <p:nvPr>
            <p:ph type="pic" sz="quarter" idx="12"/>
          </p:nvPr>
        </p:nvSpPr>
        <p:spPr>
          <a:xfrm>
            <a:off x="1386636" y="539991"/>
            <a:ext cx="4441212" cy="3214166"/>
          </a:xfrm>
        </p:spPr>
        <p:txBody>
          <a:bodyPr/>
          <a:lstStyle/>
          <a:p>
            <a:endParaRPr lang="fr-FR"/>
          </a:p>
        </p:txBody>
      </p:sp>
      <p:sp>
        <p:nvSpPr>
          <p:cNvPr id="9" name="Espace réservé pour une image  7">
            <a:extLst>
              <a:ext uri="{FF2B5EF4-FFF2-40B4-BE49-F238E27FC236}">
                <a16:creationId xmlns:a16="http://schemas.microsoft.com/office/drawing/2014/main" id="{CB4D253E-9C4B-3E40-4084-2EAF07D19D27}"/>
              </a:ext>
            </a:extLst>
          </p:cNvPr>
          <p:cNvSpPr>
            <a:spLocks noGrp="1"/>
          </p:cNvSpPr>
          <p:nvPr>
            <p:ph type="pic" sz="quarter" idx="13"/>
          </p:nvPr>
        </p:nvSpPr>
        <p:spPr>
          <a:xfrm>
            <a:off x="5827848" y="1386776"/>
            <a:ext cx="2776149" cy="3214370"/>
          </a:xfrm>
        </p:spPr>
        <p:txBody>
          <a:bodyPr/>
          <a:lstStyle/>
          <a:p>
            <a:endParaRPr lang="fr-FR"/>
          </a:p>
        </p:txBody>
      </p:sp>
      <p:sp>
        <p:nvSpPr>
          <p:cNvPr id="5" name="Espace réservé du pied de page 4">
            <a:extLst>
              <a:ext uri="{FF2B5EF4-FFF2-40B4-BE49-F238E27FC236}">
                <a16:creationId xmlns:a16="http://schemas.microsoft.com/office/drawing/2014/main" id="{59A0E5A1-EDCD-58E2-9FCE-14F6A4284573}"/>
              </a:ext>
            </a:extLst>
          </p:cNvPr>
          <p:cNvSpPr>
            <a:spLocks noGrp="1"/>
          </p:cNvSpPr>
          <p:nvPr>
            <p:ph type="ftr" sz="quarter" idx="10"/>
          </p:nvPr>
        </p:nvSpPr>
        <p:spPr/>
        <p:txBody>
          <a:bodyPr/>
          <a:lstStyle/>
          <a:p>
            <a:endParaRPr lang="fr-FR"/>
          </a:p>
        </p:txBody>
      </p:sp>
      <p:sp>
        <p:nvSpPr>
          <p:cNvPr id="6" name="Espace réservé du numéro de diapositive 5">
            <a:extLst>
              <a:ext uri="{FF2B5EF4-FFF2-40B4-BE49-F238E27FC236}">
                <a16:creationId xmlns:a16="http://schemas.microsoft.com/office/drawing/2014/main" id="{3A75E72C-508E-6160-EC92-C2842A49CF56}"/>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12" name="Espace réservé du texte 11">
            <a:extLst>
              <a:ext uri="{FF2B5EF4-FFF2-40B4-BE49-F238E27FC236}">
                <a16:creationId xmlns:a16="http://schemas.microsoft.com/office/drawing/2014/main" id="{18A08401-5028-38F6-789B-7CEB8B25FE88}"/>
              </a:ext>
            </a:extLst>
          </p:cNvPr>
          <p:cNvSpPr>
            <a:spLocks noGrp="1"/>
          </p:cNvSpPr>
          <p:nvPr>
            <p:ph type="body" sz="quarter" idx="14" hasCustomPrompt="1"/>
          </p:nvPr>
        </p:nvSpPr>
        <p:spPr>
          <a:xfrm>
            <a:off x="6096001" y="590550"/>
            <a:ext cx="1828799" cy="609600"/>
          </a:xfrm>
        </p:spPr>
        <p:txBody>
          <a:bodyPr anchor="ctr" anchorCtr="0">
            <a:noAutofit/>
          </a:bodyPr>
          <a:lstStyle>
            <a:lvl1pPr marL="171446" indent="-171446">
              <a:buClr>
                <a:schemeClr val="accent5"/>
              </a:buClr>
              <a:buFont typeface="Times New Roman" panose="02020603050405020304" pitchFamily="18" charset="0"/>
              <a:buChar char="→"/>
              <a:defRPr sz="1200" cap="none" baseline="0">
                <a:latin typeface="Roboto" panose="02000000000000000000" pitchFamily="2" charset="0"/>
                <a:ea typeface="Roboto" panose="02000000000000000000" pitchFamily="2" charset="0"/>
              </a:defRPr>
            </a:lvl1pPr>
          </a:lstStyle>
          <a:p>
            <a:pPr lvl="0"/>
            <a:r>
              <a:rPr lang="fr-FR"/>
              <a:t>Légende de la photo ici</a:t>
            </a:r>
          </a:p>
        </p:txBody>
      </p:sp>
      <p:sp>
        <p:nvSpPr>
          <p:cNvPr id="13" name="Espace réservé du texte 11">
            <a:extLst>
              <a:ext uri="{FF2B5EF4-FFF2-40B4-BE49-F238E27FC236}">
                <a16:creationId xmlns:a16="http://schemas.microsoft.com/office/drawing/2014/main" id="{0C3927A3-6C37-4A87-E507-4473611DF5EB}"/>
              </a:ext>
            </a:extLst>
          </p:cNvPr>
          <p:cNvSpPr>
            <a:spLocks noGrp="1"/>
          </p:cNvSpPr>
          <p:nvPr>
            <p:ph type="body" sz="quarter" idx="15" hasCustomPrompt="1"/>
          </p:nvPr>
        </p:nvSpPr>
        <p:spPr>
          <a:xfrm>
            <a:off x="1752600" y="3931838"/>
            <a:ext cx="3086100" cy="533400"/>
          </a:xfrm>
        </p:spPr>
        <p:txBody>
          <a:bodyPr anchor="ctr" anchorCtr="0">
            <a:noAutofit/>
          </a:bodyPr>
          <a:lstStyle>
            <a:lvl1pPr marL="171446" indent="-171446">
              <a:buClr>
                <a:schemeClr val="accent5"/>
              </a:buClr>
              <a:buFont typeface="Times New Roman" panose="02020603050405020304" pitchFamily="18" charset="0"/>
              <a:buChar char="→"/>
              <a:defRPr sz="1200" cap="none" baseline="0">
                <a:latin typeface="Roboto" panose="02000000000000000000" pitchFamily="2" charset="0"/>
                <a:ea typeface="Roboto" panose="02000000000000000000" pitchFamily="2" charset="0"/>
              </a:defRPr>
            </a:lvl1pPr>
          </a:lstStyle>
          <a:p>
            <a:pPr lvl="0"/>
            <a:r>
              <a:rPr lang="fr-FR"/>
              <a:t>Légende de la photo ici</a:t>
            </a:r>
          </a:p>
        </p:txBody>
      </p:sp>
      <p:sp>
        <p:nvSpPr>
          <p:cNvPr id="2" name="bg object 22">
            <a:extLst>
              <a:ext uri="{FF2B5EF4-FFF2-40B4-BE49-F238E27FC236}">
                <a16:creationId xmlns:a16="http://schemas.microsoft.com/office/drawing/2014/main" id="{C5A279D9-1F56-2241-4684-7D52D7199CFA}"/>
              </a:ext>
            </a:extLst>
          </p:cNvPr>
          <p:cNvSpPr/>
          <p:nvPr userDrawn="1"/>
        </p:nvSpPr>
        <p:spPr>
          <a:xfrm>
            <a:off x="540004" y="3754157"/>
            <a:ext cx="847090" cy="847090"/>
          </a:xfrm>
          <a:custGeom>
            <a:avLst/>
            <a:gdLst/>
            <a:ahLst/>
            <a:cxnLst/>
            <a:rect l="l" t="t" r="r" b="b"/>
            <a:pathLst>
              <a:path w="847090" h="847089">
                <a:moveTo>
                  <a:pt x="846632" y="0"/>
                </a:moveTo>
                <a:lnTo>
                  <a:pt x="0" y="0"/>
                </a:lnTo>
                <a:lnTo>
                  <a:pt x="0" y="846632"/>
                </a:lnTo>
                <a:lnTo>
                  <a:pt x="846632" y="846632"/>
                </a:lnTo>
                <a:lnTo>
                  <a:pt x="846632" y="0"/>
                </a:lnTo>
                <a:close/>
              </a:path>
            </a:pathLst>
          </a:custGeom>
          <a:solidFill>
            <a:srgbClr val="E8DDC6"/>
          </a:solidFill>
        </p:spPr>
        <p:txBody>
          <a:bodyPr wrap="square" lIns="0" tIns="0" rIns="0" bIns="0" rtlCol="0"/>
          <a:lstStyle/>
          <a:p>
            <a:endParaRPr/>
          </a:p>
        </p:txBody>
      </p:sp>
      <p:sp>
        <p:nvSpPr>
          <p:cNvPr id="3" name="bg object 23">
            <a:extLst>
              <a:ext uri="{FF2B5EF4-FFF2-40B4-BE49-F238E27FC236}">
                <a16:creationId xmlns:a16="http://schemas.microsoft.com/office/drawing/2014/main" id="{FC661207-C5A0-5A8B-9FEE-625BFC54EED5}"/>
              </a:ext>
            </a:extLst>
          </p:cNvPr>
          <p:cNvSpPr/>
          <p:nvPr userDrawn="1"/>
        </p:nvSpPr>
        <p:spPr>
          <a:xfrm>
            <a:off x="539991" y="540003"/>
            <a:ext cx="847090" cy="1693545"/>
          </a:xfrm>
          <a:custGeom>
            <a:avLst/>
            <a:gdLst/>
            <a:ahLst/>
            <a:cxnLst/>
            <a:rect l="l" t="t" r="r" b="b"/>
            <a:pathLst>
              <a:path w="847090" h="1693545">
                <a:moveTo>
                  <a:pt x="846632" y="846632"/>
                </a:moveTo>
                <a:lnTo>
                  <a:pt x="8051" y="846632"/>
                </a:lnTo>
                <a:lnTo>
                  <a:pt x="0" y="846632"/>
                </a:lnTo>
                <a:lnTo>
                  <a:pt x="0" y="1693062"/>
                </a:lnTo>
                <a:lnTo>
                  <a:pt x="55638" y="1691919"/>
                </a:lnTo>
                <a:lnTo>
                  <a:pt x="102527" y="1687957"/>
                </a:lnTo>
                <a:lnTo>
                  <a:pt x="148653" y="1681416"/>
                </a:lnTo>
                <a:lnTo>
                  <a:pt x="193941" y="1672399"/>
                </a:lnTo>
                <a:lnTo>
                  <a:pt x="238315" y="1660956"/>
                </a:lnTo>
                <a:lnTo>
                  <a:pt x="281711" y="1647164"/>
                </a:lnTo>
                <a:lnTo>
                  <a:pt x="324053" y="1631099"/>
                </a:lnTo>
                <a:lnTo>
                  <a:pt x="365277" y="1612823"/>
                </a:lnTo>
                <a:lnTo>
                  <a:pt x="405307" y="1592427"/>
                </a:lnTo>
                <a:lnTo>
                  <a:pt x="444080" y="1569961"/>
                </a:lnTo>
                <a:lnTo>
                  <a:pt x="481520" y="1545513"/>
                </a:lnTo>
                <a:lnTo>
                  <a:pt x="517550" y="1519148"/>
                </a:lnTo>
                <a:lnTo>
                  <a:pt x="552107" y="1490929"/>
                </a:lnTo>
                <a:lnTo>
                  <a:pt x="585114" y="1460931"/>
                </a:lnTo>
                <a:lnTo>
                  <a:pt x="616508" y="1429232"/>
                </a:lnTo>
                <a:lnTo>
                  <a:pt x="646214" y="1395907"/>
                </a:lnTo>
                <a:lnTo>
                  <a:pt x="674166" y="1361020"/>
                </a:lnTo>
                <a:lnTo>
                  <a:pt x="700290" y="1324648"/>
                </a:lnTo>
                <a:lnTo>
                  <a:pt x="724509" y="1286852"/>
                </a:lnTo>
                <a:lnTo>
                  <a:pt x="746760" y="1247711"/>
                </a:lnTo>
                <a:lnTo>
                  <a:pt x="766965" y="1207287"/>
                </a:lnTo>
                <a:lnTo>
                  <a:pt x="785063" y="1165669"/>
                </a:lnTo>
                <a:lnTo>
                  <a:pt x="800976" y="1122921"/>
                </a:lnTo>
                <a:lnTo>
                  <a:pt x="814628" y="1079106"/>
                </a:lnTo>
                <a:lnTo>
                  <a:pt x="825969" y="1034300"/>
                </a:lnTo>
                <a:lnTo>
                  <a:pt x="834898" y="988580"/>
                </a:lnTo>
                <a:lnTo>
                  <a:pt x="841375" y="942022"/>
                </a:lnTo>
                <a:lnTo>
                  <a:pt x="845312" y="894676"/>
                </a:lnTo>
                <a:lnTo>
                  <a:pt x="846632" y="846632"/>
                </a:lnTo>
                <a:close/>
              </a:path>
              <a:path w="847090" h="1693545">
                <a:moveTo>
                  <a:pt x="846632" y="0"/>
                </a:moveTo>
                <a:lnTo>
                  <a:pt x="0" y="0"/>
                </a:lnTo>
                <a:lnTo>
                  <a:pt x="0" y="846429"/>
                </a:lnTo>
                <a:lnTo>
                  <a:pt x="8051" y="846632"/>
                </a:lnTo>
                <a:lnTo>
                  <a:pt x="55638" y="845286"/>
                </a:lnTo>
                <a:lnTo>
                  <a:pt x="102527" y="841311"/>
                </a:lnTo>
                <a:lnTo>
                  <a:pt x="148653" y="834783"/>
                </a:lnTo>
                <a:lnTo>
                  <a:pt x="193941" y="825754"/>
                </a:lnTo>
                <a:lnTo>
                  <a:pt x="238315" y="814311"/>
                </a:lnTo>
                <a:lnTo>
                  <a:pt x="281711" y="800531"/>
                </a:lnTo>
                <a:lnTo>
                  <a:pt x="324053" y="784466"/>
                </a:lnTo>
                <a:lnTo>
                  <a:pt x="365277" y="766191"/>
                </a:lnTo>
                <a:lnTo>
                  <a:pt x="405307" y="745794"/>
                </a:lnTo>
                <a:lnTo>
                  <a:pt x="444080" y="723328"/>
                </a:lnTo>
                <a:lnTo>
                  <a:pt x="481520" y="698881"/>
                </a:lnTo>
                <a:lnTo>
                  <a:pt x="517550" y="672503"/>
                </a:lnTo>
                <a:lnTo>
                  <a:pt x="552107" y="644296"/>
                </a:lnTo>
                <a:lnTo>
                  <a:pt x="585114" y="614299"/>
                </a:lnTo>
                <a:lnTo>
                  <a:pt x="616508" y="582599"/>
                </a:lnTo>
                <a:lnTo>
                  <a:pt x="646214" y="549275"/>
                </a:lnTo>
                <a:lnTo>
                  <a:pt x="674166" y="514388"/>
                </a:lnTo>
                <a:lnTo>
                  <a:pt x="700290" y="478015"/>
                </a:lnTo>
                <a:lnTo>
                  <a:pt x="724509" y="440207"/>
                </a:lnTo>
                <a:lnTo>
                  <a:pt x="746760" y="401066"/>
                </a:lnTo>
                <a:lnTo>
                  <a:pt x="766965" y="360654"/>
                </a:lnTo>
                <a:lnTo>
                  <a:pt x="785063" y="319036"/>
                </a:lnTo>
                <a:lnTo>
                  <a:pt x="800976" y="276275"/>
                </a:lnTo>
                <a:lnTo>
                  <a:pt x="814628" y="232473"/>
                </a:lnTo>
                <a:lnTo>
                  <a:pt x="825969" y="187667"/>
                </a:lnTo>
                <a:lnTo>
                  <a:pt x="834898" y="141947"/>
                </a:lnTo>
                <a:lnTo>
                  <a:pt x="841375" y="95377"/>
                </a:lnTo>
                <a:lnTo>
                  <a:pt x="845312" y="48044"/>
                </a:lnTo>
                <a:lnTo>
                  <a:pt x="846632" y="0"/>
                </a:lnTo>
                <a:close/>
              </a:path>
            </a:pathLst>
          </a:custGeom>
          <a:solidFill>
            <a:srgbClr val="E5EDF4"/>
          </a:solidFill>
        </p:spPr>
        <p:txBody>
          <a:bodyPr wrap="square" lIns="0" tIns="0" rIns="0" bIns="0" rtlCol="0"/>
          <a:lstStyle/>
          <a:p>
            <a:endParaRPr/>
          </a:p>
        </p:txBody>
      </p:sp>
    </p:spTree>
    <p:extLst>
      <p:ext uri="{BB962C8B-B14F-4D97-AF65-F5344CB8AC3E}">
        <p14:creationId xmlns:p14="http://schemas.microsoft.com/office/powerpoint/2010/main" val="2318894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grpSp>
        <p:nvGrpSpPr>
          <p:cNvPr id="25" name="object 2">
            <a:extLst>
              <a:ext uri="{FF2B5EF4-FFF2-40B4-BE49-F238E27FC236}">
                <a16:creationId xmlns:a16="http://schemas.microsoft.com/office/drawing/2014/main" id="{2EECF248-B093-FD0D-A5E7-B8F9405C81AF}"/>
              </a:ext>
            </a:extLst>
          </p:cNvPr>
          <p:cNvGrpSpPr/>
          <p:nvPr userDrawn="1"/>
        </p:nvGrpSpPr>
        <p:grpSpPr>
          <a:xfrm>
            <a:off x="0" y="0"/>
            <a:ext cx="9144000" cy="5143500"/>
            <a:chOff x="0" y="0"/>
            <a:chExt cx="9144000" cy="6858000"/>
          </a:xfrm>
        </p:grpSpPr>
        <p:sp>
          <p:nvSpPr>
            <p:cNvPr id="26" name="object 3">
              <a:extLst>
                <a:ext uri="{FF2B5EF4-FFF2-40B4-BE49-F238E27FC236}">
                  <a16:creationId xmlns:a16="http://schemas.microsoft.com/office/drawing/2014/main" id="{7B95FBB6-C41D-D0A3-1C1D-4BB42911525F}"/>
                </a:ext>
              </a:extLst>
            </p:cNvPr>
            <p:cNvSpPr/>
            <p:nvPr/>
          </p:nvSpPr>
          <p:spPr>
            <a:xfrm>
              <a:off x="0" y="0"/>
              <a:ext cx="9144000" cy="6858000"/>
            </a:xfrm>
            <a:custGeom>
              <a:avLst/>
              <a:gdLst/>
              <a:ahLst/>
              <a:cxnLst/>
              <a:rect l="l" t="t" r="r" b="b"/>
              <a:pathLst>
                <a:path w="9144000" h="6858000">
                  <a:moveTo>
                    <a:pt x="6327000" y="6792760"/>
                  </a:moveTo>
                  <a:lnTo>
                    <a:pt x="6326759" y="6736550"/>
                  </a:lnTo>
                  <a:lnTo>
                    <a:pt x="6326073" y="6680441"/>
                  </a:lnTo>
                  <a:lnTo>
                    <a:pt x="6324930" y="6624434"/>
                  </a:lnTo>
                  <a:lnTo>
                    <a:pt x="6323330" y="6568541"/>
                  </a:lnTo>
                  <a:lnTo>
                    <a:pt x="6321272" y="6512763"/>
                  </a:lnTo>
                  <a:lnTo>
                    <a:pt x="6318771" y="6457112"/>
                  </a:lnTo>
                  <a:lnTo>
                    <a:pt x="6315811" y="6401562"/>
                  </a:lnTo>
                  <a:lnTo>
                    <a:pt x="6312408" y="6346139"/>
                  </a:lnTo>
                  <a:lnTo>
                    <a:pt x="6308560" y="6290830"/>
                  </a:lnTo>
                  <a:lnTo>
                    <a:pt x="6304254" y="6235649"/>
                  </a:lnTo>
                  <a:lnTo>
                    <a:pt x="6299517" y="6180594"/>
                  </a:lnTo>
                  <a:lnTo>
                    <a:pt x="6294336" y="6125667"/>
                  </a:lnTo>
                  <a:lnTo>
                    <a:pt x="6288722" y="6070854"/>
                  </a:lnTo>
                  <a:lnTo>
                    <a:pt x="6282664" y="6016180"/>
                  </a:lnTo>
                  <a:lnTo>
                    <a:pt x="6276175" y="5961634"/>
                  </a:lnTo>
                  <a:lnTo>
                    <a:pt x="6269240" y="5907227"/>
                  </a:lnTo>
                  <a:lnTo>
                    <a:pt x="6261887" y="5852947"/>
                  </a:lnTo>
                  <a:lnTo>
                    <a:pt x="6254102" y="5798807"/>
                  </a:lnTo>
                  <a:lnTo>
                    <a:pt x="6245885" y="5744807"/>
                  </a:lnTo>
                  <a:lnTo>
                    <a:pt x="6237236" y="5690946"/>
                  </a:lnTo>
                  <a:lnTo>
                    <a:pt x="6228169" y="5637225"/>
                  </a:lnTo>
                  <a:lnTo>
                    <a:pt x="6218669" y="5583644"/>
                  </a:lnTo>
                  <a:lnTo>
                    <a:pt x="6208750" y="5530215"/>
                  </a:lnTo>
                  <a:lnTo>
                    <a:pt x="6198413" y="5476926"/>
                  </a:lnTo>
                  <a:lnTo>
                    <a:pt x="6187668" y="5423789"/>
                  </a:lnTo>
                  <a:lnTo>
                    <a:pt x="6176492" y="5370804"/>
                  </a:lnTo>
                  <a:lnTo>
                    <a:pt x="6164910" y="5317960"/>
                  </a:lnTo>
                  <a:lnTo>
                    <a:pt x="6152908" y="5265280"/>
                  </a:lnTo>
                  <a:lnTo>
                    <a:pt x="6140501" y="5212753"/>
                  </a:lnTo>
                  <a:lnTo>
                    <a:pt x="6127686" y="5160391"/>
                  </a:lnTo>
                  <a:lnTo>
                    <a:pt x="6114453" y="5108181"/>
                  </a:lnTo>
                  <a:lnTo>
                    <a:pt x="6100826" y="5056124"/>
                  </a:lnTo>
                  <a:lnTo>
                    <a:pt x="6086792" y="5004244"/>
                  </a:lnTo>
                  <a:lnTo>
                    <a:pt x="6072352" y="4952517"/>
                  </a:lnTo>
                  <a:lnTo>
                    <a:pt x="6057506" y="4900955"/>
                  </a:lnTo>
                  <a:lnTo>
                    <a:pt x="6042279" y="4849571"/>
                  </a:lnTo>
                  <a:lnTo>
                    <a:pt x="6026632" y="4798352"/>
                  </a:lnTo>
                  <a:lnTo>
                    <a:pt x="6010605" y="4747298"/>
                  </a:lnTo>
                  <a:lnTo>
                    <a:pt x="5994184" y="4696422"/>
                  </a:lnTo>
                  <a:lnTo>
                    <a:pt x="5977369" y="4645723"/>
                  </a:lnTo>
                  <a:lnTo>
                    <a:pt x="5960161" y="4595203"/>
                  </a:lnTo>
                  <a:lnTo>
                    <a:pt x="5942571" y="4544860"/>
                  </a:lnTo>
                  <a:lnTo>
                    <a:pt x="5924588" y="4494695"/>
                  </a:lnTo>
                  <a:lnTo>
                    <a:pt x="5906224" y="4444708"/>
                  </a:lnTo>
                  <a:lnTo>
                    <a:pt x="5887478" y="4394911"/>
                  </a:lnTo>
                  <a:lnTo>
                    <a:pt x="5868352" y="4345292"/>
                  </a:lnTo>
                  <a:lnTo>
                    <a:pt x="5848845" y="4295864"/>
                  </a:lnTo>
                  <a:lnTo>
                    <a:pt x="5828957" y="4246626"/>
                  </a:lnTo>
                  <a:lnTo>
                    <a:pt x="5808700" y="4197578"/>
                  </a:lnTo>
                  <a:lnTo>
                    <a:pt x="5788063" y="4148721"/>
                  </a:lnTo>
                  <a:lnTo>
                    <a:pt x="5767044" y="4100055"/>
                  </a:lnTo>
                  <a:lnTo>
                    <a:pt x="5745670" y="4051579"/>
                  </a:lnTo>
                  <a:lnTo>
                    <a:pt x="5723928" y="4003319"/>
                  </a:lnTo>
                  <a:lnTo>
                    <a:pt x="5701804" y="3955250"/>
                  </a:lnTo>
                  <a:lnTo>
                    <a:pt x="5679325" y="3907371"/>
                  </a:lnTo>
                  <a:lnTo>
                    <a:pt x="5656491" y="3859707"/>
                  </a:lnTo>
                  <a:lnTo>
                    <a:pt x="5633288" y="3812248"/>
                  </a:lnTo>
                  <a:lnTo>
                    <a:pt x="5609717" y="3764991"/>
                  </a:lnTo>
                  <a:lnTo>
                    <a:pt x="5585790" y="3717937"/>
                  </a:lnTo>
                  <a:lnTo>
                    <a:pt x="5561520" y="3671100"/>
                  </a:lnTo>
                  <a:lnTo>
                    <a:pt x="5536882" y="3624478"/>
                  </a:lnTo>
                  <a:lnTo>
                    <a:pt x="5511901" y="3578060"/>
                  </a:lnTo>
                  <a:lnTo>
                    <a:pt x="5486552" y="3531857"/>
                  </a:lnTo>
                  <a:lnTo>
                    <a:pt x="5460873" y="3485870"/>
                  </a:lnTo>
                  <a:lnTo>
                    <a:pt x="5434838" y="3440112"/>
                  </a:lnTo>
                  <a:lnTo>
                    <a:pt x="5408460" y="3394570"/>
                  </a:lnTo>
                  <a:lnTo>
                    <a:pt x="5381726" y="3349244"/>
                  </a:lnTo>
                  <a:lnTo>
                    <a:pt x="5354663" y="3304146"/>
                  </a:lnTo>
                  <a:lnTo>
                    <a:pt x="5327256" y="3259277"/>
                  </a:lnTo>
                  <a:lnTo>
                    <a:pt x="5299507" y="3214624"/>
                  </a:lnTo>
                  <a:lnTo>
                    <a:pt x="5271427" y="3170212"/>
                  </a:lnTo>
                  <a:lnTo>
                    <a:pt x="5243004" y="3126028"/>
                  </a:lnTo>
                  <a:lnTo>
                    <a:pt x="5214251" y="3082074"/>
                  </a:lnTo>
                  <a:lnTo>
                    <a:pt x="5185168" y="3038348"/>
                  </a:lnTo>
                  <a:lnTo>
                    <a:pt x="5155755" y="2994863"/>
                  </a:lnTo>
                  <a:lnTo>
                    <a:pt x="5126012" y="2951619"/>
                  </a:lnTo>
                  <a:lnTo>
                    <a:pt x="5095951" y="2908617"/>
                  </a:lnTo>
                  <a:lnTo>
                    <a:pt x="5065547" y="2865844"/>
                  </a:lnTo>
                  <a:lnTo>
                    <a:pt x="5034839" y="2823324"/>
                  </a:lnTo>
                  <a:lnTo>
                    <a:pt x="5003800" y="2781046"/>
                  </a:lnTo>
                  <a:lnTo>
                    <a:pt x="4972443" y="2739021"/>
                  </a:lnTo>
                  <a:lnTo>
                    <a:pt x="4940770" y="2697238"/>
                  </a:lnTo>
                  <a:lnTo>
                    <a:pt x="4908778" y="2655697"/>
                  </a:lnTo>
                  <a:lnTo>
                    <a:pt x="4876470" y="2614422"/>
                  </a:lnTo>
                  <a:lnTo>
                    <a:pt x="4843856" y="2573388"/>
                  </a:lnTo>
                  <a:lnTo>
                    <a:pt x="4810925" y="2532621"/>
                  </a:lnTo>
                  <a:lnTo>
                    <a:pt x="4777689" y="2492095"/>
                  </a:lnTo>
                  <a:lnTo>
                    <a:pt x="4744148" y="2451836"/>
                  </a:lnTo>
                  <a:lnTo>
                    <a:pt x="4710303" y="2411844"/>
                  </a:lnTo>
                  <a:lnTo>
                    <a:pt x="4676152" y="2372106"/>
                  </a:lnTo>
                  <a:lnTo>
                    <a:pt x="4641697" y="2332634"/>
                  </a:lnTo>
                  <a:lnTo>
                    <a:pt x="4606950" y="2293429"/>
                  </a:lnTo>
                  <a:lnTo>
                    <a:pt x="4571898" y="2254491"/>
                  </a:lnTo>
                  <a:lnTo>
                    <a:pt x="4536541" y="2215819"/>
                  </a:lnTo>
                  <a:lnTo>
                    <a:pt x="4500905" y="2177427"/>
                  </a:lnTo>
                  <a:lnTo>
                    <a:pt x="4464964" y="2139302"/>
                  </a:lnTo>
                  <a:lnTo>
                    <a:pt x="4428744" y="2101443"/>
                  </a:lnTo>
                  <a:lnTo>
                    <a:pt x="4392231" y="2063877"/>
                  </a:lnTo>
                  <a:lnTo>
                    <a:pt x="4355427" y="2026577"/>
                  </a:lnTo>
                  <a:lnTo>
                    <a:pt x="4318330" y="1989556"/>
                  </a:lnTo>
                  <a:lnTo>
                    <a:pt x="4280954" y="1952815"/>
                  </a:lnTo>
                  <a:lnTo>
                    <a:pt x="4243298" y="1916366"/>
                  </a:lnTo>
                  <a:lnTo>
                    <a:pt x="4205363" y="1880196"/>
                  </a:lnTo>
                  <a:lnTo>
                    <a:pt x="4167149" y="1844319"/>
                  </a:lnTo>
                  <a:lnTo>
                    <a:pt x="4128655" y="1808721"/>
                  </a:lnTo>
                  <a:lnTo>
                    <a:pt x="4089895" y="1773415"/>
                  </a:lnTo>
                  <a:lnTo>
                    <a:pt x="4050855" y="1738414"/>
                  </a:lnTo>
                  <a:lnTo>
                    <a:pt x="4011536" y="1703692"/>
                  </a:lnTo>
                  <a:lnTo>
                    <a:pt x="3971963" y="1669275"/>
                  </a:lnTo>
                  <a:lnTo>
                    <a:pt x="3932110" y="1635137"/>
                  </a:lnTo>
                  <a:lnTo>
                    <a:pt x="3891991" y="1601317"/>
                  </a:lnTo>
                  <a:lnTo>
                    <a:pt x="3851605" y="1567789"/>
                  </a:lnTo>
                  <a:lnTo>
                    <a:pt x="3810965" y="1534566"/>
                  </a:lnTo>
                  <a:lnTo>
                    <a:pt x="3770058" y="1501648"/>
                  </a:lnTo>
                  <a:lnTo>
                    <a:pt x="3728897" y="1469034"/>
                  </a:lnTo>
                  <a:lnTo>
                    <a:pt x="3687470" y="1436725"/>
                  </a:lnTo>
                  <a:lnTo>
                    <a:pt x="3645789" y="1404734"/>
                  </a:lnTo>
                  <a:lnTo>
                    <a:pt x="3603866" y="1373047"/>
                  </a:lnTo>
                  <a:lnTo>
                    <a:pt x="3561677" y="1341666"/>
                  </a:lnTo>
                  <a:lnTo>
                    <a:pt x="3519246" y="1310614"/>
                  </a:lnTo>
                  <a:lnTo>
                    <a:pt x="3476561" y="1279867"/>
                  </a:lnTo>
                  <a:lnTo>
                    <a:pt x="3433622" y="1249451"/>
                  </a:lnTo>
                  <a:lnTo>
                    <a:pt x="3390455" y="1219339"/>
                  </a:lnTo>
                  <a:lnTo>
                    <a:pt x="3347034" y="1189558"/>
                  </a:lnTo>
                  <a:lnTo>
                    <a:pt x="3303371" y="1160106"/>
                  </a:lnTo>
                  <a:lnTo>
                    <a:pt x="3259467" y="1130973"/>
                  </a:lnTo>
                  <a:lnTo>
                    <a:pt x="3215322" y="1102156"/>
                  </a:lnTo>
                  <a:lnTo>
                    <a:pt x="3170948" y="1073683"/>
                  </a:lnTo>
                  <a:lnTo>
                    <a:pt x="3126346" y="1045527"/>
                  </a:lnTo>
                  <a:lnTo>
                    <a:pt x="3081502" y="1017714"/>
                  </a:lnTo>
                  <a:lnTo>
                    <a:pt x="3036417" y="990231"/>
                  </a:lnTo>
                  <a:lnTo>
                    <a:pt x="2991116" y="963091"/>
                  </a:lnTo>
                  <a:lnTo>
                    <a:pt x="2945587" y="936282"/>
                  </a:lnTo>
                  <a:lnTo>
                    <a:pt x="2899829" y="909802"/>
                  </a:lnTo>
                  <a:lnTo>
                    <a:pt x="2853842" y="883678"/>
                  </a:lnTo>
                  <a:lnTo>
                    <a:pt x="2807639" y="857885"/>
                  </a:lnTo>
                  <a:lnTo>
                    <a:pt x="2714574" y="807351"/>
                  </a:lnTo>
                  <a:lnTo>
                    <a:pt x="2620645" y="758202"/>
                  </a:lnTo>
                  <a:lnTo>
                    <a:pt x="2525852" y="710463"/>
                  </a:lnTo>
                  <a:lnTo>
                    <a:pt x="2430221" y="664133"/>
                  </a:lnTo>
                  <a:lnTo>
                    <a:pt x="2333764" y="619239"/>
                  </a:lnTo>
                  <a:lnTo>
                    <a:pt x="2236508" y="575792"/>
                  </a:lnTo>
                  <a:lnTo>
                    <a:pt x="2138438" y="533819"/>
                  </a:lnTo>
                  <a:lnTo>
                    <a:pt x="2039594" y="493306"/>
                  </a:lnTo>
                  <a:lnTo>
                    <a:pt x="1939975" y="454291"/>
                  </a:lnTo>
                  <a:lnTo>
                    <a:pt x="1839607" y="416775"/>
                  </a:lnTo>
                  <a:lnTo>
                    <a:pt x="1738490" y="380771"/>
                  </a:lnTo>
                  <a:lnTo>
                    <a:pt x="1636649" y="346303"/>
                  </a:lnTo>
                  <a:lnTo>
                    <a:pt x="1534096" y="313385"/>
                  </a:lnTo>
                  <a:lnTo>
                    <a:pt x="1430858" y="282016"/>
                  </a:lnTo>
                  <a:lnTo>
                    <a:pt x="1326921" y="252222"/>
                  </a:lnTo>
                  <a:lnTo>
                    <a:pt x="1222311" y="224028"/>
                  </a:lnTo>
                  <a:lnTo>
                    <a:pt x="1117053" y="197421"/>
                  </a:lnTo>
                  <a:lnTo>
                    <a:pt x="1011148" y="172427"/>
                  </a:lnTo>
                  <a:lnTo>
                    <a:pt x="904621" y="149072"/>
                  </a:lnTo>
                  <a:lnTo>
                    <a:pt x="797471" y="127355"/>
                  </a:lnTo>
                  <a:lnTo>
                    <a:pt x="689724" y="107302"/>
                  </a:lnTo>
                  <a:lnTo>
                    <a:pt x="581393" y="88912"/>
                  </a:lnTo>
                  <a:lnTo>
                    <a:pt x="472490" y="72212"/>
                  </a:lnTo>
                  <a:lnTo>
                    <a:pt x="363042" y="57200"/>
                  </a:lnTo>
                  <a:lnTo>
                    <a:pt x="253034" y="43916"/>
                  </a:lnTo>
                  <a:lnTo>
                    <a:pt x="142506" y="32346"/>
                  </a:lnTo>
                  <a:lnTo>
                    <a:pt x="31457" y="22529"/>
                  </a:lnTo>
                  <a:lnTo>
                    <a:pt x="0" y="20116"/>
                  </a:lnTo>
                  <a:lnTo>
                    <a:pt x="0" y="6858000"/>
                  </a:lnTo>
                  <a:lnTo>
                    <a:pt x="6325336" y="6858000"/>
                  </a:lnTo>
                  <a:lnTo>
                    <a:pt x="6325679" y="6841680"/>
                  </a:lnTo>
                  <a:lnTo>
                    <a:pt x="6326238" y="6825399"/>
                  </a:lnTo>
                  <a:lnTo>
                    <a:pt x="6326759" y="6809118"/>
                  </a:lnTo>
                  <a:lnTo>
                    <a:pt x="6327000" y="6792760"/>
                  </a:lnTo>
                  <a:close/>
                </a:path>
                <a:path w="9144000" h="6858000">
                  <a:moveTo>
                    <a:pt x="9144000" y="597674"/>
                  </a:moveTo>
                  <a:lnTo>
                    <a:pt x="9094508" y="575792"/>
                  </a:lnTo>
                  <a:lnTo>
                    <a:pt x="9045575" y="554621"/>
                  </a:lnTo>
                  <a:lnTo>
                    <a:pt x="8996439" y="533819"/>
                  </a:lnTo>
                  <a:lnTo>
                    <a:pt x="8947112" y="513372"/>
                  </a:lnTo>
                  <a:lnTo>
                    <a:pt x="8897595" y="493306"/>
                  </a:lnTo>
                  <a:lnTo>
                    <a:pt x="8847874" y="473608"/>
                  </a:lnTo>
                  <a:lnTo>
                    <a:pt x="8797976" y="454291"/>
                  </a:lnTo>
                  <a:lnTo>
                    <a:pt x="8747887" y="435343"/>
                  </a:lnTo>
                  <a:lnTo>
                    <a:pt x="8697608" y="416775"/>
                  </a:lnTo>
                  <a:lnTo>
                    <a:pt x="8647138" y="398576"/>
                  </a:lnTo>
                  <a:lnTo>
                    <a:pt x="8596490" y="380771"/>
                  </a:lnTo>
                  <a:lnTo>
                    <a:pt x="8545665" y="363347"/>
                  </a:lnTo>
                  <a:lnTo>
                    <a:pt x="8494649" y="346303"/>
                  </a:lnTo>
                  <a:lnTo>
                    <a:pt x="8443468" y="329653"/>
                  </a:lnTo>
                  <a:lnTo>
                    <a:pt x="8392096" y="313385"/>
                  </a:lnTo>
                  <a:lnTo>
                    <a:pt x="8340560" y="297510"/>
                  </a:lnTo>
                  <a:lnTo>
                    <a:pt x="8288858" y="282016"/>
                  </a:lnTo>
                  <a:lnTo>
                    <a:pt x="8236966" y="266928"/>
                  </a:lnTo>
                  <a:lnTo>
                    <a:pt x="8184921" y="252222"/>
                  </a:lnTo>
                  <a:lnTo>
                    <a:pt x="8132699" y="237921"/>
                  </a:lnTo>
                  <a:lnTo>
                    <a:pt x="8080311" y="224028"/>
                  </a:lnTo>
                  <a:lnTo>
                    <a:pt x="8027759" y="210527"/>
                  </a:lnTo>
                  <a:lnTo>
                    <a:pt x="7975054" y="197421"/>
                  </a:lnTo>
                  <a:lnTo>
                    <a:pt x="7922184" y="184721"/>
                  </a:lnTo>
                  <a:lnTo>
                    <a:pt x="7869148" y="172427"/>
                  </a:lnTo>
                  <a:lnTo>
                    <a:pt x="7815961" y="160553"/>
                  </a:lnTo>
                  <a:lnTo>
                    <a:pt x="7762621" y="149072"/>
                  </a:lnTo>
                  <a:lnTo>
                    <a:pt x="7709116" y="138010"/>
                  </a:lnTo>
                  <a:lnTo>
                    <a:pt x="7655471" y="127355"/>
                  </a:lnTo>
                  <a:lnTo>
                    <a:pt x="7601674" y="117119"/>
                  </a:lnTo>
                  <a:lnTo>
                    <a:pt x="7547724" y="107302"/>
                  </a:lnTo>
                  <a:lnTo>
                    <a:pt x="7493635" y="97891"/>
                  </a:lnTo>
                  <a:lnTo>
                    <a:pt x="7439393" y="88912"/>
                  </a:lnTo>
                  <a:lnTo>
                    <a:pt x="7385012" y="80352"/>
                  </a:lnTo>
                  <a:lnTo>
                    <a:pt x="7330491" y="72212"/>
                  </a:lnTo>
                  <a:lnTo>
                    <a:pt x="7275830" y="64490"/>
                  </a:lnTo>
                  <a:lnTo>
                    <a:pt x="7221042" y="57200"/>
                  </a:lnTo>
                  <a:lnTo>
                    <a:pt x="7166102" y="50342"/>
                  </a:lnTo>
                  <a:lnTo>
                    <a:pt x="7111035" y="43916"/>
                  </a:lnTo>
                  <a:lnTo>
                    <a:pt x="7055840" y="37909"/>
                  </a:lnTo>
                  <a:lnTo>
                    <a:pt x="7000507" y="32346"/>
                  </a:lnTo>
                  <a:lnTo>
                    <a:pt x="6945046" y="27216"/>
                  </a:lnTo>
                  <a:lnTo>
                    <a:pt x="6889458" y="22529"/>
                  </a:lnTo>
                  <a:lnTo>
                    <a:pt x="6833743" y="18275"/>
                  </a:lnTo>
                  <a:lnTo>
                    <a:pt x="6777914" y="14452"/>
                  </a:lnTo>
                  <a:lnTo>
                    <a:pt x="6721957" y="11087"/>
                  </a:lnTo>
                  <a:lnTo>
                    <a:pt x="6665874" y="8153"/>
                  </a:lnTo>
                  <a:lnTo>
                    <a:pt x="6609677" y="5676"/>
                  </a:lnTo>
                  <a:lnTo>
                    <a:pt x="6553365" y="3632"/>
                  </a:lnTo>
                  <a:lnTo>
                    <a:pt x="6496939" y="2057"/>
                  </a:lnTo>
                  <a:lnTo>
                    <a:pt x="6440398" y="914"/>
                  </a:lnTo>
                  <a:lnTo>
                    <a:pt x="6383756" y="228"/>
                  </a:lnTo>
                  <a:lnTo>
                    <a:pt x="6327000" y="0"/>
                  </a:lnTo>
                  <a:lnTo>
                    <a:pt x="6327000" y="6792760"/>
                  </a:lnTo>
                  <a:lnTo>
                    <a:pt x="6327000" y="6858000"/>
                  </a:lnTo>
                  <a:lnTo>
                    <a:pt x="9144000" y="6858000"/>
                  </a:lnTo>
                  <a:lnTo>
                    <a:pt x="9144000" y="597674"/>
                  </a:lnTo>
                  <a:close/>
                </a:path>
              </a:pathLst>
            </a:custGeom>
            <a:solidFill>
              <a:srgbClr val="F2F6F9"/>
            </a:solidFill>
          </p:spPr>
          <p:txBody>
            <a:bodyPr wrap="square" lIns="0" tIns="0" rIns="0" bIns="0" rtlCol="0"/>
            <a:lstStyle/>
            <a:p>
              <a:endParaRPr/>
            </a:p>
          </p:txBody>
        </p:sp>
        <p:sp>
          <p:nvSpPr>
            <p:cNvPr id="27" name="object 4">
              <a:extLst>
                <a:ext uri="{FF2B5EF4-FFF2-40B4-BE49-F238E27FC236}">
                  <a16:creationId xmlns:a16="http://schemas.microsoft.com/office/drawing/2014/main" id="{BF9585A3-F81B-AAF2-9C5E-630AF594B21B}"/>
                </a:ext>
              </a:extLst>
            </p:cNvPr>
            <p:cNvSpPr/>
            <p:nvPr/>
          </p:nvSpPr>
          <p:spPr>
            <a:xfrm>
              <a:off x="540000" y="2944145"/>
              <a:ext cx="0" cy="1086485"/>
            </a:xfrm>
            <a:custGeom>
              <a:avLst/>
              <a:gdLst/>
              <a:ahLst/>
              <a:cxnLst/>
              <a:rect l="l" t="t" r="r" b="b"/>
              <a:pathLst>
                <a:path h="1086485">
                  <a:moveTo>
                    <a:pt x="0" y="0"/>
                  </a:moveTo>
                  <a:lnTo>
                    <a:pt x="0" y="1086408"/>
                  </a:lnTo>
                </a:path>
              </a:pathLst>
            </a:custGeom>
            <a:ln w="12700">
              <a:solidFill>
                <a:srgbClr val="003059"/>
              </a:solidFill>
            </a:ln>
          </p:spPr>
          <p:txBody>
            <a:bodyPr wrap="square" lIns="0" tIns="0" rIns="0" bIns="0" rtlCol="0"/>
            <a:lstStyle/>
            <a:p>
              <a:endParaRPr/>
            </a:p>
          </p:txBody>
        </p:sp>
      </p:grpSp>
      <p:sp>
        <p:nvSpPr>
          <p:cNvPr id="24" name="Titre 23">
            <a:extLst>
              <a:ext uri="{FF2B5EF4-FFF2-40B4-BE49-F238E27FC236}">
                <a16:creationId xmlns:a16="http://schemas.microsoft.com/office/drawing/2014/main" id="{1E10B626-33A5-4836-7746-02161785444E}"/>
              </a:ext>
            </a:extLst>
          </p:cNvPr>
          <p:cNvSpPr>
            <a:spLocks noGrp="1"/>
          </p:cNvSpPr>
          <p:nvPr>
            <p:ph type="title" hasCustomPrompt="1"/>
          </p:nvPr>
        </p:nvSpPr>
        <p:spPr>
          <a:xfrm>
            <a:off x="1066803" y="2152673"/>
            <a:ext cx="6095999" cy="925737"/>
          </a:xfrm>
        </p:spPr>
        <p:txBody>
          <a:bodyPr anchor="ctr" anchorCtr="0">
            <a:noAutofit/>
          </a:bodyPr>
          <a:lstStyle>
            <a:lvl1pPr>
              <a:defRPr sz="3000" b="1"/>
            </a:lvl1pPr>
          </a:lstStyle>
          <a:p>
            <a:r>
              <a:rPr lang="fr-FR"/>
              <a:t>Modifiez le style </a:t>
            </a:r>
            <a:br>
              <a:rPr lang="fr-FR"/>
            </a:br>
            <a:r>
              <a:rPr lang="fr-FR"/>
              <a:t>du titre</a:t>
            </a:r>
          </a:p>
        </p:txBody>
      </p:sp>
      <p:pic>
        <p:nvPicPr>
          <p:cNvPr id="2" name="Image 1" descr="Une image contenant texte, Police, capture d’écran, Graphique&#10;&#10;Le contenu généré par l’IA peut être incorrect.">
            <a:extLst>
              <a:ext uri="{FF2B5EF4-FFF2-40B4-BE49-F238E27FC236}">
                <a16:creationId xmlns:a16="http://schemas.microsoft.com/office/drawing/2014/main" id="{9D7921E3-2D57-B36C-B70D-E7E8A6643E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9" name="Espace réservé du pied de page 8">
            <a:extLst>
              <a:ext uri="{FF2B5EF4-FFF2-40B4-BE49-F238E27FC236}">
                <a16:creationId xmlns:a16="http://schemas.microsoft.com/office/drawing/2014/main" id="{397EEB30-9265-4C06-98E2-6D60BF6DFFFC}"/>
              </a:ext>
            </a:extLst>
          </p:cNvPr>
          <p:cNvSpPr>
            <a:spLocks noGrp="1"/>
          </p:cNvSpPr>
          <p:nvPr>
            <p:ph type="ftr" sz="quarter" idx="10"/>
          </p:nvPr>
        </p:nvSpPr>
        <p:spPr/>
        <p:txBody>
          <a:bodyPr/>
          <a:lstStyle/>
          <a:p>
            <a:endParaRPr lang="fr-FR"/>
          </a:p>
        </p:txBody>
      </p:sp>
      <p:sp>
        <p:nvSpPr>
          <p:cNvPr id="12" name="Espace réservé du numéro de diapositive 11">
            <a:extLst>
              <a:ext uri="{FF2B5EF4-FFF2-40B4-BE49-F238E27FC236}">
                <a16:creationId xmlns:a16="http://schemas.microsoft.com/office/drawing/2014/main" id="{D80F946F-E1DC-ED38-C4B3-D51ECAF5FB79}"/>
              </a:ext>
            </a:extLst>
          </p:cNvPr>
          <p:cNvSpPr>
            <a:spLocks noGrp="1"/>
          </p:cNvSpPr>
          <p:nvPr>
            <p:ph type="sldNum" sz="quarter" idx="11"/>
          </p:nvPr>
        </p:nvSpPr>
        <p:spPr/>
        <p:txBody>
          <a:bodyPr/>
          <a:lstStyle/>
          <a:p>
            <a:fld id="{B6F15528-21DE-4FAA-801E-634DDDAF4B2B}" type="slidenum">
              <a:rPr lang="fr-FR" smtClean="0"/>
              <a:pPr/>
              <a:t>‹N°›</a:t>
            </a:fld>
            <a:endParaRPr lang="fr-FR"/>
          </a:p>
        </p:txBody>
      </p:sp>
    </p:spTree>
    <p:extLst>
      <p:ext uri="{BB962C8B-B14F-4D97-AF65-F5344CB8AC3E}">
        <p14:creationId xmlns:p14="http://schemas.microsoft.com/office/powerpoint/2010/main" val="7569375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6"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6518317" y="4862628"/>
            <a:ext cx="2103120" cy="92333"/>
          </a:xfrm>
          <a:prstGeom prst="rect">
            <a:avLst/>
          </a:prstGeom>
        </p:spPr>
        <p:txBody>
          <a:bodyPr wrap="square" lIns="0" tIns="0" rIns="0" bIns="0">
            <a:noAutofit/>
          </a:bodyPr>
          <a:lstStyle>
            <a:lvl1pPr algn="r">
              <a:defRPr sz="800">
                <a:solidFill>
                  <a:schemeClr val="accent4"/>
                </a:solidFill>
                <a:latin typeface="Roboto" panose="02000000000000000000" pitchFamily="2" charset="0"/>
                <a:ea typeface="Roboto" panose="02000000000000000000" pitchFamily="2" charset="0"/>
              </a:defRPr>
            </a:lvl1pPr>
          </a:lstStyle>
          <a:p>
            <a:fld id="{B6F15528-21DE-4FAA-801E-634DDDAF4B2B}" type="slidenum">
              <a:rPr lang="fr-FR" smtClean="0"/>
              <a:pPr/>
              <a:t>‹N°›</a:t>
            </a:fld>
            <a:endParaRPr lang="fr-FR"/>
          </a:p>
        </p:txBody>
      </p:sp>
      <p:sp>
        <p:nvSpPr>
          <p:cNvPr id="7" name="Espace réservé du pied de page 6">
            <a:extLst>
              <a:ext uri="{FF2B5EF4-FFF2-40B4-BE49-F238E27FC236}">
                <a16:creationId xmlns:a16="http://schemas.microsoft.com/office/drawing/2014/main" id="{8FDEB2B0-7AD4-84B8-814F-D96919921AA4}"/>
              </a:ext>
            </a:extLst>
          </p:cNvPr>
          <p:cNvSpPr>
            <a:spLocks noGrp="1"/>
          </p:cNvSpPr>
          <p:nvPr>
            <p:ph type="ftr" sz="quarter" idx="3"/>
          </p:nvPr>
        </p:nvSpPr>
        <p:spPr>
          <a:xfrm>
            <a:off x="533400" y="4862628"/>
            <a:ext cx="3086100" cy="92333"/>
          </a:xfrm>
          <a:prstGeom prst="rect">
            <a:avLst/>
          </a:prstGeom>
        </p:spPr>
        <p:txBody>
          <a:bodyPr vert="horz" wrap="none" lIns="0" tIns="0" rIns="0" bIns="0" rtlCol="0" anchor="ctr"/>
          <a:lstStyle>
            <a:lvl1pPr algn="l">
              <a:defRPr sz="800">
                <a:solidFill>
                  <a:schemeClr val="accent4"/>
                </a:solidFill>
                <a:latin typeface="+mn-lt"/>
              </a:defRPr>
            </a:lvl1pPr>
          </a:lstStyle>
          <a:p>
            <a:r>
              <a:rPr lang="fr-FR"/>
              <a:t>LFB Group Corruption Risk </a:t>
            </a:r>
            <a:r>
              <a:rPr lang="fr-FR" err="1"/>
              <a:t>Map</a:t>
            </a:r>
            <a:r>
              <a:rPr lang="fr-FR"/>
              <a:t> 2026</a:t>
            </a:r>
            <a:endParaRPr lang="fr-FR">
              <a:latin typeface="+mn-lt"/>
            </a:endParaRPr>
          </a:p>
        </p:txBody>
      </p:sp>
      <p:sp>
        <p:nvSpPr>
          <p:cNvPr id="8" name="Espace réservé du titre 7">
            <a:extLst>
              <a:ext uri="{FF2B5EF4-FFF2-40B4-BE49-F238E27FC236}">
                <a16:creationId xmlns:a16="http://schemas.microsoft.com/office/drawing/2014/main" id="{372959FE-400C-8866-ECB5-F198A92EBE84}"/>
              </a:ext>
            </a:extLst>
          </p:cNvPr>
          <p:cNvSpPr>
            <a:spLocks noGrp="1"/>
          </p:cNvSpPr>
          <p:nvPr>
            <p:ph type="title"/>
          </p:nvPr>
        </p:nvSpPr>
        <p:spPr>
          <a:xfrm>
            <a:off x="552450" y="438151"/>
            <a:ext cx="7143750" cy="685800"/>
          </a:xfrm>
          <a:prstGeom prst="rect">
            <a:avLst/>
          </a:prstGeom>
        </p:spPr>
        <p:txBody>
          <a:bodyPr vert="horz" lIns="0" tIns="0" rIns="0" bIns="0" rtlCol="0" anchor="t" anchorCtr="0">
            <a:noAutofit/>
          </a:bodyPr>
          <a:lstStyle/>
          <a:p>
            <a:r>
              <a:rPr lang="fr-FR"/>
              <a:t>Cliquez ici pour modifier le titre</a:t>
            </a:r>
          </a:p>
        </p:txBody>
      </p:sp>
      <p:sp>
        <p:nvSpPr>
          <p:cNvPr id="12" name="Espace réservé du texte 11">
            <a:extLst>
              <a:ext uri="{FF2B5EF4-FFF2-40B4-BE49-F238E27FC236}">
                <a16:creationId xmlns:a16="http://schemas.microsoft.com/office/drawing/2014/main" id="{14BE3D37-DE88-F38B-9FCE-21CD2A5D76E4}"/>
              </a:ext>
            </a:extLst>
          </p:cNvPr>
          <p:cNvSpPr>
            <a:spLocks noGrp="1"/>
          </p:cNvSpPr>
          <p:nvPr>
            <p:ph type="body" idx="1"/>
          </p:nvPr>
        </p:nvSpPr>
        <p:spPr>
          <a:xfrm>
            <a:off x="552450" y="1352550"/>
            <a:ext cx="7989376" cy="3243884"/>
          </a:xfrm>
          <a:prstGeom prst="rect">
            <a:avLst/>
          </a:prstGeom>
        </p:spPr>
        <p:txBody>
          <a:bodyPr vert="horz" lIns="0" tIns="0" rIns="0" bIns="0" rtlCol="0">
            <a:noAutofit/>
          </a:bodyPr>
          <a:lstStyle/>
          <a:p>
            <a:pPr lvl="0"/>
            <a:r>
              <a:rPr lang="fr-FR"/>
              <a:t>Cliquez pour modifier les styles 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a:p>
            <a:pPr lvl="4"/>
            <a:endParaRPr lang="fr-FR"/>
          </a:p>
        </p:txBody>
      </p:sp>
      <p:pic>
        <p:nvPicPr>
          <p:cNvPr id="45" name="Image 44" descr="Une image contenant texte, Police, capture d’écran, Graphique&#10;&#10;Le contenu généré par l’IA peut être incorrect.">
            <a:extLst>
              <a:ext uri="{FF2B5EF4-FFF2-40B4-BE49-F238E27FC236}">
                <a16:creationId xmlns:a16="http://schemas.microsoft.com/office/drawing/2014/main" id="{AA50E5E5-45C5-A648-51D1-CF821FE0B875}"/>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7997681" y="539991"/>
            <a:ext cx="602226" cy="168917"/>
          </a:xfrm>
          <a:prstGeom prst="rect">
            <a:avLst/>
          </a:prstGeom>
        </p:spPr>
      </p:pic>
      <p:pic>
        <p:nvPicPr>
          <p:cNvPr id="2" name="Image 1">
            <a:extLst>
              <a:ext uri="{FF2B5EF4-FFF2-40B4-BE49-F238E27FC236}">
                <a16:creationId xmlns:a16="http://schemas.microsoft.com/office/drawing/2014/main" id="{8DF0DC0C-5C8B-D596-8BA4-CE36D25D0263}"/>
              </a:ext>
            </a:extLst>
          </p:cNvPr>
          <p:cNvPicPr>
            <a:picLocks noChangeAspect="1"/>
          </p:cNvPicPr>
          <p:nvPr userDrawn="1"/>
        </p:nvPicPr>
        <p:blipFill>
          <a:blip r:embed="rId16"/>
          <a:stretch>
            <a:fillRect/>
          </a:stretch>
        </p:blipFill>
        <p:spPr>
          <a:xfrm>
            <a:off x="2857500" y="5009649"/>
            <a:ext cx="3429000" cy="128130"/>
          </a:xfrm>
          <a:prstGeom prst="rect">
            <a:avLst/>
          </a:prstGeom>
        </p:spPr>
      </p:pic>
    </p:spTree>
    <p:extLst>
      <p:ext uri="{BB962C8B-B14F-4D97-AF65-F5344CB8AC3E}">
        <p14:creationId xmlns:p14="http://schemas.microsoft.com/office/powerpoint/2010/main" val="224072194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Lst>
  <p:hf hdr="0" dt="0"/>
  <p:txStyles>
    <p:titleStyle>
      <a:lvl1pPr>
        <a:defRPr sz="2400" b="1">
          <a:solidFill>
            <a:schemeClr val="tx2"/>
          </a:solidFill>
          <a:latin typeface="Roboto Light" panose="02000000000000000000" pitchFamily="2" charset="0"/>
          <a:ea typeface="Roboto Light" panose="02000000000000000000" pitchFamily="2" charset="0"/>
          <a:cs typeface="+mj-cs"/>
        </a:defRPr>
      </a:lvl1pPr>
    </p:titleStyle>
    <p:bodyStyle>
      <a:lvl1pPr marL="0">
        <a:defRPr sz="1400" b="0" cap="none" baseline="0">
          <a:solidFill>
            <a:schemeClr val="tx2"/>
          </a:solidFill>
          <a:latin typeface="Roboto" panose="02000000000000000000" pitchFamily="2" charset="0"/>
          <a:ea typeface="Roboto" panose="02000000000000000000" pitchFamily="2" charset="0"/>
          <a:cs typeface="Roboto" panose="02000000000000000000" pitchFamily="2" charset="0"/>
        </a:defRPr>
      </a:lvl1pPr>
      <a:lvl2pPr marL="171446" indent="-171446">
        <a:defRPr sz="1200">
          <a:solidFill>
            <a:schemeClr val="tx2"/>
          </a:solidFill>
          <a:latin typeface="Roboto" panose="02000000000000000000" pitchFamily="2" charset="0"/>
          <a:ea typeface="Roboto" panose="02000000000000000000" pitchFamily="2" charset="0"/>
          <a:cs typeface="+mn-cs"/>
        </a:defRPr>
      </a:lvl2pPr>
      <a:lvl3pPr marL="355600" indent="-169863">
        <a:buClr>
          <a:schemeClr val="accent5"/>
        </a:buClr>
        <a:buFont typeface="Times New Roman" panose="02020603050405020304" pitchFamily="18" charset="0"/>
        <a:buChar char="→"/>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3pPr>
      <a:lvl4pPr marL="538163" indent="-169863">
        <a:buClr>
          <a:schemeClr val="accent5"/>
        </a:buClr>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cs typeface="+mn-cs"/>
        </a:defRPr>
      </a:lvl4pPr>
      <a:lvl5pPr marL="359991">
        <a:defRPr sz="1200">
          <a:solidFill>
            <a:schemeClr val="tx2"/>
          </a:solidFill>
          <a:latin typeface="Roboto" panose="02000000000000000000" pitchFamily="2" charset="0"/>
          <a:ea typeface="Roboto" panose="02000000000000000000" pitchFamily="2" charset="0"/>
          <a:cs typeface="+mn-cs"/>
        </a:defRPr>
      </a:lvl5pPr>
      <a:lvl6pPr marL="2285943">
        <a:defRPr>
          <a:latin typeface="+mn-lt"/>
          <a:ea typeface="+mn-ea"/>
          <a:cs typeface="+mn-cs"/>
        </a:defRPr>
      </a:lvl6pPr>
      <a:lvl7pPr marL="2743131">
        <a:defRPr>
          <a:latin typeface="+mn-lt"/>
          <a:ea typeface="+mn-ea"/>
          <a:cs typeface="+mn-cs"/>
        </a:defRPr>
      </a:lvl7pPr>
      <a:lvl8pPr marL="3200320">
        <a:defRPr>
          <a:latin typeface="+mn-lt"/>
          <a:ea typeface="+mn-ea"/>
          <a:cs typeface="+mn-cs"/>
        </a:defRPr>
      </a:lvl8pPr>
      <a:lvl9pPr marL="3657509">
        <a:defRPr>
          <a:latin typeface="+mn-lt"/>
          <a:ea typeface="+mn-ea"/>
          <a:cs typeface="+mn-cs"/>
        </a:defRPr>
      </a:lvl9pPr>
    </p:bodyStyle>
    <p:otherStyle>
      <a:lvl1pPr marL="0">
        <a:defRPr>
          <a:latin typeface="+mn-lt"/>
          <a:ea typeface="+mn-ea"/>
          <a:cs typeface="+mn-cs"/>
        </a:defRPr>
      </a:lvl1pPr>
      <a:lvl2pPr marL="457189">
        <a:defRPr>
          <a:latin typeface="+mn-lt"/>
          <a:ea typeface="+mn-ea"/>
          <a:cs typeface="+mn-cs"/>
        </a:defRPr>
      </a:lvl2pPr>
      <a:lvl3pPr marL="914377">
        <a:defRPr>
          <a:latin typeface="+mn-lt"/>
          <a:ea typeface="+mn-ea"/>
          <a:cs typeface="+mn-cs"/>
        </a:defRPr>
      </a:lvl3pPr>
      <a:lvl4pPr marL="1371566">
        <a:defRPr>
          <a:latin typeface="+mn-lt"/>
          <a:ea typeface="+mn-ea"/>
          <a:cs typeface="+mn-cs"/>
        </a:defRPr>
      </a:lvl4pPr>
      <a:lvl5pPr marL="1828754">
        <a:defRPr>
          <a:latin typeface="+mn-lt"/>
          <a:ea typeface="+mn-ea"/>
          <a:cs typeface="+mn-cs"/>
        </a:defRPr>
      </a:lvl5pPr>
      <a:lvl6pPr marL="2285943">
        <a:defRPr>
          <a:latin typeface="+mn-lt"/>
          <a:ea typeface="+mn-ea"/>
          <a:cs typeface="+mn-cs"/>
        </a:defRPr>
      </a:lvl6pPr>
      <a:lvl7pPr marL="2743131">
        <a:defRPr>
          <a:latin typeface="+mn-lt"/>
          <a:ea typeface="+mn-ea"/>
          <a:cs typeface="+mn-cs"/>
        </a:defRPr>
      </a:lvl7pPr>
      <a:lvl8pPr marL="3200320">
        <a:defRPr>
          <a:latin typeface="+mn-lt"/>
          <a:ea typeface="+mn-ea"/>
          <a:cs typeface="+mn-cs"/>
        </a:defRPr>
      </a:lvl8pPr>
      <a:lvl9pPr marL="365750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5.xml"/><Relationship Id="rId3" Type="http://schemas.openxmlformats.org/officeDocument/2006/relationships/slide" Target="slide9.xml"/><Relationship Id="rId4" Type="http://schemas.openxmlformats.org/officeDocument/2006/relationships/slide" Target="slide14.xml"/><Relationship Id="rId5" Type="http://schemas.openxmlformats.org/officeDocument/2006/relationships/slide" Target="slide19.xml"/><Relationship Id="rId6" Type="http://schemas.openxmlformats.org/officeDocument/2006/relationships/slide" Target="slide24.xml"/><Relationship Id="rId7" Type="http://schemas.openxmlformats.org/officeDocument/2006/relationships/slide" Target="slide26.xml"/><Relationship Id="rId8" Type="http://schemas.openxmlformats.org/officeDocument/2006/relationships/slide" Target="slide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7.xml"/><Relationship Id="rId5" Type="http://schemas.openxmlformats.org/officeDocument/2006/relationships/slide" Target="slide11.xml"/><Relationship Id="rId6" Type="http://schemas.openxmlformats.org/officeDocument/2006/relationships/slide" Target="slide17.xml"/><Relationship Id="rId7" Type="http://schemas.openxmlformats.org/officeDocument/2006/relationships/slide" Target="slide15.xml"/><Relationship Id="rId8" Type="http://schemas.openxmlformats.org/officeDocument/2006/relationships/slide" Target="slide20.xml"/><Relationship Id="rId9" Type="http://schemas.openxmlformats.org/officeDocument/2006/relationships/slide" Target="slide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jpg"/><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slide" Target="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g"/><Relationship Id="rId3" Type="http://schemas.openxmlformats.org/officeDocument/2006/relationships/slide" Target="slide3.xml"/><Relationship Id="rId4" Type="http://schemas.openxmlformats.org/officeDocument/2006/relationships/slide" Target="slide10.xml"/><Relationship Id="rId5" Type="http://schemas.openxmlformats.org/officeDocument/2006/relationships/slide" Target="slide11.xml"/><Relationship Id="rId6" Type="http://schemas.openxmlformats.org/officeDocument/2006/relationships/slide" Target="slide12.xml"/><Relationship Id="rId7" Type="http://schemas.openxmlformats.org/officeDocument/2006/relationships/slide" Target="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slide" Target="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slide" Target="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slide" Target="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jpg"/><Relationship Id="rId3" Type="http://schemas.openxmlformats.org/officeDocument/2006/relationships/slide" Target="slide3.xml"/><Relationship Id="rId4" Type="http://schemas.openxmlformats.org/officeDocument/2006/relationships/slide" Target="slide15.xml"/><Relationship Id="rId5" Type="http://schemas.openxmlformats.org/officeDocument/2006/relationships/slide" Target="slide16.xml"/><Relationship Id="rId6" Type="http://schemas.openxmlformats.org/officeDocument/2006/relationships/slide" Target="slide17.xml"/><Relationship Id="rId7" Type="http://schemas.openxmlformats.org/officeDocument/2006/relationships/slide" Target="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slide" Target="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slide" Target="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slide" Target="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slide" Target="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jpg"/><Relationship Id="rId3" Type="http://schemas.openxmlformats.org/officeDocument/2006/relationships/slide" Target="slide3.xml"/><Relationship Id="rId4" Type="http://schemas.openxmlformats.org/officeDocument/2006/relationships/slide" Target="slide20.xml"/><Relationship Id="rId5" Type="http://schemas.openxmlformats.org/officeDocument/2006/relationships/slide" Target="slide21.xml"/><Relationship Id="rId6" Type="http://schemas.openxmlformats.org/officeDocument/2006/relationships/slide" Target="slide22.xml"/><Relationship Id="rId7" Type="http://schemas.openxmlformats.org/officeDocument/2006/relationships/slide" Target="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slide" Target="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slide" Target="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slide" Target="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slide" Target="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jpg"/><Relationship Id="rId3" Type="http://schemas.openxmlformats.org/officeDocument/2006/relationships/slide" Target="slide3.xml"/><Relationship Id="rId4" Type="http://schemas.openxmlformats.org/officeDocument/2006/relationships/slide" Target="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slide" Target="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jpg"/><Relationship Id="rId3" Type="http://schemas.openxmlformats.org/officeDocument/2006/relationships/slide" Target="slide3.xml"/><Relationship Id="rId4" Type="http://schemas.openxmlformats.org/officeDocument/2006/relationships/slide" Target="slide27.xml"/><Relationship Id="rId5" Type="http://schemas.openxmlformats.org/officeDocument/2006/relationships/slide" Target="slide28.xml"/><Relationship Id="rId6" Type="http://schemas.openxmlformats.org/officeDocument/2006/relationships/slide" Target="slide29.xml"/><Relationship Id="rId7" Type="http://schemas.openxmlformats.org/officeDocument/2006/relationships/slide" Target="slide31.xml"/><Relationship Id="rId8" Type="http://schemas.openxmlformats.org/officeDocument/2006/relationships/slide" Target="slide32.xml"/><Relationship Id="rId9" Type="http://schemas.openxmlformats.org/officeDocument/2006/relationships/slide" Target="slide33.xml"/><Relationship Id="rId10" Type="http://schemas.openxmlformats.org/officeDocument/2006/relationships/slide" Target="slide35.xml"/><Relationship Id="rId11" Type="http://schemas.openxmlformats.org/officeDocument/2006/relationships/slide" Target="slide36.xml"/><Relationship Id="rId12" Type="http://schemas.openxmlformats.org/officeDocument/2006/relationships/slide" Target="slide3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slide" Target="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image" Target="../media/image35.jpg"/><Relationship Id="rId4" Type="http://schemas.openxmlformats.org/officeDocument/2006/relationships/slide" Target="slid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slide" Target="slide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slide" Target="slide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slide" Target="slide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slide" Target="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image" Target="../media/image40.jpg"/><Relationship Id="rId4" Type="http://schemas.openxmlformats.org/officeDocument/2006/relationships/slide" Target="slide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slide" Target="slide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 Target="slide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slide" Target="slide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slide" Target="slid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 Target="slide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7.xml"/><Relationship Id="rId5" Type="http://schemas.openxmlformats.org/officeDocument/2006/relationships/slide" Target="slide11.xml"/><Relationship Id="rId6" Type="http://schemas.openxmlformats.org/officeDocument/2006/relationships/slide" Target="slide15.xml"/><Relationship Id="rId7" Type="http://schemas.openxmlformats.org/officeDocument/2006/relationships/slide" Target="slide17.xml"/><Relationship Id="rId8" Type="http://schemas.openxmlformats.org/officeDocument/2006/relationships/slide" Target="slide18.xml"/><Relationship Id="rId9" Type="http://schemas.openxmlformats.org/officeDocument/2006/relationships/slide" Target="slide20.xml"/><Relationship Id="rId10" Type="http://schemas.openxmlformats.org/officeDocument/2006/relationships/slide" Target="slide2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22.xml"/><Relationship Id="rId4" Type="http://schemas.openxmlformats.org/officeDocument/2006/relationships/slide" Target="slide23.xml"/><Relationship Id="rId5" Type="http://schemas.openxmlformats.org/officeDocument/2006/relationships/slide" Target="slide25.xml"/><Relationship Id="rId6" Type="http://schemas.openxmlformats.org/officeDocument/2006/relationships/slide" Target="slide28.xml"/><Relationship Id="rId7" Type="http://schemas.openxmlformats.org/officeDocument/2006/relationships/slide" Target="slide29.xml"/><Relationship Id="rId8" Type="http://schemas.openxmlformats.org/officeDocument/2006/relationships/slide" Target="slide34.xml"/><Relationship Id="rId9" Type="http://schemas.openxmlformats.org/officeDocument/2006/relationships/slide" Target="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 Target="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Navigator</a:t>
            </a:r>
          </a:p>
          <a:p>
            <a:r>
              <a:t>Manuel de l’expert</a:t>
            </a:r>
          </a:p>
        </p:txBody>
      </p:sp>
      <p:sp>
        <p:nvSpPr>
          <p:cNvPr id="3" name="Text Placeholder 2"/>
          <p:cNvSpPr>
            <a:spLocks noGrp="1"/>
          </p:cNvSpPr>
          <p:nvPr>
            <p:ph type="body" idx="12" sz="quarter"/>
          </p:nvPr>
        </p:nvSpPr>
        <p:spPr/>
        <p:txBody>
          <a:bodyPr/>
          <a:lstStyle/>
          <a:p>
            <a:r>
              <a:t>Équipes expertes et comités · Octobre 2026</a:t>
            </a:r>
          </a:p>
        </p:txBody>
      </p:sp>
      <p:pic>
        <p:nvPicPr>
          <p:cNvPr id="4" name="Picture Placeholder 3" descr="cover.jpg"/>
          <p:cNvPicPr>
            <a:picLocks noGrp="1" noChangeAspect="1"/>
          </p:cNvPicPr>
          <p:nvPr>
            <p:ph type="pic" idx="13" sz="quarter"/>
          </p:nvPr>
        </p:nvPicPr>
        <p:blipFill>
          <a:blip r:embed="rId2"/>
          <a:srcRect l="5810" r="5810"/>
          <a:stretch>
            <a:fillRect/>
          </a:stretch>
        </p:blipFill>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Comment utiliser ce manuel</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Project Navigator · Manuel de l’expert</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548640" y="1188720"/>
            <a:ext cx="8046720" cy="411480"/>
          </a:xfrm>
          <a:prstGeom prst="rect">
            <a:avLst/>
          </a:prstGeom>
          <a:noFill/>
        </p:spPr>
        <p:txBody>
          <a:bodyPr wrap="square" lIns="0" rIns="0" tIns="0" bIns="0" anchor="t">
            <a:spAutoFit/>
          </a:bodyPr>
          <a:lstStyle/>
          <a:p>
            <a:pPr algn="l"/>
            <a:r>
              <a:rPr sz="1200" b="0" i="0">
                <a:solidFill>
                  <a:srgbClr val="5B6573"/>
                </a:solidFill>
                <a:latin typeface="Roboto"/>
              </a:rPr>
              <a:t>Ce manuel s’adresse aux contacts des équipes expertes et aux membres des comités de validation. Il suit votre travail sur un projet, de sa réception à la confirmation avant lancement, puis le réglage de votre équipe.</a:t>
            </a:r>
          </a:p>
        </p:txBody>
      </p:sp>
      <p:sp>
        <p:nvSpPr>
          <p:cNvPr id="7" name="Rounded Rectangle 6"/>
          <p:cNvSpPr/>
          <p:nvPr/>
        </p:nvSpPr>
        <p:spPr>
          <a:xfrm>
            <a:off x="548640" y="1828800"/>
            <a:ext cx="2542032" cy="178308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94944" y="1956816"/>
            <a:ext cx="2249424" cy="228600"/>
          </a:xfrm>
          <a:prstGeom prst="rect">
            <a:avLst/>
          </a:prstGeom>
          <a:noFill/>
        </p:spPr>
        <p:txBody>
          <a:bodyPr wrap="square" lIns="0" rIns="0" tIns="0" bIns="0" anchor="t">
            <a:spAutoFit/>
          </a:bodyPr>
          <a:lstStyle/>
          <a:p>
            <a:pPr algn="l"/>
            <a:r>
              <a:rPr sz="1100" b="1" i="0">
                <a:solidFill>
                  <a:srgbClr val="003059"/>
                </a:solidFill>
                <a:latin typeface="Roboto"/>
              </a:rPr>
              <a:t>Trouver une page</a:t>
            </a:r>
          </a:p>
        </p:txBody>
      </p:sp>
      <p:sp>
        <p:nvSpPr>
          <p:cNvPr id="9" name="TextBox 8"/>
          <p:cNvSpPr txBox="1"/>
          <p:nvPr/>
        </p:nvSpPr>
        <p:spPr>
          <a:xfrm>
            <a:off x="694944" y="2231136"/>
            <a:ext cx="2249424" cy="1289304"/>
          </a:xfrm>
          <a:prstGeom prst="rect">
            <a:avLst/>
          </a:prstGeom>
          <a:noFill/>
        </p:spPr>
        <p:txBody>
          <a:bodyPr wrap="square" lIns="0" rIns="0" tIns="0" bIns="0" anchor="t">
            <a:spAutoFit/>
          </a:bodyPr>
          <a:lstStyle/>
          <a:p>
            <a:pPr algn="l"/>
            <a:r>
              <a:rPr sz="1050" b="0" i="0">
                <a:solidFill>
                  <a:srgbClr val="1F2A37"/>
                </a:solidFill>
                <a:latin typeface="Roboto"/>
              </a:rPr>
              <a:t>Le sommaire et chaque intercalaire de partie sont cliquables. Le lien « ← Sommaire », en haut à droite de chaque page, ramène au sommaire.</a:t>
            </a:r>
          </a:p>
        </p:txBody>
      </p:sp>
      <p:sp>
        <p:nvSpPr>
          <p:cNvPr id="10" name="Rounded Rectangle 9"/>
          <p:cNvSpPr/>
          <p:nvPr/>
        </p:nvSpPr>
        <p:spPr>
          <a:xfrm>
            <a:off x="3273552" y="1828800"/>
            <a:ext cx="2542032" cy="178308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419856" y="1956816"/>
            <a:ext cx="2249424" cy="228600"/>
          </a:xfrm>
          <a:prstGeom prst="rect">
            <a:avLst/>
          </a:prstGeom>
          <a:noFill/>
        </p:spPr>
        <p:txBody>
          <a:bodyPr wrap="square" lIns="0" rIns="0" tIns="0" bIns="0" anchor="t">
            <a:spAutoFit/>
          </a:bodyPr>
          <a:lstStyle/>
          <a:p>
            <a:pPr algn="l"/>
            <a:r>
              <a:rPr sz="1100" b="1" i="0">
                <a:solidFill>
                  <a:srgbClr val="003059"/>
                </a:solidFill>
                <a:latin typeface="Roboto"/>
              </a:rPr>
              <a:t>Lire une capture</a:t>
            </a:r>
          </a:p>
        </p:txBody>
      </p:sp>
      <p:sp>
        <p:nvSpPr>
          <p:cNvPr id="12" name="TextBox 11"/>
          <p:cNvSpPr txBox="1"/>
          <p:nvPr/>
        </p:nvSpPr>
        <p:spPr>
          <a:xfrm>
            <a:off x="3419856" y="2231136"/>
            <a:ext cx="2249424" cy="1289304"/>
          </a:xfrm>
          <a:prstGeom prst="rect">
            <a:avLst/>
          </a:prstGeom>
          <a:noFill/>
        </p:spPr>
        <p:txBody>
          <a:bodyPr wrap="square" lIns="0" rIns="0" tIns="0" bIns="0" anchor="t">
            <a:spAutoFit/>
          </a:bodyPr>
          <a:lstStyle/>
          <a:p>
            <a:pPr algn="l"/>
            <a:r>
              <a:rPr sz="1050" b="0" i="0">
                <a:solidFill>
                  <a:srgbClr val="1F2A37"/>
                </a:solidFill>
                <a:latin typeface="Roboto"/>
              </a:rPr>
              <a:t>Les pastilles rouges numérotées sur les captures renvoient à la légende de la même couleur, à côté de l’image : ① sur la capture = ① dans le texte.</a:t>
            </a:r>
          </a:p>
        </p:txBody>
      </p:sp>
      <p:sp>
        <p:nvSpPr>
          <p:cNvPr id="13" name="Rounded Rectangle 12"/>
          <p:cNvSpPr/>
          <p:nvPr/>
        </p:nvSpPr>
        <p:spPr>
          <a:xfrm>
            <a:off x="5998464" y="1828800"/>
            <a:ext cx="2542032" cy="178308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144768" y="1956816"/>
            <a:ext cx="2249424" cy="228600"/>
          </a:xfrm>
          <a:prstGeom prst="rect">
            <a:avLst/>
          </a:prstGeom>
          <a:noFill/>
        </p:spPr>
        <p:txBody>
          <a:bodyPr wrap="square" lIns="0" rIns="0" tIns="0" bIns="0" anchor="t">
            <a:spAutoFit/>
          </a:bodyPr>
          <a:lstStyle/>
          <a:p>
            <a:pPr algn="l"/>
            <a:r>
              <a:rPr sz="1100" b="1" i="0">
                <a:solidFill>
                  <a:srgbClr val="003059"/>
                </a:solidFill>
                <a:latin typeface="Roboto"/>
              </a:rPr>
              <a:t>Chercher une action</a:t>
            </a:r>
          </a:p>
        </p:txBody>
      </p:sp>
      <p:sp>
        <p:nvSpPr>
          <p:cNvPr id="15" name="TextBox 14"/>
          <p:cNvSpPr txBox="1"/>
          <p:nvPr/>
        </p:nvSpPr>
        <p:spPr>
          <a:xfrm>
            <a:off x="6144768" y="2231136"/>
            <a:ext cx="2249424" cy="1289304"/>
          </a:xfrm>
          <a:prstGeom prst="rect">
            <a:avLst/>
          </a:prstGeom>
          <a:noFill/>
        </p:spPr>
        <p:txBody>
          <a:bodyPr wrap="square" lIns="0" rIns="0" tIns="0" bIns="0" anchor="t">
            <a:spAutoFit/>
          </a:bodyPr>
          <a:lstStyle/>
          <a:p>
            <a:pPr algn="l"/>
            <a:r>
              <a:rPr sz="1050" b="0" i="0">
                <a:solidFill>
                  <a:srgbClr val="1F2A37"/>
                </a:solidFill>
                <a:latin typeface="Roboto"/>
              </a:rPr>
              <a:t>L’annexe « Je veux… » liste les gestes courants avec l’endroit où cliquer et la page qui les détaille. Les statuts et les relances ont leur propre annexe.</a:t>
            </a:r>
          </a:p>
        </p:txBody>
      </p:sp>
      <p:sp>
        <p:nvSpPr>
          <p:cNvPr id="16" name="Oval 15"/>
          <p:cNvSpPr/>
          <p:nvPr/>
        </p:nvSpPr>
        <p:spPr>
          <a:xfrm>
            <a:off x="2788920" y="17007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17" name="Oval 16"/>
          <p:cNvSpPr/>
          <p:nvPr/>
        </p:nvSpPr>
        <p:spPr>
          <a:xfrm>
            <a:off x="5513832" y="17007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8" name="Oval 17"/>
          <p:cNvSpPr/>
          <p:nvPr/>
        </p:nvSpPr>
        <p:spPr>
          <a:xfrm>
            <a:off x="8238744" y="17007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9" name="Rounded Rectangle 18"/>
          <p:cNvSpPr/>
          <p:nvPr/>
        </p:nvSpPr>
        <p:spPr>
          <a:xfrm>
            <a:off x="548640" y="3840480"/>
            <a:ext cx="8046720" cy="566928"/>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4023360"/>
            <a:ext cx="7772400" cy="274320"/>
          </a:xfrm>
          <a:prstGeom prst="rect">
            <a:avLst/>
          </a:prstGeom>
          <a:noFill/>
        </p:spPr>
        <p:txBody>
          <a:bodyPr wrap="square" lIns="0" rIns="0" tIns="0" bIns="0" anchor="t">
            <a:spAutoFit/>
          </a:bodyPr>
          <a:lstStyle/>
          <a:p>
            <a:pPr algn="l"/>
            <a:r>
              <a:rPr sz="1050" b="1" i="0">
                <a:solidFill>
                  <a:srgbClr val="003059"/>
                </a:solidFill>
                <a:latin typeface="Roboto"/>
              </a:rPr>
              <a:t>Les libellés entre « guillemets » </a:t>
            </a:r>
            <a:r>
              <a:rPr sz="1050" b="0" i="0">
                <a:solidFill>
                  <a:srgbClr val="003059"/>
                </a:solidFill>
                <a:latin typeface="Roboto"/>
              </a:rPr>
              <a:t>sont ceux affichés à l’écran : cherchez exactement ce texte.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hlinkClick action="ppaction://hlinksldjump" r:id="rId2"/>
          </p:cNvPr>
          <p:cNvSpPr>
            <a:spLocks noGrp="1"/>
          </p:cNvSpPr>
          <p:nvPr>
            <p:ph type="body" idx="12" sz="quarter"/>
          </p:nvPr>
        </p:nvSpPr>
        <p:spPr/>
        <p:txBody>
          <a:bodyPr/>
          <a:lstStyle/>
          <a:p>
            <a:r>
              <a:t>Trouver ses projets</a:t>
            </a:r>
          </a:p>
        </p:txBody>
      </p:sp>
      <p:sp>
        <p:nvSpPr>
          <p:cNvPr id="3" name="Text Placeholder 2">
            <a:hlinkClick action="ppaction://hlinksldjump" r:id="rId2"/>
          </p:cNvPr>
          <p:cNvSpPr>
            <a:spLocks noGrp="1"/>
          </p:cNvSpPr>
          <p:nvPr>
            <p:ph type="body" idx="13" sz="quarter"/>
          </p:nvPr>
        </p:nvSpPr>
        <p:spPr/>
        <p:txBody>
          <a:bodyPr/>
          <a:lstStyle/>
          <a:p>
            <a:r>
              <a:t>5</a:t>
            </a:r>
          </a:p>
        </p:txBody>
      </p:sp>
      <p:sp>
        <p:nvSpPr>
          <p:cNvPr id="4" name="Text Placeholder 3">
            <a:hlinkClick action="ppaction://hlinksldjump" r:id="rId3"/>
          </p:cNvPr>
          <p:cNvSpPr>
            <a:spLocks noGrp="1"/>
          </p:cNvSpPr>
          <p:nvPr>
            <p:ph type="body" idx="14" sz="quarter"/>
          </p:nvPr>
        </p:nvSpPr>
        <p:spPr/>
        <p:txBody>
          <a:bodyPr/>
          <a:lstStyle/>
          <a:p>
            <a:r>
              <a:t>Examiner un projet</a:t>
            </a:r>
          </a:p>
        </p:txBody>
      </p:sp>
      <p:sp>
        <p:nvSpPr>
          <p:cNvPr id="5" name="Text Placeholder 4">
            <a:hlinkClick action="ppaction://hlinksldjump" r:id="rId3"/>
          </p:cNvPr>
          <p:cNvSpPr>
            <a:spLocks noGrp="1"/>
          </p:cNvSpPr>
          <p:nvPr>
            <p:ph type="body" idx="15" sz="quarter"/>
          </p:nvPr>
        </p:nvSpPr>
        <p:spPr/>
        <p:txBody>
          <a:bodyPr/>
          <a:lstStyle/>
          <a:p>
            <a:r>
              <a:t>9</a:t>
            </a:r>
          </a:p>
        </p:txBody>
      </p:sp>
      <p:sp>
        <p:nvSpPr>
          <p:cNvPr id="6" name="Text Placeholder 5">
            <a:hlinkClick action="ppaction://hlinksldjump" r:id="rId4"/>
          </p:cNvPr>
          <p:cNvSpPr>
            <a:spLocks noGrp="1"/>
          </p:cNvSpPr>
          <p:nvPr>
            <p:ph type="body" idx="16" sz="quarter"/>
          </p:nvPr>
        </p:nvSpPr>
        <p:spPr/>
        <p:txBody>
          <a:bodyPr/>
          <a:lstStyle/>
          <a:p>
            <a:r>
              <a:t>Rendre son avis</a:t>
            </a:r>
          </a:p>
        </p:txBody>
      </p:sp>
      <p:sp>
        <p:nvSpPr>
          <p:cNvPr id="7" name="Text Placeholder 6">
            <a:hlinkClick action="ppaction://hlinksldjump" r:id="rId4"/>
          </p:cNvPr>
          <p:cNvSpPr>
            <a:spLocks noGrp="1"/>
          </p:cNvSpPr>
          <p:nvPr>
            <p:ph type="body" idx="17" sz="quarter"/>
          </p:nvPr>
        </p:nvSpPr>
        <p:spPr/>
        <p:txBody>
          <a:bodyPr/>
          <a:lstStyle/>
          <a:p>
            <a:r>
              <a:t>14</a:t>
            </a:r>
          </a:p>
        </p:txBody>
      </p:sp>
      <p:sp>
        <p:nvSpPr>
          <p:cNvPr id="8" name="Text Placeholder 7">
            <a:hlinkClick action="ppaction://hlinksldjump" r:id="rId5"/>
          </p:cNvPr>
          <p:cNvSpPr>
            <a:spLocks noGrp="1"/>
          </p:cNvSpPr>
          <p:nvPr>
            <p:ph type="body" idx="18" sz="quarter"/>
          </p:nvPr>
        </p:nvSpPr>
        <p:spPr/>
        <p:txBody>
          <a:bodyPr/>
          <a:lstStyle/>
          <a:p>
            <a:r>
              <a:t>Suivre le projet dans le temps</a:t>
            </a:r>
          </a:p>
        </p:txBody>
      </p:sp>
      <p:sp>
        <p:nvSpPr>
          <p:cNvPr id="9" name="Text Placeholder 8">
            <a:hlinkClick action="ppaction://hlinksldjump" r:id="rId5"/>
          </p:cNvPr>
          <p:cNvSpPr>
            <a:spLocks noGrp="1"/>
          </p:cNvSpPr>
          <p:nvPr>
            <p:ph type="body" idx="19" sz="quarter"/>
          </p:nvPr>
        </p:nvSpPr>
        <p:spPr/>
        <p:txBody>
          <a:bodyPr/>
          <a:lstStyle/>
          <a:p>
            <a:r>
              <a:t>19</a:t>
            </a:r>
          </a:p>
        </p:txBody>
      </p:sp>
      <p:sp>
        <p:nvSpPr>
          <p:cNvPr id="10" name="Text Placeholder 9">
            <a:hlinkClick action="ppaction://hlinksldjump" r:id="rId6"/>
          </p:cNvPr>
          <p:cNvSpPr>
            <a:spLocks noGrp="1"/>
          </p:cNvSpPr>
          <p:nvPr>
            <p:ph type="body" idx="20" sz="quarter"/>
          </p:nvPr>
        </p:nvSpPr>
        <p:spPr/>
        <p:txBody>
          <a:bodyPr/>
          <a:lstStyle/>
          <a:p>
            <a:r>
              <a:t>Mon profil : copies et absences</a:t>
            </a:r>
          </a:p>
        </p:txBody>
      </p:sp>
      <p:sp>
        <p:nvSpPr>
          <p:cNvPr id="11" name="Text Placeholder 10">
            <a:hlinkClick action="ppaction://hlinksldjump" r:id="rId6"/>
          </p:cNvPr>
          <p:cNvSpPr>
            <a:spLocks noGrp="1"/>
          </p:cNvSpPr>
          <p:nvPr>
            <p:ph type="body" idx="21" sz="quarter"/>
          </p:nvPr>
        </p:nvSpPr>
        <p:spPr/>
        <p:txBody>
          <a:bodyPr/>
          <a:lstStyle/>
          <a:p>
            <a:r>
              <a:t>24</a:t>
            </a:r>
          </a:p>
        </p:txBody>
      </p:sp>
      <p:sp>
        <p:nvSpPr>
          <p:cNvPr id="12" name="Text Placeholder 11">
            <a:hlinkClick action="ppaction://hlinksldjump" r:id="rId7"/>
          </p:cNvPr>
          <p:cNvSpPr>
            <a:spLocks noGrp="1"/>
          </p:cNvSpPr>
          <p:nvPr>
            <p:ph type="body" idx="22" sz="quarter"/>
          </p:nvPr>
        </p:nvSpPr>
        <p:spPr/>
        <p:txBody>
          <a:bodyPr/>
          <a:lstStyle/>
          <a:p>
            <a:r>
              <a:t>Le back-office de votre équipe</a:t>
            </a:r>
          </a:p>
        </p:txBody>
      </p:sp>
      <p:sp>
        <p:nvSpPr>
          <p:cNvPr id="13" name="Text Placeholder 12">
            <a:hlinkClick action="ppaction://hlinksldjump" r:id="rId7"/>
          </p:cNvPr>
          <p:cNvSpPr>
            <a:spLocks noGrp="1"/>
          </p:cNvSpPr>
          <p:nvPr>
            <p:ph type="body" idx="23" sz="quarter"/>
          </p:nvPr>
        </p:nvSpPr>
        <p:spPr/>
        <p:txBody>
          <a:bodyPr/>
          <a:lstStyle/>
          <a:p>
            <a:r>
              <a:t>26</a:t>
            </a:r>
          </a:p>
        </p:txBody>
      </p:sp>
      <p:sp>
        <p:nvSpPr>
          <p:cNvPr id="14" name="Text Placeholder 13">
            <a:hlinkClick action="ppaction://hlinksldjump" r:id="rId8"/>
          </p:cNvPr>
          <p:cNvSpPr>
            <a:spLocks noGrp="1"/>
          </p:cNvSpPr>
          <p:nvPr>
            <p:ph type="body" idx="24" sz="quarter"/>
          </p:nvPr>
        </p:nvSpPr>
        <p:spPr/>
        <p:txBody>
          <a:bodyPr/>
          <a:lstStyle/>
          <a:p>
            <a:r>
              <a:t>Annexes</a:t>
            </a:r>
          </a:p>
        </p:txBody>
      </p:sp>
      <p:sp>
        <p:nvSpPr>
          <p:cNvPr id="15" name="Text Placeholder 14">
            <a:hlinkClick action="ppaction://hlinksldjump" r:id="rId8"/>
          </p:cNvPr>
          <p:cNvSpPr>
            <a:spLocks noGrp="1"/>
          </p:cNvSpPr>
          <p:nvPr>
            <p:ph type="body" idx="25" sz="quarter"/>
          </p:nvPr>
        </p:nvSpPr>
        <p:spPr/>
        <p:txBody>
          <a:bodyPr/>
          <a:lstStyle/>
          <a:p>
            <a:r>
              <a:t>37</a:t>
            </a:r>
          </a:p>
        </p:txBody>
      </p:sp>
      <p:sp>
        <p:nvSpPr>
          <p:cNvPr id="18" name="Title 17"/>
          <p:cNvSpPr>
            <a:spLocks noGrp="1"/>
          </p:cNvSpPr>
          <p:nvPr>
            <p:ph type="title"/>
          </p:nvPr>
        </p:nvSpPr>
        <p:spPr/>
        <p:txBody>
          <a:bodyPr/>
          <a:lstStyle/>
          <a:p>
            <a:r>
              <a:t>Sommaire</a:t>
            </a:r>
          </a:p>
        </p:txBody>
      </p:sp>
      <p:sp>
        <p:nvSpPr>
          <p:cNvPr id="125" name="Espace réservé du pied de page 124">
            <a:extLst>
              <a:ext uri="{FF2B5EF4-FFF2-40B4-BE49-F238E27FC236}">
                <a16:creationId xmlns:a16="http://schemas.microsoft.com/office/drawing/2014/main" id="{BF974446-D450-AF9B-B7CA-62F468FED316}"/>
              </a:ext>
            </a:extLst>
          </p:cNvPr>
          <p:cNvSpPr>
            <a:spLocks noGrp="1"/>
          </p:cNvSpPr>
          <p:nvPr userDrawn="1">
            <p:ph type="ftr" sz="quarter" idx="28"/>
          </p:nvPr>
        </p:nvSpPr>
        <p:spPr/>
        <p:txBody>
          <a:bodyPr/>
          <a:lstStyle/>
          <a:p>
            <a:r>
              <a:rPr lang="fr-FR" sz="800">
                <a:latin typeface="Roboto"/>
              </a:rPr>
              <a:t>Project Navigator · Manuel de l’expert</a:t>
            </a:r>
          </a:p>
        </p:txBody>
      </p:sp>
      <p:sp>
        <p:nvSpPr>
          <p:cNvPr id="126" name="Espace réservé du numéro de diapositive 125">
            <a:extLst>
              <a:ext uri="{FF2B5EF4-FFF2-40B4-BE49-F238E27FC236}">
                <a16:creationId xmlns:a16="http://schemas.microsoft.com/office/drawing/2014/main" id="{7C502C72-215E-C49D-2060-58E72CA97A3B}"/>
              </a:ext>
            </a:extLst>
          </p:cNvPr>
          <p:cNvSpPr>
            <a:spLocks noGrp="1"/>
          </p:cNvSpPr>
          <p:nvPr userDrawn="1">
            <p:ph type="sldNum" sz="quarter" idx="29"/>
          </p:nvPr>
        </p:nvSpPr>
        <p:spPr/>
        <p:txBody>
          <a:bodyPr/>
          <a:lstStyle/>
          <a:p>
            <a:fld id="{B6F15528-21DE-4FAA-801E-634DDDAF4B2B}" type="slidenum">
              <a:rPr lang="fr-FR" sz="800"/>
              <a:t>‹N°›</a:t>
            </a:fld>
          </a:p>
        </p:txBody>
      </p:sp>
      <p:sp>
        <p:nvSpPr>
          <p:cNvPr id="127" name="TextBox 126"/>
          <p:cNvSpPr txBox="1"/>
          <p:nvPr/>
        </p:nvSpPr>
        <p:spPr>
          <a:xfrm>
            <a:off x="557784" y="4206240"/>
            <a:ext cx="5486400" cy="228600"/>
          </a:xfrm>
          <a:prstGeom prst="rect">
            <a:avLst/>
          </a:prstGeom>
          <a:noFill/>
        </p:spPr>
        <p:txBody>
          <a:bodyPr wrap="square" lIns="0" rIns="0" tIns="0" bIns="0" anchor="t">
            <a:spAutoFit/>
          </a:bodyPr>
          <a:lstStyle/>
          <a:p>
            <a:pPr algn="l"/>
            <a:r>
              <a:rPr sz="950" b="0" i="1">
                <a:solidFill>
                  <a:srgbClr val="5B6573"/>
                </a:solidFill>
                <a:latin typeface="Roboto"/>
              </a:rPr>
              <a:t>Cliquez sur une partie pour l’ouvrir.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Votre travail sur un projet en un coup d’œil</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Project Navigator · Manuel de l’expert</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Oval 5">
            <a:hlinkClick action="ppaction://hlinksldjump" r:id="rId3"/>
          </p:cNvPr>
          <p:cNvSpPr/>
          <p:nvPr/>
        </p:nvSpPr>
        <p:spPr>
          <a:xfrm>
            <a:off x="830797"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1</a:t>
            </a:r>
          </a:p>
        </p:txBody>
      </p:sp>
      <p:cxnSp>
        <p:nvCxnSpPr>
          <p:cNvPr id="7" name="Connector 6"/>
          <p:cNvCxnSpPr/>
          <p:nvPr/>
        </p:nvCxnSpPr>
        <p:spPr>
          <a:xfrm>
            <a:off x="1434301" y="1892807"/>
            <a:ext cx="527740"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76072"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Recevoir</a:t>
            </a:r>
          </a:p>
        </p:txBody>
      </p:sp>
      <p:sp>
        <p:nvSpPr>
          <p:cNvPr id="9" name="TextBox 8"/>
          <p:cNvSpPr txBox="1"/>
          <p:nvPr/>
        </p:nvSpPr>
        <p:spPr>
          <a:xfrm>
            <a:off x="576072"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Le projet arrive dans « À traiter »</a:t>
            </a:r>
          </a:p>
        </p:txBody>
      </p:sp>
      <p:sp>
        <p:nvSpPr>
          <p:cNvPr id="10" name="Oval 9">
            <a:hlinkClick action="ppaction://hlinksldjump" r:id="rId4"/>
          </p:cNvPr>
          <p:cNvSpPr/>
          <p:nvPr/>
        </p:nvSpPr>
        <p:spPr>
          <a:xfrm>
            <a:off x="1980329" y="1600200"/>
            <a:ext cx="585216" cy="585216"/>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2</a:t>
            </a:r>
          </a:p>
        </p:txBody>
      </p:sp>
      <p:cxnSp>
        <p:nvCxnSpPr>
          <p:cNvPr id="11" name="Connector 10"/>
          <p:cNvCxnSpPr/>
          <p:nvPr/>
        </p:nvCxnSpPr>
        <p:spPr>
          <a:xfrm>
            <a:off x="2583833" y="1892807"/>
            <a:ext cx="527739"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1725603"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Prendre en charge</a:t>
            </a:r>
          </a:p>
        </p:txBody>
      </p:sp>
      <p:sp>
        <p:nvSpPr>
          <p:cNvPr id="13" name="TextBox 12"/>
          <p:cNvSpPr txBox="1"/>
          <p:nvPr/>
        </p:nvSpPr>
        <p:spPr>
          <a:xfrm>
            <a:off x="1725603"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Vos collègues ne sont plus sollicités</a:t>
            </a:r>
          </a:p>
        </p:txBody>
      </p:sp>
      <p:sp>
        <p:nvSpPr>
          <p:cNvPr id="14" name="Oval 13">
            <a:hlinkClick action="ppaction://hlinksldjump" r:id="rId5"/>
          </p:cNvPr>
          <p:cNvSpPr/>
          <p:nvPr/>
        </p:nvSpPr>
        <p:spPr>
          <a:xfrm>
            <a:off x="3129860"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3</a:t>
            </a:r>
          </a:p>
        </p:txBody>
      </p:sp>
      <p:cxnSp>
        <p:nvCxnSpPr>
          <p:cNvPr id="15" name="Connector 14"/>
          <p:cNvCxnSpPr/>
          <p:nvPr/>
        </p:nvCxnSpPr>
        <p:spPr>
          <a:xfrm>
            <a:off x="3733364" y="1892807"/>
            <a:ext cx="527740"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875134"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Comprendre</a:t>
            </a:r>
          </a:p>
        </p:txBody>
      </p:sp>
      <p:sp>
        <p:nvSpPr>
          <p:cNvPr id="17" name="TextBox 16"/>
          <p:cNvSpPr txBox="1"/>
          <p:nvPr/>
        </p:nvSpPr>
        <p:spPr>
          <a:xfrm>
            <a:off x="2875134"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Vitrine, puis enjeux du projet</a:t>
            </a:r>
          </a:p>
        </p:txBody>
      </p:sp>
      <p:sp>
        <p:nvSpPr>
          <p:cNvPr id="18" name="Oval 17">
            <a:hlinkClick action="ppaction://hlinksldjump" r:id="rId6"/>
          </p:cNvPr>
          <p:cNvSpPr/>
          <p:nvPr/>
        </p:nvSpPr>
        <p:spPr>
          <a:xfrm>
            <a:off x="4279392" y="1600200"/>
            <a:ext cx="585216" cy="585216"/>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4</a:t>
            </a:r>
          </a:p>
        </p:txBody>
      </p:sp>
      <p:cxnSp>
        <p:nvCxnSpPr>
          <p:cNvPr id="19" name="Connector 18"/>
          <p:cNvCxnSpPr/>
          <p:nvPr/>
        </p:nvCxnSpPr>
        <p:spPr>
          <a:xfrm>
            <a:off x="4882896" y="1892807"/>
            <a:ext cx="527739"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4024666"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Échanger</a:t>
            </a:r>
          </a:p>
        </p:txBody>
      </p:sp>
      <p:sp>
        <p:nvSpPr>
          <p:cNvPr id="21" name="TextBox 20"/>
          <p:cNvSpPr txBox="1"/>
          <p:nvPr/>
        </p:nvSpPr>
        <p:spPr>
          <a:xfrm>
            <a:off x="4024666"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Points à préparer, fil d’échange</a:t>
            </a:r>
          </a:p>
        </p:txBody>
      </p:sp>
      <p:sp>
        <p:nvSpPr>
          <p:cNvPr id="22" name="Oval 21">
            <a:hlinkClick action="ppaction://hlinksldjump" r:id="rId7"/>
          </p:cNvPr>
          <p:cNvSpPr/>
          <p:nvPr/>
        </p:nvSpPr>
        <p:spPr>
          <a:xfrm>
            <a:off x="5428923"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5</a:t>
            </a:r>
          </a:p>
        </p:txBody>
      </p:sp>
      <p:cxnSp>
        <p:nvCxnSpPr>
          <p:cNvPr id="23" name="Connector 22"/>
          <p:cNvCxnSpPr/>
          <p:nvPr/>
        </p:nvCxnSpPr>
        <p:spPr>
          <a:xfrm>
            <a:off x="6032427" y="1892807"/>
            <a:ext cx="527739"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5174197"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Rendre son avis</a:t>
            </a:r>
          </a:p>
        </p:txBody>
      </p:sp>
      <p:sp>
        <p:nvSpPr>
          <p:cNvPr id="25" name="TextBox 24"/>
          <p:cNvSpPr txBox="1"/>
          <p:nvPr/>
        </p:nvSpPr>
        <p:spPr>
          <a:xfrm>
            <a:off x="5174197"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Statut et commentaire</a:t>
            </a:r>
          </a:p>
        </p:txBody>
      </p:sp>
      <p:sp>
        <p:nvSpPr>
          <p:cNvPr id="26" name="Oval 25">
            <a:hlinkClick action="ppaction://hlinksldjump" r:id="rId8"/>
          </p:cNvPr>
          <p:cNvSpPr/>
          <p:nvPr/>
        </p:nvSpPr>
        <p:spPr>
          <a:xfrm>
            <a:off x="6578454" y="1600200"/>
            <a:ext cx="585216" cy="585216"/>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6</a:t>
            </a:r>
          </a:p>
        </p:txBody>
      </p:sp>
      <p:cxnSp>
        <p:nvCxnSpPr>
          <p:cNvPr id="27" name="Connector 26"/>
          <p:cNvCxnSpPr/>
          <p:nvPr/>
        </p:nvCxnSpPr>
        <p:spPr>
          <a:xfrm>
            <a:off x="7181958" y="1892807"/>
            <a:ext cx="527740"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6323729"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Revoir</a:t>
            </a:r>
          </a:p>
        </p:txBody>
      </p:sp>
      <p:sp>
        <p:nvSpPr>
          <p:cNvPr id="29" name="TextBox 28"/>
          <p:cNvSpPr txBox="1"/>
          <p:nvPr/>
        </p:nvSpPr>
        <p:spPr>
          <a:xfrm>
            <a:off x="6323729"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Si le projet change votre périmètre</a:t>
            </a:r>
          </a:p>
        </p:txBody>
      </p:sp>
      <p:sp>
        <p:nvSpPr>
          <p:cNvPr id="30" name="Oval 29">
            <a:hlinkClick action="ppaction://hlinksldjump" r:id="rId9"/>
          </p:cNvPr>
          <p:cNvSpPr/>
          <p:nvPr/>
        </p:nvSpPr>
        <p:spPr>
          <a:xfrm>
            <a:off x="7727986"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7</a:t>
            </a:r>
          </a:p>
        </p:txBody>
      </p:sp>
      <p:sp>
        <p:nvSpPr>
          <p:cNvPr id="31" name="TextBox 30"/>
          <p:cNvSpPr txBox="1"/>
          <p:nvPr/>
        </p:nvSpPr>
        <p:spPr>
          <a:xfrm>
            <a:off x="7473260"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Confirmer</a:t>
            </a:r>
          </a:p>
        </p:txBody>
      </p:sp>
      <p:sp>
        <p:nvSpPr>
          <p:cNvPr id="32" name="TextBox 31"/>
          <p:cNvSpPr txBox="1"/>
          <p:nvPr/>
        </p:nvSpPr>
        <p:spPr>
          <a:xfrm>
            <a:off x="7473260"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Avant le lancement</a:t>
            </a:r>
          </a:p>
        </p:txBody>
      </p:sp>
      <p:sp>
        <p:nvSpPr>
          <p:cNvPr id="33" name="Rounded Rectangle 32"/>
          <p:cNvSpPr/>
          <p:nvPr/>
        </p:nvSpPr>
        <p:spPr>
          <a:xfrm>
            <a:off x="548640" y="3429000"/>
            <a:ext cx="8046720" cy="114300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94944" y="3557016"/>
            <a:ext cx="7754112" cy="228600"/>
          </a:xfrm>
          <a:prstGeom prst="rect">
            <a:avLst/>
          </a:prstGeom>
          <a:noFill/>
        </p:spPr>
        <p:txBody>
          <a:bodyPr wrap="square" lIns="0" rIns="0" tIns="0" bIns="0" anchor="t">
            <a:spAutoFit/>
          </a:bodyPr>
          <a:lstStyle/>
          <a:p>
            <a:pPr algn="l"/>
            <a:r>
              <a:rPr sz="1100" b="1" i="0">
                <a:solidFill>
                  <a:srgbClr val="003059"/>
                </a:solidFill>
                <a:latin typeface="Roboto"/>
              </a:rPr>
              <a:t>Ce qu’il faut retenir</a:t>
            </a:r>
          </a:p>
        </p:txBody>
      </p:sp>
      <p:sp>
        <p:nvSpPr>
          <p:cNvPr id="35" name="Oval 34"/>
          <p:cNvSpPr/>
          <p:nvPr/>
        </p:nvSpPr>
        <p:spPr>
          <a:xfrm>
            <a:off x="694944" y="388734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877824" y="3831336"/>
            <a:ext cx="7571232" cy="170687"/>
          </a:xfrm>
          <a:prstGeom prst="rect">
            <a:avLst/>
          </a:prstGeom>
          <a:noFill/>
        </p:spPr>
        <p:txBody>
          <a:bodyPr wrap="square" lIns="0" rIns="0" tIns="0" bIns="0" anchor="t">
            <a:spAutoFit/>
          </a:bodyPr>
          <a:lstStyle/>
          <a:p>
            <a:pPr algn="l"/>
            <a:r>
              <a:rPr sz="1050" b="0" i="0">
                <a:solidFill>
                  <a:srgbClr val="1F2A37"/>
                </a:solidFill>
                <a:latin typeface="Roboto"/>
              </a:rPr>
              <a:t>Vous ne cherchez pas les projets : ce sont les règles de votre équipe qui vous les envoient.</a:t>
            </a:r>
          </a:p>
        </p:txBody>
      </p:sp>
      <p:sp>
        <p:nvSpPr>
          <p:cNvPr id="37" name="Oval 36"/>
          <p:cNvSpPr/>
          <p:nvPr/>
        </p:nvSpPr>
        <p:spPr>
          <a:xfrm>
            <a:off x="694944" y="413118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77824" y="4075176"/>
            <a:ext cx="7571232" cy="170687"/>
          </a:xfrm>
          <a:prstGeom prst="rect">
            <a:avLst/>
          </a:prstGeom>
          <a:noFill/>
        </p:spPr>
        <p:txBody>
          <a:bodyPr wrap="square" lIns="0" rIns="0" tIns="0" bIns="0" anchor="t">
            <a:spAutoFit/>
          </a:bodyPr>
          <a:lstStyle/>
          <a:p>
            <a:pPr algn="l"/>
            <a:r>
              <a:rPr sz="1050" b="0" i="0">
                <a:solidFill>
                  <a:srgbClr val="1F2A37"/>
                </a:solidFill>
                <a:latin typeface="Roboto"/>
              </a:rPr>
              <a:t>Un avis porte sur une version du projet : si le projet change votre périmètre, vous êtes invité à le revoir.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Trouver ses projets</a:t>
            </a:r>
          </a:p>
        </p:txBody>
      </p:sp>
      <p:sp>
        <p:nvSpPr>
          <p:cNvPr id="3" name="Text Placeholder 2"/>
          <p:cNvSpPr>
            <a:spLocks noGrp="1"/>
          </p:cNvSpPr>
          <p:nvPr>
            <p:ph type="body" idx="13" sz="quarter"/>
          </p:nvPr>
        </p:nvSpPr>
        <p:spPr/>
        <p:txBody>
          <a:bodyPr/>
          <a:lstStyle/>
          <a:p>
            <a:r>
              <a:t>1</a:t>
            </a:r>
          </a:p>
        </p:txBody>
      </p:sp>
      <p:pic>
        <p:nvPicPr>
          <p:cNvPr id="4" name="Picture Placeholder 3" descr="div1.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Projets déclenchés pour vous</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6</a:t>
            </a:r>
          </a:p>
        </p:txBody>
      </p:sp>
      <p:sp>
        <p:nvSpPr>
          <p:cNvPr id="9" name="TextBox 8">
            <a:hlinkClick action="ppaction://hlinksldjump" r:id="rId5"/>
          </p:cNvPr>
          <p:cNvSpPr txBox="1"/>
          <p:nvPr/>
        </p:nvSpPr>
        <p:spPr>
          <a:xfrm>
            <a:off x="6629400" y="1835912"/>
            <a:ext cx="1691640" cy="329184"/>
          </a:xfrm>
          <a:prstGeom prst="rect">
            <a:avLst/>
          </a:prstGeom>
          <a:noFill/>
        </p:spPr>
        <p:txBody>
          <a:bodyPr wrap="square" lIns="0" rIns="0" tIns="0" bIns="0" anchor="t">
            <a:spAutoFit/>
          </a:bodyPr>
          <a:lstStyle/>
          <a:p>
            <a:pPr algn="l"/>
            <a:r>
              <a:rPr sz="950" b="0" i="0">
                <a:solidFill>
                  <a:srgbClr val="003059"/>
                </a:solidFill>
                <a:latin typeface="Roboto"/>
              </a:rPr>
              <a:t>Prendre en charge, reprendre</a:t>
            </a:r>
          </a:p>
        </p:txBody>
      </p:sp>
      <p:sp>
        <p:nvSpPr>
          <p:cNvPr id="10" name="TextBox 9">
            <a:hlinkClick action="ppaction://hlinksldjump" r:id="rId5"/>
          </p:cNvPr>
          <p:cNvSpPr txBox="1"/>
          <p:nvPr/>
        </p:nvSpPr>
        <p:spPr>
          <a:xfrm>
            <a:off x="8321040" y="1835912"/>
            <a:ext cx="320040" cy="182880"/>
          </a:xfrm>
          <a:prstGeom prst="rect">
            <a:avLst/>
          </a:prstGeom>
          <a:noFill/>
        </p:spPr>
        <p:txBody>
          <a:bodyPr wrap="square" lIns="0" rIns="0" tIns="0" bIns="0" anchor="t">
            <a:spAutoFit/>
          </a:bodyPr>
          <a:lstStyle/>
          <a:p>
            <a:pPr algn="r"/>
            <a:r>
              <a:rPr sz="950" b="1" i="0">
                <a:solidFill>
                  <a:srgbClr val="996B14"/>
                </a:solidFill>
                <a:latin typeface="Roboto"/>
              </a:rPr>
              <a:t>7</a:t>
            </a:r>
          </a:p>
        </p:txBody>
      </p:sp>
      <p:sp>
        <p:nvSpPr>
          <p:cNvPr id="11" name="TextBox 10">
            <a:hlinkClick action="ppaction://hlinksldjump" r:id="rId6"/>
          </p:cNvPr>
          <p:cNvSpPr txBox="1"/>
          <p:nvPr/>
        </p:nvSpPr>
        <p:spPr>
          <a:xfrm>
            <a:off x="6629400" y="2254504"/>
            <a:ext cx="1691640" cy="329184"/>
          </a:xfrm>
          <a:prstGeom prst="rect">
            <a:avLst/>
          </a:prstGeom>
          <a:noFill/>
        </p:spPr>
        <p:txBody>
          <a:bodyPr wrap="square" lIns="0" rIns="0" tIns="0" bIns="0" anchor="t">
            <a:spAutoFit/>
          </a:bodyPr>
          <a:lstStyle/>
          <a:p>
            <a:pPr algn="l"/>
            <a:r>
              <a:rPr sz="950" b="0" i="0">
                <a:solidFill>
                  <a:srgbClr val="003059"/>
                </a:solidFill>
                <a:latin typeface="Roboto"/>
              </a:rPr>
              <a:t>Traités, hors scope, abandonnés</a:t>
            </a:r>
          </a:p>
        </p:txBody>
      </p:sp>
      <p:sp>
        <p:nvSpPr>
          <p:cNvPr id="12" name="TextBox 11">
            <a:hlinkClick action="ppaction://hlinksldjump" r:id="rId6"/>
          </p:cNvPr>
          <p:cNvSpPr txBox="1"/>
          <p:nvPr/>
        </p:nvSpPr>
        <p:spPr>
          <a:xfrm>
            <a:off x="8321040" y="2254504"/>
            <a:ext cx="320040" cy="182880"/>
          </a:xfrm>
          <a:prstGeom prst="rect">
            <a:avLst/>
          </a:prstGeom>
          <a:noFill/>
        </p:spPr>
        <p:txBody>
          <a:bodyPr wrap="square" lIns="0" rIns="0" tIns="0" bIns="0" anchor="t">
            <a:spAutoFit/>
          </a:bodyPr>
          <a:lstStyle/>
          <a:p>
            <a:pPr algn="r"/>
            <a:r>
              <a:rPr sz="950" b="1" i="0">
                <a:solidFill>
                  <a:srgbClr val="996B14"/>
                </a:solidFill>
                <a:latin typeface="Roboto"/>
              </a:rPr>
              <a:t>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Projets déclenchés pour vous »</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01-home_1290.jpg"/>
          <p:cNvPicPr>
            <a:picLocks noChangeAspect="1"/>
          </p:cNvPicPr>
          <p:nvPr/>
        </p:nvPicPr>
        <p:blipFill>
          <a:blip r:embed="rId2"/>
          <a:stretch>
            <a:fillRect/>
          </a:stretch>
        </p:blipFill>
        <p:spPr>
          <a:xfrm>
            <a:off x="548640" y="1188720"/>
            <a:ext cx="4918231" cy="3520440"/>
          </a:xfrm>
          <a:prstGeom prst="rect">
            <a:avLst/>
          </a:prstGeom>
          <a:ln w="9525">
            <a:solidFill>
              <a:srgbClr val="D5DCE4"/>
            </a:solidFill>
          </a:ln>
        </p:spPr>
      </p:pic>
      <p:sp>
        <p:nvSpPr>
          <p:cNvPr id="7" name="Oval 6"/>
          <p:cNvSpPr/>
          <p:nvPr/>
        </p:nvSpPr>
        <p:spPr>
          <a:xfrm>
            <a:off x="571500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6044184" y="1188720"/>
            <a:ext cx="2551176" cy="585216"/>
          </a:xfrm>
          <a:prstGeom prst="rect">
            <a:avLst/>
          </a:prstGeom>
          <a:noFill/>
        </p:spPr>
        <p:txBody>
          <a:bodyPr wrap="square" lIns="0" rIns="0" tIns="0" bIns="0" anchor="t">
            <a:spAutoFit/>
          </a:bodyPr>
          <a:lstStyle/>
          <a:p>
            <a:pPr algn="l"/>
            <a:r>
              <a:rPr sz="900" b="1" i="0">
                <a:solidFill>
                  <a:srgbClr val="1F2A37"/>
                </a:solidFill>
                <a:latin typeface="Roboto"/>
              </a:rPr>
              <a:t>Onglets </a:t>
            </a:r>
            <a:r>
              <a:rPr sz="900" b="0" i="0">
                <a:solidFill>
                  <a:srgbClr val="1F2A37"/>
                </a:solidFill>
                <a:latin typeface="Roboto"/>
              </a:rPr>
              <a:t>avec leur nombre de projets : « À traiter », « Pris en charge par l’équipe », « Traités », « Hors scope comité », « Abandonnés ».</a:t>
            </a:r>
          </a:p>
        </p:txBody>
      </p:sp>
      <p:sp>
        <p:nvSpPr>
          <p:cNvPr id="9" name="Oval 8"/>
          <p:cNvSpPr/>
          <p:nvPr/>
        </p:nvSpPr>
        <p:spPr>
          <a:xfrm>
            <a:off x="5715000" y="181051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6044184" y="1819656"/>
            <a:ext cx="2551176" cy="292608"/>
          </a:xfrm>
          <a:prstGeom prst="rect">
            <a:avLst/>
          </a:prstGeom>
          <a:noFill/>
        </p:spPr>
        <p:txBody>
          <a:bodyPr wrap="square" lIns="0" rIns="0" tIns="0" bIns="0" anchor="t">
            <a:spAutoFit/>
          </a:bodyPr>
          <a:lstStyle/>
          <a:p>
            <a:pPr algn="l"/>
            <a:r>
              <a:rPr sz="900" b="1" i="0">
                <a:solidFill>
                  <a:srgbClr val="1F2A37"/>
                </a:solidFill>
                <a:latin typeface="Roboto"/>
              </a:rPr>
              <a:t>« Expert · équipe » </a:t>
            </a:r>
            <a:r>
              <a:rPr sz="900" b="0" i="0">
                <a:solidFill>
                  <a:srgbClr val="1F2A37"/>
                </a:solidFill>
                <a:latin typeface="Roboto"/>
              </a:rPr>
              <a:t>: votre rôle sur le projet.</a:t>
            </a:r>
          </a:p>
        </p:txBody>
      </p:sp>
      <p:sp>
        <p:nvSpPr>
          <p:cNvPr id="11" name="Oval 10"/>
          <p:cNvSpPr/>
          <p:nvPr/>
        </p:nvSpPr>
        <p:spPr>
          <a:xfrm>
            <a:off x="5715000" y="214884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6044184" y="2157984"/>
            <a:ext cx="2551176" cy="292608"/>
          </a:xfrm>
          <a:prstGeom prst="rect">
            <a:avLst/>
          </a:prstGeom>
          <a:noFill/>
        </p:spPr>
        <p:txBody>
          <a:bodyPr wrap="square" lIns="0" rIns="0" tIns="0" bIns="0" anchor="t">
            <a:spAutoFit/>
          </a:bodyPr>
          <a:lstStyle/>
          <a:p>
            <a:pPr algn="l"/>
            <a:r>
              <a:rPr sz="900" b="1" i="0">
                <a:solidFill>
                  <a:srgbClr val="1F2A37"/>
                </a:solidFill>
                <a:latin typeface="Roboto"/>
              </a:rPr>
              <a:t>« Comité · nom » </a:t>
            </a:r>
            <a:r>
              <a:rPr sz="900" b="0" i="0">
                <a:solidFill>
                  <a:srgbClr val="1F2A37"/>
                </a:solidFill>
                <a:latin typeface="Roboto"/>
              </a:rPr>
              <a:t>: le projet est aussi soumis à votre comité.</a:t>
            </a:r>
          </a:p>
        </p:txBody>
      </p:sp>
      <p:sp>
        <p:nvSpPr>
          <p:cNvPr id="13" name="Oval 12"/>
          <p:cNvSpPr/>
          <p:nvPr/>
        </p:nvSpPr>
        <p:spPr>
          <a:xfrm>
            <a:off x="5715000" y="248716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4" name="TextBox 13"/>
          <p:cNvSpPr txBox="1"/>
          <p:nvPr/>
        </p:nvSpPr>
        <p:spPr>
          <a:xfrm>
            <a:off x="6044184" y="2496312"/>
            <a:ext cx="2551176" cy="292608"/>
          </a:xfrm>
          <a:prstGeom prst="rect">
            <a:avLst/>
          </a:prstGeom>
          <a:noFill/>
        </p:spPr>
        <p:txBody>
          <a:bodyPr wrap="square" lIns="0" rIns="0" tIns="0" bIns="0" anchor="t">
            <a:spAutoFit/>
          </a:bodyPr>
          <a:lstStyle/>
          <a:p>
            <a:pPr algn="l"/>
            <a:r>
              <a:rPr sz="900" b="1" i="0">
                <a:solidFill>
                  <a:srgbClr val="1F2A37"/>
                </a:solidFill>
                <a:latin typeface="Roboto"/>
              </a:rPr>
              <a:t>« Je prends en charge » </a:t>
            </a:r>
            <a:r>
              <a:rPr sz="900" b="0" i="0">
                <a:solidFill>
                  <a:srgbClr val="1F2A37"/>
                </a:solidFill>
                <a:latin typeface="Roboto"/>
              </a:rPr>
              <a:t>: vous devenez le référent de ce projet pour votre équipe.</a:t>
            </a:r>
          </a:p>
        </p:txBody>
      </p:sp>
      <p:sp>
        <p:nvSpPr>
          <p:cNvPr id="15" name="Oval 14"/>
          <p:cNvSpPr/>
          <p:nvPr/>
        </p:nvSpPr>
        <p:spPr>
          <a:xfrm>
            <a:off x="5715000" y="28254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16" name="TextBox 15"/>
          <p:cNvSpPr txBox="1"/>
          <p:nvPr/>
        </p:nvSpPr>
        <p:spPr>
          <a:xfrm>
            <a:off x="6044184" y="2834640"/>
            <a:ext cx="2551176" cy="146304"/>
          </a:xfrm>
          <a:prstGeom prst="rect">
            <a:avLst/>
          </a:prstGeom>
          <a:noFill/>
        </p:spPr>
        <p:txBody>
          <a:bodyPr wrap="square" lIns="0" rIns="0" tIns="0" bIns="0" anchor="t">
            <a:spAutoFit/>
          </a:bodyPr>
          <a:lstStyle/>
          <a:p>
            <a:pPr algn="l"/>
            <a:r>
              <a:rPr sz="900" b="1" i="0">
                <a:solidFill>
                  <a:srgbClr val="1F2A37"/>
                </a:solidFill>
                <a:latin typeface="Roboto"/>
              </a:rPr>
              <a:t>« Ouvrir » </a:t>
            </a:r>
            <a:r>
              <a:rPr sz="900" b="0" i="0">
                <a:solidFill>
                  <a:srgbClr val="1F2A37"/>
                </a:solidFill>
                <a:latin typeface="Roboto"/>
              </a:rPr>
              <a:t>mène aux enjeux du projet.</a:t>
            </a:r>
          </a:p>
        </p:txBody>
      </p:sp>
      <p:sp>
        <p:nvSpPr>
          <p:cNvPr id="17" name="Oval 16"/>
          <p:cNvSpPr/>
          <p:nvPr/>
        </p:nvSpPr>
        <p:spPr>
          <a:xfrm>
            <a:off x="5715000" y="312724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6</a:t>
            </a:r>
          </a:p>
        </p:txBody>
      </p:sp>
      <p:sp>
        <p:nvSpPr>
          <p:cNvPr id="18" name="TextBox 17"/>
          <p:cNvSpPr txBox="1"/>
          <p:nvPr/>
        </p:nvSpPr>
        <p:spPr>
          <a:xfrm>
            <a:off x="6044184" y="3136392"/>
            <a:ext cx="2551176" cy="292608"/>
          </a:xfrm>
          <a:prstGeom prst="rect">
            <a:avLst/>
          </a:prstGeom>
          <a:noFill/>
        </p:spPr>
        <p:txBody>
          <a:bodyPr wrap="square" lIns="0" rIns="0" tIns="0" bIns="0" anchor="t">
            <a:spAutoFit/>
          </a:bodyPr>
          <a:lstStyle/>
          <a:p>
            <a:pPr algn="l"/>
            <a:r>
              <a:rPr sz="900" b="1" i="0">
                <a:solidFill>
                  <a:srgbClr val="1F2A37"/>
                </a:solidFill>
                <a:latin typeface="Roboto"/>
              </a:rPr>
              <a:t>« Sans action depuis un moment » </a:t>
            </a:r>
            <a:r>
              <a:rPr sz="900" b="0" i="0">
                <a:solidFill>
                  <a:srgbClr val="1F2A37"/>
                </a:solidFill>
                <a:latin typeface="Roboto"/>
              </a:rPr>
              <a:t>: délai de signalement dépassé (partie 6).</a:t>
            </a:r>
          </a:p>
        </p:txBody>
      </p:sp>
      <p:sp>
        <p:nvSpPr>
          <p:cNvPr id="19" name="Oval 18"/>
          <p:cNvSpPr/>
          <p:nvPr/>
        </p:nvSpPr>
        <p:spPr>
          <a:xfrm>
            <a:off x="5715000" y="3465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7</a:t>
            </a:r>
          </a:p>
        </p:txBody>
      </p:sp>
      <p:sp>
        <p:nvSpPr>
          <p:cNvPr id="20" name="TextBox 19"/>
          <p:cNvSpPr txBox="1"/>
          <p:nvPr/>
        </p:nvSpPr>
        <p:spPr>
          <a:xfrm>
            <a:off x="6044184" y="3474720"/>
            <a:ext cx="2551176" cy="292608"/>
          </a:xfrm>
          <a:prstGeom prst="rect">
            <a:avLst/>
          </a:prstGeom>
          <a:noFill/>
        </p:spPr>
        <p:txBody>
          <a:bodyPr wrap="square" lIns="0" rIns="0" tIns="0" bIns="0" anchor="t">
            <a:spAutoFit/>
          </a:bodyPr>
          <a:lstStyle/>
          <a:p>
            <a:pPr algn="l"/>
            <a:r>
              <a:rPr sz="900" b="1" i="0">
                <a:solidFill>
                  <a:srgbClr val="1F2A37"/>
                </a:solidFill>
                <a:latin typeface="Roboto"/>
              </a:rPr>
              <a:t>« Libérer » </a:t>
            </a:r>
            <a:r>
              <a:rPr sz="900" b="0" i="0">
                <a:solidFill>
                  <a:srgbClr val="1F2A37"/>
                </a:solidFill>
                <a:latin typeface="Roboto"/>
              </a:rPr>
              <a:t>rend le projet à toute l’équipe.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Prendre en charge, reprendre, libérer</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02-tab-team_1104.jpg"/>
          <p:cNvPicPr>
            <a:picLocks noChangeAspect="1"/>
          </p:cNvPicPr>
          <p:nvPr/>
        </p:nvPicPr>
        <p:blipFill>
          <a:blip r:embed="rId2"/>
          <a:stretch>
            <a:fillRect/>
          </a:stretch>
        </p:blipFill>
        <p:spPr>
          <a:xfrm>
            <a:off x="548640" y="1188720"/>
            <a:ext cx="4206240" cy="1728324"/>
          </a:xfrm>
          <a:prstGeom prst="rect">
            <a:avLst/>
          </a:prstGeom>
          <a:ln w="9525">
            <a:solidFill>
              <a:srgbClr val="D5DCE4"/>
            </a:solidFill>
          </a:ln>
        </p:spPr>
      </p:pic>
      <p:pic>
        <p:nvPicPr>
          <p:cNvPr id="7" name="Picture 6" descr="e03-takeover_454.jpg"/>
          <p:cNvPicPr>
            <a:picLocks noChangeAspect="1"/>
          </p:cNvPicPr>
          <p:nvPr/>
        </p:nvPicPr>
        <p:blipFill>
          <a:blip r:embed="rId3"/>
          <a:stretch>
            <a:fillRect/>
          </a:stretch>
        </p:blipFill>
        <p:spPr>
          <a:xfrm>
            <a:off x="548640" y="3017520"/>
            <a:ext cx="1732239" cy="1691640"/>
          </a:xfrm>
          <a:prstGeom prst="rect">
            <a:avLst/>
          </a:prstGeom>
          <a:ln w="9525">
            <a:solidFill>
              <a:srgbClr val="D5DCE4"/>
            </a:solidFill>
          </a:ln>
        </p:spPr>
      </p:pic>
      <p:sp>
        <p:nvSpPr>
          <p:cNvPr id="8" name="Oval 7"/>
          <p:cNvSpPr/>
          <p:nvPr/>
        </p:nvSpPr>
        <p:spPr>
          <a:xfrm>
            <a:off x="2651760" y="30540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9" name="TextBox 8"/>
          <p:cNvSpPr txBox="1"/>
          <p:nvPr/>
        </p:nvSpPr>
        <p:spPr>
          <a:xfrm>
            <a:off x="2980944" y="3063240"/>
            <a:ext cx="1773936" cy="438912"/>
          </a:xfrm>
          <a:prstGeom prst="rect">
            <a:avLst/>
          </a:prstGeom>
          <a:noFill/>
        </p:spPr>
        <p:txBody>
          <a:bodyPr wrap="square" lIns="0" rIns="0" tIns="0" bIns="0" anchor="t">
            <a:spAutoFit/>
          </a:bodyPr>
          <a:lstStyle/>
          <a:p>
            <a:pPr algn="l"/>
            <a:r>
              <a:rPr sz="900" b="1" i="0">
                <a:solidFill>
                  <a:srgbClr val="1F2A37"/>
                </a:solidFill>
                <a:latin typeface="Roboto"/>
              </a:rPr>
              <a:t>« Pris en charge par l’équipe » </a:t>
            </a:r>
            <a:r>
              <a:rPr sz="900" b="0" i="0">
                <a:solidFill>
                  <a:srgbClr val="1F2A37"/>
                </a:solidFill>
                <a:latin typeface="Roboto"/>
              </a:rPr>
              <a:t>: les projets qu’un collègue suit déjà.</a:t>
            </a:r>
          </a:p>
        </p:txBody>
      </p:sp>
      <p:sp>
        <p:nvSpPr>
          <p:cNvPr id="10" name="Oval 9"/>
          <p:cNvSpPr/>
          <p:nvPr/>
        </p:nvSpPr>
        <p:spPr>
          <a:xfrm>
            <a:off x="2651760" y="353872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1" name="TextBox 10"/>
          <p:cNvSpPr txBox="1"/>
          <p:nvPr/>
        </p:nvSpPr>
        <p:spPr>
          <a:xfrm>
            <a:off x="2980944" y="3547872"/>
            <a:ext cx="1773936" cy="292608"/>
          </a:xfrm>
          <a:prstGeom prst="rect">
            <a:avLst/>
          </a:prstGeom>
          <a:noFill/>
        </p:spPr>
        <p:txBody>
          <a:bodyPr wrap="square" lIns="0" rIns="0" tIns="0" bIns="0" anchor="t">
            <a:spAutoFit/>
          </a:bodyPr>
          <a:lstStyle/>
          <a:p>
            <a:pPr algn="l"/>
            <a:r>
              <a:rPr sz="900" b="1" i="0">
                <a:solidFill>
                  <a:srgbClr val="1F2A37"/>
                </a:solidFill>
                <a:latin typeface="Roboto"/>
              </a:rPr>
              <a:t>« Suivi par … » </a:t>
            </a:r>
            <a:r>
              <a:rPr sz="900" b="0" i="0">
                <a:solidFill>
                  <a:srgbClr val="1F2A37"/>
                </a:solidFill>
                <a:latin typeface="Roboto"/>
              </a:rPr>
              <a:t>: le référent et la date.</a:t>
            </a:r>
          </a:p>
        </p:txBody>
      </p:sp>
      <p:sp>
        <p:nvSpPr>
          <p:cNvPr id="12" name="Oval 11"/>
          <p:cNvSpPr/>
          <p:nvPr/>
        </p:nvSpPr>
        <p:spPr>
          <a:xfrm>
            <a:off x="2651760" y="38770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3" name="TextBox 12"/>
          <p:cNvSpPr txBox="1"/>
          <p:nvPr/>
        </p:nvSpPr>
        <p:spPr>
          <a:xfrm>
            <a:off x="2980944" y="3886200"/>
            <a:ext cx="1773936" cy="292608"/>
          </a:xfrm>
          <a:prstGeom prst="rect">
            <a:avLst/>
          </a:prstGeom>
          <a:noFill/>
        </p:spPr>
        <p:txBody>
          <a:bodyPr wrap="square" lIns="0" rIns="0" tIns="0" bIns="0" anchor="t">
            <a:spAutoFit/>
          </a:bodyPr>
          <a:lstStyle/>
          <a:p>
            <a:pPr algn="l"/>
            <a:r>
              <a:rPr sz="900" b="1" i="0">
                <a:solidFill>
                  <a:srgbClr val="1F2A37"/>
                </a:solidFill>
                <a:latin typeface="Roboto"/>
              </a:rPr>
              <a:t>« Reprendre » </a:t>
            </a:r>
            <a:r>
              <a:rPr sz="900" b="0" i="0">
                <a:solidFill>
                  <a:srgbClr val="1F2A37"/>
                </a:solidFill>
                <a:latin typeface="Roboto"/>
              </a:rPr>
              <a:t>: ouvre la fenêtre ci-contre.</a:t>
            </a:r>
          </a:p>
        </p:txBody>
      </p:sp>
      <p:sp>
        <p:nvSpPr>
          <p:cNvPr id="14" name="Rounded Rectangle 13"/>
          <p:cNvSpPr/>
          <p:nvPr/>
        </p:nvSpPr>
        <p:spPr>
          <a:xfrm>
            <a:off x="4983480" y="1188720"/>
            <a:ext cx="3611880" cy="271272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129784" y="1316736"/>
            <a:ext cx="3319272" cy="228600"/>
          </a:xfrm>
          <a:prstGeom prst="rect">
            <a:avLst/>
          </a:prstGeom>
          <a:noFill/>
        </p:spPr>
        <p:txBody>
          <a:bodyPr wrap="square" lIns="0" rIns="0" tIns="0" bIns="0" anchor="t">
            <a:spAutoFit/>
          </a:bodyPr>
          <a:lstStyle/>
          <a:p>
            <a:pPr algn="l"/>
            <a:r>
              <a:rPr sz="1000" b="1" i="0">
                <a:solidFill>
                  <a:srgbClr val="003059"/>
                </a:solidFill>
                <a:latin typeface="Roboto"/>
              </a:rPr>
              <a:t>Ce qu’il faut savoir</a:t>
            </a:r>
          </a:p>
        </p:txBody>
      </p:sp>
      <p:sp>
        <p:nvSpPr>
          <p:cNvPr id="16" name="Oval 15"/>
          <p:cNvSpPr/>
          <p:nvPr/>
        </p:nvSpPr>
        <p:spPr>
          <a:xfrm>
            <a:off x="5129784" y="164172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312664" y="1591056"/>
            <a:ext cx="3136392" cy="463296"/>
          </a:xfrm>
          <a:prstGeom prst="rect">
            <a:avLst/>
          </a:prstGeom>
          <a:noFill/>
        </p:spPr>
        <p:txBody>
          <a:bodyPr wrap="square" lIns="0" rIns="0" tIns="0" bIns="0" anchor="t">
            <a:spAutoFit/>
          </a:bodyPr>
          <a:lstStyle/>
          <a:p>
            <a:pPr algn="l"/>
            <a:r>
              <a:rPr sz="950" b="0" i="0">
                <a:solidFill>
                  <a:srgbClr val="1F2A37"/>
                </a:solidFill>
                <a:latin typeface="Roboto"/>
              </a:rPr>
              <a:t>Prendre en charge retire le projet de la liste « À traiter » de vos collègues : les échanges suivants ne sont notifiés qu’à vous.</a:t>
            </a:r>
          </a:p>
        </p:txBody>
      </p:sp>
      <p:sp>
        <p:nvSpPr>
          <p:cNvPr id="18" name="Oval 17"/>
          <p:cNvSpPr/>
          <p:nvPr/>
        </p:nvSpPr>
        <p:spPr>
          <a:xfrm>
            <a:off x="5129784" y="2178177"/>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312664" y="2127504"/>
            <a:ext cx="3136392" cy="463296"/>
          </a:xfrm>
          <a:prstGeom prst="rect">
            <a:avLst/>
          </a:prstGeom>
          <a:noFill/>
        </p:spPr>
        <p:txBody>
          <a:bodyPr wrap="square" lIns="0" rIns="0" tIns="0" bIns="0" anchor="t">
            <a:spAutoFit/>
          </a:bodyPr>
          <a:lstStyle/>
          <a:p>
            <a:pPr algn="l"/>
            <a:r>
              <a:rPr sz="950" b="0" i="0">
                <a:solidFill>
                  <a:srgbClr val="1F2A37"/>
                </a:solidFill>
                <a:latin typeface="Roboto"/>
              </a:rPr>
              <a:t>Publier un avis, poser un statut ou répondre dans le fil vous désigne automatiquement, si personne d’autre ne suit déjà le projet.</a:t>
            </a:r>
          </a:p>
        </p:txBody>
      </p:sp>
      <p:sp>
        <p:nvSpPr>
          <p:cNvPr id="20" name="Oval 19"/>
          <p:cNvSpPr/>
          <p:nvPr/>
        </p:nvSpPr>
        <p:spPr>
          <a:xfrm>
            <a:off x="5129784" y="271462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312664" y="2663952"/>
            <a:ext cx="3136392" cy="617728"/>
          </a:xfrm>
          <a:prstGeom prst="rect">
            <a:avLst/>
          </a:prstGeom>
          <a:noFill/>
        </p:spPr>
        <p:txBody>
          <a:bodyPr wrap="square" lIns="0" rIns="0" tIns="0" bIns="0" anchor="t">
            <a:spAutoFit/>
          </a:bodyPr>
          <a:lstStyle/>
          <a:p>
            <a:pPr algn="l"/>
            <a:r>
              <a:rPr sz="950" b="0" i="0">
                <a:solidFill>
                  <a:srgbClr val="1F2A37"/>
                </a:solidFill>
                <a:latin typeface="Roboto"/>
              </a:rPr>
              <a:t>Reprendre est ouvert à tous les contacts de l’équipe : un motif est demandé (« Absence », « Surcharge », « Départ », « Autre ») et l’ancien référent et l’équipe reçoivent un e-mail, non désactivable.</a:t>
            </a:r>
          </a:p>
        </p:txBody>
      </p:sp>
      <p:sp>
        <p:nvSpPr>
          <p:cNvPr id="22" name="Oval 21"/>
          <p:cNvSpPr/>
          <p:nvPr/>
        </p:nvSpPr>
        <p:spPr>
          <a:xfrm>
            <a:off x="5129784" y="340550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312664" y="3354832"/>
            <a:ext cx="3136392" cy="308864"/>
          </a:xfrm>
          <a:prstGeom prst="rect">
            <a:avLst/>
          </a:prstGeom>
          <a:noFill/>
        </p:spPr>
        <p:txBody>
          <a:bodyPr wrap="square" lIns="0" rIns="0" tIns="0" bIns="0" anchor="t">
            <a:spAutoFit/>
          </a:bodyPr>
          <a:lstStyle/>
          <a:p>
            <a:pPr algn="l"/>
            <a:r>
              <a:rPr sz="950" b="0" i="0">
                <a:solidFill>
                  <a:srgbClr val="1F2A37"/>
                </a:solidFill>
                <a:latin typeface="Roboto"/>
              </a:rPr>
              <a:t>« Libérer » (accueil) ou « Ne plus suivre » (enjeux) remet le projet à toute l’équipe.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Traités, hors scope comité, abandonnés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04-tab-treated_1032.jpg"/>
          <p:cNvPicPr>
            <a:picLocks noChangeAspect="1"/>
          </p:cNvPicPr>
          <p:nvPr/>
        </p:nvPicPr>
        <p:blipFill>
          <a:blip r:embed="rId2"/>
          <a:stretch>
            <a:fillRect/>
          </a:stretch>
        </p:blipFill>
        <p:spPr>
          <a:xfrm>
            <a:off x="548640" y="1188720"/>
            <a:ext cx="3931920" cy="1446242"/>
          </a:xfrm>
          <a:prstGeom prst="rect">
            <a:avLst/>
          </a:prstGeom>
          <a:ln w="9525">
            <a:solidFill>
              <a:srgbClr val="D5DCE4"/>
            </a:solidFill>
          </a:ln>
        </p:spPr>
      </p:pic>
      <p:pic>
        <p:nvPicPr>
          <p:cNvPr id="7" name="Picture 6" descr="e06-tab-abandoned_1032.jpg"/>
          <p:cNvPicPr>
            <a:picLocks noChangeAspect="1"/>
          </p:cNvPicPr>
          <p:nvPr/>
        </p:nvPicPr>
        <p:blipFill>
          <a:blip r:embed="rId3"/>
          <a:stretch>
            <a:fillRect/>
          </a:stretch>
        </p:blipFill>
        <p:spPr>
          <a:xfrm>
            <a:off x="548640" y="2880360"/>
            <a:ext cx="3931920" cy="1446242"/>
          </a:xfrm>
          <a:prstGeom prst="rect">
            <a:avLst/>
          </a:prstGeom>
          <a:ln w="9525">
            <a:solidFill>
              <a:srgbClr val="D5DCE4"/>
            </a:solidFill>
          </a:ln>
        </p:spPr>
      </p:pic>
      <p:sp>
        <p:nvSpPr>
          <p:cNvPr id="8" name="TextBox 7"/>
          <p:cNvSpPr txBox="1"/>
          <p:nvPr/>
        </p:nvSpPr>
        <p:spPr>
          <a:xfrm>
            <a:off x="548640" y="2651760"/>
            <a:ext cx="3931920" cy="228600"/>
          </a:xfrm>
          <a:prstGeom prst="rect">
            <a:avLst/>
          </a:prstGeom>
          <a:noFill/>
        </p:spPr>
        <p:txBody>
          <a:bodyPr wrap="square" lIns="0" rIns="0" tIns="0" bIns="0" anchor="t">
            <a:spAutoFit/>
          </a:bodyPr>
          <a:lstStyle/>
          <a:p>
            <a:pPr algn="l"/>
            <a:r>
              <a:rPr sz="900" b="0" i="1">
                <a:solidFill>
                  <a:srgbClr val="5B6573"/>
                </a:solidFill>
                <a:latin typeface="Roboto"/>
              </a:rPr>
              <a:t>① le statut que votre équipe a posé.</a:t>
            </a:r>
          </a:p>
        </p:txBody>
      </p:sp>
      <p:sp>
        <p:nvSpPr>
          <p:cNvPr id="9" name="TextBox 8"/>
          <p:cNvSpPr txBox="1"/>
          <p:nvPr/>
        </p:nvSpPr>
        <p:spPr>
          <a:xfrm>
            <a:off x="548640" y="4343400"/>
            <a:ext cx="3931920" cy="228600"/>
          </a:xfrm>
          <a:prstGeom prst="rect">
            <a:avLst/>
          </a:prstGeom>
          <a:noFill/>
        </p:spPr>
        <p:txBody>
          <a:bodyPr wrap="square" lIns="0" rIns="0" tIns="0" bIns="0" anchor="t">
            <a:spAutoFit/>
          </a:bodyPr>
          <a:lstStyle/>
          <a:p>
            <a:pPr algn="l"/>
            <a:r>
              <a:rPr sz="900" b="0" i="1">
                <a:solidFill>
                  <a:srgbClr val="5B6573"/>
                </a:solidFill>
                <a:latin typeface="Roboto"/>
              </a:rPr>
              <a:t>① onglet « Abandonnés » ② badge « Abandonné ».</a:t>
            </a:r>
          </a:p>
        </p:txBody>
      </p:sp>
      <p:sp>
        <p:nvSpPr>
          <p:cNvPr id="10" name="Rounded Rectangle 9"/>
          <p:cNvSpPr/>
          <p:nvPr/>
        </p:nvSpPr>
        <p:spPr>
          <a:xfrm>
            <a:off x="4709160" y="1188720"/>
            <a:ext cx="3886200" cy="72136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855464" y="1316736"/>
            <a:ext cx="3593592" cy="228600"/>
          </a:xfrm>
          <a:prstGeom prst="rect">
            <a:avLst/>
          </a:prstGeom>
          <a:noFill/>
        </p:spPr>
        <p:txBody>
          <a:bodyPr wrap="square" lIns="0" rIns="0" tIns="0" bIns="0" anchor="t">
            <a:spAutoFit/>
          </a:bodyPr>
          <a:lstStyle/>
          <a:p>
            <a:pPr algn="l"/>
            <a:r>
              <a:rPr sz="1000" b="1" i="0">
                <a:solidFill>
                  <a:srgbClr val="003059"/>
                </a:solidFill>
                <a:latin typeface="Roboto"/>
              </a:rPr>
              <a:t>« Traités »</a:t>
            </a:r>
          </a:p>
        </p:txBody>
      </p:sp>
      <p:sp>
        <p:nvSpPr>
          <p:cNvPr id="12" name="TextBox 11"/>
          <p:cNvSpPr txBox="1"/>
          <p:nvPr/>
        </p:nvSpPr>
        <p:spPr>
          <a:xfrm>
            <a:off x="4855464" y="1591056"/>
            <a:ext cx="3593592" cy="227584"/>
          </a:xfrm>
          <a:prstGeom prst="rect">
            <a:avLst/>
          </a:prstGeom>
          <a:noFill/>
        </p:spPr>
        <p:txBody>
          <a:bodyPr wrap="square" lIns="0" rIns="0" tIns="0" bIns="0" anchor="t">
            <a:spAutoFit/>
          </a:bodyPr>
          <a:lstStyle/>
          <a:p>
            <a:pPr algn="l"/>
            <a:r>
              <a:rPr sz="950" b="0" i="0">
                <a:solidFill>
                  <a:srgbClr val="1F2A37"/>
                </a:solidFill>
                <a:latin typeface="Roboto"/>
              </a:rPr>
              <a:t>Les projets où votre équipe s’est déjà prononcée.</a:t>
            </a:r>
          </a:p>
        </p:txBody>
      </p:sp>
      <p:sp>
        <p:nvSpPr>
          <p:cNvPr id="13" name="Rounded Rectangle 12"/>
          <p:cNvSpPr/>
          <p:nvPr/>
        </p:nvSpPr>
        <p:spPr>
          <a:xfrm>
            <a:off x="4709160" y="2001520"/>
            <a:ext cx="3886200" cy="1030224"/>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55464" y="2129536"/>
            <a:ext cx="3593592" cy="228600"/>
          </a:xfrm>
          <a:prstGeom prst="rect">
            <a:avLst/>
          </a:prstGeom>
          <a:noFill/>
        </p:spPr>
        <p:txBody>
          <a:bodyPr wrap="square" lIns="0" rIns="0" tIns="0" bIns="0" anchor="t">
            <a:spAutoFit/>
          </a:bodyPr>
          <a:lstStyle/>
          <a:p>
            <a:pPr algn="l"/>
            <a:r>
              <a:rPr sz="1000" b="1" i="0">
                <a:solidFill>
                  <a:srgbClr val="003059"/>
                </a:solidFill>
                <a:latin typeface="Roboto"/>
              </a:rPr>
              <a:t>« Hors scope comité »</a:t>
            </a:r>
          </a:p>
        </p:txBody>
      </p:sp>
      <p:sp>
        <p:nvSpPr>
          <p:cNvPr id="15" name="TextBox 14"/>
          <p:cNvSpPr txBox="1"/>
          <p:nvPr/>
        </p:nvSpPr>
        <p:spPr>
          <a:xfrm>
            <a:off x="4855464" y="2403856"/>
            <a:ext cx="3593592" cy="536448"/>
          </a:xfrm>
          <a:prstGeom prst="rect">
            <a:avLst/>
          </a:prstGeom>
          <a:noFill/>
        </p:spPr>
        <p:txBody>
          <a:bodyPr wrap="square" lIns="0" rIns="0" tIns="0" bIns="0" anchor="t">
            <a:spAutoFit/>
          </a:bodyPr>
          <a:lstStyle/>
          <a:p>
            <a:pPr algn="l"/>
            <a:r>
              <a:rPr sz="950" b="0" i="0">
                <a:solidFill>
                  <a:srgbClr val="1F2A37"/>
                </a:solidFill>
                <a:latin typeface="Roboto"/>
              </a:rPr>
              <a:t>Membres d’un comité : les projets soumis où votre comité n’est pas déclenché, avec « Réintégrer en comité » (partie 4).</a:t>
            </a:r>
          </a:p>
        </p:txBody>
      </p:sp>
      <p:sp>
        <p:nvSpPr>
          <p:cNvPr id="16" name="Rounded Rectangle 15"/>
          <p:cNvSpPr/>
          <p:nvPr/>
        </p:nvSpPr>
        <p:spPr>
          <a:xfrm>
            <a:off x="4709160" y="3123184"/>
            <a:ext cx="3886200" cy="1184656"/>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855464" y="3251200"/>
            <a:ext cx="3593592" cy="228600"/>
          </a:xfrm>
          <a:prstGeom prst="rect">
            <a:avLst/>
          </a:prstGeom>
          <a:noFill/>
        </p:spPr>
        <p:txBody>
          <a:bodyPr wrap="square" lIns="0" rIns="0" tIns="0" bIns="0" anchor="t">
            <a:spAutoFit/>
          </a:bodyPr>
          <a:lstStyle/>
          <a:p>
            <a:pPr algn="l"/>
            <a:r>
              <a:rPr sz="1000" b="1" i="0">
                <a:solidFill>
                  <a:srgbClr val="003059"/>
                </a:solidFill>
                <a:latin typeface="Roboto"/>
              </a:rPr>
              <a:t>« Abandonnés »</a:t>
            </a:r>
          </a:p>
        </p:txBody>
      </p:sp>
      <p:sp>
        <p:nvSpPr>
          <p:cNvPr id="18" name="TextBox 17"/>
          <p:cNvSpPr txBox="1"/>
          <p:nvPr/>
        </p:nvSpPr>
        <p:spPr>
          <a:xfrm>
            <a:off x="4855464" y="3525520"/>
            <a:ext cx="3593592" cy="690880"/>
          </a:xfrm>
          <a:prstGeom prst="rect">
            <a:avLst/>
          </a:prstGeom>
          <a:noFill/>
        </p:spPr>
        <p:txBody>
          <a:bodyPr wrap="square" lIns="0" rIns="0" tIns="0" bIns="0" anchor="t">
            <a:spAutoFit/>
          </a:bodyPr>
          <a:lstStyle/>
          <a:p>
            <a:pPr algn="l"/>
            <a:r>
              <a:rPr sz="950" b="0" i="0">
                <a:solidFill>
                  <a:srgbClr val="1F2A37"/>
                </a:solidFill>
                <a:latin typeface="Roboto"/>
              </a:rPr>
              <a:t>Les projets supprimés par leur porteur alors que votre équipe ou votre comité avait déjà répondu ou donné un avis. Ils restent consultables. Un projet supprimé sans réponse d’expert n’y apparaît pas.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Examiner un projet</a:t>
            </a:r>
          </a:p>
        </p:txBody>
      </p:sp>
      <p:sp>
        <p:nvSpPr>
          <p:cNvPr id="3" name="Text Placeholder 2"/>
          <p:cNvSpPr>
            <a:spLocks noGrp="1"/>
          </p:cNvSpPr>
          <p:nvPr>
            <p:ph type="body" idx="13" sz="quarter"/>
          </p:nvPr>
        </p:nvSpPr>
        <p:spPr/>
        <p:txBody>
          <a:bodyPr/>
          <a:lstStyle/>
          <a:p>
            <a:r>
              <a:t>2</a:t>
            </a:r>
          </a:p>
        </p:txBody>
      </p:sp>
      <p:pic>
        <p:nvPicPr>
          <p:cNvPr id="4" name="Picture Placeholder 3" descr="div2.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La page « Enjeux du projet »</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10</a:t>
            </a:r>
          </a:p>
        </p:txBody>
      </p:sp>
      <p:sp>
        <p:nvSpPr>
          <p:cNvPr id="9" name="TextBox 8">
            <a:hlinkClick action="ppaction://hlinksldjump" r:id="rId5"/>
          </p:cNvPr>
          <p:cNvSpPr txBox="1"/>
          <p:nvPr/>
        </p:nvSpPr>
        <p:spPr>
          <a:xfrm>
            <a:off x="6629400" y="1835912"/>
            <a:ext cx="1691640" cy="329184"/>
          </a:xfrm>
          <a:prstGeom prst="rect">
            <a:avLst/>
          </a:prstGeom>
          <a:noFill/>
        </p:spPr>
        <p:txBody>
          <a:bodyPr wrap="square" lIns="0" rIns="0" tIns="0" bIns="0" anchor="t">
            <a:spAutoFit/>
          </a:bodyPr>
          <a:lstStyle/>
          <a:p>
            <a:pPr algn="l"/>
            <a:r>
              <a:rPr sz="950" b="0" i="0">
                <a:solidFill>
                  <a:srgbClr val="003059"/>
                </a:solidFill>
                <a:latin typeface="Roboto"/>
              </a:rPr>
              <a:t>Première vue : la vitrine</a:t>
            </a:r>
          </a:p>
        </p:txBody>
      </p:sp>
      <p:sp>
        <p:nvSpPr>
          <p:cNvPr id="10" name="TextBox 9">
            <a:hlinkClick action="ppaction://hlinksldjump" r:id="rId5"/>
          </p:cNvPr>
          <p:cNvSpPr txBox="1"/>
          <p:nvPr/>
        </p:nvSpPr>
        <p:spPr>
          <a:xfrm>
            <a:off x="8321040" y="1835912"/>
            <a:ext cx="320040" cy="182880"/>
          </a:xfrm>
          <a:prstGeom prst="rect">
            <a:avLst/>
          </a:prstGeom>
          <a:noFill/>
        </p:spPr>
        <p:txBody>
          <a:bodyPr wrap="square" lIns="0" rIns="0" tIns="0" bIns="0" anchor="t">
            <a:spAutoFit/>
          </a:bodyPr>
          <a:lstStyle/>
          <a:p>
            <a:pPr algn="r"/>
            <a:r>
              <a:rPr sz="950" b="1" i="0">
                <a:solidFill>
                  <a:srgbClr val="996B14"/>
                </a:solidFill>
                <a:latin typeface="Roboto"/>
              </a:rPr>
              <a:t>11</a:t>
            </a:r>
          </a:p>
        </p:txBody>
      </p:sp>
      <p:sp>
        <p:nvSpPr>
          <p:cNvPr id="11" name="TextBox 10">
            <a:hlinkClick action="ppaction://hlinksldjump" r:id="rId6"/>
          </p:cNvPr>
          <p:cNvSpPr txBox="1"/>
          <p:nvPr/>
        </p:nvSpPr>
        <p:spPr>
          <a:xfrm>
            <a:off x="6629400" y="2100072"/>
            <a:ext cx="1691640" cy="329184"/>
          </a:xfrm>
          <a:prstGeom prst="rect">
            <a:avLst/>
          </a:prstGeom>
          <a:noFill/>
        </p:spPr>
        <p:txBody>
          <a:bodyPr wrap="square" lIns="0" rIns="0" tIns="0" bIns="0" anchor="t">
            <a:spAutoFit/>
          </a:bodyPr>
          <a:lstStyle/>
          <a:p>
            <a:pPr algn="l"/>
            <a:r>
              <a:rPr sz="950" b="0" i="0">
                <a:solidFill>
                  <a:srgbClr val="003059"/>
                </a:solidFill>
                <a:latin typeface="Roboto"/>
              </a:rPr>
              <a:t>La carte de votre équipe</a:t>
            </a:r>
          </a:p>
        </p:txBody>
      </p:sp>
      <p:sp>
        <p:nvSpPr>
          <p:cNvPr id="12" name="TextBox 11">
            <a:hlinkClick action="ppaction://hlinksldjump" r:id="rId6"/>
          </p:cNvPr>
          <p:cNvSpPr txBox="1"/>
          <p:nvPr/>
        </p:nvSpPr>
        <p:spPr>
          <a:xfrm>
            <a:off x="8321040" y="2100072"/>
            <a:ext cx="320040" cy="182880"/>
          </a:xfrm>
          <a:prstGeom prst="rect">
            <a:avLst/>
          </a:prstGeom>
          <a:noFill/>
        </p:spPr>
        <p:txBody>
          <a:bodyPr wrap="square" lIns="0" rIns="0" tIns="0" bIns="0" anchor="t">
            <a:spAutoFit/>
          </a:bodyPr>
          <a:lstStyle/>
          <a:p>
            <a:pPr algn="r"/>
            <a:r>
              <a:rPr sz="950" b="1" i="0">
                <a:solidFill>
                  <a:srgbClr val="996B14"/>
                </a:solidFill>
                <a:latin typeface="Roboto"/>
              </a:rPr>
              <a:t>12</a:t>
            </a:r>
          </a:p>
        </p:txBody>
      </p:sp>
      <p:sp>
        <p:nvSpPr>
          <p:cNvPr id="13" name="TextBox 12">
            <a:hlinkClick action="ppaction://hlinksldjump" r:id="rId7"/>
          </p:cNvPr>
          <p:cNvSpPr txBox="1"/>
          <p:nvPr/>
        </p:nvSpPr>
        <p:spPr>
          <a:xfrm>
            <a:off x="6629400" y="2364231"/>
            <a:ext cx="1691640" cy="329184"/>
          </a:xfrm>
          <a:prstGeom prst="rect">
            <a:avLst/>
          </a:prstGeom>
          <a:noFill/>
        </p:spPr>
        <p:txBody>
          <a:bodyPr wrap="square" lIns="0" rIns="0" tIns="0" bIns="0" anchor="t">
            <a:spAutoFit/>
          </a:bodyPr>
          <a:lstStyle/>
          <a:p>
            <a:pPr algn="l"/>
            <a:r>
              <a:rPr sz="950" b="0" i="0">
                <a:solidFill>
                  <a:srgbClr val="003059"/>
                </a:solidFill>
                <a:latin typeface="Roboto"/>
              </a:rPr>
              <a:t>Le rappel des réponses</a:t>
            </a:r>
          </a:p>
        </p:txBody>
      </p:sp>
      <p:sp>
        <p:nvSpPr>
          <p:cNvPr id="14" name="TextBox 13">
            <a:hlinkClick action="ppaction://hlinksldjump" r:id="rId7"/>
          </p:cNvPr>
          <p:cNvSpPr txBox="1"/>
          <p:nvPr/>
        </p:nvSpPr>
        <p:spPr>
          <a:xfrm>
            <a:off x="8321040" y="2364231"/>
            <a:ext cx="320040" cy="182880"/>
          </a:xfrm>
          <a:prstGeom prst="rect">
            <a:avLst/>
          </a:prstGeom>
          <a:noFill/>
        </p:spPr>
        <p:txBody>
          <a:bodyPr wrap="square" lIns="0" rIns="0" tIns="0" bIns="0" anchor="t">
            <a:spAutoFit/>
          </a:bodyPr>
          <a:lstStyle/>
          <a:p>
            <a:pPr algn="r"/>
            <a:r>
              <a:rPr sz="950" b="1" i="0">
                <a:solidFill>
                  <a:srgbClr val="996B14"/>
                </a:solidFill>
                <a:latin typeface="Roboto"/>
              </a:rPr>
              <a:t>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page « Enjeux du projet »</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0-syn_1368.jpg"/>
          <p:cNvPicPr>
            <a:picLocks noChangeAspect="1"/>
          </p:cNvPicPr>
          <p:nvPr/>
        </p:nvPicPr>
        <p:blipFill>
          <a:blip r:embed="rId2"/>
          <a:stretch>
            <a:fillRect/>
          </a:stretch>
        </p:blipFill>
        <p:spPr>
          <a:xfrm>
            <a:off x="548640" y="1188720"/>
            <a:ext cx="5212080" cy="3257550"/>
          </a:xfrm>
          <a:prstGeom prst="rect">
            <a:avLst/>
          </a:prstGeom>
          <a:ln w="9525">
            <a:solidFill>
              <a:srgbClr val="D5DCE4"/>
            </a:solidFill>
          </a:ln>
        </p:spPr>
      </p:pic>
      <p:sp>
        <p:nvSpPr>
          <p:cNvPr id="7" name="Oval 6"/>
          <p:cNvSpPr/>
          <p:nvPr/>
        </p:nvSpPr>
        <p:spPr>
          <a:xfrm>
            <a:off x="598932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6318504" y="1188720"/>
            <a:ext cx="2276856" cy="308864"/>
          </a:xfrm>
          <a:prstGeom prst="rect">
            <a:avLst/>
          </a:prstGeom>
          <a:noFill/>
        </p:spPr>
        <p:txBody>
          <a:bodyPr wrap="square" lIns="0" rIns="0" tIns="0" bIns="0" anchor="t">
            <a:spAutoFit/>
          </a:bodyPr>
          <a:lstStyle/>
          <a:p>
            <a:pPr algn="l"/>
            <a:r>
              <a:rPr sz="950" b="1" i="0">
                <a:solidFill>
                  <a:srgbClr val="1F2A37"/>
                </a:solidFill>
                <a:latin typeface="Roboto"/>
              </a:rPr>
              <a:t>« Vitrine du projet » </a:t>
            </a:r>
            <a:r>
              <a:rPr sz="950" b="0" i="0">
                <a:solidFill>
                  <a:srgbClr val="1F2A37"/>
                </a:solidFill>
                <a:latin typeface="Roboto"/>
              </a:rPr>
              <a:t>: la présentation du projet par son porteur.</a:t>
            </a:r>
          </a:p>
        </p:txBody>
      </p:sp>
      <p:sp>
        <p:nvSpPr>
          <p:cNvPr id="9" name="Oval 8"/>
          <p:cNvSpPr/>
          <p:nvPr/>
        </p:nvSpPr>
        <p:spPr>
          <a:xfrm>
            <a:off x="5989320" y="154330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6318504" y="1552448"/>
            <a:ext cx="2276856" cy="308864"/>
          </a:xfrm>
          <a:prstGeom prst="rect">
            <a:avLst/>
          </a:prstGeom>
          <a:noFill/>
        </p:spPr>
        <p:txBody>
          <a:bodyPr wrap="square" lIns="0" rIns="0" tIns="0" bIns="0" anchor="t">
            <a:spAutoFit/>
          </a:bodyPr>
          <a:lstStyle/>
          <a:p>
            <a:pPr algn="l"/>
            <a:r>
              <a:rPr sz="950" b="1" i="0">
                <a:solidFill>
                  <a:srgbClr val="1F2A37"/>
                </a:solidFill>
                <a:latin typeface="Roboto"/>
              </a:rPr>
              <a:t>« Sommaire » </a:t>
            </a:r>
            <a:r>
              <a:rPr sz="950" b="0" i="0">
                <a:solidFill>
                  <a:srgbClr val="1F2A37"/>
                </a:solidFill>
                <a:latin typeface="Roboto"/>
              </a:rPr>
              <a:t>: équipes, risques, avis comité, rappel des réponses.</a:t>
            </a:r>
          </a:p>
        </p:txBody>
      </p:sp>
      <p:sp>
        <p:nvSpPr>
          <p:cNvPr id="11" name="Oval 10"/>
          <p:cNvSpPr/>
          <p:nvPr/>
        </p:nvSpPr>
        <p:spPr>
          <a:xfrm>
            <a:off x="5989320" y="190703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6318504" y="1916175"/>
            <a:ext cx="2276856" cy="308864"/>
          </a:xfrm>
          <a:prstGeom prst="rect">
            <a:avLst/>
          </a:prstGeom>
          <a:noFill/>
        </p:spPr>
        <p:txBody>
          <a:bodyPr wrap="square" lIns="0" rIns="0" tIns="0" bIns="0" anchor="t">
            <a:spAutoFit/>
          </a:bodyPr>
          <a:lstStyle/>
          <a:p>
            <a:pPr algn="l"/>
            <a:r>
              <a:rPr sz="950" b="1" i="0">
                <a:solidFill>
                  <a:srgbClr val="1F2A37"/>
                </a:solidFill>
                <a:latin typeface="Roboto"/>
              </a:rPr>
              <a:t>« Déclarer le projet lancé » </a:t>
            </a:r>
            <a:r>
              <a:rPr sz="950" b="0" i="0">
                <a:solidFill>
                  <a:srgbClr val="1F2A37"/>
                </a:solidFill>
                <a:latin typeface="Roboto"/>
              </a:rPr>
              <a:t>(partie 4).</a:t>
            </a:r>
          </a:p>
        </p:txBody>
      </p:sp>
      <p:sp>
        <p:nvSpPr>
          <p:cNvPr id="13" name="Oval 12"/>
          <p:cNvSpPr/>
          <p:nvPr/>
        </p:nvSpPr>
        <p:spPr>
          <a:xfrm>
            <a:off x="5989320" y="22707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4" name="TextBox 13"/>
          <p:cNvSpPr txBox="1"/>
          <p:nvPr/>
        </p:nvSpPr>
        <p:spPr>
          <a:xfrm>
            <a:off x="6318504" y="2279904"/>
            <a:ext cx="2276856" cy="308864"/>
          </a:xfrm>
          <a:prstGeom prst="rect">
            <a:avLst/>
          </a:prstGeom>
          <a:noFill/>
        </p:spPr>
        <p:txBody>
          <a:bodyPr wrap="square" lIns="0" rIns="0" tIns="0" bIns="0" anchor="t">
            <a:spAutoFit/>
          </a:bodyPr>
          <a:lstStyle/>
          <a:p>
            <a:pPr algn="l"/>
            <a:r>
              <a:rPr sz="950" b="1" i="0">
                <a:solidFill>
                  <a:srgbClr val="1F2A37"/>
                </a:solidFill>
                <a:latin typeface="Roboto"/>
              </a:rPr>
              <a:t>Solliciter une équipe </a:t>
            </a:r>
            <a:r>
              <a:rPr sz="950" b="0" i="0">
                <a:solidFill>
                  <a:srgbClr val="1F2A37"/>
                </a:solidFill>
                <a:latin typeface="Roboto"/>
              </a:rPr>
              <a:t>non identifiée (partie 3).</a:t>
            </a:r>
          </a:p>
        </p:txBody>
      </p:sp>
      <p:sp>
        <p:nvSpPr>
          <p:cNvPr id="15" name="Oval 14"/>
          <p:cNvSpPr/>
          <p:nvPr/>
        </p:nvSpPr>
        <p:spPr>
          <a:xfrm>
            <a:off x="5989320" y="263448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16" name="TextBox 15"/>
          <p:cNvSpPr txBox="1"/>
          <p:nvPr/>
        </p:nvSpPr>
        <p:spPr>
          <a:xfrm>
            <a:off x="6318504" y="2643632"/>
            <a:ext cx="2276856" cy="308864"/>
          </a:xfrm>
          <a:prstGeom prst="rect">
            <a:avLst/>
          </a:prstGeom>
          <a:noFill/>
        </p:spPr>
        <p:txBody>
          <a:bodyPr wrap="square" lIns="0" rIns="0" tIns="0" bIns="0" anchor="t">
            <a:spAutoFit/>
          </a:bodyPr>
          <a:lstStyle/>
          <a:p>
            <a:pPr algn="l"/>
            <a:r>
              <a:rPr sz="950" b="1" i="0">
                <a:solidFill>
                  <a:srgbClr val="1F2A37"/>
                </a:solidFill>
                <a:latin typeface="Roboto"/>
              </a:rPr>
              <a:t>Cartes des équipes </a:t>
            </a:r>
            <a:r>
              <a:rPr sz="950" b="0" i="0">
                <a:solidFill>
                  <a:srgbClr val="1F2A37"/>
                </a:solidFill>
                <a:latin typeface="Roboto"/>
              </a:rPr>
              <a:t>: un clic sur le nom de l’équipe déplie sa carte.</a:t>
            </a:r>
          </a:p>
        </p:txBody>
      </p:sp>
      <p:sp>
        <p:nvSpPr>
          <p:cNvPr id="17" name="TextBox 16"/>
          <p:cNvSpPr txBox="1"/>
          <p:nvPr/>
        </p:nvSpPr>
        <p:spPr>
          <a:xfrm>
            <a:off x="548640" y="4526280"/>
            <a:ext cx="8046720" cy="274320"/>
          </a:xfrm>
          <a:prstGeom prst="rect">
            <a:avLst/>
          </a:prstGeom>
          <a:noFill/>
        </p:spPr>
        <p:txBody>
          <a:bodyPr wrap="square" lIns="0" rIns="0" tIns="0" bIns="0" anchor="t">
            <a:spAutoFit/>
          </a:bodyPr>
          <a:lstStyle/>
          <a:p>
            <a:pPr algn="l"/>
            <a:r>
              <a:rPr sz="900" b="0" i="1">
                <a:solidFill>
                  <a:srgbClr val="5B6573"/>
                </a:solidFill>
                <a:latin typeface="Roboto"/>
              </a:rPr>
              <a:t>Accès : « Ouvrir » sur l’accueil, ou le lien de la notification reçue. La page est en lecture seule pour vous, sauf la carte de votre équipe.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Première vue : commencer par la vitrine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1-vitrine_1200.jpg"/>
          <p:cNvPicPr>
            <a:picLocks noChangeAspect="1"/>
          </p:cNvPicPr>
          <p:nvPr/>
        </p:nvPicPr>
        <p:blipFill>
          <a:blip r:embed="rId2"/>
          <a:stretch>
            <a:fillRect/>
          </a:stretch>
        </p:blipFill>
        <p:spPr>
          <a:xfrm>
            <a:off x="548640" y="1188720"/>
            <a:ext cx="4572000" cy="2032000"/>
          </a:xfrm>
          <a:prstGeom prst="rect">
            <a:avLst/>
          </a:prstGeom>
          <a:ln w="9525">
            <a:solidFill>
              <a:srgbClr val="D5DCE4"/>
            </a:solidFill>
          </a:ln>
        </p:spPr>
      </p:pic>
      <p:sp>
        <p:nvSpPr>
          <p:cNvPr id="7" name="TextBox 6"/>
          <p:cNvSpPr txBox="1"/>
          <p:nvPr/>
        </p:nvSpPr>
        <p:spPr>
          <a:xfrm>
            <a:off x="548640" y="3291840"/>
            <a:ext cx="4572000" cy="228600"/>
          </a:xfrm>
          <a:prstGeom prst="rect">
            <a:avLst/>
          </a:prstGeom>
          <a:noFill/>
        </p:spPr>
        <p:txBody>
          <a:bodyPr wrap="square" lIns="0" rIns="0" tIns="0" bIns="0" anchor="t">
            <a:spAutoFit/>
          </a:bodyPr>
          <a:lstStyle/>
          <a:p>
            <a:pPr algn="l"/>
            <a:r>
              <a:rPr sz="900" b="0" i="1">
                <a:solidFill>
                  <a:srgbClr val="5B6573"/>
                </a:solidFill>
                <a:latin typeface="Roboto"/>
              </a:rPr>
              <a:t>① « Voir les enjeux du projet » ramène à la vision compliance.</a:t>
            </a:r>
          </a:p>
        </p:txBody>
      </p:sp>
      <p:sp>
        <p:nvSpPr>
          <p:cNvPr id="8" name="Rounded Rectangle 7"/>
          <p:cNvSpPr/>
          <p:nvPr/>
        </p:nvSpPr>
        <p:spPr>
          <a:xfrm>
            <a:off x="5394960" y="1188720"/>
            <a:ext cx="3200400" cy="1761743"/>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541264" y="1316736"/>
            <a:ext cx="2907792" cy="228600"/>
          </a:xfrm>
          <a:prstGeom prst="rect">
            <a:avLst/>
          </a:prstGeom>
          <a:noFill/>
        </p:spPr>
        <p:txBody>
          <a:bodyPr wrap="square" lIns="0" rIns="0" tIns="0" bIns="0" anchor="t">
            <a:spAutoFit/>
          </a:bodyPr>
          <a:lstStyle/>
          <a:p>
            <a:pPr algn="l"/>
            <a:r>
              <a:rPr sz="1050" b="1" i="0">
                <a:solidFill>
                  <a:srgbClr val="003059"/>
                </a:solidFill>
                <a:latin typeface="Roboto"/>
              </a:rPr>
              <a:t>Pourquoi la vitrine d’abord</a:t>
            </a:r>
          </a:p>
        </p:txBody>
      </p:sp>
      <p:sp>
        <p:nvSpPr>
          <p:cNvPr id="10" name="Oval 9"/>
          <p:cNvSpPr/>
          <p:nvPr/>
        </p:nvSpPr>
        <p:spPr>
          <a:xfrm>
            <a:off x="5541264" y="1644396"/>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724144" y="1591056"/>
            <a:ext cx="2724912" cy="487680"/>
          </a:xfrm>
          <a:prstGeom prst="rect">
            <a:avLst/>
          </a:prstGeom>
          <a:noFill/>
        </p:spPr>
        <p:txBody>
          <a:bodyPr wrap="square" lIns="0" rIns="0" tIns="0" bIns="0" anchor="t">
            <a:spAutoFit/>
          </a:bodyPr>
          <a:lstStyle/>
          <a:p>
            <a:pPr algn="l"/>
            <a:r>
              <a:rPr sz="1000" b="0" i="0">
                <a:solidFill>
                  <a:srgbClr val="1F2A37"/>
                </a:solidFill>
                <a:latin typeface="Roboto"/>
              </a:rPr>
              <a:t>Elle raconte le projet avec les mots du porteur : problème traité, solution, public visé, équipe, feuille de route.</a:t>
            </a:r>
          </a:p>
        </p:txBody>
      </p:sp>
      <p:sp>
        <p:nvSpPr>
          <p:cNvPr id="12" name="Oval 11"/>
          <p:cNvSpPr/>
          <p:nvPr/>
        </p:nvSpPr>
        <p:spPr>
          <a:xfrm>
            <a:off x="5541264" y="220522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724144" y="2151888"/>
            <a:ext cx="2724912" cy="325120"/>
          </a:xfrm>
          <a:prstGeom prst="rect">
            <a:avLst/>
          </a:prstGeom>
          <a:noFill/>
        </p:spPr>
        <p:txBody>
          <a:bodyPr wrap="square" lIns="0" rIns="0" tIns="0" bIns="0" anchor="t">
            <a:spAutoFit/>
          </a:bodyPr>
          <a:lstStyle/>
          <a:p>
            <a:pPr algn="l"/>
            <a:r>
              <a:rPr sz="1000" b="0" i="0">
                <a:solidFill>
                  <a:srgbClr val="1F2A37"/>
                </a:solidFill>
                <a:latin typeface="Roboto"/>
              </a:rPr>
              <a:t>Une minute de défilement donne le contexte avant de juger les réponses une à une.</a:t>
            </a:r>
          </a:p>
        </p:txBody>
      </p:sp>
      <p:sp>
        <p:nvSpPr>
          <p:cNvPr id="14" name="Oval 13"/>
          <p:cNvSpPr/>
          <p:nvPr/>
        </p:nvSpPr>
        <p:spPr>
          <a:xfrm>
            <a:off x="5541264" y="260350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24144" y="2550160"/>
            <a:ext cx="2724912" cy="162560"/>
          </a:xfrm>
          <a:prstGeom prst="rect">
            <a:avLst/>
          </a:prstGeom>
          <a:noFill/>
        </p:spPr>
        <p:txBody>
          <a:bodyPr wrap="square" lIns="0" rIns="0" tIns="0" bIns="0" anchor="t">
            <a:spAutoFit/>
          </a:bodyPr>
          <a:lstStyle/>
          <a:p>
            <a:pPr algn="l"/>
            <a:r>
              <a:rPr sz="1000" b="0" i="0">
                <a:solidFill>
                  <a:srgbClr val="1F2A37"/>
                </a:solidFill>
                <a:latin typeface="Roboto"/>
              </a:rPr>
              <a:t>Elle est en lecture seule pour vous.</a:t>
            </a:r>
          </a:p>
        </p:txBody>
      </p:sp>
      <p:sp>
        <p:nvSpPr>
          <p:cNvPr id="16" name="Rounded Rectangle 15"/>
          <p:cNvSpPr/>
          <p:nvPr/>
        </p:nvSpPr>
        <p:spPr>
          <a:xfrm>
            <a:off x="548640" y="3703320"/>
            <a:ext cx="457200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94944" y="3831335"/>
            <a:ext cx="4279392"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8" name="TextBox 17"/>
          <p:cNvSpPr txBox="1"/>
          <p:nvPr/>
        </p:nvSpPr>
        <p:spPr>
          <a:xfrm>
            <a:off x="694944" y="4105655"/>
            <a:ext cx="4279392" cy="272288"/>
          </a:xfrm>
          <a:prstGeom prst="rect">
            <a:avLst/>
          </a:prstGeom>
          <a:noFill/>
        </p:spPr>
        <p:txBody>
          <a:bodyPr wrap="square" lIns="0" rIns="0" tIns="0" bIns="0" anchor="t">
            <a:spAutoFit/>
          </a:bodyPr>
          <a:lstStyle/>
          <a:p>
            <a:pPr algn="l"/>
            <a:r>
              <a:rPr sz="950" b="0" i="0">
                <a:solidFill>
                  <a:srgbClr val="1F2A37"/>
                </a:solidFill>
                <a:latin typeface="Roboto"/>
              </a:rPr>
              <a:t>Le bouton « Commenter » de la vitrine permet aussi de poser des post-its pour le porteur, directement sur la partie concernée.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carte de votre équipe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2-card_766.jpg"/>
          <p:cNvPicPr>
            <a:picLocks noChangeAspect="1"/>
          </p:cNvPicPr>
          <p:nvPr/>
        </p:nvPicPr>
        <p:blipFill>
          <a:blip r:embed="rId2"/>
          <a:stretch>
            <a:fillRect/>
          </a:stretch>
        </p:blipFill>
        <p:spPr>
          <a:xfrm>
            <a:off x="548640" y="1188720"/>
            <a:ext cx="2918948" cy="3520440"/>
          </a:xfrm>
          <a:prstGeom prst="rect">
            <a:avLst/>
          </a:prstGeom>
          <a:ln w="9525">
            <a:solidFill>
              <a:srgbClr val="D5DCE4"/>
            </a:solidFill>
          </a:ln>
        </p:spPr>
      </p:pic>
      <p:sp>
        <p:nvSpPr>
          <p:cNvPr id="7" name="Oval 6"/>
          <p:cNvSpPr/>
          <p:nvPr/>
        </p:nvSpPr>
        <p:spPr>
          <a:xfrm>
            <a:off x="3749039"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4078224" y="1188720"/>
            <a:ext cx="4517136" cy="325120"/>
          </a:xfrm>
          <a:prstGeom prst="rect">
            <a:avLst/>
          </a:prstGeom>
          <a:noFill/>
        </p:spPr>
        <p:txBody>
          <a:bodyPr wrap="square" lIns="0" rIns="0" tIns="0" bIns="0" anchor="t">
            <a:spAutoFit/>
          </a:bodyPr>
          <a:lstStyle/>
          <a:p>
            <a:pPr algn="l"/>
            <a:r>
              <a:rPr sz="1000" b="1" i="0">
                <a:solidFill>
                  <a:srgbClr val="1F2A37"/>
                </a:solidFill>
                <a:latin typeface="Roboto"/>
              </a:rPr>
              <a:t>« Prise en charge » </a:t>
            </a:r>
            <a:r>
              <a:rPr sz="1000" b="0" i="0">
                <a:solidFill>
                  <a:srgbClr val="1F2A37"/>
                </a:solidFill>
                <a:latin typeface="Roboto"/>
              </a:rPr>
              <a:t>: qui suit le projet pour votre équipe, et « Je prends en charge ».</a:t>
            </a:r>
          </a:p>
        </p:txBody>
      </p:sp>
      <p:sp>
        <p:nvSpPr>
          <p:cNvPr id="9" name="Oval 8"/>
          <p:cNvSpPr/>
          <p:nvPr/>
        </p:nvSpPr>
        <p:spPr>
          <a:xfrm>
            <a:off x="3749039" y="157784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4078224" y="1586992"/>
            <a:ext cx="4517136" cy="487680"/>
          </a:xfrm>
          <a:prstGeom prst="rect">
            <a:avLst/>
          </a:prstGeom>
          <a:noFill/>
        </p:spPr>
        <p:txBody>
          <a:bodyPr wrap="square" lIns="0" rIns="0" tIns="0" bIns="0" anchor="t">
            <a:spAutoFit/>
          </a:bodyPr>
          <a:lstStyle/>
          <a:p>
            <a:pPr algn="l"/>
            <a:r>
              <a:rPr sz="1000" b="1" i="0">
                <a:solidFill>
                  <a:srgbClr val="1F2A37"/>
                </a:solidFill>
                <a:latin typeface="Roboto"/>
              </a:rPr>
              <a:t>« Points à préparer » </a:t>
            </a:r>
            <a:r>
              <a:rPr sz="1000" b="0" i="0">
                <a:solidFill>
                  <a:srgbClr val="1F2A37"/>
                </a:solidFill>
                <a:latin typeface="Roboto"/>
              </a:rPr>
              <a:t>: les questions que votre équipe pose pour les règles déclenchées. Le porteur les voit et peut y répondre avant votre avis.</a:t>
            </a:r>
          </a:p>
        </p:txBody>
      </p:sp>
      <p:sp>
        <p:nvSpPr>
          <p:cNvPr id="11" name="Oval 10"/>
          <p:cNvSpPr/>
          <p:nvPr/>
        </p:nvSpPr>
        <p:spPr>
          <a:xfrm>
            <a:off x="3749039" y="213868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4078224" y="2147824"/>
            <a:ext cx="4517136" cy="325120"/>
          </a:xfrm>
          <a:prstGeom prst="rect">
            <a:avLst/>
          </a:prstGeom>
          <a:noFill/>
        </p:spPr>
        <p:txBody>
          <a:bodyPr wrap="square" lIns="0" rIns="0" tIns="0" bIns="0" anchor="t">
            <a:spAutoFit/>
          </a:bodyPr>
          <a:lstStyle/>
          <a:p>
            <a:pPr algn="l"/>
            <a:r>
              <a:rPr sz="1000" b="1" i="0">
                <a:solidFill>
                  <a:srgbClr val="1F2A37"/>
                </a:solidFill>
                <a:latin typeface="Roboto"/>
              </a:rPr>
              <a:t>Crayon de l’« Avis » </a:t>
            </a:r>
            <a:r>
              <a:rPr sz="1000" b="0" i="0">
                <a:solidFill>
                  <a:srgbClr val="1F2A37"/>
                </a:solidFill>
                <a:latin typeface="Roboto"/>
              </a:rPr>
              <a:t>: « Modifier le commentaire / statut » (partie 3).</a:t>
            </a:r>
          </a:p>
        </p:txBody>
      </p:sp>
      <p:sp>
        <p:nvSpPr>
          <p:cNvPr id="13" name="Oval 12"/>
          <p:cNvSpPr/>
          <p:nvPr/>
        </p:nvSpPr>
        <p:spPr>
          <a:xfrm>
            <a:off x="3749039" y="25369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4" name="TextBox 13"/>
          <p:cNvSpPr txBox="1"/>
          <p:nvPr/>
        </p:nvSpPr>
        <p:spPr>
          <a:xfrm>
            <a:off x="4078224" y="2546096"/>
            <a:ext cx="4517136" cy="162560"/>
          </a:xfrm>
          <a:prstGeom prst="rect">
            <a:avLst/>
          </a:prstGeom>
          <a:noFill/>
        </p:spPr>
        <p:txBody>
          <a:bodyPr wrap="square" lIns="0" rIns="0" tIns="0" bIns="0" anchor="t">
            <a:spAutoFit/>
          </a:bodyPr>
          <a:lstStyle/>
          <a:p>
            <a:pPr algn="l"/>
            <a:r>
              <a:rPr sz="1000" b="1" i="0">
                <a:solidFill>
                  <a:srgbClr val="1F2A37"/>
                </a:solidFill>
                <a:latin typeface="Roboto"/>
              </a:rPr>
              <a:t>« Échanges » </a:t>
            </a:r>
            <a:r>
              <a:rPr sz="1000" b="0" i="0">
                <a:solidFill>
                  <a:srgbClr val="1F2A37"/>
                </a:solidFill>
                <a:latin typeface="Roboto"/>
              </a:rPr>
              <a:t>: le fil avec le porteur.</a:t>
            </a:r>
          </a:p>
        </p:txBody>
      </p:sp>
      <p:sp>
        <p:nvSpPr>
          <p:cNvPr id="15" name="Oval 14"/>
          <p:cNvSpPr/>
          <p:nvPr/>
        </p:nvSpPr>
        <p:spPr>
          <a:xfrm>
            <a:off x="3749039" y="28661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16" name="TextBox 15"/>
          <p:cNvSpPr txBox="1"/>
          <p:nvPr/>
        </p:nvSpPr>
        <p:spPr>
          <a:xfrm>
            <a:off x="4078224" y="2875280"/>
            <a:ext cx="4517136" cy="162560"/>
          </a:xfrm>
          <a:prstGeom prst="rect">
            <a:avLst/>
          </a:prstGeom>
          <a:noFill/>
        </p:spPr>
        <p:txBody>
          <a:bodyPr wrap="square" lIns="0" rIns="0" tIns="0" bIns="0" anchor="t">
            <a:spAutoFit/>
          </a:bodyPr>
          <a:lstStyle/>
          <a:p>
            <a:pPr algn="l"/>
            <a:r>
              <a:rPr sz="1000" b="1" i="0">
                <a:solidFill>
                  <a:srgbClr val="1F2A37"/>
                </a:solidFill>
                <a:latin typeface="Roboto"/>
              </a:rPr>
              <a:t>« Répondre » </a:t>
            </a:r>
            <a:r>
              <a:rPr sz="1000" b="0" i="0">
                <a:solidFill>
                  <a:srgbClr val="1F2A37"/>
                </a:solidFill>
                <a:latin typeface="Roboto"/>
              </a:rPr>
              <a:t>pour écrire dans le fil.</a:t>
            </a:r>
          </a:p>
        </p:txBody>
      </p:sp>
      <p:sp>
        <p:nvSpPr>
          <p:cNvPr id="17" name="Oval 16"/>
          <p:cNvSpPr/>
          <p:nvPr/>
        </p:nvSpPr>
        <p:spPr>
          <a:xfrm>
            <a:off x="3749039" y="319532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6</a:t>
            </a:r>
          </a:p>
        </p:txBody>
      </p:sp>
      <p:sp>
        <p:nvSpPr>
          <p:cNvPr id="18" name="TextBox 17"/>
          <p:cNvSpPr txBox="1"/>
          <p:nvPr/>
        </p:nvSpPr>
        <p:spPr>
          <a:xfrm>
            <a:off x="4078224" y="3204464"/>
            <a:ext cx="4517136" cy="162560"/>
          </a:xfrm>
          <a:prstGeom prst="rect">
            <a:avLst/>
          </a:prstGeom>
          <a:noFill/>
        </p:spPr>
        <p:txBody>
          <a:bodyPr wrap="square" lIns="0" rIns="0" tIns="0" bIns="0" anchor="t">
            <a:spAutoFit/>
          </a:bodyPr>
          <a:lstStyle/>
          <a:p>
            <a:pPr algn="l"/>
            <a:r>
              <a:rPr sz="1000" b="1" i="0">
                <a:solidFill>
                  <a:srgbClr val="1F2A37"/>
                </a:solidFill>
                <a:latin typeface="Roboto"/>
              </a:rPr>
              <a:t>« Réintégrer en comité » </a:t>
            </a:r>
            <a:r>
              <a:rPr sz="1000" b="0" i="0">
                <a:solidFill>
                  <a:srgbClr val="1F2A37"/>
                </a:solidFill>
                <a:latin typeface="Roboto"/>
              </a:rPr>
              <a:t>: membres d’un comité seulement (partie 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 rappel des réponses du porteur</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7-recap_1104.jpg"/>
          <p:cNvPicPr>
            <a:picLocks noChangeAspect="1"/>
          </p:cNvPicPr>
          <p:nvPr/>
        </p:nvPicPr>
        <p:blipFill>
          <a:blip r:embed="rId2"/>
          <a:stretch>
            <a:fillRect/>
          </a:stretch>
        </p:blipFill>
        <p:spPr>
          <a:xfrm>
            <a:off x="548640" y="1188720"/>
            <a:ext cx="4206240" cy="2738946"/>
          </a:xfrm>
          <a:prstGeom prst="rect">
            <a:avLst/>
          </a:prstGeom>
          <a:ln w="9525">
            <a:solidFill>
              <a:srgbClr val="D5DCE4"/>
            </a:solidFill>
          </a:ln>
        </p:spPr>
      </p:pic>
      <p:sp>
        <p:nvSpPr>
          <p:cNvPr id="7" name="Oval 6"/>
          <p:cNvSpPr/>
          <p:nvPr/>
        </p:nvSpPr>
        <p:spPr>
          <a:xfrm>
            <a:off x="5029200" y="128778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212080" y="1234440"/>
            <a:ext cx="3383279" cy="325120"/>
          </a:xfrm>
          <a:prstGeom prst="rect">
            <a:avLst/>
          </a:prstGeom>
          <a:noFill/>
        </p:spPr>
        <p:txBody>
          <a:bodyPr wrap="square" lIns="0" rIns="0" tIns="0" bIns="0" anchor="t">
            <a:spAutoFit/>
          </a:bodyPr>
          <a:lstStyle/>
          <a:p>
            <a:pPr algn="l"/>
            <a:r>
              <a:rPr sz="1000" b="0" i="0">
                <a:solidFill>
                  <a:srgbClr val="1F2A37"/>
                </a:solidFill>
                <a:latin typeface="Roboto"/>
              </a:rPr>
              <a:t>« Rappel de vos réponses », en bas de la page, se déplie avec « Afficher ».</a:t>
            </a:r>
          </a:p>
        </p:txBody>
      </p:sp>
      <p:sp>
        <p:nvSpPr>
          <p:cNvPr id="9" name="Oval 8"/>
          <p:cNvSpPr/>
          <p:nvPr/>
        </p:nvSpPr>
        <p:spPr>
          <a:xfrm>
            <a:off x="5029200" y="168605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212080" y="1632712"/>
            <a:ext cx="3383279" cy="325120"/>
          </a:xfrm>
          <a:prstGeom prst="rect">
            <a:avLst/>
          </a:prstGeom>
          <a:noFill/>
        </p:spPr>
        <p:txBody>
          <a:bodyPr wrap="square" lIns="0" rIns="0" tIns="0" bIns="0" anchor="t">
            <a:spAutoFit/>
          </a:bodyPr>
          <a:lstStyle/>
          <a:p>
            <a:pPr algn="l"/>
            <a:r>
              <a:rPr sz="1000" b="0" i="0">
                <a:solidFill>
                  <a:srgbClr val="1F2A37"/>
                </a:solidFill>
                <a:latin typeface="Roboto"/>
              </a:rPr>
              <a:t>Il reprend toutes les réponses du questionnaire, telles que le porteur les a saisies.</a:t>
            </a:r>
          </a:p>
        </p:txBody>
      </p:sp>
      <p:sp>
        <p:nvSpPr>
          <p:cNvPr id="11" name="Oval 10"/>
          <p:cNvSpPr/>
          <p:nvPr/>
        </p:nvSpPr>
        <p:spPr>
          <a:xfrm>
            <a:off x="5029200" y="208432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212080" y="2030984"/>
            <a:ext cx="3383279" cy="487680"/>
          </a:xfrm>
          <a:prstGeom prst="rect">
            <a:avLst/>
          </a:prstGeom>
          <a:noFill/>
        </p:spPr>
        <p:txBody>
          <a:bodyPr wrap="square" lIns="0" rIns="0" tIns="0" bIns="0" anchor="t">
            <a:spAutoFit/>
          </a:bodyPr>
          <a:lstStyle/>
          <a:p>
            <a:pPr algn="l"/>
            <a:r>
              <a:rPr sz="1000" b="0" i="0">
                <a:solidFill>
                  <a:srgbClr val="1F2A37"/>
                </a:solidFill>
                <a:latin typeface="Roboto"/>
              </a:rPr>
              <a:t>Une réponse marquée « J’ai un doute » par le porteur y apparaît comme un point ouvert, avec l’équipe à qui le doute a été adressé.</a:t>
            </a:r>
          </a:p>
        </p:txBody>
      </p:sp>
      <p:sp>
        <p:nvSpPr>
          <p:cNvPr id="13" name="Oval 12"/>
          <p:cNvSpPr/>
          <p:nvPr/>
        </p:nvSpPr>
        <p:spPr>
          <a:xfrm>
            <a:off x="5029200" y="2645156"/>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212080" y="2591816"/>
            <a:ext cx="3383279" cy="487680"/>
          </a:xfrm>
          <a:prstGeom prst="rect">
            <a:avLst/>
          </a:prstGeom>
          <a:noFill/>
        </p:spPr>
        <p:txBody>
          <a:bodyPr wrap="square" lIns="0" rIns="0" tIns="0" bIns="0" anchor="t">
            <a:spAutoFit/>
          </a:bodyPr>
          <a:lstStyle/>
          <a:p>
            <a:pPr algn="l"/>
            <a:r>
              <a:rPr sz="1000" b="0" i="0">
                <a:solidFill>
                  <a:srgbClr val="1F2A37"/>
                </a:solidFill>
                <a:latin typeface="Roboto"/>
              </a:rPr>
              <a:t>« Risques identifiés » liste, pour chaque risque, sa criticité, l’équipe référente et la mitigation attendue.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Rendre son avis</a:t>
            </a:r>
          </a:p>
        </p:txBody>
      </p:sp>
      <p:sp>
        <p:nvSpPr>
          <p:cNvPr id="3" name="Text Placeholder 2"/>
          <p:cNvSpPr>
            <a:spLocks noGrp="1"/>
          </p:cNvSpPr>
          <p:nvPr>
            <p:ph type="body" idx="13" sz="quarter"/>
          </p:nvPr>
        </p:nvSpPr>
        <p:spPr/>
        <p:txBody>
          <a:bodyPr/>
          <a:lstStyle/>
          <a:p>
            <a:r>
              <a:t>3</a:t>
            </a:r>
          </a:p>
        </p:txBody>
      </p:sp>
      <p:pic>
        <p:nvPicPr>
          <p:cNvPr id="4" name="Picture Placeholder 3" descr="div6.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03 · Rendre son avis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Statut et commentaire</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15</a:t>
            </a:r>
          </a:p>
        </p:txBody>
      </p:sp>
      <p:sp>
        <p:nvSpPr>
          <p:cNvPr id="9" name="TextBox 8">
            <a:hlinkClick action="ppaction://hlinksldjump" r:id="rId5"/>
          </p:cNvPr>
          <p:cNvSpPr txBox="1"/>
          <p:nvPr/>
        </p:nvSpPr>
        <p:spPr>
          <a:xfrm>
            <a:off x="6629400" y="1681480"/>
            <a:ext cx="1691640" cy="329184"/>
          </a:xfrm>
          <a:prstGeom prst="rect">
            <a:avLst/>
          </a:prstGeom>
          <a:noFill/>
        </p:spPr>
        <p:txBody>
          <a:bodyPr wrap="square" lIns="0" rIns="0" tIns="0" bIns="0" anchor="t">
            <a:spAutoFit/>
          </a:bodyPr>
          <a:lstStyle/>
          <a:p>
            <a:pPr algn="l"/>
            <a:r>
              <a:rPr sz="950" b="0" i="0">
                <a:solidFill>
                  <a:srgbClr val="003059"/>
                </a:solidFill>
                <a:latin typeface="Roboto"/>
              </a:rPr>
              <a:t>Après l’enregistrement</a:t>
            </a:r>
          </a:p>
        </p:txBody>
      </p:sp>
      <p:sp>
        <p:nvSpPr>
          <p:cNvPr id="10" name="TextBox 9">
            <a:hlinkClick action="ppaction://hlinksldjump" r:id="rId5"/>
          </p:cNvPr>
          <p:cNvSpPr txBox="1"/>
          <p:nvPr/>
        </p:nvSpPr>
        <p:spPr>
          <a:xfrm>
            <a:off x="8321040" y="1681480"/>
            <a:ext cx="320040" cy="182880"/>
          </a:xfrm>
          <a:prstGeom prst="rect">
            <a:avLst/>
          </a:prstGeom>
          <a:noFill/>
        </p:spPr>
        <p:txBody>
          <a:bodyPr wrap="square" lIns="0" rIns="0" tIns="0" bIns="0" anchor="t">
            <a:spAutoFit/>
          </a:bodyPr>
          <a:lstStyle/>
          <a:p>
            <a:pPr algn="r"/>
            <a:r>
              <a:rPr sz="950" b="1" i="0">
                <a:solidFill>
                  <a:srgbClr val="996B14"/>
                </a:solidFill>
                <a:latin typeface="Roboto"/>
              </a:rPr>
              <a:t>16</a:t>
            </a:r>
          </a:p>
        </p:txBody>
      </p:sp>
      <p:sp>
        <p:nvSpPr>
          <p:cNvPr id="11" name="TextBox 10">
            <a:hlinkClick action="ppaction://hlinksldjump" r:id="rId6"/>
          </p:cNvPr>
          <p:cNvSpPr txBox="1"/>
          <p:nvPr/>
        </p:nvSpPr>
        <p:spPr>
          <a:xfrm>
            <a:off x="6629400" y="1945640"/>
            <a:ext cx="1691640" cy="329184"/>
          </a:xfrm>
          <a:prstGeom prst="rect">
            <a:avLst/>
          </a:prstGeom>
          <a:noFill/>
        </p:spPr>
        <p:txBody>
          <a:bodyPr wrap="square" lIns="0" rIns="0" tIns="0" bIns="0" anchor="t">
            <a:spAutoFit/>
          </a:bodyPr>
          <a:lstStyle/>
          <a:p>
            <a:pPr algn="l"/>
            <a:r>
              <a:rPr sz="950" b="0" i="0">
                <a:solidFill>
                  <a:srgbClr val="003059"/>
                </a:solidFill>
                <a:latin typeface="Roboto"/>
              </a:rPr>
              <a:t>Échanger avec le porteur</a:t>
            </a:r>
          </a:p>
        </p:txBody>
      </p:sp>
      <p:sp>
        <p:nvSpPr>
          <p:cNvPr id="12" name="TextBox 11">
            <a:hlinkClick action="ppaction://hlinksldjump" r:id="rId6"/>
          </p:cNvPr>
          <p:cNvSpPr txBox="1"/>
          <p:nvPr/>
        </p:nvSpPr>
        <p:spPr>
          <a:xfrm>
            <a:off x="8321040" y="1945640"/>
            <a:ext cx="320040" cy="182880"/>
          </a:xfrm>
          <a:prstGeom prst="rect">
            <a:avLst/>
          </a:prstGeom>
          <a:noFill/>
        </p:spPr>
        <p:txBody>
          <a:bodyPr wrap="square" lIns="0" rIns="0" tIns="0" bIns="0" anchor="t">
            <a:spAutoFit/>
          </a:bodyPr>
          <a:lstStyle/>
          <a:p>
            <a:pPr algn="r"/>
            <a:r>
              <a:rPr sz="950" b="1" i="0">
                <a:solidFill>
                  <a:srgbClr val="996B14"/>
                </a:solidFill>
                <a:latin typeface="Roboto"/>
              </a:rPr>
              <a:t>17</a:t>
            </a:r>
          </a:p>
        </p:txBody>
      </p:sp>
      <p:sp>
        <p:nvSpPr>
          <p:cNvPr id="13" name="TextBox 12">
            <a:hlinkClick action="ppaction://hlinksldjump" r:id="rId7"/>
          </p:cNvPr>
          <p:cNvSpPr txBox="1"/>
          <p:nvPr/>
        </p:nvSpPr>
        <p:spPr>
          <a:xfrm>
            <a:off x="6629400" y="2209800"/>
            <a:ext cx="1691640" cy="329184"/>
          </a:xfrm>
          <a:prstGeom prst="rect">
            <a:avLst/>
          </a:prstGeom>
          <a:noFill/>
        </p:spPr>
        <p:txBody>
          <a:bodyPr wrap="square" lIns="0" rIns="0" tIns="0" bIns="0" anchor="t">
            <a:spAutoFit/>
          </a:bodyPr>
          <a:lstStyle/>
          <a:p>
            <a:pPr algn="l"/>
            <a:r>
              <a:rPr sz="950" b="0" i="0">
                <a:solidFill>
                  <a:srgbClr val="003059"/>
                </a:solidFill>
                <a:latin typeface="Roboto"/>
              </a:rPr>
              <a:t>Solliciter une autre équipe</a:t>
            </a:r>
          </a:p>
        </p:txBody>
      </p:sp>
      <p:sp>
        <p:nvSpPr>
          <p:cNvPr id="14" name="TextBox 13">
            <a:hlinkClick action="ppaction://hlinksldjump" r:id="rId7"/>
          </p:cNvPr>
          <p:cNvSpPr txBox="1"/>
          <p:nvPr/>
        </p:nvSpPr>
        <p:spPr>
          <a:xfrm>
            <a:off x="8321040" y="2209800"/>
            <a:ext cx="320040" cy="182880"/>
          </a:xfrm>
          <a:prstGeom prst="rect">
            <a:avLst/>
          </a:prstGeom>
          <a:noFill/>
        </p:spPr>
        <p:txBody>
          <a:bodyPr wrap="square" lIns="0" rIns="0" tIns="0" bIns="0" anchor="t">
            <a:spAutoFit/>
          </a:bodyPr>
          <a:lstStyle/>
          <a:p>
            <a:pPr algn="r"/>
            <a:r>
              <a:rPr sz="950" b="1" i="0">
                <a:solidFill>
                  <a:srgbClr val="996B14"/>
                </a:solidFill>
                <a:latin typeface="Roboto"/>
              </a:rPr>
              <a:t>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Poser un statut et un commentaire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3-editor_1128.jpg"/>
          <p:cNvPicPr>
            <a:picLocks noChangeAspect="1"/>
          </p:cNvPicPr>
          <p:nvPr/>
        </p:nvPicPr>
        <p:blipFill>
          <a:blip r:embed="rId2"/>
          <a:stretch>
            <a:fillRect/>
          </a:stretch>
        </p:blipFill>
        <p:spPr>
          <a:xfrm>
            <a:off x="548640" y="1188720"/>
            <a:ext cx="4297680" cy="2095330"/>
          </a:xfrm>
          <a:prstGeom prst="rect">
            <a:avLst/>
          </a:prstGeom>
          <a:ln w="9525">
            <a:solidFill>
              <a:srgbClr val="D5DCE4"/>
            </a:solidFill>
          </a:ln>
        </p:spPr>
      </p:pic>
      <p:sp>
        <p:nvSpPr>
          <p:cNvPr id="7" name="Oval 6"/>
          <p:cNvSpPr/>
          <p:nvPr/>
        </p:nvSpPr>
        <p:spPr>
          <a:xfrm>
            <a:off x="548640" y="3465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3474720"/>
            <a:ext cx="3968496" cy="162560"/>
          </a:xfrm>
          <a:prstGeom prst="rect">
            <a:avLst/>
          </a:prstGeom>
          <a:noFill/>
        </p:spPr>
        <p:txBody>
          <a:bodyPr wrap="square" lIns="0" rIns="0" tIns="0" bIns="0" anchor="t">
            <a:spAutoFit/>
          </a:bodyPr>
          <a:lstStyle/>
          <a:p>
            <a:pPr algn="l"/>
            <a:r>
              <a:rPr sz="1000" b="1" i="0">
                <a:solidFill>
                  <a:srgbClr val="1F2A37"/>
                </a:solidFill>
                <a:latin typeface="Roboto"/>
              </a:rPr>
              <a:t>« Statut » </a:t>
            </a:r>
            <a:r>
              <a:rPr sz="1000" b="0" i="0">
                <a:solidFill>
                  <a:srgbClr val="1F2A37"/>
                </a:solidFill>
                <a:latin typeface="Roboto"/>
              </a:rPr>
              <a:t>: choisissez la valeur qui résume votre avis.</a:t>
            </a:r>
          </a:p>
        </p:txBody>
      </p:sp>
      <p:sp>
        <p:nvSpPr>
          <p:cNvPr id="9" name="Oval 8"/>
          <p:cNvSpPr/>
          <p:nvPr/>
        </p:nvSpPr>
        <p:spPr>
          <a:xfrm>
            <a:off x="548640" y="377647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877824" y="3785615"/>
            <a:ext cx="3968496" cy="325120"/>
          </a:xfrm>
          <a:prstGeom prst="rect">
            <a:avLst/>
          </a:prstGeom>
          <a:noFill/>
        </p:spPr>
        <p:txBody>
          <a:bodyPr wrap="square" lIns="0" rIns="0" tIns="0" bIns="0" anchor="t">
            <a:spAutoFit/>
          </a:bodyPr>
          <a:lstStyle/>
          <a:p>
            <a:pPr algn="l"/>
            <a:r>
              <a:rPr sz="1000" b="1" i="0">
                <a:solidFill>
                  <a:srgbClr val="1F2A37"/>
                </a:solidFill>
                <a:latin typeface="Roboto"/>
              </a:rPr>
              <a:t>« Commentaire » </a:t>
            </a:r>
            <a:r>
              <a:rPr sz="1000" b="0" i="0">
                <a:solidFill>
                  <a:srgbClr val="1F2A37"/>
                </a:solidFill>
                <a:latin typeface="Roboto"/>
              </a:rPr>
              <a:t>: recommandations, points d’attention, liens. Des fichiers peuvent être joints.</a:t>
            </a:r>
          </a:p>
        </p:txBody>
      </p:sp>
      <p:sp>
        <p:nvSpPr>
          <p:cNvPr id="11" name="Oval 10"/>
          <p:cNvSpPr/>
          <p:nvPr/>
        </p:nvSpPr>
        <p:spPr>
          <a:xfrm>
            <a:off x="548640" y="41564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877824" y="4165600"/>
            <a:ext cx="3968496" cy="162560"/>
          </a:xfrm>
          <a:prstGeom prst="rect">
            <a:avLst/>
          </a:prstGeom>
          <a:noFill/>
        </p:spPr>
        <p:txBody>
          <a:bodyPr wrap="square" lIns="0" rIns="0" tIns="0" bIns="0" anchor="t">
            <a:spAutoFit/>
          </a:bodyPr>
          <a:lstStyle/>
          <a:p>
            <a:pPr algn="l"/>
            <a:r>
              <a:rPr sz="1000" b="1" i="0">
                <a:solidFill>
                  <a:srgbClr val="1F2A37"/>
                </a:solidFill>
                <a:latin typeface="Roboto"/>
              </a:rPr>
              <a:t>« Enregistrer le commentaire »</a:t>
            </a:r>
            <a:r>
              <a:rPr sz="1000" b="0" i="0">
                <a:solidFill>
                  <a:srgbClr val="1F2A37"/>
                </a:solidFill>
                <a:latin typeface="Roboto"/>
              </a:rPr>
              <a:t/>
            </a:r>
          </a:p>
        </p:txBody>
      </p:sp>
      <p:sp>
        <p:nvSpPr>
          <p:cNvPr id="13" name="TextBox 12"/>
          <p:cNvSpPr txBox="1"/>
          <p:nvPr/>
        </p:nvSpPr>
        <p:spPr>
          <a:xfrm>
            <a:off x="5120640" y="1188720"/>
            <a:ext cx="3474720" cy="228600"/>
          </a:xfrm>
          <a:prstGeom prst="rect">
            <a:avLst/>
          </a:prstGeom>
          <a:noFill/>
        </p:spPr>
        <p:txBody>
          <a:bodyPr wrap="square" lIns="0" rIns="0" tIns="0" bIns="0" anchor="t">
            <a:spAutoFit/>
          </a:bodyPr>
          <a:lstStyle/>
          <a:p>
            <a:pPr algn="l"/>
            <a:r>
              <a:rPr sz="1000" b="1" i="0">
                <a:solidFill>
                  <a:srgbClr val="996B14"/>
                </a:solidFill>
                <a:latin typeface="Roboto"/>
              </a:rPr>
              <a:t>Les cinq statuts</a:t>
            </a:r>
          </a:p>
        </p:txBody>
      </p:sp>
      <p:sp>
        <p:nvSpPr>
          <p:cNvPr id="14" name="Rounded Rectangle 13"/>
          <p:cNvSpPr/>
          <p:nvPr/>
        </p:nvSpPr>
        <p:spPr>
          <a:xfrm>
            <a:off x="5120640" y="1481328"/>
            <a:ext cx="1600200" cy="292608"/>
          </a:xfrm>
          <a:prstGeom prst="roundRect">
            <a:avLst>
              <a:gd name="adj" fmla="val 50000"/>
            </a:avLst>
          </a:prstGeom>
          <a:solidFill>
            <a:srgbClr val="E3F6EC"/>
          </a:solidFill>
          <a:ln w="6350">
            <a:solidFill>
              <a:srgbClr val="13795B"/>
            </a:solidFill>
          </a:ln>
          <a:effectLst/>
        </p:spPr>
        <p:style>
          <a:lnRef idx="1">
            <a:schemeClr val="accent1"/>
          </a:lnRef>
          <a:fillRef idx="3">
            <a:schemeClr val="accent1"/>
          </a:fillRef>
          <a:effectRef idx="0">
            <a:schemeClr val="accent1"/>
          </a:effectRef>
          <a:fontRef idx="minor">
            <a:schemeClr val="lt1"/>
          </a:fontRef>
        </p:style>
        <p:txBody>
          <a:bodyPr rtlCol="0" anchor="ctr" tIns="0" bIns="0" lIns="27432" rIns="27432"/>
          <a:lstStyle/>
          <a:p>
            <a:pPr algn="ctr"/>
            <a:r>
              <a:rPr sz="850" b="1">
                <a:solidFill>
                  <a:srgbClr val="13795B"/>
                </a:solidFill>
                <a:latin typeface="Roboto"/>
              </a:rPr>
              <a:t>Validé</a:t>
            </a:r>
          </a:p>
        </p:txBody>
      </p:sp>
      <p:sp>
        <p:nvSpPr>
          <p:cNvPr id="15" name="TextBox 14"/>
          <p:cNvSpPr txBox="1"/>
          <p:nvPr/>
        </p:nvSpPr>
        <p:spPr>
          <a:xfrm>
            <a:off x="6812280" y="1517904"/>
            <a:ext cx="1783080" cy="411480"/>
          </a:xfrm>
          <a:prstGeom prst="rect">
            <a:avLst/>
          </a:prstGeom>
          <a:noFill/>
        </p:spPr>
        <p:txBody>
          <a:bodyPr wrap="square" lIns="0" rIns="0" tIns="0" bIns="0" anchor="t">
            <a:spAutoFit/>
          </a:bodyPr>
          <a:lstStyle/>
          <a:p>
            <a:pPr algn="l"/>
            <a:r>
              <a:rPr sz="900" b="0" i="0">
                <a:solidFill>
                  <a:srgbClr val="1F2A37"/>
                </a:solidFill>
                <a:latin typeface="Roboto"/>
              </a:rPr>
              <a:t>favorable</a:t>
            </a:r>
          </a:p>
        </p:txBody>
      </p:sp>
      <p:sp>
        <p:nvSpPr>
          <p:cNvPr id="16" name="Rounded Rectangle 15"/>
          <p:cNvSpPr/>
          <p:nvPr/>
        </p:nvSpPr>
        <p:spPr>
          <a:xfrm>
            <a:off x="5120640" y="1938528"/>
            <a:ext cx="1600200" cy="292608"/>
          </a:xfrm>
          <a:prstGeom prst="roundRect">
            <a:avLst>
              <a:gd name="adj" fmla="val 50000"/>
            </a:avLst>
          </a:prstGeom>
          <a:solidFill>
            <a:srgbClr val="FEF6D8"/>
          </a:solidFill>
          <a:ln w="6350">
            <a:solidFill>
              <a:srgbClr val="9A6A00"/>
            </a:solidFill>
          </a:ln>
          <a:effectLst/>
        </p:spPr>
        <p:style>
          <a:lnRef idx="1">
            <a:schemeClr val="accent1"/>
          </a:lnRef>
          <a:fillRef idx="3">
            <a:schemeClr val="accent1"/>
          </a:fillRef>
          <a:effectRef idx="0">
            <a:schemeClr val="accent1"/>
          </a:effectRef>
          <a:fontRef idx="minor">
            <a:schemeClr val="lt1"/>
          </a:fontRef>
        </p:style>
        <p:txBody>
          <a:bodyPr rtlCol="0" anchor="ctr" tIns="0" bIns="0" lIns="27432" rIns="27432"/>
          <a:lstStyle/>
          <a:p>
            <a:pPr algn="ctr"/>
            <a:r>
              <a:rPr sz="850" b="1">
                <a:solidFill>
                  <a:srgbClr val="9A6A00"/>
                </a:solidFill>
                <a:latin typeface="Roboto"/>
              </a:rPr>
              <a:t>Validé sous conditions</a:t>
            </a:r>
          </a:p>
        </p:txBody>
      </p:sp>
      <p:sp>
        <p:nvSpPr>
          <p:cNvPr id="17" name="TextBox 16"/>
          <p:cNvSpPr txBox="1"/>
          <p:nvPr/>
        </p:nvSpPr>
        <p:spPr>
          <a:xfrm>
            <a:off x="6812280" y="1975104"/>
            <a:ext cx="1783080" cy="411480"/>
          </a:xfrm>
          <a:prstGeom prst="rect">
            <a:avLst/>
          </a:prstGeom>
          <a:noFill/>
        </p:spPr>
        <p:txBody>
          <a:bodyPr wrap="square" lIns="0" rIns="0" tIns="0" bIns="0" anchor="t">
            <a:spAutoFit/>
          </a:bodyPr>
          <a:lstStyle/>
          <a:p>
            <a:pPr algn="l"/>
            <a:r>
              <a:rPr sz="900" b="0" i="0">
                <a:solidFill>
                  <a:srgbClr val="1F2A37"/>
                </a:solidFill>
                <a:latin typeface="Roboto"/>
              </a:rPr>
              <a:t>favorable</a:t>
            </a:r>
          </a:p>
        </p:txBody>
      </p:sp>
      <p:sp>
        <p:nvSpPr>
          <p:cNvPr id="18" name="Rounded Rectangle 17"/>
          <p:cNvSpPr/>
          <p:nvPr/>
        </p:nvSpPr>
        <p:spPr>
          <a:xfrm>
            <a:off x="5120640" y="2395728"/>
            <a:ext cx="1600200" cy="292608"/>
          </a:xfrm>
          <a:prstGeom prst="roundRect">
            <a:avLst>
              <a:gd name="adj" fmla="val 50000"/>
            </a:avLst>
          </a:prstGeom>
          <a:solidFill>
            <a:srgbClr val="F1F3F5"/>
          </a:solidFill>
          <a:ln w="6350">
            <a:solidFill>
              <a:srgbClr val="4B5563"/>
            </a:solidFill>
          </a:ln>
          <a:effectLst/>
        </p:spPr>
        <p:style>
          <a:lnRef idx="1">
            <a:schemeClr val="accent1"/>
          </a:lnRef>
          <a:fillRef idx="3">
            <a:schemeClr val="accent1"/>
          </a:fillRef>
          <a:effectRef idx="0">
            <a:schemeClr val="accent1"/>
          </a:effectRef>
          <a:fontRef idx="minor">
            <a:schemeClr val="lt1"/>
          </a:fontRef>
        </p:style>
        <p:txBody>
          <a:bodyPr rtlCol="0" anchor="ctr" tIns="0" bIns="0" lIns="27432" rIns="27432"/>
          <a:lstStyle/>
          <a:p>
            <a:pPr algn="ctr"/>
            <a:r>
              <a:rPr sz="850" b="1">
                <a:solidFill>
                  <a:srgbClr val="4B5563"/>
                </a:solidFill>
                <a:latin typeface="Roboto"/>
              </a:rPr>
              <a:t>Non concerné</a:t>
            </a:r>
          </a:p>
        </p:txBody>
      </p:sp>
      <p:sp>
        <p:nvSpPr>
          <p:cNvPr id="19" name="TextBox 18"/>
          <p:cNvSpPr txBox="1"/>
          <p:nvPr/>
        </p:nvSpPr>
        <p:spPr>
          <a:xfrm>
            <a:off x="6812280" y="2432304"/>
            <a:ext cx="1783080" cy="411480"/>
          </a:xfrm>
          <a:prstGeom prst="rect">
            <a:avLst/>
          </a:prstGeom>
          <a:noFill/>
        </p:spPr>
        <p:txBody>
          <a:bodyPr wrap="square" lIns="0" rIns="0" tIns="0" bIns="0" anchor="t">
            <a:spAutoFit/>
          </a:bodyPr>
          <a:lstStyle/>
          <a:p>
            <a:pPr algn="l"/>
            <a:r>
              <a:rPr sz="900" b="0" i="0">
                <a:solidFill>
                  <a:srgbClr val="1F2A37"/>
                </a:solidFill>
                <a:latin typeface="Roboto"/>
              </a:rPr>
              <a:t>favorable</a:t>
            </a:r>
          </a:p>
        </p:txBody>
      </p:sp>
      <p:sp>
        <p:nvSpPr>
          <p:cNvPr id="20" name="Rounded Rectangle 19"/>
          <p:cNvSpPr/>
          <p:nvPr/>
        </p:nvSpPr>
        <p:spPr>
          <a:xfrm>
            <a:off x="5120640" y="2852928"/>
            <a:ext cx="1600200" cy="292608"/>
          </a:xfrm>
          <a:prstGeom prst="roundRect">
            <a:avLst>
              <a:gd name="adj" fmla="val 50000"/>
            </a:avLst>
          </a:prstGeom>
          <a:solidFill>
            <a:srgbClr val="FEF6D8"/>
          </a:solidFill>
          <a:ln w="6350">
            <a:solidFill>
              <a:srgbClr val="9A6A00"/>
            </a:solidFill>
          </a:ln>
          <a:effectLst/>
        </p:spPr>
        <p:style>
          <a:lnRef idx="1">
            <a:schemeClr val="accent1"/>
          </a:lnRef>
          <a:fillRef idx="3">
            <a:schemeClr val="accent1"/>
          </a:fillRef>
          <a:effectRef idx="0">
            <a:schemeClr val="accent1"/>
          </a:effectRef>
          <a:fontRef idx="minor">
            <a:schemeClr val="lt1"/>
          </a:fontRef>
        </p:style>
        <p:txBody>
          <a:bodyPr rtlCol="0" anchor="ctr" tIns="0" bIns="0" lIns="27432" rIns="27432"/>
          <a:lstStyle/>
          <a:p>
            <a:pPr algn="ctr"/>
            <a:r>
              <a:rPr sz="850" b="1">
                <a:solidFill>
                  <a:srgbClr val="9A6A00"/>
                </a:solidFill>
                <a:latin typeface="Roboto"/>
              </a:rPr>
              <a:t>En attente d’informations</a:t>
            </a:r>
          </a:p>
        </p:txBody>
      </p:sp>
      <p:sp>
        <p:nvSpPr>
          <p:cNvPr id="21" name="TextBox 20"/>
          <p:cNvSpPr txBox="1"/>
          <p:nvPr/>
        </p:nvSpPr>
        <p:spPr>
          <a:xfrm>
            <a:off x="6812280" y="2889504"/>
            <a:ext cx="1783080" cy="411480"/>
          </a:xfrm>
          <a:prstGeom prst="rect">
            <a:avLst/>
          </a:prstGeom>
          <a:noFill/>
        </p:spPr>
        <p:txBody>
          <a:bodyPr wrap="square" lIns="0" rIns="0" tIns="0" bIns="0" anchor="t">
            <a:spAutoFit/>
          </a:bodyPr>
          <a:lstStyle/>
          <a:p>
            <a:pPr algn="l"/>
            <a:r>
              <a:rPr sz="900" b="0" i="0">
                <a:solidFill>
                  <a:srgbClr val="1F2A37"/>
                </a:solidFill>
                <a:latin typeface="Roboto"/>
              </a:rPr>
              <a:t>non favorable : vous attendez une réponse</a:t>
            </a:r>
          </a:p>
        </p:txBody>
      </p:sp>
      <p:sp>
        <p:nvSpPr>
          <p:cNvPr id="22" name="Rounded Rectangle 21"/>
          <p:cNvSpPr/>
          <p:nvPr/>
        </p:nvSpPr>
        <p:spPr>
          <a:xfrm>
            <a:off x="5120640" y="3310128"/>
            <a:ext cx="1600200" cy="292608"/>
          </a:xfrm>
          <a:prstGeom prst="roundRect">
            <a:avLst>
              <a:gd name="adj" fmla="val 50000"/>
            </a:avLst>
          </a:prstGeom>
          <a:solidFill>
            <a:srgbClr val="FDE8E8"/>
          </a:solidFill>
          <a:ln w="6350">
            <a:solidFill>
              <a:srgbClr val="B42318"/>
            </a:solidFill>
          </a:ln>
          <a:effectLst/>
        </p:spPr>
        <p:style>
          <a:lnRef idx="1">
            <a:schemeClr val="accent1"/>
          </a:lnRef>
          <a:fillRef idx="3">
            <a:schemeClr val="accent1"/>
          </a:fillRef>
          <a:effectRef idx="0">
            <a:schemeClr val="accent1"/>
          </a:effectRef>
          <a:fontRef idx="minor">
            <a:schemeClr val="lt1"/>
          </a:fontRef>
        </p:style>
        <p:txBody>
          <a:bodyPr rtlCol="0" anchor="ctr" tIns="0" bIns="0" lIns="27432" rIns="27432"/>
          <a:lstStyle/>
          <a:p>
            <a:pPr algn="ctr"/>
            <a:r>
              <a:rPr sz="850" b="1">
                <a:solidFill>
                  <a:srgbClr val="B42318"/>
                </a:solidFill>
                <a:latin typeface="Roboto"/>
              </a:rPr>
              <a:t>Refusé</a:t>
            </a:r>
          </a:p>
        </p:txBody>
      </p:sp>
      <p:sp>
        <p:nvSpPr>
          <p:cNvPr id="23" name="TextBox 22"/>
          <p:cNvSpPr txBox="1"/>
          <p:nvPr/>
        </p:nvSpPr>
        <p:spPr>
          <a:xfrm>
            <a:off x="6812280" y="3346704"/>
            <a:ext cx="1783080" cy="411480"/>
          </a:xfrm>
          <a:prstGeom prst="rect">
            <a:avLst/>
          </a:prstGeom>
          <a:noFill/>
        </p:spPr>
        <p:txBody>
          <a:bodyPr wrap="square" lIns="0" rIns="0" tIns="0" bIns="0" anchor="t">
            <a:spAutoFit/>
          </a:bodyPr>
          <a:lstStyle/>
          <a:p>
            <a:pPr algn="l"/>
            <a:r>
              <a:rPr sz="900" b="0" i="0">
                <a:solidFill>
                  <a:srgbClr val="1F2A37"/>
                </a:solidFill>
                <a:latin typeface="Roboto"/>
              </a:rPr>
              <a:t>suffit à faire passer le projet en « Refusé »</a:t>
            </a:r>
          </a:p>
        </p:txBody>
      </p:sp>
      <p:sp>
        <p:nvSpPr>
          <p:cNvPr id="24" name="Rounded Rectangle 23"/>
          <p:cNvSpPr/>
          <p:nvPr/>
        </p:nvSpPr>
        <p:spPr>
          <a:xfrm>
            <a:off x="5120640" y="3794760"/>
            <a:ext cx="3474720" cy="896112"/>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266944" y="3922776"/>
            <a:ext cx="3182112" cy="228600"/>
          </a:xfrm>
          <a:prstGeom prst="rect">
            <a:avLst/>
          </a:prstGeom>
          <a:noFill/>
        </p:spPr>
        <p:txBody>
          <a:bodyPr wrap="square" lIns="0" rIns="0" tIns="0" bIns="0" anchor="t">
            <a:spAutoFit/>
          </a:bodyPr>
          <a:lstStyle/>
          <a:p>
            <a:pPr algn="l"/>
            <a:r>
              <a:rPr sz="950" b="1" i="0">
                <a:solidFill>
                  <a:srgbClr val="996B14"/>
                </a:solidFill>
                <a:latin typeface="Roboto"/>
              </a:rPr>
              <a:t>À savoir</a:t>
            </a:r>
          </a:p>
        </p:txBody>
      </p:sp>
      <p:sp>
        <p:nvSpPr>
          <p:cNvPr id="26" name="TextBox 25"/>
          <p:cNvSpPr txBox="1"/>
          <p:nvPr/>
        </p:nvSpPr>
        <p:spPr>
          <a:xfrm>
            <a:off x="5266944" y="4197096"/>
            <a:ext cx="3182112" cy="402336"/>
          </a:xfrm>
          <a:prstGeom prst="rect">
            <a:avLst/>
          </a:prstGeom>
          <a:noFill/>
        </p:spPr>
        <p:txBody>
          <a:bodyPr wrap="square" lIns="0" rIns="0" tIns="0" bIns="0" anchor="t">
            <a:spAutoFit/>
          </a:bodyPr>
          <a:lstStyle/>
          <a:p>
            <a:pPr algn="l"/>
            <a:r>
              <a:rPr sz="900" b="0" i="0">
                <a:solidFill>
                  <a:srgbClr val="1F2A37"/>
                </a:solidFill>
                <a:latin typeface="Roboto"/>
              </a:rPr>
              <a:t>Sur une demande d’avis préliminaire, un avis favorable s’affiche « Avis préliminaire » chez le porteur, jamais « Validé » : vous orientez, vous ne validez pas.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Après l’enregistrement</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4-saved_809.jpg"/>
          <p:cNvPicPr>
            <a:picLocks noChangeAspect="1"/>
          </p:cNvPicPr>
          <p:nvPr/>
        </p:nvPicPr>
        <p:blipFill>
          <a:blip r:embed="rId2"/>
          <a:stretch>
            <a:fillRect/>
          </a:stretch>
        </p:blipFill>
        <p:spPr>
          <a:xfrm>
            <a:off x="548640" y="1188720"/>
            <a:ext cx="3083485" cy="3520440"/>
          </a:xfrm>
          <a:prstGeom prst="rect">
            <a:avLst/>
          </a:prstGeom>
          <a:ln w="9525">
            <a:solidFill>
              <a:srgbClr val="D5DCE4"/>
            </a:solidFill>
          </a:ln>
        </p:spPr>
      </p:pic>
      <p:sp>
        <p:nvSpPr>
          <p:cNvPr id="7" name="Oval 6"/>
          <p:cNvSpPr/>
          <p:nvPr/>
        </p:nvSpPr>
        <p:spPr>
          <a:xfrm>
            <a:off x="39319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4261104" y="1234440"/>
            <a:ext cx="4334255" cy="170687"/>
          </a:xfrm>
          <a:prstGeom prst="rect">
            <a:avLst/>
          </a:prstGeom>
          <a:noFill/>
        </p:spPr>
        <p:txBody>
          <a:bodyPr wrap="square" lIns="0" rIns="0" tIns="0" bIns="0" anchor="t">
            <a:spAutoFit/>
          </a:bodyPr>
          <a:lstStyle/>
          <a:p>
            <a:pPr algn="l"/>
            <a:r>
              <a:rPr sz="1050" b="1" i="0">
                <a:solidFill>
                  <a:srgbClr val="1F2A37"/>
                </a:solidFill>
                <a:latin typeface="Roboto"/>
              </a:rPr>
              <a:t>Le statut </a:t>
            </a:r>
            <a:r>
              <a:rPr sz="1050" b="0" i="0">
                <a:solidFill>
                  <a:srgbClr val="1F2A37"/>
                </a:solidFill>
                <a:latin typeface="Roboto"/>
              </a:rPr>
              <a:t>s’affiche en badge sur la carte de votre équipe.</a:t>
            </a:r>
          </a:p>
        </p:txBody>
      </p:sp>
      <p:sp>
        <p:nvSpPr>
          <p:cNvPr id="9" name="Oval 8"/>
          <p:cNvSpPr/>
          <p:nvPr/>
        </p:nvSpPr>
        <p:spPr>
          <a:xfrm>
            <a:off x="3931920" y="15910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4261104" y="1600200"/>
            <a:ext cx="4334255" cy="341375"/>
          </a:xfrm>
          <a:prstGeom prst="rect">
            <a:avLst/>
          </a:prstGeom>
          <a:noFill/>
        </p:spPr>
        <p:txBody>
          <a:bodyPr wrap="square" lIns="0" rIns="0" tIns="0" bIns="0" anchor="t">
            <a:spAutoFit/>
          </a:bodyPr>
          <a:lstStyle/>
          <a:p>
            <a:pPr algn="l"/>
            <a:r>
              <a:rPr sz="1050" b="1" i="0">
                <a:solidFill>
                  <a:srgbClr val="1F2A37"/>
                </a:solidFill>
                <a:latin typeface="Roboto"/>
              </a:rPr>
              <a:t>Vous devenez référent </a:t>
            </a:r>
            <a:r>
              <a:rPr sz="1050" b="0" i="0">
                <a:solidFill>
                  <a:srgbClr val="1F2A37"/>
                </a:solidFill>
                <a:latin typeface="Roboto"/>
              </a:rPr>
              <a:t>: « vous suivez ce projet pour cette équipe » ; « Ne plus suivre » le rend à l’équipe.</a:t>
            </a:r>
          </a:p>
        </p:txBody>
      </p:sp>
      <p:sp>
        <p:nvSpPr>
          <p:cNvPr id="11" name="Oval 10"/>
          <p:cNvSpPr/>
          <p:nvPr/>
        </p:nvSpPr>
        <p:spPr>
          <a:xfrm>
            <a:off x="3931920" y="20421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4261104" y="2051303"/>
            <a:ext cx="4334255" cy="170687"/>
          </a:xfrm>
          <a:prstGeom prst="rect">
            <a:avLst/>
          </a:prstGeom>
          <a:noFill/>
        </p:spPr>
        <p:txBody>
          <a:bodyPr wrap="square" lIns="0" rIns="0" tIns="0" bIns="0" anchor="t">
            <a:spAutoFit/>
          </a:bodyPr>
          <a:lstStyle/>
          <a:p>
            <a:pPr algn="l"/>
            <a:r>
              <a:rPr sz="1050" b="1" i="0">
                <a:solidFill>
                  <a:srgbClr val="1F2A37"/>
                </a:solidFill>
                <a:latin typeface="Roboto"/>
              </a:rPr>
              <a:t>Votre avis </a:t>
            </a:r>
            <a:r>
              <a:rPr sz="1050" b="0" i="0">
                <a:solidFill>
                  <a:srgbClr val="1F2A37"/>
                </a:solidFill>
                <a:latin typeface="Roboto"/>
              </a:rPr>
              <a:t>est visible du porteur.</a:t>
            </a:r>
          </a:p>
        </p:txBody>
      </p:sp>
      <p:sp>
        <p:nvSpPr>
          <p:cNvPr id="13" name="Rounded Rectangle 12"/>
          <p:cNvSpPr/>
          <p:nvPr/>
        </p:nvSpPr>
        <p:spPr>
          <a:xfrm>
            <a:off x="3931920" y="2743200"/>
            <a:ext cx="4663440" cy="133096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078224" y="2871216"/>
            <a:ext cx="4370831" cy="228600"/>
          </a:xfrm>
          <a:prstGeom prst="rect">
            <a:avLst/>
          </a:prstGeom>
          <a:noFill/>
        </p:spPr>
        <p:txBody>
          <a:bodyPr wrap="square" lIns="0" rIns="0" tIns="0" bIns="0" anchor="t">
            <a:spAutoFit/>
          </a:bodyPr>
          <a:lstStyle/>
          <a:p>
            <a:pPr algn="l"/>
            <a:r>
              <a:rPr sz="1000" b="1" i="0">
                <a:solidFill>
                  <a:srgbClr val="003059"/>
                </a:solidFill>
                <a:latin typeface="Roboto"/>
              </a:rPr>
              <a:t>Bon à savoir</a:t>
            </a:r>
          </a:p>
        </p:txBody>
      </p:sp>
      <p:sp>
        <p:nvSpPr>
          <p:cNvPr id="15" name="Oval 14"/>
          <p:cNvSpPr/>
          <p:nvPr/>
        </p:nvSpPr>
        <p:spPr>
          <a:xfrm>
            <a:off x="4078224" y="319620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261104" y="3145536"/>
            <a:ext cx="4187951" cy="308864"/>
          </a:xfrm>
          <a:prstGeom prst="rect">
            <a:avLst/>
          </a:prstGeom>
          <a:noFill/>
        </p:spPr>
        <p:txBody>
          <a:bodyPr wrap="square" lIns="0" rIns="0" tIns="0" bIns="0" anchor="t">
            <a:spAutoFit/>
          </a:bodyPr>
          <a:lstStyle/>
          <a:p>
            <a:pPr algn="l"/>
            <a:r>
              <a:rPr sz="950" b="0" i="0">
                <a:solidFill>
                  <a:srgbClr val="1F2A37"/>
                </a:solidFill>
                <a:latin typeface="Roboto"/>
              </a:rPr>
              <a:t>Tant que votre équipe n’a rien écrit, le porteur ne voit pas de carte d’avis vide : il voit « Échange en cours ».</a:t>
            </a:r>
          </a:p>
        </p:txBody>
      </p:sp>
      <p:sp>
        <p:nvSpPr>
          <p:cNvPr id="17" name="Oval 16"/>
          <p:cNvSpPr/>
          <p:nvPr/>
        </p:nvSpPr>
        <p:spPr>
          <a:xfrm>
            <a:off x="4078224" y="357822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261104" y="3527552"/>
            <a:ext cx="4187951" cy="308864"/>
          </a:xfrm>
          <a:prstGeom prst="rect">
            <a:avLst/>
          </a:prstGeom>
          <a:noFill/>
        </p:spPr>
        <p:txBody>
          <a:bodyPr wrap="square" lIns="0" rIns="0" tIns="0" bIns="0" anchor="t">
            <a:spAutoFit/>
          </a:bodyPr>
          <a:lstStyle/>
          <a:p>
            <a:pPr algn="l"/>
            <a:r>
              <a:rPr sz="950" b="0" i="0">
                <a:solidFill>
                  <a:srgbClr val="1F2A37"/>
                </a:solidFill>
                <a:latin typeface="Roboto"/>
              </a:rPr>
              <a:t>« Validé », « Validé sous conditions » et « Non concerné » comptent comme favorables pour le badge du projet.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Échanger avec le porteur</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5-reply_1104.jpg"/>
          <p:cNvPicPr>
            <a:picLocks noChangeAspect="1"/>
          </p:cNvPicPr>
          <p:nvPr/>
        </p:nvPicPr>
        <p:blipFill>
          <a:blip r:embed="rId2"/>
          <a:stretch>
            <a:fillRect/>
          </a:stretch>
        </p:blipFill>
        <p:spPr>
          <a:xfrm>
            <a:off x="548640" y="1188720"/>
            <a:ext cx="4206240" cy="1739930"/>
          </a:xfrm>
          <a:prstGeom prst="rect">
            <a:avLst/>
          </a:prstGeom>
          <a:ln w="9525">
            <a:solidFill>
              <a:srgbClr val="D5DCE4"/>
            </a:solidFill>
          </a:ln>
        </p:spPr>
      </p:pic>
      <p:sp>
        <p:nvSpPr>
          <p:cNvPr id="7" name="Oval 6"/>
          <p:cNvSpPr/>
          <p:nvPr/>
        </p:nvSpPr>
        <p:spPr>
          <a:xfrm>
            <a:off x="548640" y="31455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3154680"/>
            <a:ext cx="3877055" cy="170687"/>
          </a:xfrm>
          <a:prstGeom prst="rect">
            <a:avLst/>
          </a:prstGeom>
          <a:noFill/>
        </p:spPr>
        <p:txBody>
          <a:bodyPr wrap="square" lIns="0" rIns="0" tIns="0" bIns="0" anchor="t">
            <a:spAutoFit/>
          </a:bodyPr>
          <a:lstStyle/>
          <a:p>
            <a:pPr algn="l"/>
            <a:r>
              <a:rPr sz="1050" b="1" i="0">
                <a:solidFill>
                  <a:srgbClr val="1F2A37"/>
                </a:solidFill>
                <a:latin typeface="Roboto"/>
              </a:rPr>
              <a:t>Votre message </a:t>
            </a:r>
            <a:r>
              <a:rPr sz="1050" b="0" i="0">
                <a:solidFill>
                  <a:srgbClr val="1F2A37"/>
                </a:solidFill>
                <a:latin typeface="Roboto"/>
              </a:rPr>
              <a:t>: texte riche, liens, pièces jointes.</a:t>
            </a:r>
          </a:p>
        </p:txBody>
      </p:sp>
      <p:sp>
        <p:nvSpPr>
          <p:cNvPr id="9" name="Oval 8"/>
          <p:cNvSpPr/>
          <p:nvPr/>
        </p:nvSpPr>
        <p:spPr>
          <a:xfrm>
            <a:off x="548640" y="3511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877824" y="3520440"/>
            <a:ext cx="3877055" cy="170687"/>
          </a:xfrm>
          <a:prstGeom prst="rect">
            <a:avLst/>
          </a:prstGeom>
          <a:noFill/>
        </p:spPr>
        <p:txBody>
          <a:bodyPr wrap="square" lIns="0" rIns="0" tIns="0" bIns="0" anchor="t">
            <a:spAutoFit/>
          </a:bodyPr>
          <a:lstStyle/>
          <a:p>
            <a:pPr algn="l"/>
            <a:r>
              <a:rPr sz="1050" b="1" i="0">
                <a:solidFill>
                  <a:srgbClr val="1F2A37"/>
                </a:solidFill>
                <a:latin typeface="Roboto"/>
              </a:rPr>
              <a:t>« Envoyer la réponse »</a:t>
            </a:r>
            <a:r>
              <a:rPr sz="1050" b="0" i="0">
                <a:solidFill>
                  <a:srgbClr val="1F2A37"/>
                </a:solidFill>
                <a:latin typeface="Roboto"/>
              </a:rPr>
              <a:t/>
            </a:r>
          </a:p>
        </p:txBody>
      </p:sp>
      <p:sp>
        <p:nvSpPr>
          <p:cNvPr id="11" name="Oval 10"/>
          <p:cNvSpPr/>
          <p:nvPr/>
        </p:nvSpPr>
        <p:spPr>
          <a:xfrm>
            <a:off x="5029200" y="128778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212080" y="1234440"/>
            <a:ext cx="3383279" cy="325120"/>
          </a:xfrm>
          <a:prstGeom prst="rect">
            <a:avLst/>
          </a:prstGeom>
          <a:noFill/>
        </p:spPr>
        <p:txBody>
          <a:bodyPr wrap="square" lIns="0" rIns="0" tIns="0" bIns="0" anchor="t">
            <a:spAutoFit/>
          </a:bodyPr>
          <a:lstStyle/>
          <a:p>
            <a:pPr algn="l"/>
            <a:r>
              <a:rPr sz="1000" b="0" i="0">
                <a:solidFill>
                  <a:srgbClr val="1F2A37"/>
                </a:solidFill>
                <a:latin typeface="Roboto"/>
              </a:rPr>
              <a:t>« Répondre » sert à poser une question sans changer votre avis.</a:t>
            </a:r>
          </a:p>
        </p:txBody>
      </p:sp>
      <p:sp>
        <p:nvSpPr>
          <p:cNvPr id="13" name="Oval 12"/>
          <p:cNvSpPr/>
          <p:nvPr/>
        </p:nvSpPr>
        <p:spPr>
          <a:xfrm>
            <a:off x="5029200" y="168605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212080" y="1632712"/>
            <a:ext cx="3383279" cy="487680"/>
          </a:xfrm>
          <a:prstGeom prst="rect">
            <a:avLst/>
          </a:prstGeom>
          <a:noFill/>
        </p:spPr>
        <p:txBody>
          <a:bodyPr wrap="square" lIns="0" rIns="0" tIns="0" bIns="0" anchor="t">
            <a:spAutoFit/>
          </a:bodyPr>
          <a:lstStyle/>
          <a:p>
            <a:pPr algn="l"/>
            <a:r>
              <a:rPr sz="1000" b="0" i="0">
                <a:solidFill>
                  <a:srgbClr val="1F2A37"/>
                </a:solidFill>
                <a:latin typeface="Roboto"/>
              </a:rPr>
              <a:t>Le porteur est notifié de votre message ; ses réponses vous sont adressées si vous suivez le projet, sinon à l’équipe.</a:t>
            </a:r>
          </a:p>
        </p:txBody>
      </p:sp>
      <p:sp>
        <p:nvSpPr>
          <p:cNvPr id="15" name="Oval 14"/>
          <p:cNvSpPr/>
          <p:nvPr/>
        </p:nvSpPr>
        <p:spPr>
          <a:xfrm>
            <a:off x="5029200" y="224688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212080" y="2193544"/>
            <a:ext cx="3383279" cy="487680"/>
          </a:xfrm>
          <a:prstGeom prst="rect">
            <a:avLst/>
          </a:prstGeom>
          <a:noFill/>
        </p:spPr>
        <p:txBody>
          <a:bodyPr wrap="square" lIns="0" rIns="0" tIns="0" bIns="0" anchor="t">
            <a:spAutoFit/>
          </a:bodyPr>
          <a:lstStyle/>
          <a:p>
            <a:pPr algn="l"/>
            <a:r>
              <a:rPr sz="1000" b="0" i="0">
                <a:solidFill>
                  <a:srgbClr val="1F2A37"/>
                </a:solidFill>
                <a:latin typeface="Roboto"/>
              </a:rPr>
              <a:t>L’échange reste attaché au projet et à votre équipe : il est retrouvé par tous les contacts de l’équipe.</a:t>
            </a:r>
          </a:p>
        </p:txBody>
      </p:sp>
      <p:sp>
        <p:nvSpPr>
          <p:cNvPr id="17" name="Oval 16"/>
          <p:cNvSpPr/>
          <p:nvPr/>
        </p:nvSpPr>
        <p:spPr>
          <a:xfrm>
            <a:off x="5029200" y="2807716"/>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212080" y="2754376"/>
            <a:ext cx="3383279" cy="325120"/>
          </a:xfrm>
          <a:prstGeom prst="rect">
            <a:avLst/>
          </a:prstGeom>
          <a:noFill/>
        </p:spPr>
        <p:txBody>
          <a:bodyPr wrap="square" lIns="0" rIns="0" tIns="0" bIns="0" anchor="t">
            <a:spAutoFit/>
          </a:bodyPr>
          <a:lstStyle/>
          <a:p>
            <a:pPr algn="l"/>
            <a:r>
              <a:rPr sz="1000" b="0" i="0">
                <a:solidFill>
                  <a:srgbClr val="1F2A37"/>
                </a:solidFill>
                <a:latin typeface="Roboto"/>
              </a:rPr>
              <a:t>Si vous avez coché des « Langues de réponse acceptées » (partie 6), le porteur en est informé.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Solliciter une autre équipe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6-solicit_1248.jpg"/>
          <p:cNvPicPr>
            <a:picLocks noChangeAspect="1"/>
          </p:cNvPicPr>
          <p:nvPr/>
        </p:nvPicPr>
        <p:blipFill>
          <a:blip r:embed="rId2"/>
          <a:stretch>
            <a:fillRect/>
          </a:stretch>
        </p:blipFill>
        <p:spPr>
          <a:xfrm>
            <a:off x="548640" y="1188720"/>
            <a:ext cx="4754880" cy="710842"/>
          </a:xfrm>
          <a:prstGeom prst="rect">
            <a:avLst/>
          </a:prstGeom>
          <a:ln w="9525">
            <a:solidFill>
              <a:srgbClr val="D5DCE4"/>
            </a:solidFill>
          </a:ln>
        </p:spPr>
      </p:pic>
      <p:sp>
        <p:nvSpPr>
          <p:cNvPr id="7" name="Oval 6"/>
          <p:cNvSpPr/>
          <p:nvPr/>
        </p:nvSpPr>
        <p:spPr>
          <a:xfrm>
            <a:off x="548640" y="21396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2148840"/>
            <a:ext cx="4425696" cy="170687"/>
          </a:xfrm>
          <a:prstGeom prst="rect">
            <a:avLst/>
          </a:prstGeom>
          <a:noFill/>
        </p:spPr>
        <p:txBody>
          <a:bodyPr wrap="square" lIns="0" rIns="0" tIns="0" bIns="0" anchor="t">
            <a:spAutoFit/>
          </a:bodyPr>
          <a:lstStyle/>
          <a:p>
            <a:pPr algn="l"/>
            <a:r>
              <a:rPr sz="1050" b="1" i="0">
                <a:solidFill>
                  <a:srgbClr val="1F2A37"/>
                </a:solidFill>
                <a:latin typeface="Roboto"/>
              </a:rPr>
              <a:t>« Sélectionner une équipe » </a:t>
            </a:r>
            <a:r>
              <a:rPr sz="1050" b="0" i="0">
                <a:solidFill>
                  <a:srgbClr val="1F2A37"/>
                </a:solidFill>
                <a:latin typeface="Roboto"/>
              </a:rPr>
              <a:t>: choisissez l’équipe qui manque.</a:t>
            </a:r>
          </a:p>
        </p:txBody>
      </p:sp>
      <p:sp>
        <p:nvSpPr>
          <p:cNvPr id="9" name="Oval 8"/>
          <p:cNvSpPr/>
          <p:nvPr/>
        </p:nvSpPr>
        <p:spPr>
          <a:xfrm>
            <a:off x="548640" y="25054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877824" y="2514600"/>
            <a:ext cx="4425696" cy="341375"/>
          </a:xfrm>
          <a:prstGeom prst="rect">
            <a:avLst/>
          </a:prstGeom>
          <a:noFill/>
        </p:spPr>
        <p:txBody>
          <a:bodyPr wrap="square" lIns="0" rIns="0" tIns="0" bIns="0" anchor="t">
            <a:spAutoFit/>
          </a:bodyPr>
          <a:lstStyle/>
          <a:p>
            <a:pPr algn="l"/>
            <a:r>
              <a:rPr sz="1050" b="1" i="0">
                <a:solidFill>
                  <a:srgbClr val="1F2A37"/>
                </a:solidFill>
                <a:latin typeface="Roboto"/>
              </a:rPr>
              <a:t>« Solliciter cette équipe » </a:t>
            </a:r>
            <a:r>
              <a:rPr sz="1050" b="0" i="0">
                <a:solidFill>
                  <a:srgbClr val="1F2A37"/>
                </a:solidFill>
                <a:latin typeface="Roboto"/>
              </a:rPr>
              <a:t>: elle est ajoutée aux enjeux du projet et notifiée.</a:t>
            </a:r>
          </a:p>
        </p:txBody>
      </p:sp>
      <p:sp>
        <p:nvSpPr>
          <p:cNvPr id="11" name="Rounded Rectangle 10"/>
          <p:cNvSpPr/>
          <p:nvPr/>
        </p:nvSpPr>
        <p:spPr>
          <a:xfrm>
            <a:off x="5577840" y="1188720"/>
            <a:ext cx="3017520" cy="1379727"/>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724144" y="1316736"/>
            <a:ext cx="2724912" cy="228600"/>
          </a:xfrm>
          <a:prstGeom prst="rect">
            <a:avLst/>
          </a:prstGeom>
          <a:noFill/>
        </p:spPr>
        <p:txBody>
          <a:bodyPr wrap="square" lIns="0" rIns="0" tIns="0" bIns="0" anchor="t">
            <a:spAutoFit/>
          </a:bodyPr>
          <a:lstStyle/>
          <a:p>
            <a:pPr algn="l"/>
            <a:r>
              <a:rPr sz="1050" b="1" i="0">
                <a:solidFill>
                  <a:srgbClr val="003059"/>
                </a:solidFill>
                <a:latin typeface="Roboto"/>
              </a:rPr>
              <a:t>Et un collègue de votre équipe ?</a:t>
            </a:r>
          </a:p>
        </p:txBody>
      </p:sp>
      <p:sp>
        <p:nvSpPr>
          <p:cNvPr id="13" name="TextBox 12"/>
          <p:cNvSpPr txBox="1"/>
          <p:nvPr/>
        </p:nvSpPr>
        <p:spPr>
          <a:xfrm>
            <a:off x="5724144" y="1591056"/>
            <a:ext cx="2724912" cy="885951"/>
          </a:xfrm>
          <a:prstGeom prst="rect">
            <a:avLst/>
          </a:prstGeom>
          <a:noFill/>
        </p:spPr>
        <p:txBody>
          <a:bodyPr wrap="square" lIns="0" rIns="0" tIns="0" bIns="0" anchor="t">
            <a:spAutoFit/>
          </a:bodyPr>
          <a:lstStyle/>
          <a:p>
            <a:pPr algn="l"/>
            <a:r>
              <a:rPr sz="1000" b="0" i="0">
                <a:solidFill>
                  <a:srgbClr val="1F2A37"/>
                </a:solidFill>
                <a:latin typeface="Roboto"/>
              </a:rPr>
              <a:t>S’il n’est pas encore contact de l’équipe, ajoutez-le dans le back-office : onglet « Équipes », « Contacts e-mail » (partie 6). Il recevra alors les projets de l’équipe.</a:t>
            </a:r>
          </a:p>
        </p:txBody>
      </p:sp>
      <p:sp>
        <p:nvSpPr>
          <p:cNvPr id="14" name="Rounded Rectangle 13"/>
          <p:cNvSpPr/>
          <p:nvPr/>
        </p:nvSpPr>
        <p:spPr>
          <a:xfrm>
            <a:off x="548640" y="3200400"/>
            <a:ext cx="475488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94944" y="3328416"/>
            <a:ext cx="4462272"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6" name="TextBox 15"/>
          <p:cNvSpPr txBox="1"/>
          <p:nvPr/>
        </p:nvSpPr>
        <p:spPr>
          <a:xfrm>
            <a:off x="694944" y="3602736"/>
            <a:ext cx="4462272" cy="272288"/>
          </a:xfrm>
          <a:prstGeom prst="rect">
            <a:avLst/>
          </a:prstGeom>
          <a:noFill/>
        </p:spPr>
        <p:txBody>
          <a:bodyPr wrap="square" lIns="0" rIns="0" tIns="0" bIns="0" anchor="t">
            <a:spAutoFit/>
          </a:bodyPr>
          <a:lstStyle/>
          <a:p>
            <a:pPr algn="l"/>
            <a:r>
              <a:rPr sz="950" b="0" i="0">
                <a:solidFill>
                  <a:srgbClr val="1F2A37"/>
                </a:solidFill>
                <a:latin typeface="Roboto"/>
              </a:rPr>
              <a:t>Si la même équipe manque sur plusieurs projets, c’est qu’une règle manque : signalez-le à l’équipe concernée ou à un administrateur.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Suivre le projet dans le temps</a:t>
            </a:r>
          </a:p>
        </p:txBody>
      </p:sp>
      <p:sp>
        <p:nvSpPr>
          <p:cNvPr id="3" name="Text Placeholder 2"/>
          <p:cNvSpPr>
            <a:spLocks noGrp="1"/>
          </p:cNvSpPr>
          <p:nvPr>
            <p:ph type="body" idx="13" sz="quarter"/>
          </p:nvPr>
        </p:nvSpPr>
        <p:spPr/>
        <p:txBody>
          <a:bodyPr/>
          <a:lstStyle/>
          <a:p>
            <a:r>
              <a:t>4</a:t>
            </a:r>
          </a:p>
        </p:txBody>
      </p:sp>
      <p:pic>
        <p:nvPicPr>
          <p:cNvPr id="4" name="Picture Placeholder 3" descr="div3.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 À ré-examiner »</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20</a:t>
            </a:r>
          </a:p>
        </p:txBody>
      </p:sp>
      <p:sp>
        <p:nvSpPr>
          <p:cNvPr id="9" name="TextBox 8">
            <a:hlinkClick action="ppaction://hlinksldjump" r:id="rId5"/>
          </p:cNvPr>
          <p:cNvSpPr txBox="1"/>
          <p:nvPr/>
        </p:nvSpPr>
        <p:spPr>
          <a:xfrm>
            <a:off x="6629400" y="1681480"/>
            <a:ext cx="1691640" cy="329184"/>
          </a:xfrm>
          <a:prstGeom prst="rect">
            <a:avLst/>
          </a:prstGeom>
          <a:noFill/>
        </p:spPr>
        <p:txBody>
          <a:bodyPr wrap="square" lIns="0" rIns="0" tIns="0" bIns="0" anchor="t">
            <a:spAutoFit/>
          </a:bodyPr>
          <a:lstStyle/>
          <a:p>
            <a:pPr algn="l"/>
            <a:r>
              <a:rPr sz="950" b="0" i="0">
                <a:solidFill>
                  <a:srgbClr val="003059"/>
                </a:solidFill>
                <a:latin typeface="Roboto"/>
              </a:rPr>
              <a:t>La confirmation finale</a:t>
            </a:r>
          </a:p>
        </p:txBody>
      </p:sp>
      <p:sp>
        <p:nvSpPr>
          <p:cNvPr id="10" name="TextBox 9">
            <a:hlinkClick action="ppaction://hlinksldjump" r:id="rId5"/>
          </p:cNvPr>
          <p:cNvSpPr txBox="1"/>
          <p:nvPr/>
        </p:nvSpPr>
        <p:spPr>
          <a:xfrm>
            <a:off x="8321040" y="1681480"/>
            <a:ext cx="320040" cy="182880"/>
          </a:xfrm>
          <a:prstGeom prst="rect">
            <a:avLst/>
          </a:prstGeom>
          <a:noFill/>
        </p:spPr>
        <p:txBody>
          <a:bodyPr wrap="square" lIns="0" rIns="0" tIns="0" bIns="0" anchor="t">
            <a:spAutoFit/>
          </a:bodyPr>
          <a:lstStyle/>
          <a:p>
            <a:pPr algn="r"/>
            <a:r>
              <a:rPr sz="950" b="1" i="0">
                <a:solidFill>
                  <a:srgbClr val="996B14"/>
                </a:solidFill>
                <a:latin typeface="Roboto"/>
              </a:rPr>
              <a:t>21</a:t>
            </a:r>
          </a:p>
        </p:txBody>
      </p:sp>
      <p:sp>
        <p:nvSpPr>
          <p:cNvPr id="11" name="TextBox 10">
            <a:hlinkClick action="ppaction://hlinksldjump" r:id="rId6"/>
          </p:cNvPr>
          <p:cNvSpPr txBox="1"/>
          <p:nvPr/>
        </p:nvSpPr>
        <p:spPr>
          <a:xfrm>
            <a:off x="6629400" y="1945640"/>
            <a:ext cx="1691640" cy="329184"/>
          </a:xfrm>
          <a:prstGeom prst="rect">
            <a:avLst/>
          </a:prstGeom>
          <a:noFill/>
        </p:spPr>
        <p:txBody>
          <a:bodyPr wrap="square" lIns="0" rIns="0" tIns="0" bIns="0" anchor="t">
            <a:spAutoFit/>
          </a:bodyPr>
          <a:lstStyle/>
          <a:p>
            <a:pPr algn="l"/>
            <a:r>
              <a:rPr sz="950" b="0" i="0">
                <a:solidFill>
                  <a:srgbClr val="003059"/>
                </a:solidFill>
                <a:latin typeface="Roboto"/>
              </a:rPr>
              <a:t>Le comité de validation</a:t>
            </a:r>
          </a:p>
        </p:txBody>
      </p:sp>
      <p:sp>
        <p:nvSpPr>
          <p:cNvPr id="12" name="TextBox 11">
            <a:hlinkClick action="ppaction://hlinksldjump" r:id="rId6"/>
          </p:cNvPr>
          <p:cNvSpPr txBox="1"/>
          <p:nvPr/>
        </p:nvSpPr>
        <p:spPr>
          <a:xfrm>
            <a:off x="8321040" y="1945640"/>
            <a:ext cx="320040" cy="182880"/>
          </a:xfrm>
          <a:prstGeom prst="rect">
            <a:avLst/>
          </a:prstGeom>
          <a:noFill/>
        </p:spPr>
        <p:txBody>
          <a:bodyPr wrap="square" lIns="0" rIns="0" tIns="0" bIns="0" anchor="t">
            <a:spAutoFit/>
          </a:bodyPr>
          <a:lstStyle/>
          <a:p>
            <a:pPr algn="r"/>
            <a:r>
              <a:rPr sz="950" b="1" i="0">
                <a:solidFill>
                  <a:srgbClr val="996B14"/>
                </a:solidFill>
                <a:latin typeface="Roboto"/>
              </a:rPr>
              <a:t>22</a:t>
            </a:r>
          </a:p>
        </p:txBody>
      </p:sp>
      <p:sp>
        <p:nvSpPr>
          <p:cNvPr id="13" name="TextBox 12">
            <a:hlinkClick action="ppaction://hlinksldjump" r:id="rId7"/>
          </p:cNvPr>
          <p:cNvSpPr txBox="1"/>
          <p:nvPr/>
        </p:nvSpPr>
        <p:spPr>
          <a:xfrm>
            <a:off x="6629400" y="2209800"/>
            <a:ext cx="1691640" cy="329184"/>
          </a:xfrm>
          <a:prstGeom prst="rect">
            <a:avLst/>
          </a:prstGeom>
          <a:noFill/>
        </p:spPr>
        <p:txBody>
          <a:bodyPr wrap="square" lIns="0" rIns="0" tIns="0" bIns="0" anchor="t">
            <a:spAutoFit/>
          </a:bodyPr>
          <a:lstStyle/>
          <a:p>
            <a:pPr algn="l"/>
            <a:r>
              <a:rPr sz="950" b="0" i="0">
                <a:solidFill>
                  <a:srgbClr val="003059"/>
                </a:solidFill>
                <a:latin typeface="Roboto"/>
              </a:rPr>
              <a:t>Le lancement du projet</a:t>
            </a:r>
          </a:p>
        </p:txBody>
      </p:sp>
      <p:sp>
        <p:nvSpPr>
          <p:cNvPr id="14" name="TextBox 13">
            <a:hlinkClick action="ppaction://hlinksldjump" r:id="rId7"/>
          </p:cNvPr>
          <p:cNvSpPr txBox="1"/>
          <p:nvPr/>
        </p:nvSpPr>
        <p:spPr>
          <a:xfrm>
            <a:off x="8321040" y="2209800"/>
            <a:ext cx="320040" cy="182880"/>
          </a:xfrm>
          <a:prstGeom prst="rect">
            <a:avLst/>
          </a:prstGeom>
          <a:noFill/>
        </p:spPr>
        <p:txBody>
          <a:bodyPr wrap="square" lIns="0" rIns="0" tIns="0" bIns="0" anchor="t">
            <a:spAutoFit/>
          </a:bodyPr>
          <a:lstStyle/>
          <a:p>
            <a:pPr algn="r"/>
            <a:r>
              <a:rPr sz="950" b="1" i="0">
                <a:solidFill>
                  <a:srgbClr val="996B14"/>
                </a:solidFill>
                <a:latin typeface="Roboto"/>
              </a:rPr>
              <a:t>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Quand le projet change : « À ré-examiner »</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20-review_1344.jpg"/>
          <p:cNvPicPr>
            <a:picLocks noChangeAspect="1"/>
          </p:cNvPicPr>
          <p:nvPr/>
        </p:nvPicPr>
        <p:blipFill>
          <a:blip r:embed="rId2"/>
          <a:stretch>
            <a:fillRect/>
          </a:stretch>
        </p:blipFill>
        <p:spPr>
          <a:xfrm>
            <a:off x="548640" y="1188720"/>
            <a:ext cx="5120640" cy="1418233"/>
          </a:xfrm>
          <a:prstGeom prst="rect">
            <a:avLst/>
          </a:prstGeom>
          <a:ln w="9525">
            <a:solidFill>
              <a:srgbClr val="D5DCE4"/>
            </a:solidFill>
          </a:ln>
        </p:spPr>
      </p:pic>
      <p:sp>
        <p:nvSpPr>
          <p:cNvPr id="7" name="Oval 6"/>
          <p:cNvSpPr/>
          <p:nvPr/>
        </p:nvSpPr>
        <p:spPr>
          <a:xfrm>
            <a:off x="548640" y="28254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2834640"/>
            <a:ext cx="4791455" cy="341375"/>
          </a:xfrm>
          <a:prstGeom prst="rect">
            <a:avLst/>
          </a:prstGeom>
          <a:noFill/>
        </p:spPr>
        <p:txBody>
          <a:bodyPr wrap="square" lIns="0" rIns="0" tIns="0" bIns="0" anchor="t">
            <a:spAutoFit/>
          </a:bodyPr>
          <a:lstStyle/>
          <a:p>
            <a:pPr algn="l"/>
            <a:r>
              <a:rPr sz="1050" b="1" i="0">
                <a:solidFill>
                  <a:srgbClr val="1F2A37"/>
                </a:solidFill>
                <a:latin typeface="Roboto"/>
              </a:rPr>
              <a:t>« À ré-examiner » </a:t>
            </a:r>
            <a:r>
              <a:rPr sz="1050" b="0" i="0">
                <a:solidFill>
                  <a:srgbClr val="1F2A37"/>
                </a:solidFill>
                <a:latin typeface="Roboto"/>
              </a:rPr>
              <a:t>: une mise à jour du porteur touche votre périmètre.</a:t>
            </a:r>
          </a:p>
        </p:txBody>
      </p:sp>
      <p:sp>
        <p:nvSpPr>
          <p:cNvPr id="9" name="Oval 8"/>
          <p:cNvSpPr/>
          <p:nvPr/>
        </p:nvSpPr>
        <p:spPr>
          <a:xfrm>
            <a:off x="548640" y="327660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877824" y="3285744"/>
            <a:ext cx="4791455" cy="341375"/>
          </a:xfrm>
          <a:prstGeom prst="rect">
            <a:avLst/>
          </a:prstGeom>
          <a:noFill/>
        </p:spPr>
        <p:txBody>
          <a:bodyPr wrap="square" lIns="0" rIns="0" tIns="0" bIns="0" anchor="t">
            <a:spAutoFit/>
          </a:bodyPr>
          <a:lstStyle/>
          <a:p>
            <a:pPr algn="l"/>
            <a:r>
              <a:rPr sz="1050" b="1" i="0">
                <a:solidFill>
                  <a:srgbClr val="1F2A37"/>
                </a:solidFill>
                <a:latin typeface="Roboto"/>
              </a:rPr>
              <a:t>Les modifications </a:t>
            </a:r>
            <a:r>
              <a:rPr sz="1050" b="0" i="0">
                <a:solidFill>
                  <a:srgbClr val="1F2A37"/>
                </a:solidFill>
                <a:latin typeface="Roboto"/>
              </a:rPr>
              <a:t>de la dernière mise à jour, avec l’ancienne et la nouvelle réponse.</a:t>
            </a:r>
          </a:p>
        </p:txBody>
      </p:sp>
      <p:sp>
        <p:nvSpPr>
          <p:cNvPr id="11" name="Rounded Rectangle 10"/>
          <p:cNvSpPr/>
          <p:nvPr/>
        </p:nvSpPr>
        <p:spPr>
          <a:xfrm>
            <a:off x="5897880" y="1188720"/>
            <a:ext cx="2697480" cy="2249424"/>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044184" y="1316736"/>
            <a:ext cx="2404872" cy="228600"/>
          </a:xfrm>
          <a:prstGeom prst="rect">
            <a:avLst/>
          </a:prstGeom>
          <a:noFill/>
        </p:spPr>
        <p:txBody>
          <a:bodyPr wrap="square" lIns="0" rIns="0" tIns="0" bIns="0" anchor="t">
            <a:spAutoFit/>
          </a:bodyPr>
          <a:lstStyle/>
          <a:p>
            <a:pPr algn="l"/>
            <a:r>
              <a:rPr sz="1000" b="1" i="0">
                <a:solidFill>
                  <a:srgbClr val="003059"/>
                </a:solidFill>
                <a:latin typeface="Roboto"/>
              </a:rPr>
              <a:t>Ce qui se passe</a:t>
            </a:r>
          </a:p>
        </p:txBody>
      </p:sp>
      <p:sp>
        <p:nvSpPr>
          <p:cNvPr id="13" name="Oval 12"/>
          <p:cNvSpPr/>
          <p:nvPr/>
        </p:nvSpPr>
        <p:spPr>
          <a:xfrm>
            <a:off x="6044184" y="164172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227064" y="1591056"/>
            <a:ext cx="2221992" cy="308864"/>
          </a:xfrm>
          <a:prstGeom prst="rect">
            <a:avLst/>
          </a:prstGeom>
          <a:noFill/>
        </p:spPr>
        <p:txBody>
          <a:bodyPr wrap="square" lIns="0" rIns="0" tIns="0" bIns="0" anchor="t">
            <a:spAutoFit/>
          </a:bodyPr>
          <a:lstStyle/>
          <a:p>
            <a:pPr algn="l"/>
            <a:r>
              <a:rPr sz="950" b="0" i="0">
                <a:solidFill>
                  <a:srgbClr val="1F2A37"/>
                </a:solidFill>
                <a:latin typeface="Roboto"/>
              </a:rPr>
              <a:t>Le projet revient dans votre « À traiter ».</a:t>
            </a:r>
          </a:p>
        </p:txBody>
      </p:sp>
      <p:sp>
        <p:nvSpPr>
          <p:cNvPr id="15" name="Oval 14"/>
          <p:cNvSpPr/>
          <p:nvPr/>
        </p:nvSpPr>
        <p:spPr>
          <a:xfrm>
            <a:off x="6044184" y="202374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227064" y="1973071"/>
            <a:ext cx="2221992" cy="308864"/>
          </a:xfrm>
          <a:prstGeom prst="rect">
            <a:avLst/>
          </a:prstGeom>
          <a:noFill/>
        </p:spPr>
        <p:txBody>
          <a:bodyPr wrap="square" lIns="0" rIns="0" tIns="0" bIns="0" anchor="t">
            <a:spAutoFit/>
          </a:bodyPr>
          <a:lstStyle/>
          <a:p>
            <a:pPr algn="l"/>
            <a:r>
              <a:rPr sz="950" b="0" i="0">
                <a:solidFill>
                  <a:srgbClr val="1F2A37"/>
                </a:solidFill>
                <a:latin typeface="Roboto"/>
              </a:rPr>
              <a:t>Chez le porteur, un projet validé passe à « Validé — modifié depuis ».</a:t>
            </a:r>
          </a:p>
        </p:txBody>
      </p:sp>
      <p:sp>
        <p:nvSpPr>
          <p:cNvPr id="17" name="Oval 16"/>
          <p:cNvSpPr/>
          <p:nvPr/>
        </p:nvSpPr>
        <p:spPr>
          <a:xfrm>
            <a:off x="6044184" y="240576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227064" y="2355088"/>
            <a:ext cx="2221992" cy="463296"/>
          </a:xfrm>
          <a:prstGeom prst="rect">
            <a:avLst/>
          </a:prstGeom>
          <a:noFill/>
        </p:spPr>
        <p:txBody>
          <a:bodyPr wrap="square" lIns="0" rIns="0" tIns="0" bIns="0" anchor="t">
            <a:spAutoFit/>
          </a:bodyPr>
          <a:lstStyle/>
          <a:p>
            <a:pPr algn="l"/>
            <a:r>
              <a:rPr sz="950" b="0" i="0">
                <a:solidFill>
                  <a:srgbClr val="1F2A37"/>
                </a:solidFill>
                <a:latin typeface="Roboto"/>
              </a:rPr>
              <a:t>Rendez un nouvel avis : le badge redevient « Validé » s’il est favorable.</a:t>
            </a:r>
          </a:p>
        </p:txBody>
      </p:sp>
      <p:sp>
        <p:nvSpPr>
          <p:cNvPr id="19" name="Oval 18"/>
          <p:cNvSpPr/>
          <p:nvPr/>
        </p:nvSpPr>
        <p:spPr>
          <a:xfrm>
            <a:off x="6044184" y="294220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227064" y="2891535"/>
            <a:ext cx="2221992" cy="308864"/>
          </a:xfrm>
          <a:prstGeom prst="rect">
            <a:avLst/>
          </a:prstGeom>
          <a:noFill/>
        </p:spPr>
        <p:txBody>
          <a:bodyPr wrap="square" lIns="0" rIns="0" tIns="0" bIns="0" anchor="t">
            <a:spAutoFit/>
          </a:bodyPr>
          <a:lstStyle/>
          <a:p>
            <a:pPr algn="l"/>
            <a:r>
              <a:rPr sz="950" b="0" i="0">
                <a:solidFill>
                  <a:srgbClr val="1F2A37"/>
                </a:solidFill>
                <a:latin typeface="Roboto"/>
              </a:rPr>
              <a:t>Une mise à jour qui ne touche pas votre périmètre ne vous dérange pas.</a:t>
            </a:r>
          </a:p>
        </p:txBody>
      </p:sp>
      <p:sp>
        <p:nvSpPr>
          <p:cNvPr id="21" name="Rounded Rectangle 20"/>
          <p:cNvSpPr/>
          <p:nvPr/>
        </p:nvSpPr>
        <p:spPr>
          <a:xfrm>
            <a:off x="548640" y="3886200"/>
            <a:ext cx="512064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94944" y="4014215"/>
            <a:ext cx="4828031"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23" name="TextBox 22"/>
          <p:cNvSpPr txBox="1"/>
          <p:nvPr/>
        </p:nvSpPr>
        <p:spPr>
          <a:xfrm>
            <a:off x="694944" y="4288536"/>
            <a:ext cx="4828031" cy="272288"/>
          </a:xfrm>
          <a:prstGeom prst="rect">
            <a:avLst/>
          </a:prstGeom>
          <a:noFill/>
        </p:spPr>
        <p:txBody>
          <a:bodyPr wrap="square" lIns="0" rIns="0" tIns="0" bIns="0" anchor="t">
            <a:spAutoFit/>
          </a:bodyPr>
          <a:lstStyle/>
          <a:p>
            <a:pPr algn="l"/>
            <a:r>
              <a:rPr sz="950" b="0" i="0">
                <a:solidFill>
                  <a:srgbClr val="1F2A37"/>
                </a:solidFill>
                <a:latin typeface="Roboto"/>
              </a:rPr>
              <a:t>Les champs de texte libre (descriptions, jalons, fichiers) ne déclenchent aucune notification : aucune règle ne les lit.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confirmation finale avant lancement</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22-final_1344.jpg"/>
          <p:cNvPicPr>
            <a:picLocks noChangeAspect="1"/>
          </p:cNvPicPr>
          <p:nvPr/>
        </p:nvPicPr>
        <p:blipFill>
          <a:blip r:embed="rId2"/>
          <a:stretch>
            <a:fillRect/>
          </a:stretch>
        </p:blipFill>
        <p:spPr>
          <a:xfrm>
            <a:off x="548640" y="1188720"/>
            <a:ext cx="5120640" cy="1254590"/>
          </a:xfrm>
          <a:prstGeom prst="rect">
            <a:avLst/>
          </a:prstGeom>
          <a:ln w="9525">
            <a:solidFill>
              <a:srgbClr val="D5DCE4"/>
            </a:solidFill>
          </a:ln>
        </p:spPr>
      </p:pic>
      <p:sp>
        <p:nvSpPr>
          <p:cNvPr id="7" name="Oval 6"/>
          <p:cNvSpPr/>
          <p:nvPr/>
        </p:nvSpPr>
        <p:spPr>
          <a:xfrm>
            <a:off x="548640" y="26883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2697480"/>
            <a:ext cx="4791455" cy="341375"/>
          </a:xfrm>
          <a:prstGeom prst="rect">
            <a:avLst/>
          </a:prstGeom>
          <a:noFill/>
        </p:spPr>
        <p:txBody>
          <a:bodyPr wrap="square" lIns="0" rIns="0" tIns="0" bIns="0" anchor="t">
            <a:spAutoFit/>
          </a:bodyPr>
          <a:lstStyle/>
          <a:p>
            <a:pPr algn="l"/>
            <a:r>
              <a:rPr sz="1050" b="1" i="0">
                <a:solidFill>
                  <a:srgbClr val="1F2A37"/>
                </a:solidFill>
                <a:latin typeface="Roboto"/>
              </a:rPr>
              <a:t>« Je confirme mon avis » </a:t>
            </a:r>
            <a:r>
              <a:rPr sz="1050" b="0" i="0">
                <a:solidFill>
                  <a:srgbClr val="1F2A37"/>
                </a:solidFill>
                <a:latin typeface="Roboto"/>
              </a:rPr>
              <a:t>: un clic, votre avis couvre la version actuelle.</a:t>
            </a:r>
          </a:p>
        </p:txBody>
      </p:sp>
      <p:sp>
        <p:nvSpPr>
          <p:cNvPr id="9" name="Oval 8"/>
          <p:cNvSpPr/>
          <p:nvPr/>
        </p:nvSpPr>
        <p:spPr>
          <a:xfrm>
            <a:off x="548640" y="313944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877824" y="3148584"/>
            <a:ext cx="4791455" cy="341375"/>
          </a:xfrm>
          <a:prstGeom prst="rect">
            <a:avLst/>
          </a:prstGeom>
          <a:noFill/>
        </p:spPr>
        <p:txBody>
          <a:bodyPr wrap="square" lIns="0" rIns="0" tIns="0" bIns="0" anchor="t">
            <a:spAutoFit/>
          </a:bodyPr>
          <a:lstStyle/>
          <a:p>
            <a:pPr algn="l"/>
            <a:r>
              <a:rPr sz="1050" b="1" i="0">
                <a:solidFill>
                  <a:srgbClr val="1F2A37"/>
                </a:solidFill>
                <a:latin typeface="Roboto"/>
              </a:rPr>
              <a:t>« Je dois réexaminer » </a:t>
            </a:r>
            <a:r>
              <a:rPr sz="1050" b="0" i="0">
                <a:solidFill>
                  <a:srgbClr val="1F2A37"/>
                </a:solidFill>
                <a:latin typeface="Roboto"/>
              </a:rPr>
              <a:t>: votre carte passe en « À ré-examiner », la confirmation reste ouverte jusqu’à votre nouvel avis.</a:t>
            </a:r>
          </a:p>
        </p:txBody>
      </p:sp>
      <p:sp>
        <p:nvSpPr>
          <p:cNvPr id="11" name="Rounded Rectangle 10"/>
          <p:cNvSpPr/>
          <p:nvPr/>
        </p:nvSpPr>
        <p:spPr>
          <a:xfrm>
            <a:off x="5897880" y="1188720"/>
            <a:ext cx="2697480" cy="1712976"/>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044184" y="1316736"/>
            <a:ext cx="2404872" cy="228600"/>
          </a:xfrm>
          <a:prstGeom prst="rect">
            <a:avLst/>
          </a:prstGeom>
          <a:noFill/>
        </p:spPr>
        <p:txBody>
          <a:bodyPr wrap="square" lIns="0" rIns="0" tIns="0" bIns="0" anchor="t">
            <a:spAutoFit/>
          </a:bodyPr>
          <a:lstStyle/>
          <a:p>
            <a:pPr algn="l"/>
            <a:r>
              <a:rPr sz="1000" b="1" i="0">
                <a:solidFill>
                  <a:srgbClr val="003059"/>
                </a:solidFill>
                <a:latin typeface="Roboto"/>
              </a:rPr>
              <a:t>Ce qu’il faut savoir</a:t>
            </a:r>
          </a:p>
        </p:txBody>
      </p:sp>
      <p:sp>
        <p:nvSpPr>
          <p:cNvPr id="13" name="Oval 12"/>
          <p:cNvSpPr/>
          <p:nvPr/>
        </p:nvSpPr>
        <p:spPr>
          <a:xfrm>
            <a:off x="6044184" y="164172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227064" y="1591056"/>
            <a:ext cx="2221992" cy="308864"/>
          </a:xfrm>
          <a:prstGeom prst="rect">
            <a:avLst/>
          </a:prstGeom>
          <a:noFill/>
        </p:spPr>
        <p:txBody>
          <a:bodyPr wrap="square" lIns="0" rIns="0" tIns="0" bIns="0" anchor="t">
            <a:spAutoFit/>
          </a:bodyPr>
          <a:lstStyle/>
          <a:p>
            <a:pPr algn="l"/>
            <a:r>
              <a:rPr sz="950" b="0" i="0">
                <a:solidFill>
                  <a:srgbClr val="1F2A37"/>
                </a:solidFill>
                <a:latin typeface="Roboto"/>
              </a:rPr>
              <a:t>C’est le porteur qui demande la confirmation finale, avant de lancer.</a:t>
            </a:r>
          </a:p>
        </p:txBody>
      </p:sp>
      <p:sp>
        <p:nvSpPr>
          <p:cNvPr id="15" name="Oval 14"/>
          <p:cNvSpPr/>
          <p:nvPr/>
        </p:nvSpPr>
        <p:spPr>
          <a:xfrm>
            <a:off x="6044184" y="202374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227064" y="1973071"/>
            <a:ext cx="2221992" cy="308864"/>
          </a:xfrm>
          <a:prstGeom prst="rect">
            <a:avLst/>
          </a:prstGeom>
          <a:noFill/>
        </p:spPr>
        <p:txBody>
          <a:bodyPr wrap="square" lIns="0" rIns="0" tIns="0" bIns="0" anchor="t">
            <a:spAutoFit/>
          </a:bodyPr>
          <a:lstStyle/>
          <a:p>
            <a:pPr algn="l"/>
            <a:r>
              <a:rPr sz="950" b="0" i="0">
                <a:solidFill>
                  <a:srgbClr val="1F2A37"/>
                </a:solidFill>
                <a:latin typeface="Roboto"/>
              </a:rPr>
              <a:t>Seules les équipes qui ont déjà donné un avis sont sollicitées.</a:t>
            </a:r>
          </a:p>
        </p:txBody>
      </p:sp>
      <p:sp>
        <p:nvSpPr>
          <p:cNvPr id="17" name="Oval 16"/>
          <p:cNvSpPr/>
          <p:nvPr/>
        </p:nvSpPr>
        <p:spPr>
          <a:xfrm>
            <a:off x="6044184" y="240576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227064" y="2355088"/>
            <a:ext cx="2221992" cy="308864"/>
          </a:xfrm>
          <a:prstGeom prst="rect">
            <a:avLst/>
          </a:prstGeom>
          <a:noFill/>
        </p:spPr>
        <p:txBody>
          <a:bodyPr wrap="square" lIns="0" rIns="0" tIns="0" bIns="0" anchor="t">
            <a:spAutoFit/>
          </a:bodyPr>
          <a:lstStyle/>
          <a:p>
            <a:pPr algn="l"/>
            <a:r>
              <a:rPr sz="950" b="0" i="0">
                <a:solidFill>
                  <a:srgbClr val="1F2A37"/>
                </a:solidFill>
                <a:latin typeface="Roboto"/>
              </a:rPr>
              <a:t>Si vous republiez votre avis après la demande, cela vaut confirmation.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 comité de validation</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21-committee_864.jpg"/>
          <p:cNvPicPr>
            <a:picLocks noChangeAspect="1"/>
          </p:cNvPicPr>
          <p:nvPr/>
        </p:nvPicPr>
        <p:blipFill>
          <a:blip r:embed="rId2"/>
          <a:stretch>
            <a:fillRect/>
          </a:stretch>
        </p:blipFill>
        <p:spPr>
          <a:xfrm>
            <a:off x="548640" y="1188720"/>
            <a:ext cx="3291840" cy="2880360"/>
          </a:xfrm>
          <a:prstGeom prst="rect">
            <a:avLst/>
          </a:prstGeom>
          <a:ln w="9525">
            <a:solidFill>
              <a:srgbClr val="D5DCE4"/>
            </a:solidFill>
          </a:ln>
        </p:spPr>
      </p:pic>
      <p:sp>
        <p:nvSpPr>
          <p:cNvPr id="7" name="Oval 6"/>
          <p:cNvSpPr/>
          <p:nvPr/>
        </p:nvSpPr>
        <p:spPr>
          <a:xfrm>
            <a:off x="406908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4398264" y="1188720"/>
            <a:ext cx="4197096" cy="325120"/>
          </a:xfrm>
          <a:prstGeom prst="rect">
            <a:avLst/>
          </a:prstGeom>
          <a:noFill/>
        </p:spPr>
        <p:txBody>
          <a:bodyPr wrap="square" lIns="0" rIns="0" tIns="0" bIns="0" anchor="t">
            <a:spAutoFit/>
          </a:bodyPr>
          <a:lstStyle/>
          <a:p>
            <a:pPr algn="l"/>
            <a:r>
              <a:rPr sz="1000" b="1" i="0">
                <a:solidFill>
                  <a:srgbClr val="1F2A37"/>
                </a:solidFill>
                <a:latin typeface="Roboto"/>
              </a:rPr>
              <a:t>« Avis Comité » </a:t>
            </a:r>
            <a:r>
              <a:rPr sz="1000" b="0" i="0">
                <a:solidFill>
                  <a:srgbClr val="1F2A37"/>
                </a:solidFill>
                <a:latin typeface="Roboto"/>
              </a:rPr>
              <a:t>: section des enjeux du projet, accessible depuis le « Sommaire ».</a:t>
            </a:r>
          </a:p>
        </p:txBody>
      </p:sp>
      <p:sp>
        <p:nvSpPr>
          <p:cNvPr id="9" name="Oval 8"/>
          <p:cNvSpPr/>
          <p:nvPr/>
        </p:nvSpPr>
        <p:spPr>
          <a:xfrm>
            <a:off x="4069080" y="161442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4398264" y="1623568"/>
            <a:ext cx="4197096" cy="325120"/>
          </a:xfrm>
          <a:prstGeom prst="rect">
            <a:avLst/>
          </a:prstGeom>
          <a:noFill/>
        </p:spPr>
        <p:txBody>
          <a:bodyPr wrap="square" lIns="0" rIns="0" tIns="0" bIns="0" anchor="t">
            <a:spAutoFit/>
          </a:bodyPr>
          <a:lstStyle/>
          <a:p>
            <a:pPr algn="l"/>
            <a:r>
              <a:rPr sz="1000" b="1" i="0">
                <a:solidFill>
                  <a:srgbClr val="1F2A37"/>
                </a:solidFill>
                <a:latin typeface="Roboto"/>
              </a:rPr>
              <a:t>Commentaire requis ou optionnel </a:t>
            </a:r>
            <a:r>
              <a:rPr sz="1000" b="0" i="0">
                <a:solidFill>
                  <a:srgbClr val="1F2A37"/>
                </a:solidFill>
                <a:latin typeface="Roboto"/>
              </a:rPr>
              <a:t>selon la configuration du comité.</a:t>
            </a:r>
          </a:p>
        </p:txBody>
      </p:sp>
      <p:sp>
        <p:nvSpPr>
          <p:cNvPr id="11" name="Oval 10"/>
          <p:cNvSpPr/>
          <p:nvPr/>
        </p:nvSpPr>
        <p:spPr>
          <a:xfrm>
            <a:off x="4069080" y="204927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4398264" y="2058416"/>
            <a:ext cx="4197096" cy="325120"/>
          </a:xfrm>
          <a:prstGeom prst="rect">
            <a:avLst/>
          </a:prstGeom>
          <a:noFill/>
        </p:spPr>
        <p:txBody>
          <a:bodyPr wrap="square" lIns="0" rIns="0" tIns="0" bIns="0" anchor="t">
            <a:spAutoFit/>
          </a:bodyPr>
          <a:lstStyle/>
          <a:p>
            <a:pPr algn="l"/>
            <a:r>
              <a:rPr sz="1000" b="1" i="0">
                <a:solidFill>
                  <a:srgbClr val="1F2A37"/>
                </a:solidFill>
                <a:latin typeface="Roboto"/>
              </a:rPr>
              <a:t>Fil du comité </a:t>
            </a:r>
            <a:r>
              <a:rPr sz="1000" b="0" i="0">
                <a:solidFill>
                  <a:srgbClr val="1F2A37"/>
                </a:solidFill>
                <a:latin typeface="Roboto"/>
              </a:rPr>
              <a:t>: les membres échangent avec le porteur, puis « Envoyer la réponse ».</a:t>
            </a:r>
          </a:p>
        </p:txBody>
      </p:sp>
      <p:sp>
        <p:nvSpPr>
          <p:cNvPr id="13" name="Rounded Rectangle 12"/>
          <p:cNvSpPr/>
          <p:nvPr/>
        </p:nvSpPr>
        <p:spPr>
          <a:xfrm>
            <a:off x="4069080" y="2697480"/>
            <a:ext cx="4526280" cy="1485392"/>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215384" y="2825496"/>
            <a:ext cx="4233672" cy="228600"/>
          </a:xfrm>
          <a:prstGeom prst="rect">
            <a:avLst/>
          </a:prstGeom>
          <a:noFill/>
        </p:spPr>
        <p:txBody>
          <a:bodyPr wrap="square" lIns="0" rIns="0" tIns="0" bIns="0" anchor="t">
            <a:spAutoFit/>
          </a:bodyPr>
          <a:lstStyle/>
          <a:p>
            <a:pPr algn="l"/>
            <a:r>
              <a:rPr sz="1000" b="1" i="0">
                <a:solidFill>
                  <a:srgbClr val="003059"/>
                </a:solidFill>
                <a:latin typeface="Roboto"/>
              </a:rPr>
              <a:t>Faire passer un projet en comité</a:t>
            </a:r>
          </a:p>
        </p:txBody>
      </p:sp>
      <p:sp>
        <p:nvSpPr>
          <p:cNvPr id="15" name="Oval 14"/>
          <p:cNvSpPr/>
          <p:nvPr/>
        </p:nvSpPr>
        <p:spPr>
          <a:xfrm>
            <a:off x="4215384" y="315048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398264" y="3099816"/>
            <a:ext cx="4050791" cy="308864"/>
          </a:xfrm>
          <a:prstGeom prst="rect">
            <a:avLst/>
          </a:prstGeom>
          <a:noFill/>
        </p:spPr>
        <p:txBody>
          <a:bodyPr wrap="square" lIns="0" rIns="0" tIns="0" bIns="0" anchor="t">
            <a:spAutoFit/>
          </a:bodyPr>
          <a:lstStyle/>
          <a:p>
            <a:pPr algn="l"/>
            <a:r>
              <a:rPr sz="950" b="0" i="0">
                <a:solidFill>
                  <a:srgbClr val="1F2A37"/>
                </a:solidFill>
                <a:latin typeface="Roboto"/>
              </a:rPr>
              <a:t>Un comité se déclenche automatiquement selon ses critères (partie 6).</a:t>
            </a:r>
          </a:p>
        </p:txBody>
      </p:sp>
      <p:sp>
        <p:nvSpPr>
          <p:cNvPr id="17" name="Oval 16"/>
          <p:cNvSpPr/>
          <p:nvPr/>
        </p:nvSpPr>
        <p:spPr>
          <a:xfrm>
            <a:off x="4215384" y="353250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398264" y="3481832"/>
            <a:ext cx="4050791" cy="463296"/>
          </a:xfrm>
          <a:prstGeom prst="rect">
            <a:avLst/>
          </a:prstGeom>
          <a:noFill/>
        </p:spPr>
        <p:txBody>
          <a:bodyPr wrap="square" lIns="0" rIns="0" tIns="0" bIns="0" anchor="t">
            <a:spAutoFit/>
          </a:bodyPr>
          <a:lstStyle/>
          <a:p>
            <a:pPr algn="l"/>
            <a:r>
              <a:rPr sz="950" b="0" i="0">
                <a:solidFill>
                  <a:srgbClr val="1F2A37"/>
                </a:solidFill>
                <a:latin typeface="Roboto"/>
              </a:rPr>
              <a:t>Un membre du comité peut aussi y amener un projet : « Réintégrer en comité » dans la carte de son équipe, ou depuis l’onglet « Hors scope comité » de l’accueil. Le porteur en est informé.</a:t>
            </a:r>
          </a:p>
        </p:txBody>
      </p:sp>
      <p:sp>
        <p:nvSpPr>
          <p:cNvPr id="19" name="TextBox 18"/>
          <p:cNvSpPr txBox="1"/>
          <p:nvPr/>
        </p:nvSpPr>
        <p:spPr>
          <a:xfrm>
            <a:off x="548640" y="4251960"/>
            <a:ext cx="3291840" cy="457200"/>
          </a:xfrm>
          <a:prstGeom prst="rect">
            <a:avLst/>
          </a:prstGeom>
          <a:noFill/>
        </p:spPr>
        <p:txBody>
          <a:bodyPr wrap="square" lIns="0" rIns="0" tIns="0" bIns="0" anchor="t">
            <a:spAutoFit/>
          </a:bodyPr>
          <a:lstStyle/>
          <a:p>
            <a:pPr algn="l"/>
            <a:r>
              <a:rPr sz="900" b="0" i="1">
                <a:solidFill>
                  <a:srgbClr val="5B6573"/>
                </a:solidFill>
                <a:latin typeface="Roboto"/>
              </a:rPr>
              <a:t>Le statut et le commentaire du comité sont saisis par un administrateur en mode administrateur.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 lancement du projet</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23-launched_576.jpg"/>
          <p:cNvPicPr>
            <a:picLocks noChangeAspect="1"/>
          </p:cNvPicPr>
          <p:nvPr/>
        </p:nvPicPr>
        <p:blipFill>
          <a:blip r:embed="rId2"/>
          <a:stretch>
            <a:fillRect/>
          </a:stretch>
        </p:blipFill>
        <p:spPr>
          <a:xfrm>
            <a:off x="548640" y="1188720"/>
            <a:ext cx="2194560" cy="2743200"/>
          </a:xfrm>
          <a:prstGeom prst="rect">
            <a:avLst/>
          </a:prstGeom>
          <a:ln w="9525">
            <a:solidFill>
              <a:srgbClr val="D5DCE4"/>
            </a:solidFill>
          </a:ln>
        </p:spPr>
      </p:pic>
      <p:sp>
        <p:nvSpPr>
          <p:cNvPr id="7" name="Oval 6"/>
          <p:cNvSpPr/>
          <p:nvPr/>
        </p:nvSpPr>
        <p:spPr>
          <a:xfrm>
            <a:off x="548640" y="40599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4069080"/>
            <a:ext cx="1865376" cy="463296"/>
          </a:xfrm>
          <a:prstGeom prst="rect">
            <a:avLst/>
          </a:prstGeom>
          <a:noFill/>
        </p:spPr>
        <p:txBody>
          <a:bodyPr wrap="square" lIns="0" rIns="0" tIns="0" bIns="0" anchor="t">
            <a:spAutoFit/>
          </a:bodyPr>
          <a:lstStyle/>
          <a:p>
            <a:pPr algn="l"/>
            <a:r>
              <a:rPr sz="950" b="1" i="0">
                <a:solidFill>
                  <a:srgbClr val="1F2A37"/>
                </a:solidFill>
                <a:latin typeface="Roboto"/>
              </a:rPr>
              <a:t>« Le projet n’est pas lancé » </a:t>
            </a:r>
            <a:r>
              <a:rPr sz="950" b="0" i="0">
                <a:solidFill>
                  <a:srgbClr val="1F2A37"/>
                </a:solidFill>
                <a:latin typeface="Roboto"/>
              </a:rPr>
              <a:t>annule une déclaration faite par erreur.</a:t>
            </a:r>
          </a:p>
        </p:txBody>
      </p:sp>
      <p:sp>
        <p:nvSpPr>
          <p:cNvPr id="9" name="Oval 8"/>
          <p:cNvSpPr/>
          <p:nvPr/>
        </p:nvSpPr>
        <p:spPr>
          <a:xfrm>
            <a:off x="3017520" y="1290447"/>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3200400" y="1234440"/>
            <a:ext cx="5394959" cy="341375"/>
          </a:xfrm>
          <a:prstGeom prst="rect">
            <a:avLst/>
          </a:prstGeom>
          <a:noFill/>
        </p:spPr>
        <p:txBody>
          <a:bodyPr wrap="square" lIns="0" rIns="0" tIns="0" bIns="0" anchor="t">
            <a:spAutoFit/>
          </a:bodyPr>
          <a:lstStyle/>
          <a:p>
            <a:pPr algn="l"/>
            <a:r>
              <a:rPr sz="1050" b="0" i="0">
                <a:solidFill>
                  <a:srgbClr val="1F2A37"/>
                </a:solidFill>
                <a:latin typeface="Roboto"/>
              </a:rPr>
              <a:t>L’application ne devine pas un lancement : une date prévisionnelle dépassée ne prouve rien.</a:t>
            </a:r>
          </a:p>
        </p:txBody>
      </p:sp>
      <p:sp>
        <p:nvSpPr>
          <p:cNvPr id="11" name="Oval 10"/>
          <p:cNvSpPr/>
          <p:nvPr/>
        </p:nvSpPr>
        <p:spPr>
          <a:xfrm>
            <a:off x="3017520" y="170497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200400" y="1648968"/>
            <a:ext cx="5394959" cy="341375"/>
          </a:xfrm>
          <a:prstGeom prst="rect">
            <a:avLst/>
          </a:prstGeom>
          <a:noFill/>
        </p:spPr>
        <p:txBody>
          <a:bodyPr wrap="square" lIns="0" rIns="0" tIns="0" bIns="0" anchor="t">
            <a:spAutoFit/>
          </a:bodyPr>
          <a:lstStyle/>
          <a:p>
            <a:pPr algn="l"/>
            <a:r>
              <a:rPr sz="1050" b="0" i="0">
                <a:solidFill>
                  <a:srgbClr val="1F2A37"/>
                </a:solidFill>
                <a:latin typeface="Roboto"/>
              </a:rPr>
              <a:t>Le porteur, un administrateur ou un expert du périmètre du projet peut le déclarer : « Déclarer le projet lancé », en haut à gauche des enjeux.</a:t>
            </a:r>
          </a:p>
        </p:txBody>
      </p:sp>
      <p:sp>
        <p:nvSpPr>
          <p:cNvPr id="13" name="Oval 12"/>
          <p:cNvSpPr/>
          <p:nvPr/>
        </p:nvSpPr>
        <p:spPr>
          <a:xfrm>
            <a:off x="3017520" y="211950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200400" y="2063496"/>
            <a:ext cx="5394959" cy="341375"/>
          </a:xfrm>
          <a:prstGeom prst="rect">
            <a:avLst/>
          </a:prstGeom>
          <a:noFill/>
        </p:spPr>
        <p:txBody>
          <a:bodyPr wrap="square" lIns="0" rIns="0" tIns="0" bIns="0" anchor="t">
            <a:spAutoFit/>
          </a:bodyPr>
          <a:lstStyle/>
          <a:p>
            <a:pPr algn="l"/>
            <a:r>
              <a:rPr sz="1050" b="0" i="0">
                <a:solidFill>
                  <a:srgbClr val="1F2A37"/>
                </a:solidFill>
                <a:latin typeface="Roboto"/>
              </a:rPr>
              <a:t>Lancé avec une confirmation finale incomplète, le projet est signalé « Projet lancé sans confirmation finale ».</a:t>
            </a:r>
          </a:p>
        </p:txBody>
      </p:sp>
      <p:sp>
        <p:nvSpPr>
          <p:cNvPr id="15" name="Oval 14"/>
          <p:cNvSpPr/>
          <p:nvPr/>
        </p:nvSpPr>
        <p:spPr>
          <a:xfrm>
            <a:off x="3017520" y="2534031"/>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200400" y="2478024"/>
            <a:ext cx="5394959" cy="341375"/>
          </a:xfrm>
          <a:prstGeom prst="rect">
            <a:avLst/>
          </a:prstGeom>
          <a:noFill/>
        </p:spPr>
        <p:txBody>
          <a:bodyPr wrap="square" lIns="0" rIns="0" tIns="0" bIns="0" anchor="t">
            <a:spAutoFit/>
          </a:bodyPr>
          <a:lstStyle/>
          <a:p>
            <a:pPr algn="l"/>
            <a:r>
              <a:rPr sz="1050" b="0" i="0">
                <a:solidFill>
                  <a:srgbClr val="1F2A37"/>
                </a:solidFill>
                <a:latin typeface="Roboto"/>
              </a:rPr>
              <a:t>Si la date annoncée est passée pendant que la confirmation est en cours, le badge « Lancement en attente » indique que le délai est côté revue.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Mon profil : copies et absences</a:t>
            </a:r>
          </a:p>
        </p:txBody>
      </p:sp>
      <p:sp>
        <p:nvSpPr>
          <p:cNvPr id="3" name="Text Placeholder 2"/>
          <p:cNvSpPr>
            <a:spLocks noGrp="1"/>
          </p:cNvSpPr>
          <p:nvPr>
            <p:ph type="body" idx="13" sz="quarter"/>
          </p:nvPr>
        </p:nvSpPr>
        <p:spPr/>
        <p:txBody>
          <a:bodyPr/>
          <a:lstStyle/>
          <a:p>
            <a:r>
              <a:t>5</a:t>
            </a:r>
          </a:p>
        </p:txBody>
      </p:sp>
      <p:pic>
        <p:nvPicPr>
          <p:cNvPr id="4" name="Picture Placeholder 3" descr="div4.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05 · Mon profil : copies et absences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Copies et absence</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 profil : copies et absence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05 · Mon profil : copies et absences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07-profile_565.jpg"/>
          <p:cNvPicPr>
            <a:picLocks noChangeAspect="1"/>
          </p:cNvPicPr>
          <p:nvPr/>
        </p:nvPicPr>
        <p:blipFill>
          <a:blip r:embed="rId2"/>
          <a:stretch>
            <a:fillRect/>
          </a:stretch>
        </p:blipFill>
        <p:spPr>
          <a:xfrm>
            <a:off x="548640" y="1188720"/>
            <a:ext cx="2156058" cy="3520440"/>
          </a:xfrm>
          <a:prstGeom prst="rect">
            <a:avLst/>
          </a:prstGeom>
          <a:ln w="9525">
            <a:solidFill>
              <a:srgbClr val="D5DCE4"/>
            </a:solidFill>
          </a:ln>
        </p:spPr>
      </p:pic>
      <p:sp>
        <p:nvSpPr>
          <p:cNvPr id="7" name="Oval 6"/>
          <p:cNvSpPr/>
          <p:nvPr/>
        </p:nvSpPr>
        <p:spPr>
          <a:xfrm>
            <a:off x="30175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3346703" y="1234440"/>
            <a:ext cx="5248655" cy="512064"/>
          </a:xfrm>
          <a:prstGeom prst="rect">
            <a:avLst/>
          </a:prstGeom>
          <a:noFill/>
        </p:spPr>
        <p:txBody>
          <a:bodyPr wrap="square" lIns="0" rIns="0" tIns="0" bIns="0" anchor="t">
            <a:spAutoFit/>
          </a:bodyPr>
          <a:lstStyle/>
          <a:p>
            <a:pPr algn="l"/>
            <a:r>
              <a:rPr sz="1050" b="1" i="0">
                <a:solidFill>
                  <a:srgbClr val="1F2A37"/>
                </a:solidFill>
                <a:latin typeface="Roboto"/>
              </a:rPr>
              <a:t>« Copies des prises en charge » </a:t>
            </a:r>
            <a:r>
              <a:rPr sz="1050" b="0" i="0">
                <a:solidFill>
                  <a:srgbClr val="1F2A37"/>
                </a:solidFill>
                <a:latin typeface="Roboto"/>
              </a:rPr>
              <a:t>: désactivé par défaut. Coché, vous recevez une copie quand un collègue prend en charge un projet de cette équipe : cette annonce seulement, pas les échanges qui suivent.</a:t>
            </a:r>
          </a:p>
        </p:txBody>
      </p:sp>
      <p:sp>
        <p:nvSpPr>
          <p:cNvPr id="9" name="Oval 8"/>
          <p:cNvSpPr/>
          <p:nvPr/>
        </p:nvSpPr>
        <p:spPr>
          <a:xfrm>
            <a:off x="3017520" y="184708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3346703" y="1856232"/>
            <a:ext cx="5248655" cy="512064"/>
          </a:xfrm>
          <a:prstGeom prst="rect">
            <a:avLst/>
          </a:prstGeom>
          <a:noFill/>
        </p:spPr>
        <p:txBody>
          <a:bodyPr wrap="square" lIns="0" rIns="0" tIns="0" bIns="0" anchor="t">
            <a:spAutoFit/>
          </a:bodyPr>
          <a:lstStyle/>
          <a:p>
            <a:pPr algn="l"/>
            <a:r>
              <a:rPr sz="1050" b="1" i="0">
                <a:solidFill>
                  <a:srgbClr val="1F2A37"/>
                </a:solidFill>
                <a:latin typeface="Roboto"/>
              </a:rPr>
              <a:t>« Absence et suppléance » </a:t>
            </a:r>
            <a:r>
              <a:rPr sz="1050" b="0" i="0">
                <a:solidFill>
                  <a:srgbClr val="1F2A37"/>
                </a:solidFill>
                <a:latin typeface="Roboto"/>
              </a:rPr>
              <a:t>: dates et suppléant. Pendant cette période, les nouvelles sollicitations partent à votre suppléant et vos équipes peuvent reprendre les projets que vous suivez.</a:t>
            </a:r>
          </a:p>
        </p:txBody>
      </p:sp>
      <p:sp>
        <p:nvSpPr>
          <p:cNvPr id="11" name="Oval 10"/>
          <p:cNvSpPr/>
          <p:nvPr/>
        </p:nvSpPr>
        <p:spPr>
          <a:xfrm>
            <a:off x="3017520" y="246888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3346703" y="2478024"/>
            <a:ext cx="5248655" cy="170687"/>
          </a:xfrm>
          <a:prstGeom prst="rect">
            <a:avLst/>
          </a:prstGeom>
          <a:noFill/>
        </p:spPr>
        <p:txBody>
          <a:bodyPr wrap="square" lIns="0" rIns="0" tIns="0" bIns="0" anchor="t">
            <a:spAutoFit/>
          </a:bodyPr>
          <a:lstStyle/>
          <a:p>
            <a:pPr algn="l"/>
            <a:r>
              <a:rPr sz="1050" b="1" i="0">
                <a:solidFill>
                  <a:srgbClr val="1F2A37"/>
                </a:solidFill>
                <a:latin typeface="Roboto"/>
              </a:rPr>
              <a:t>« Enregistrer »</a:t>
            </a:r>
            <a:r>
              <a:rPr sz="1050" b="0" i="0">
                <a:solidFill>
                  <a:srgbClr val="1F2A37"/>
                </a:solidFill>
                <a:latin typeface="Roboto"/>
              </a:rPr>
              <a:t/>
            </a:r>
          </a:p>
        </p:txBody>
      </p:sp>
      <p:sp>
        <p:nvSpPr>
          <p:cNvPr id="13" name="Rounded Rectangle 12"/>
          <p:cNvSpPr/>
          <p:nvPr/>
        </p:nvSpPr>
        <p:spPr>
          <a:xfrm>
            <a:off x="3017520" y="3566160"/>
            <a:ext cx="5577840" cy="920496"/>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163824" y="3694176"/>
            <a:ext cx="5285231"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5" name="TextBox 14"/>
          <p:cNvSpPr txBox="1"/>
          <p:nvPr/>
        </p:nvSpPr>
        <p:spPr>
          <a:xfrm>
            <a:off x="3163824" y="3968496"/>
            <a:ext cx="5285231" cy="426720"/>
          </a:xfrm>
          <a:prstGeom prst="rect">
            <a:avLst/>
          </a:prstGeom>
          <a:noFill/>
        </p:spPr>
        <p:txBody>
          <a:bodyPr wrap="square" lIns="0" rIns="0" tIns="0" bIns="0" anchor="t">
            <a:spAutoFit/>
          </a:bodyPr>
          <a:lstStyle/>
          <a:p>
            <a:pPr algn="l"/>
            <a:r>
              <a:rPr sz="950" b="0" i="0">
                <a:solidFill>
                  <a:srgbClr val="1F2A37"/>
                </a:solidFill>
                <a:latin typeface="Roboto"/>
              </a:rPr>
              <a:t>Accès : icône ronde en haut à droite de l’accueil. Une absence peut aussi être déclarée par un collègue, dans le back-office (partie 6) : une absence imprévue n’est jamais déclarée par l’absent.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Le back-office de votre équipe</a:t>
            </a:r>
          </a:p>
        </p:txBody>
      </p:sp>
      <p:sp>
        <p:nvSpPr>
          <p:cNvPr id="3" name="Text Placeholder 2"/>
          <p:cNvSpPr>
            <a:spLocks noGrp="1"/>
          </p:cNvSpPr>
          <p:nvPr>
            <p:ph type="body" idx="13" sz="quarter"/>
          </p:nvPr>
        </p:nvSpPr>
        <p:spPr/>
        <p:txBody>
          <a:bodyPr/>
          <a:lstStyle/>
          <a:p>
            <a:r>
              <a:t>6</a:t>
            </a:r>
          </a:p>
        </p:txBody>
      </p:sp>
      <p:pic>
        <p:nvPicPr>
          <p:cNvPr id="4" name="Picture Placeholder 3" descr="div5.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Accéder au back-office</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27</a:t>
            </a:r>
          </a:p>
        </p:txBody>
      </p:sp>
      <p:sp>
        <p:nvSpPr>
          <p:cNvPr id="9" name="TextBox 8">
            <a:hlinkClick action="ppaction://hlinksldjump" r:id="rId5"/>
          </p:cNvPr>
          <p:cNvSpPr txBox="1"/>
          <p:nvPr/>
        </p:nvSpPr>
        <p:spPr>
          <a:xfrm>
            <a:off x="6629400" y="1681480"/>
            <a:ext cx="1691640" cy="329184"/>
          </a:xfrm>
          <a:prstGeom prst="rect">
            <a:avLst/>
          </a:prstGeom>
          <a:noFill/>
        </p:spPr>
        <p:txBody>
          <a:bodyPr wrap="square" lIns="0" rIns="0" tIns="0" bIns="0" anchor="t">
            <a:spAutoFit/>
          </a:bodyPr>
          <a:lstStyle/>
          <a:p>
            <a:pPr algn="l"/>
            <a:r>
              <a:rPr sz="950" b="0" i="0">
                <a:solidFill>
                  <a:srgbClr val="003059"/>
                </a:solidFill>
                <a:latin typeface="Roboto"/>
              </a:rPr>
              <a:t>Contacts et déclenchement</a:t>
            </a:r>
          </a:p>
        </p:txBody>
      </p:sp>
      <p:sp>
        <p:nvSpPr>
          <p:cNvPr id="10" name="TextBox 9">
            <a:hlinkClick action="ppaction://hlinksldjump" r:id="rId5"/>
          </p:cNvPr>
          <p:cNvSpPr txBox="1"/>
          <p:nvPr/>
        </p:nvSpPr>
        <p:spPr>
          <a:xfrm>
            <a:off x="8321040" y="1681480"/>
            <a:ext cx="320040" cy="182880"/>
          </a:xfrm>
          <a:prstGeom prst="rect">
            <a:avLst/>
          </a:prstGeom>
          <a:noFill/>
        </p:spPr>
        <p:txBody>
          <a:bodyPr wrap="square" lIns="0" rIns="0" tIns="0" bIns="0" anchor="t">
            <a:spAutoFit/>
          </a:bodyPr>
          <a:lstStyle/>
          <a:p>
            <a:pPr algn="r"/>
            <a:r>
              <a:rPr sz="950" b="1" i="0">
                <a:solidFill>
                  <a:srgbClr val="996B14"/>
                </a:solidFill>
                <a:latin typeface="Roboto"/>
              </a:rPr>
              <a:t>28</a:t>
            </a:r>
          </a:p>
        </p:txBody>
      </p:sp>
      <p:sp>
        <p:nvSpPr>
          <p:cNvPr id="11" name="TextBox 10">
            <a:hlinkClick action="ppaction://hlinksldjump" r:id="rId6"/>
          </p:cNvPr>
          <p:cNvSpPr txBox="1"/>
          <p:nvPr/>
        </p:nvSpPr>
        <p:spPr>
          <a:xfrm>
            <a:off x="6629400" y="1945640"/>
            <a:ext cx="1691640" cy="329184"/>
          </a:xfrm>
          <a:prstGeom prst="rect">
            <a:avLst/>
          </a:prstGeom>
          <a:noFill/>
        </p:spPr>
        <p:txBody>
          <a:bodyPr wrap="square" lIns="0" rIns="0" tIns="0" bIns="0" anchor="t">
            <a:spAutoFit/>
          </a:bodyPr>
          <a:lstStyle/>
          <a:p>
            <a:pPr algn="l"/>
            <a:r>
              <a:rPr sz="950" b="0" i="0">
                <a:solidFill>
                  <a:srgbClr val="003059"/>
                </a:solidFill>
                <a:latin typeface="Roboto"/>
              </a:rPr>
              <a:t>Prise en charge et absences</a:t>
            </a:r>
          </a:p>
        </p:txBody>
      </p:sp>
      <p:sp>
        <p:nvSpPr>
          <p:cNvPr id="12" name="TextBox 11">
            <a:hlinkClick action="ppaction://hlinksldjump" r:id="rId6"/>
          </p:cNvPr>
          <p:cNvSpPr txBox="1"/>
          <p:nvPr/>
        </p:nvSpPr>
        <p:spPr>
          <a:xfrm>
            <a:off x="8321040" y="1945640"/>
            <a:ext cx="320040" cy="182880"/>
          </a:xfrm>
          <a:prstGeom prst="rect">
            <a:avLst/>
          </a:prstGeom>
          <a:noFill/>
        </p:spPr>
        <p:txBody>
          <a:bodyPr wrap="square" lIns="0" rIns="0" tIns="0" bIns="0" anchor="t">
            <a:spAutoFit/>
          </a:bodyPr>
          <a:lstStyle/>
          <a:p>
            <a:pPr algn="r"/>
            <a:r>
              <a:rPr sz="950" b="1" i="0">
                <a:solidFill>
                  <a:srgbClr val="996B14"/>
                </a:solidFill>
                <a:latin typeface="Roboto"/>
              </a:rPr>
              <a:t>29</a:t>
            </a:r>
          </a:p>
        </p:txBody>
      </p:sp>
      <p:sp>
        <p:nvSpPr>
          <p:cNvPr id="13" name="TextBox 12">
            <a:hlinkClick action="ppaction://hlinksldjump" r:id="rId7"/>
          </p:cNvPr>
          <p:cNvSpPr txBox="1"/>
          <p:nvPr/>
        </p:nvSpPr>
        <p:spPr>
          <a:xfrm>
            <a:off x="6629400" y="2364232"/>
            <a:ext cx="1691640" cy="329184"/>
          </a:xfrm>
          <a:prstGeom prst="rect">
            <a:avLst/>
          </a:prstGeom>
          <a:noFill/>
        </p:spPr>
        <p:txBody>
          <a:bodyPr wrap="square" lIns="0" rIns="0" tIns="0" bIns="0" anchor="t">
            <a:spAutoFit/>
          </a:bodyPr>
          <a:lstStyle/>
          <a:p>
            <a:pPr algn="l"/>
            <a:r>
              <a:rPr sz="950" b="0" i="0">
                <a:solidFill>
                  <a:srgbClr val="003059"/>
                </a:solidFill>
                <a:latin typeface="Roboto"/>
              </a:rPr>
              <a:t>Réattribuer, expertise, langues</a:t>
            </a:r>
          </a:p>
        </p:txBody>
      </p:sp>
      <p:sp>
        <p:nvSpPr>
          <p:cNvPr id="14" name="TextBox 13">
            <a:hlinkClick action="ppaction://hlinksldjump" r:id="rId7"/>
          </p:cNvPr>
          <p:cNvSpPr txBox="1"/>
          <p:nvPr/>
        </p:nvSpPr>
        <p:spPr>
          <a:xfrm>
            <a:off x="8321040" y="2364232"/>
            <a:ext cx="320040" cy="182880"/>
          </a:xfrm>
          <a:prstGeom prst="rect">
            <a:avLst/>
          </a:prstGeom>
          <a:noFill/>
        </p:spPr>
        <p:txBody>
          <a:bodyPr wrap="square" lIns="0" rIns="0" tIns="0" bIns="0" anchor="t">
            <a:spAutoFit/>
          </a:bodyPr>
          <a:lstStyle/>
          <a:p>
            <a:pPr algn="r"/>
            <a:r>
              <a:rPr sz="950" b="1" i="0">
                <a:solidFill>
                  <a:srgbClr val="996B14"/>
                </a:solidFill>
                <a:latin typeface="Roboto"/>
              </a:rPr>
              <a:t>30</a:t>
            </a:r>
          </a:p>
        </p:txBody>
      </p:sp>
      <p:sp>
        <p:nvSpPr>
          <p:cNvPr id="15" name="TextBox 14">
            <a:hlinkClick action="ppaction://hlinksldjump" r:id="rId8"/>
          </p:cNvPr>
          <p:cNvSpPr txBox="1"/>
          <p:nvPr/>
        </p:nvSpPr>
        <p:spPr>
          <a:xfrm>
            <a:off x="6629400" y="2782824"/>
            <a:ext cx="1691640" cy="329184"/>
          </a:xfrm>
          <a:prstGeom prst="rect">
            <a:avLst/>
          </a:prstGeom>
          <a:noFill/>
        </p:spPr>
        <p:txBody>
          <a:bodyPr wrap="square" lIns="0" rIns="0" tIns="0" bIns="0" anchor="t">
            <a:spAutoFit/>
          </a:bodyPr>
          <a:lstStyle/>
          <a:p>
            <a:pPr algn="l"/>
            <a:r>
              <a:rPr sz="950" b="0" i="0">
                <a:solidFill>
                  <a:srgbClr val="003059"/>
                </a:solidFill>
                <a:latin typeface="Roboto"/>
              </a:rPr>
              <a:t>Vos règles</a:t>
            </a:r>
          </a:p>
        </p:txBody>
      </p:sp>
      <p:sp>
        <p:nvSpPr>
          <p:cNvPr id="16" name="TextBox 15">
            <a:hlinkClick action="ppaction://hlinksldjump" r:id="rId8"/>
          </p:cNvPr>
          <p:cNvSpPr txBox="1"/>
          <p:nvPr/>
        </p:nvSpPr>
        <p:spPr>
          <a:xfrm>
            <a:off x="8321040" y="2782824"/>
            <a:ext cx="320040" cy="182880"/>
          </a:xfrm>
          <a:prstGeom prst="rect">
            <a:avLst/>
          </a:prstGeom>
          <a:noFill/>
        </p:spPr>
        <p:txBody>
          <a:bodyPr wrap="square" lIns="0" rIns="0" tIns="0" bIns="0" anchor="t">
            <a:spAutoFit/>
          </a:bodyPr>
          <a:lstStyle/>
          <a:p>
            <a:pPr algn="r"/>
            <a:r>
              <a:rPr sz="950" b="1" i="0">
                <a:solidFill>
                  <a:srgbClr val="996B14"/>
                </a:solidFill>
                <a:latin typeface="Roboto"/>
              </a:rPr>
              <a:t>31</a:t>
            </a:r>
          </a:p>
        </p:txBody>
      </p:sp>
      <p:sp>
        <p:nvSpPr>
          <p:cNvPr id="17" name="TextBox 16">
            <a:hlinkClick action="ppaction://hlinksldjump" r:id="rId9"/>
          </p:cNvPr>
          <p:cNvSpPr txBox="1"/>
          <p:nvPr/>
        </p:nvSpPr>
        <p:spPr>
          <a:xfrm>
            <a:off x="6629400" y="3046984"/>
            <a:ext cx="1691640" cy="329184"/>
          </a:xfrm>
          <a:prstGeom prst="rect">
            <a:avLst/>
          </a:prstGeom>
          <a:noFill/>
        </p:spPr>
        <p:txBody>
          <a:bodyPr wrap="square" lIns="0" rIns="0" tIns="0" bIns="0" anchor="t">
            <a:spAutoFit/>
          </a:bodyPr>
          <a:lstStyle/>
          <a:p>
            <a:pPr algn="l"/>
            <a:r>
              <a:rPr sz="950" b="0" i="0">
                <a:solidFill>
                  <a:srgbClr val="003059"/>
                </a:solidFill>
                <a:latin typeface="Roboto"/>
              </a:rPr>
              <a:t>Éditer une règle</a:t>
            </a:r>
          </a:p>
        </p:txBody>
      </p:sp>
      <p:sp>
        <p:nvSpPr>
          <p:cNvPr id="18" name="TextBox 17">
            <a:hlinkClick action="ppaction://hlinksldjump" r:id="rId9"/>
          </p:cNvPr>
          <p:cNvSpPr txBox="1"/>
          <p:nvPr/>
        </p:nvSpPr>
        <p:spPr>
          <a:xfrm>
            <a:off x="8321040" y="3046984"/>
            <a:ext cx="320040" cy="182880"/>
          </a:xfrm>
          <a:prstGeom prst="rect">
            <a:avLst/>
          </a:prstGeom>
          <a:noFill/>
        </p:spPr>
        <p:txBody>
          <a:bodyPr wrap="square" lIns="0" rIns="0" tIns="0" bIns="0" anchor="t">
            <a:spAutoFit/>
          </a:bodyPr>
          <a:lstStyle/>
          <a:p>
            <a:pPr algn="r"/>
            <a:r>
              <a:rPr sz="950" b="1" i="0">
                <a:solidFill>
                  <a:srgbClr val="996B14"/>
                </a:solidFill>
                <a:latin typeface="Roboto"/>
              </a:rPr>
              <a:t>32</a:t>
            </a:r>
          </a:p>
        </p:txBody>
      </p:sp>
      <p:sp>
        <p:nvSpPr>
          <p:cNvPr id="19" name="TextBox 18">
            <a:hlinkClick action="ppaction://hlinksldjump" r:id="rId10"/>
          </p:cNvPr>
          <p:cNvSpPr txBox="1"/>
          <p:nvPr/>
        </p:nvSpPr>
        <p:spPr>
          <a:xfrm>
            <a:off x="6629400" y="3311144"/>
            <a:ext cx="1691640" cy="329184"/>
          </a:xfrm>
          <a:prstGeom prst="rect">
            <a:avLst/>
          </a:prstGeom>
          <a:noFill/>
        </p:spPr>
        <p:txBody>
          <a:bodyPr wrap="square" lIns="0" rIns="0" tIns="0" bIns="0" anchor="t">
            <a:spAutoFit/>
          </a:bodyPr>
          <a:lstStyle/>
          <a:p>
            <a:pPr algn="l"/>
            <a:r>
              <a:rPr sz="950" b="0" i="0">
                <a:solidFill>
                  <a:srgbClr val="003059"/>
                </a:solidFill>
                <a:latin typeface="Roboto"/>
              </a:rPr>
              <a:t>Comités de validation</a:t>
            </a:r>
          </a:p>
        </p:txBody>
      </p:sp>
      <p:sp>
        <p:nvSpPr>
          <p:cNvPr id="20" name="TextBox 19">
            <a:hlinkClick action="ppaction://hlinksldjump" r:id="rId10"/>
          </p:cNvPr>
          <p:cNvSpPr txBox="1"/>
          <p:nvPr/>
        </p:nvSpPr>
        <p:spPr>
          <a:xfrm>
            <a:off x="8321040" y="3311144"/>
            <a:ext cx="320040" cy="182880"/>
          </a:xfrm>
          <a:prstGeom prst="rect">
            <a:avLst/>
          </a:prstGeom>
          <a:noFill/>
        </p:spPr>
        <p:txBody>
          <a:bodyPr wrap="square" lIns="0" rIns="0" tIns="0" bIns="0" anchor="t">
            <a:spAutoFit/>
          </a:bodyPr>
          <a:lstStyle/>
          <a:p>
            <a:pPr algn="r"/>
            <a:r>
              <a:rPr sz="950" b="1" i="0">
                <a:solidFill>
                  <a:srgbClr val="996B14"/>
                </a:solidFill>
                <a:latin typeface="Roboto"/>
              </a:rPr>
              <a:t>34</a:t>
            </a:r>
          </a:p>
        </p:txBody>
      </p:sp>
      <p:sp>
        <p:nvSpPr>
          <p:cNvPr id="21" name="TextBox 20">
            <a:hlinkClick action="ppaction://hlinksldjump" r:id="rId11"/>
          </p:cNvPr>
          <p:cNvSpPr txBox="1"/>
          <p:nvPr/>
        </p:nvSpPr>
        <p:spPr>
          <a:xfrm>
            <a:off x="6629400" y="3575303"/>
            <a:ext cx="1691640" cy="329184"/>
          </a:xfrm>
          <a:prstGeom prst="rect">
            <a:avLst/>
          </a:prstGeom>
          <a:noFill/>
        </p:spPr>
        <p:txBody>
          <a:bodyPr wrap="square" lIns="0" rIns="0" tIns="0" bIns="0" anchor="t">
            <a:spAutoFit/>
          </a:bodyPr>
          <a:lstStyle/>
          <a:p>
            <a:pPr algn="l"/>
            <a:r>
              <a:rPr sz="950" b="0" i="0">
                <a:solidFill>
                  <a:srgbClr val="003059"/>
                </a:solidFill>
                <a:latin typeface="Roboto"/>
              </a:rPr>
              <a:t>Revue des règles</a:t>
            </a:r>
          </a:p>
        </p:txBody>
      </p:sp>
      <p:sp>
        <p:nvSpPr>
          <p:cNvPr id="22" name="TextBox 21">
            <a:hlinkClick action="ppaction://hlinksldjump" r:id="rId11"/>
          </p:cNvPr>
          <p:cNvSpPr txBox="1"/>
          <p:nvPr/>
        </p:nvSpPr>
        <p:spPr>
          <a:xfrm>
            <a:off x="8321040" y="3575303"/>
            <a:ext cx="320040" cy="182880"/>
          </a:xfrm>
          <a:prstGeom prst="rect">
            <a:avLst/>
          </a:prstGeom>
          <a:noFill/>
        </p:spPr>
        <p:txBody>
          <a:bodyPr wrap="square" lIns="0" rIns="0" tIns="0" bIns="0" anchor="t">
            <a:spAutoFit/>
          </a:bodyPr>
          <a:lstStyle/>
          <a:p>
            <a:pPr algn="r"/>
            <a:r>
              <a:rPr sz="950" b="1" i="0">
                <a:solidFill>
                  <a:srgbClr val="996B14"/>
                </a:solidFill>
                <a:latin typeface="Roboto"/>
              </a:rPr>
              <a:t>35</a:t>
            </a:r>
          </a:p>
        </p:txBody>
      </p:sp>
      <p:sp>
        <p:nvSpPr>
          <p:cNvPr id="23" name="TextBox 22">
            <a:hlinkClick action="ppaction://hlinksldjump" r:id="rId12"/>
          </p:cNvPr>
          <p:cNvSpPr txBox="1"/>
          <p:nvPr/>
        </p:nvSpPr>
        <p:spPr>
          <a:xfrm>
            <a:off x="6629400" y="3839464"/>
            <a:ext cx="1691640" cy="329184"/>
          </a:xfrm>
          <a:prstGeom prst="rect">
            <a:avLst/>
          </a:prstGeom>
          <a:noFill/>
        </p:spPr>
        <p:txBody>
          <a:bodyPr wrap="square" lIns="0" rIns="0" tIns="0" bIns="0" anchor="t">
            <a:spAutoFit/>
          </a:bodyPr>
          <a:lstStyle/>
          <a:p>
            <a:pPr algn="l"/>
            <a:r>
              <a:rPr sz="950" b="0" i="0">
                <a:solidFill>
                  <a:srgbClr val="003059"/>
                </a:solidFill>
                <a:latin typeface="Roboto"/>
              </a:rPr>
              <a:t>Traductions</a:t>
            </a:r>
          </a:p>
        </p:txBody>
      </p:sp>
      <p:sp>
        <p:nvSpPr>
          <p:cNvPr id="24" name="TextBox 23">
            <a:hlinkClick action="ppaction://hlinksldjump" r:id="rId12"/>
          </p:cNvPr>
          <p:cNvSpPr txBox="1"/>
          <p:nvPr/>
        </p:nvSpPr>
        <p:spPr>
          <a:xfrm>
            <a:off x="8321040" y="3839464"/>
            <a:ext cx="320040" cy="182880"/>
          </a:xfrm>
          <a:prstGeom prst="rect">
            <a:avLst/>
          </a:prstGeom>
          <a:noFill/>
        </p:spPr>
        <p:txBody>
          <a:bodyPr wrap="square" lIns="0" rIns="0" tIns="0" bIns="0" anchor="t">
            <a:spAutoFit/>
          </a:bodyPr>
          <a:lstStyle/>
          <a:p>
            <a:pPr algn="r"/>
            <a:r>
              <a:rPr sz="950" b="1" i="0">
                <a:solidFill>
                  <a:srgbClr val="996B14"/>
                </a:solidFill>
                <a:latin typeface="Roboto"/>
              </a:rPr>
              <a:t>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Accéder au back-office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5"/>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0-lock_720.jpg"/>
          <p:cNvPicPr>
            <a:picLocks noChangeAspect="1"/>
          </p:cNvPicPr>
          <p:nvPr/>
        </p:nvPicPr>
        <p:blipFill>
          <a:blip r:embed="rId2"/>
          <a:stretch>
            <a:fillRect/>
          </a:stretch>
        </p:blipFill>
        <p:spPr>
          <a:xfrm>
            <a:off x="548640" y="1188720"/>
            <a:ext cx="2743200" cy="457200"/>
          </a:xfrm>
          <a:prstGeom prst="rect">
            <a:avLst/>
          </a:prstGeom>
          <a:ln w="9525">
            <a:solidFill>
              <a:srgbClr val="D5DCE4"/>
            </a:solidFill>
          </a:ln>
        </p:spPr>
      </p:pic>
      <p:sp>
        <p:nvSpPr>
          <p:cNvPr id="7" name="TextBox 6"/>
          <p:cNvSpPr txBox="1"/>
          <p:nvPr/>
        </p:nvSpPr>
        <p:spPr>
          <a:xfrm>
            <a:off x="548640" y="1691640"/>
            <a:ext cx="3291840" cy="228600"/>
          </a:xfrm>
          <a:prstGeom prst="rect">
            <a:avLst/>
          </a:prstGeom>
          <a:noFill/>
        </p:spPr>
        <p:txBody>
          <a:bodyPr wrap="square" lIns="0" rIns="0" tIns="0" bIns="0" anchor="t">
            <a:spAutoFit/>
          </a:bodyPr>
          <a:lstStyle/>
          <a:p>
            <a:pPr algn="l"/>
            <a:r>
              <a:rPr sz="900" b="0" i="1">
                <a:solidFill>
                  <a:srgbClr val="5B6573"/>
                </a:solidFill>
                <a:latin typeface="Roboto"/>
              </a:rPr>
              <a:t>① sur l’accueil : « Accéder au Back-office » (cadenas).</a:t>
            </a:r>
          </a:p>
        </p:txBody>
      </p:sp>
      <p:pic>
        <p:nvPicPr>
          <p:cNvPr id="8" name="Picture 7" descr="e31b-nav_716.jpg"/>
          <p:cNvPicPr>
            <a:picLocks noChangeAspect="1"/>
          </p:cNvPicPr>
          <p:nvPr/>
        </p:nvPicPr>
        <p:blipFill>
          <a:blip r:embed="rId3"/>
          <a:stretch>
            <a:fillRect/>
          </a:stretch>
        </p:blipFill>
        <p:spPr>
          <a:xfrm>
            <a:off x="4572000" y="1188720"/>
            <a:ext cx="2731007" cy="384047"/>
          </a:xfrm>
          <a:prstGeom prst="rect">
            <a:avLst/>
          </a:prstGeom>
          <a:ln w="9525">
            <a:solidFill>
              <a:srgbClr val="D5DCE4"/>
            </a:solidFill>
          </a:ln>
        </p:spPr>
      </p:pic>
      <p:sp>
        <p:nvSpPr>
          <p:cNvPr id="9" name="TextBox 8"/>
          <p:cNvSpPr txBox="1"/>
          <p:nvPr/>
        </p:nvSpPr>
        <p:spPr>
          <a:xfrm>
            <a:off x="4572000" y="1691640"/>
            <a:ext cx="4023360" cy="228600"/>
          </a:xfrm>
          <a:prstGeom prst="rect">
            <a:avLst/>
          </a:prstGeom>
          <a:noFill/>
        </p:spPr>
        <p:txBody>
          <a:bodyPr wrap="square" lIns="0" rIns="0" tIns="0" bIns="0" anchor="t">
            <a:spAutoFit/>
          </a:bodyPr>
          <a:lstStyle/>
          <a:p>
            <a:pPr algn="l"/>
            <a:r>
              <a:rPr sz="900" b="0" i="1">
                <a:solidFill>
                  <a:srgbClr val="5B6573"/>
                </a:solidFill>
                <a:latin typeface="Roboto"/>
              </a:rPr>
              <a:t>① « Mode Chef de Projet » ramène à l’application.</a:t>
            </a:r>
          </a:p>
        </p:txBody>
      </p:sp>
      <p:pic>
        <p:nvPicPr>
          <p:cNvPr id="10" name="Picture 9" descr="e31-tabs_1400.jpg"/>
          <p:cNvPicPr>
            <a:picLocks noChangeAspect="1"/>
          </p:cNvPicPr>
          <p:nvPr/>
        </p:nvPicPr>
        <p:blipFill>
          <a:blip r:embed="rId4"/>
          <a:stretch>
            <a:fillRect/>
          </a:stretch>
        </p:blipFill>
        <p:spPr>
          <a:xfrm>
            <a:off x="548640" y="2148840"/>
            <a:ext cx="5337238" cy="502920"/>
          </a:xfrm>
          <a:prstGeom prst="rect">
            <a:avLst/>
          </a:prstGeom>
          <a:ln w="9525">
            <a:solidFill>
              <a:srgbClr val="D5DCE4"/>
            </a:solidFill>
          </a:ln>
        </p:spPr>
      </p:pic>
      <p:sp>
        <p:nvSpPr>
          <p:cNvPr id="11" name="Oval 10"/>
          <p:cNvSpPr/>
          <p:nvPr/>
        </p:nvSpPr>
        <p:spPr>
          <a:xfrm>
            <a:off x="548640" y="28254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12" name="TextBox 11"/>
          <p:cNvSpPr txBox="1"/>
          <p:nvPr/>
        </p:nvSpPr>
        <p:spPr>
          <a:xfrm>
            <a:off x="877824" y="2834640"/>
            <a:ext cx="3602736" cy="154432"/>
          </a:xfrm>
          <a:prstGeom prst="rect">
            <a:avLst/>
          </a:prstGeom>
          <a:noFill/>
        </p:spPr>
        <p:txBody>
          <a:bodyPr wrap="square" lIns="0" rIns="0" tIns="0" bIns="0" anchor="t">
            <a:spAutoFit/>
          </a:bodyPr>
          <a:lstStyle/>
          <a:p>
            <a:pPr algn="l"/>
            <a:r>
              <a:rPr sz="950" b="1" i="0">
                <a:solidFill>
                  <a:srgbClr val="1F2A37"/>
                </a:solidFill>
                <a:latin typeface="Roboto"/>
              </a:rPr>
              <a:t>« Tableau de bord » </a:t>
            </a:r>
            <a:r>
              <a:rPr sz="950" b="0" i="0">
                <a:solidFill>
                  <a:srgbClr val="1F2A37"/>
                </a:solidFill>
                <a:latin typeface="Roboto"/>
              </a:rPr>
              <a:t>: indicateurs des projets soumis.</a:t>
            </a:r>
          </a:p>
        </p:txBody>
      </p:sp>
      <p:sp>
        <p:nvSpPr>
          <p:cNvPr id="13" name="Oval 12"/>
          <p:cNvSpPr/>
          <p:nvPr/>
        </p:nvSpPr>
        <p:spPr>
          <a:xfrm>
            <a:off x="548640" y="311810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4" name="TextBox 13"/>
          <p:cNvSpPr txBox="1"/>
          <p:nvPr/>
        </p:nvSpPr>
        <p:spPr>
          <a:xfrm>
            <a:off x="877824" y="3127248"/>
            <a:ext cx="3602736" cy="154432"/>
          </a:xfrm>
          <a:prstGeom prst="rect">
            <a:avLst/>
          </a:prstGeom>
          <a:noFill/>
        </p:spPr>
        <p:txBody>
          <a:bodyPr wrap="square" lIns="0" rIns="0" tIns="0" bIns="0" anchor="t">
            <a:spAutoFit/>
          </a:bodyPr>
          <a:lstStyle/>
          <a:p>
            <a:pPr algn="l"/>
            <a:r>
              <a:rPr sz="950" b="1" i="0">
                <a:solidFill>
                  <a:srgbClr val="1F2A37"/>
                </a:solidFill>
                <a:latin typeface="Roboto"/>
              </a:rPr>
              <a:t>« Règles » </a:t>
            </a:r>
            <a:r>
              <a:rPr sz="950" b="0" i="0">
                <a:solidFill>
                  <a:srgbClr val="1F2A37"/>
                </a:solidFill>
                <a:latin typeface="Roboto"/>
              </a:rPr>
              <a:t>: les règles qui sollicitent votre équipe.</a:t>
            </a:r>
          </a:p>
        </p:txBody>
      </p:sp>
      <p:sp>
        <p:nvSpPr>
          <p:cNvPr id="15" name="Oval 14"/>
          <p:cNvSpPr/>
          <p:nvPr/>
        </p:nvSpPr>
        <p:spPr>
          <a:xfrm>
            <a:off x="548640" y="341071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6" name="TextBox 15"/>
          <p:cNvSpPr txBox="1"/>
          <p:nvPr/>
        </p:nvSpPr>
        <p:spPr>
          <a:xfrm>
            <a:off x="877824" y="3419856"/>
            <a:ext cx="3602736" cy="308864"/>
          </a:xfrm>
          <a:prstGeom prst="rect">
            <a:avLst/>
          </a:prstGeom>
          <a:noFill/>
        </p:spPr>
        <p:txBody>
          <a:bodyPr wrap="square" lIns="0" rIns="0" tIns="0" bIns="0" anchor="t">
            <a:spAutoFit/>
          </a:bodyPr>
          <a:lstStyle/>
          <a:p>
            <a:pPr algn="l"/>
            <a:r>
              <a:rPr sz="950" b="1" i="0">
                <a:solidFill>
                  <a:srgbClr val="1F2A37"/>
                </a:solidFill>
                <a:latin typeface="Roboto"/>
              </a:rPr>
              <a:t>« Comités de validation » </a:t>
            </a:r>
            <a:r>
              <a:rPr sz="950" b="0" i="0">
                <a:solidFill>
                  <a:srgbClr val="1F2A37"/>
                </a:solidFill>
                <a:latin typeface="Roboto"/>
              </a:rPr>
              <a:t>: si vous êtes membre d’un comité.</a:t>
            </a:r>
          </a:p>
        </p:txBody>
      </p:sp>
      <p:sp>
        <p:nvSpPr>
          <p:cNvPr id="17" name="Oval 16"/>
          <p:cNvSpPr/>
          <p:nvPr/>
        </p:nvSpPr>
        <p:spPr>
          <a:xfrm>
            <a:off x="548640" y="37561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8" name="TextBox 17"/>
          <p:cNvSpPr txBox="1"/>
          <p:nvPr/>
        </p:nvSpPr>
        <p:spPr>
          <a:xfrm>
            <a:off x="877824" y="3765296"/>
            <a:ext cx="3602736" cy="154432"/>
          </a:xfrm>
          <a:prstGeom prst="rect">
            <a:avLst/>
          </a:prstGeom>
          <a:noFill/>
        </p:spPr>
        <p:txBody>
          <a:bodyPr wrap="square" lIns="0" rIns="0" tIns="0" bIns="0" anchor="t">
            <a:spAutoFit/>
          </a:bodyPr>
          <a:lstStyle/>
          <a:p>
            <a:pPr algn="l"/>
            <a:r>
              <a:rPr sz="950" b="1" i="0">
                <a:solidFill>
                  <a:srgbClr val="1F2A37"/>
                </a:solidFill>
                <a:latin typeface="Roboto"/>
              </a:rPr>
              <a:t>« Équipes » </a:t>
            </a:r>
            <a:r>
              <a:rPr sz="950" b="0" i="0">
                <a:solidFill>
                  <a:srgbClr val="1F2A37"/>
                </a:solidFill>
                <a:latin typeface="Roboto"/>
              </a:rPr>
              <a:t>: votre équipe seulement.</a:t>
            </a:r>
          </a:p>
        </p:txBody>
      </p:sp>
      <p:sp>
        <p:nvSpPr>
          <p:cNvPr id="19" name="Oval 18"/>
          <p:cNvSpPr/>
          <p:nvPr/>
        </p:nvSpPr>
        <p:spPr>
          <a:xfrm>
            <a:off x="548640" y="40487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20" name="TextBox 19"/>
          <p:cNvSpPr txBox="1"/>
          <p:nvPr/>
        </p:nvSpPr>
        <p:spPr>
          <a:xfrm>
            <a:off x="877824" y="4057904"/>
            <a:ext cx="3602736" cy="308864"/>
          </a:xfrm>
          <a:prstGeom prst="rect">
            <a:avLst/>
          </a:prstGeom>
          <a:noFill/>
        </p:spPr>
        <p:txBody>
          <a:bodyPr wrap="square" lIns="0" rIns="0" tIns="0" bIns="0" anchor="t">
            <a:spAutoFit/>
          </a:bodyPr>
          <a:lstStyle/>
          <a:p>
            <a:pPr algn="l"/>
            <a:r>
              <a:rPr sz="950" b="1" i="0">
                <a:solidFill>
                  <a:srgbClr val="1F2A37"/>
                </a:solidFill>
                <a:latin typeface="Roboto"/>
              </a:rPr>
              <a:t>« Revue des règles » </a:t>
            </a:r>
            <a:r>
              <a:rPr sz="950" b="0" i="0">
                <a:solidFill>
                  <a:srgbClr val="1F2A37"/>
                </a:solidFill>
                <a:latin typeface="Roboto"/>
              </a:rPr>
              <a:t>: tester les règles sur un projet type.</a:t>
            </a:r>
          </a:p>
        </p:txBody>
      </p:sp>
      <p:sp>
        <p:nvSpPr>
          <p:cNvPr id="21" name="Oval 20"/>
          <p:cNvSpPr/>
          <p:nvPr/>
        </p:nvSpPr>
        <p:spPr>
          <a:xfrm>
            <a:off x="548640" y="439420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6</a:t>
            </a:r>
          </a:p>
        </p:txBody>
      </p:sp>
      <p:sp>
        <p:nvSpPr>
          <p:cNvPr id="22" name="TextBox 21"/>
          <p:cNvSpPr txBox="1"/>
          <p:nvPr/>
        </p:nvSpPr>
        <p:spPr>
          <a:xfrm>
            <a:off x="877824" y="4403344"/>
            <a:ext cx="3602736" cy="154432"/>
          </a:xfrm>
          <a:prstGeom prst="rect">
            <a:avLst/>
          </a:prstGeom>
          <a:noFill/>
        </p:spPr>
        <p:txBody>
          <a:bodyPr wrap="square" lIns="0" rIns="0" tIns="0" bIns="0" anchor="t">
            <a:spAutoFit/>
          </a:bodyPr>
          <a:lstStyle/>
          <a:p>
            <a:pPr algn="l"/>
            <a:r>
              <a:rPr sz="950" b="1" i="0">
                <a:solidFill>
                  <a:srgbClr val="1F2A37"/>
                </a:solidFill>
                <a:latin typeface="Roboto"/>
              </a:rPr>
              <a:t>« Traductions » </a:t>
            </a:r>
            <a:r>
              <a:rPr sz="950" b="0" i="0">
                <a:solidFill>
                  <a:srgbClr val="1F2A37"/>
                </a:solidFill>
                <a:latin typeface="Roboto"/>
              </a:rPr>
              <a:t>: les textes de votre équipe.</a:t>
            </a:r>
          </a:p>
        </p:txBody>
      </p:sp>
      <p:sp>
        <p:nvSpPr>
          <p:cNvPr id="23" name="Rounded Rectangle 22"/>
          <p:cNvSpPr/>
          <p:nvPr/>
        </p:nvSpPr>
        <p:spPr>
          <a:xfrm>
            <a:off x="4709160" y="2834640"/>
            <a:ext cx="3886200" cy="133908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855464" y="2962656"/>
            <a:ext cx="3593592" cy="228600"/>
          </a:xfrm>
          <a:prstGeom prst="rect">
            <a:avLst/>
          </a:prstGeom>
          <a:noFill/>
        </p:spPr>
        <p:txBody>
          <a:bodyPr wrap="square" lIns="0" rIns="0" tIns="0" bIns="0" anchor="t">
            <a:spAutoFit/>
          </a:bodyPr>
          <a:lstStyle/>
          <a:p>
            <a:pPr algn="l"/>
            <a:r>
              <a:rPr sz="1000" b="1" i="0">
                <a:solidFill>
                  <a:srgbClr val="003059"/>
                </a:solidFill>
                <a:latin typeface="Roboto"/>
              </a:rPr>
              <a:t>Pas de mot de passe</a:t>
            </a:r>
          </a:p>
        </p:txBody>
      </p:sp>
      <p:sp>
        <p:nvSpPr>
          <p:cNvPr id="25" name="TextBox 24"/>
          <p:cNvSpPr txBox="1"/>
          <p:nvPr/>
        </p:nvSpPr>
        <p:spPr>
          <a:xfrm>
            <a:off x="4855464" y="3236976"/>
            <a:ext cx="3593592" cy="845312"/>
          </a:xfrm>
          <a:prstGeom prst="rect">
            <a:avLst/>
          </a:prstGeom>
          <a:noFill/>
        </p:spPr>
        <p:txBody>
          <a:bodyPr wrap="square" lIns="0" rIns="0" tIns="0" bIns="0" anchor="t">
            <a:spAutoFit/>
          </a:bodyPr>
          <a:lstStyle/>
          <a:p>
            <a:pPr algn="l"/>
            <a:r>
              <a:rPr sz="950" b="0" i="0">
                <a:solidFill>
                  <a:srgbClr val="1F2A37"/>
                </a:solidFill>
                <a:latin typeface="Roboto"/>
              </a:rPr>
              <a:t>Être contact d’une équipe ou membre d’un comité suffit : vous ne voyez que les onglets et les éléments de votre périmètre. Ne vous retirez jamais vous-même des « Contacts e-mail » : vous perdriez l’accès, seul un administrateur pourrait vous rajouter.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Contacts et déclenchement par membre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2-team-top_792.jpg"/>
          <p:cNvPicPr>
            <a:picLocks noChangeAspect="1"/>
          </p:cNvPicPr>
          <p:nvPr/>
        </p:nvPicPr>
        <p:blipFill>
          <a:blip r:embed="rId2"/>
          <a:stretch>
            <a:fillRect/>
          </a:stretch>
        </p:blipFill>
        <p:spPr>
          <a:xfrm>
            <a:off x="548640" y="1188720"/>
            <a:ext cx="3017520" cy="2490732"/>
          </a:xfrm>
          <a:prstGeom prst="rect">
            <a:avLst/>
          </a:prstGeom>
          <a:ln w="9525">
            <a:solidFill>
              <a:srgbClr val="D5DCE4"/>
            </a:solidFill>
          </a:ln>
        </p:spPr>
      </p:pic>
      <p:pic>
        <p:nvPicPr>
          <p:cNvPr id="7" name="Picture 6" descr="e33-criteria_768.jpg"/>
          <p:cNvPicPr>
            <a:picLocks noChangeAspect="1"/>
          </p:cNvPicPr>
          <p:nvPr/>
        </p:nvPicPr>
        <p:blipFill>
          <a:blip r:embed="rId3"/>
          <a:stretch>
            <a:fillRect/>
          </a:stretch>
        </p:blipFill>
        <p:spPr>
          <a:xfrm>
            <a:off x="3749039" y="1188720"/>
            <a:ext cx="2926080" cy="1714500"/>
          </a:xfrm>
          <a:prstGeom prst="rect">
            <a:avLst/>
          </a:prstGeom>
          <a:ln w="9525">
            <a:solidFill>
              <a:srgbClr val="D5DCE4"/>
            </a:solidFill>
          </a:ln>
        </p:spPr>
      </p:pic>
      <p:sp>
        <p:nvSpPr>
          <p:cNvPr id="8" name="Oval 7"/>
          <p:cNvSpPr/>
          <p:nvPr/>
        </p:nvSpPr>
        <p:spPr>
          <a:xfrm>
            <a:off x="548640" y="378561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9" name="TextBox 8"/>
          <p:cNvSpPr txBox="1"/>
          <p:nvPr/>
        </p:nvSpPr>
        <p:spPr>
          <a:xfrm>
            <a:off x="877824" y="3794760"/>
            <a:ext cx="2688336" cy="292608"/>
          </a:xfrm>
          <a:prstGeom prst="rect">
            <a:avLst/>
          </a:prstGeom>
          <a:noFill/>
        </p:spPr>
        <p:txBody>
          <a:bodyPr wrap="square" lIns="0" rIns="0" tIns="0" bIns="0" anchor="t">
            <a:spAutoFit/>
          </a:bodyPr>
          <a:lstStyle/>
          <a:p>
            <a:pPr algn="l"/>
            <a:r>
              <a:rPr sz="900" b="1" i="0">
                <a:solidFill>
                  <a:srgbClr val="1F2A37"/>
                </a:solidFill>
                <a:latin typeface="Roboto"/>
              </a:rPr>
              <a:t>« Rechercher un contact… » </a:t>
            </a:r>
            <a:r>
              <a:rPr sz="900" b="0" i="0">
                <a:solidFill>
                  <a:srgbClr val="1F2A37"/>
                </a:solidFill>
                <a:latin typeface="Roboto"/>
              </a:rPr>
              <a:t>: ajouter un collègue à l’équipe.</a:t>
            </a:r>
          </a:p>
        </p:txBody>
      </p:sp>
      <p:sp>
        <p:nvSpPr>
          <p:cNvPr id="10" name="Oval 9"/>
          <p:cNvSpPr/>
          <p:nvPr/>
        </p:nvSpPr>
        <p:spPr>
          <a:xfrm>
            <a:off x="548640" y="41056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1" name="TextBox 10"/>
          <p:cNvSpPr txBox="1"/>
          <p:nvPr/>
        </p:nvSpPr>
        <p:spPr>
          <a:xfrm>
            <a:off x="877824" y="4114800"/>
            <a:ext cx="2688336" cy="146304"/>
          </a:xfrm>
          <a:prstGeom prst="rect">
            <a:avLst/>
          </a:prstGeom>
          <a:noFill/>
        </p:spPr>
        <p:txBody>
          <a:bodyPr wrap="square" lIns="0" rIns="0" tIns="0" bIns="0" anchor="t">
            <a:spAutoFit/>
          </a:bodyPr>
          <a:lstStyle/>
          <a:p>
            <a:pPr algn="l"/>
            <a:r>
              <a:rPr sz="900" b="1" i="0">
                <a:solidFill>
                  <a:srgbClr val="1F2A37"/>
                </a:solidFill>
                <a:latin typeface="Roboto"/>
              </a:rPr>
              <a:t>« Toujours sollicité » </a:t>
            </a:r>
            <a:r>
              <a:rPr sz="900" b="0" i="0">
                <a:solidFill>
                  <a:srgbClr val="1F2A37"/>
                </a:solidFill>
                <a:latin typeface="Roboto"/>
              </a:rPr>
              <a:t>: membre sans critère.</a:t>
            </a:r>
          </a:p>
        </p:txBody>
      </p:sp>
      <p:sp>
        <p:nvSpPr>
          <p:cNvPr id="12" name="Oval 11"/>
          <p:cNvSpPr/>
          <p:nvPr/>
        </p:nvSpPr>
        <p:spPr>
          <a:xfrm>
            <a:off x="548640" y="438912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3" name="TextBox 12"/>
          <p:cNvSpPr txBox="1"/>
          <p:nvPr/>
        </p:nvSpPr>
        <p:spPr>
          <a:xfrm>
            <a:off x="877824" y="4398264"/>
            <a:ext cx="2688336" cy="146304"/>
          </a:xfrm>
          <a:prstGeom prst="rect">
            <a:avLst/>
          </a:prstGeom>
          <a:noFill/>
        </p:spPr>
        <p:txBody>
          <a:bodyPr wrap="square" lIns="0" rIns="0" tIns="0" bIns="0" anchor="t">
            <a:spAutoFit/>
          </a:bodyPr>
          <a:lstStyle/>
          <a:p>
            <a:pPr algn="l"/>
            <a:r>
              <a:rPr sz="900" b="1" i="0">
                <a:solidFill>
                  <a:srgbClr val="1F2A37"/>
                </a:solidFill>
                <a:latin typeface="Roboto"/>
              </a:rPr>
              <a:t>« Critères » </a:t>
            </a:r>
            <a:r>
              <a:rPr sz="900" b="0" i="0">
                <a:solidFill>
                  <a:srgbClr val="1F2A37"/>
                </a:solidFill>
                <a:latin typeface="Roboto"/>
              </a:rPr>
              <a:t>: ouvre la fenêtre ci-contre.</a:t>
            </a:r>
          </a:p>
        </p:txBody>
      </p:sp>
      <p:sp>
        <p:nvSpPr>
          <p:cNvPr id="14" name="Oval 13"/>
          <p:cNvSpPr/>
          <p:nvPr/>
        </p:nvSpPr>
        <p:spPr>
          <a:xfrm>
            <a:off x="685800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15" name="TextBox 14"/>
          <p:cNvSpPr txBox="1"/>
          <p:nvPr/>
        </p:nvSpPr>
        <p:spPr>
          <a:xfrm>
            <a:off x="7187184" y="1188720"/>
            <a:ext cx="1408176" cy="292608"/>
          </a:xfrm>
          <a:prstGeom prst="rect">
            <a:avLst/>
          </a:prstGeom>
          <a:noFill/>
        </p:spPr>
        <p:txBody>
          <a:bodyPr wrap="square" lIns="0" rIns="0" tIns="0" bIns="0" anchor="t">
            <a:spAutoFit/>
          </a:bodyPr>
          <a:lstStyle/>
          <a:p>
            <a:pPr algn="l"/>
            <a:r>
              <a:rPr sz="900" b="1" i="0">
                <a:solidFill>
                  <a:srgbClr val="1F2A37"/>
                </a:solidFill>
                <a:latin typeface="Roboto"/>
              </a:rPr>
              <a:t>Uniquement si </a:t>
            </a:r>
            <a:r>
              <a:rPr sz="900" b="0" i="0">
                <a:solidFill>
                  <a:srgbClr val="1F2A37"/>
                </a:solidFill>
                <a:latin typeface="Roboto"/>
              </a:rPr>
              <a:t>les critères sont remplis.</a:t>
            </a:r>
          </a:p>
        </p:txBody>
      </p:sp>
      <p:sp>
        <p:nvSpPr>
          <p:cNvPr id="16" name="Oval 15"/>
          <p:cNvSpPr/>
          <p:nvPr/>
        </p:nvSpPr>
        <p:spPr>
          <a:xfrm>
            <a:off x="6858000" y="15087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7" name="TextBox 16"/>
          <p:cNvSpPr txBox="1"/>
          <p:nvPr/>
        </p:nvSpPr>
        <p:spPr>
          <a:xfrm>
            <a:off x="7187184" y="1517904"/>
            <a:ext cx="1408176" cy="292608"/>
          </a:xfrm>
          <a:prstGeom prst="rect">
            <a:avLst/>
          </a:prstGeom>
          <a:noFill/>
        </p:spPr>
        <p:txBody>
          <a:bodyPr wrap="square" lIns="0" rIns="0" tIns="0" bIns="0" anchor="t">
            <a:spAutoFit/>
          </a:bodyPr>
          <a:lstStyle/>
          <a:p>
            <a:pPr algn="l"/>
            <a:r>
              <a:rPr sz="900" b="1" i="0">
                <a:solidFill>
                  <a:srgbClr val="1F2A37"/>
                </a:solidFill>
                <a:latin typeface="Roboto"/>
              </a:rPr>
              <a:t>Sauf si </a:t>
            </a:r>
            <a:r>
              <a:rPr sz="900" b="0" i="0">
                <a:solidFill>
                  <a:srgbClr val="1F2A37"/>
                </a:solidFill>
                <a:latin typeface="Roboto"/>
              </a:rPr>
              <a:t>les critères sont remplis.</a:t>
            </a:r>
          </a:p>
        </p:txBody>
      </p:sp>
      <p:sp>
        <p:nvSpPr>
          <p:cNvPr id="18" name="Oval 17"/>
          <p:cNvSpPr/>
          <p:nvPr/>
        </p:nvSpPr>
        <p:spPr>
          <a:xfrm>
            <a:off x="6858000" y="183794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9" name="TextBox 18"/>
          <p:cNvSpPr txBox="1"/>
          <p:nvPr/>
        </p:nvSpPr>
        <p:spPr>
          <a:xfrm>
            <a:off x="7187184" y="1847088"/>
            <a:ext cx="1408176" cy="146304"/>
          </a:xfrm>
          <a:prstGeom prst="rect">
            <a:avLst/>
          </a:prstGeom>
          <a:noFill/>
        </p:spPr>
        <p:txBody>
          <a:bodyPr wrap="square" lIns="0" rIns="0" tIns="0" bIns="0" anchor="t">
            <a:spAutoFit/>
          </a:bodyPr>
          <a:lstStyle/>
          <a:p>
            <a:pPr algn="l"/>
            <a:r>
              <a:rPr sz="900" b="1" i="0">
                <a:solidFill>
                  <a:srgbClr val="1F2A37"/>
                </a:solidFill>
                <a:latin typeface="Roboto"/>
              </a:rPr>
              <a:t>Jamais </a:t>
            </a:r>
            <a:r>
              <a:rPr sz="900" b="0" i="0">
                <a:solidFill>
                  <a:srgbClr val="1F2A37"/>
                </a:solidFill>
                <a:latin typeface="Roboto"/>
              </a:rPr>
              <a:t>sollicité.</a:t>
            </a:r>
          </a:p>
        </p:txBody>
      </p:sp>
      <p:sp>
        <p:nvSpPr>
          <p:cNvPr id="20" name="Oval 19"/>
          <p:cNvSpPr/>
          <p:nvPr/>
        </p:nvSpPr>
        <p:spPr>
          <a:xfrm>
            <a:off x="6858000" y="21305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21" name="TextBox 20"/>
          <p:cNvSpPr txBox="1"/>
          <p:nvPr/>
        </p:nvSpPr>
        <p:spPr>
          <a:xfrm>
            <a:off x="7187184" y="2139696"/>
            <a:ext cx="1408176" cy="292608"/>
          </a:xfrm>
          <a:prstGeom prst="rect">
            <a:avLst/>
          </a:prstGeom>
          <a:noFill/>
        </p:spPr>
        <p:txBody>
          <a:bodyPr wrap="square" lIns="0" rIns="0" tIns="0" bIns="0" anchor="t">
            <a:spAutoFit/>
          </a:bodyPr>
          <a:lstStyle/>
          <a:p>
            <a:pPr algn="l"/>
            <a:r>
              <a:rPr sz="900" b="1" i="0">
                <a:solidFill>
                  <a:srgbClr val="1F2A37"/>
                </a:solidFill>
                <a:latin typeface="Roboto"/>
              </a:rPr>
              <a:t>« Créer un groupe de conditions »</a:t>
            </a:r>
            <a:r>
              <a:rPr sz="900" b="0" i="0">
                <a:solidFill>
                  <a:srgbClr val="1F2A37"/>
                </a:solidFill>
                <a:latin typeface="Roboto"/>
              </a:rPr>
              <a:t/>
            </a:r>
          </a:p>
        </p:txBody>
      </p:sp>
      <p:sp>
        <p:nvSpPr>
          <p:cNvPr id="22" name="Rounded Rectangle 21"/>
          <p:cNvSpPr/>
          <p:nvPr/>
        </p:nvSpPr>
        <p:spPr>
          <a:xfrm>
            <a:off x="3749039" y="3108960"/>
            <a:ext cx="4846320" cy="12984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3895344" y="3236976"/>
            <a:ext cx="4553712" cy="228600"/>
          </a:xfrm>
          <a:prstGeom prst="rect">
            <a:avLst/>
          </a:prstGeom>
          <a:noFill/>
        </p:spPr>
        <p:txBody>
          <a:bodyPr wrap="square" lIns="0" rIns="0" tIns="0" bIns="0" anchor="t">
            <a:spAutoFit/>
          </a:bodyPr>
          <a:lstStyle/>
          <a:p>
            <a:pPr algn="l"/>
            <a:r>
              <a:rPr sz="950" b="1" i="0">
                <a:solidFill>
                  <a:srgbClr val="003059"/>
                </a:solidFill>
                <a:latin typeface="Roboto"/>
              </a:rPr>
              <a:t>Ce qu’il faut savoir</a:t>
            </a:r>
          </a:p>
        </p:txBody>
      </p:sp>
      <p:sp>
        <p:nvSpPr>
          <p:cNvPr id="24" name="Oval 23"/>
          <p:cNvSpPr/>
          <p:nvPr/>
        </p:nvSpPr>
        <p:spPr>
          <a:xfrm>
            <a:off x="3895344" y="355930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078224" y="3511296"/>
            <a:ext cx="4370831" cy="292608"/>
          </a:xfrm>
          <a:prstGeom prst="rect">
            <a:avLst/>
          </a:prstGeom>
          <a:noFill/>
        </p:spPr>
        <p:txBody>
          <a:bodyPr wrap="square" lIns="0" rIns="0" tIns="0" bIns="0" anchor="t">
            <a:spAutoFit/>
          </a:bodyPr>
          <a:lstStyle/>
          <a:p>
            <a:pPr algn="l"/>
            <a:r>
              <a:rPr sz="900" b="0" i="0">
                <a:solidFill>
                  <a:srgbClr val="1F2A37"/>
                </a:solidFill>
                <a:latin typeface="Roboto"/>
              </a:rPr>
              <a:t>Les critères réduisent qui reçoit les notifications, jamais qui a accès au projet.</a:t>
            </a:r>
          </a:p>
        </p:txBody>
      </p:sp>
      <p:sp>
        <p:nvSpPr>
          <p:cNvPr id="26" name="Oval 25"/>
          <p:cNvSpPr/>
          <p:nvPr/>
        </p:nvSpPr>
        <p:spPr>
          <a:xfrm>
            <a:off x="3895344" y="392506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078224" y="3877056"/>
            <a:ext cx="4370831" cy="292608"/>
          </a:xfrm>
          <a:prstGeom prst="rect">
            <a:avLst/>
          </a:prstGeom>
          <a:noFill/>
        </p:spPr>
        <p:txBody>
          <a:bodyPr wrap="square" lIns="0" rIns="0" tIns="0" bIns="0" anchor="t">
            <a:spAutoFit/>
          </a:bodyPr>
          <a:lstStyle/>
          <a:p>
            <a:pPr algn="l"/>
            <a:r>
              <a:rPr sz="900" b="0" i="0">
                <a:solidFill>
                  <a:srgbClr val="1F2A37"/>
                </a:solidFill>
                <a:latin typeface="Roboto"/>
              </a:rPr>
              <a:t>Si plus personne n’est sollicité sans condition, une alerte s’affiche sur la carte et propose de réattribuer les critères d’un membre à un autre.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Prise en charge, relances et absences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4-claim-absence_648.jpg"/>
          <p:cNvPicPr>
            <a:picLocks noChangeAspect="1"/>
          </p:cNvPicPr>
          <p:nvPr/>
        </p:nvPicPr>
        <p:blipFill>
          <a:blip r:embed="rId2"/>
          <a:stretch>
            <a:fillRect/>
          </a:stretch>
        </p:blipFill>
        <p:spPr>
          <a:xfrm>
            <a:off x="548640" y="1188720"/>
            <a:ext cx="2468880" cy="3384895"/>
          </a:xfrm>
          <a:prstGeom prst="rect">
            <a:avLst/>
          </a:prstGeom>
          <a:ln w="9525">
            <a:solidFill>
              <a:srgbClr val="D5DCE4"/>
            </a:solidFill>
          </a:ln>
        </p:spPr>
      </p:pic>
      <p:sp>
        <p:nvSpPr>
          <p:cNvPr id="7" name="Oval 6"/>
          <p:cNvSpPr/>
          <p:nvPr/>
        </p:nvSpPr>
        <p:spPr>
          <a:xfrm>
            <a:off x="324612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3575303" y="1188720"/>
            <a:ext cx="5020055" cy="308864"/>
          </a:xfrm>
          <a:prstGeom prst="rect">
            <a:avLst/>
          </a:prstGeom>
          <a:noFill/>
        </p:spPr>
        <p:txBody>
          <a:bodyPr wrap="square" lIns="0" rIns="0" tIns="0" bIns="0" anchor="t">
            <a:spAutoFit/>
          </a:bodyPr>
          <a:lstStyle/>
          <a:p>
            <a:pPr algn="l"/>
            <a:r>
              <a:rPr sz="950" b="1" i="0">
                <a:solidFill>
                  <a:srgbClr val="1F2A37"/>
                </a:solidFill>
                <a:latin typeface="Roboto"/>
              </a:rPr>
              <a:t>« Signaler au bout de » </a:t>
            </a:r>
            <a:r>
              <a:rPr sz="950" b="0" i="0">
                <a:solidFill>
                  <a:srgbClr val="1F2A37"/>
                </a:solidFill>
                <a:latin typeface="Roboto"/>
              </a:rPr>
              <a:t>(défaut 6 jours ouvrés sans action) : badge « Sans action depuis un moment ».</a:t>
            </a:r>
          </a:p>
        </p:txBody>
      </p:sp>
      <p:sp>
        <p:nvSpPr>
          <p:cNvPr id="9" name="Oval 8"/>
          <p:cNvSpPr/>
          <p:nvPr/>
        </p:nvSpPr>
        <p:spPr>
          <a:xfrm>
            <a:off x="3246120" y="15341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3575303" y="1543304"/>
            <a:ext cx="5020055" cy="308864"/>
          </a:xfrm>
          <a:prstGeom prst="rect">
            <a:avLst/>
          </a:prstGeom>
          <a:noFill/>
        </p:spPr>
        <p:txBody>
          <a:bodyPr wrap="square" lIns="0" rIns="0" tIns="0" bIns="0" anchor="t">
            <a:spAutoFit/>
          </a:bodyPr>
          <a:lstStyle/>
          <a:p>
            <a:pPr algn="l"/>
            <a:r>
              <a:rPr sz="950" b="1" i="0">
                <a:solidFill>
                  <a:srgbClr val="1F2A37"/>
                </a:solidFill>
                <a:latin typeface="Roboto"/>
              </a:rPr>
              <a:t>« Relancer le référent au bout de » </a:t>
            </a:r>
            <a:r>
              <a:rPr sz="950" b="0" i="0">
                <a:solidFill>
                  <a:srgbClr val="1F2A37"/>
                </a:solidFill>
                <a:latin typeface="Roboto"/>
              </a:rPr>
              <a:t>(défaut 3) : un e-mail au référent du projet.</a:t>
            </a:r>
          </a:p>
        </p:txBody>
      </p:sp>
      <p:sp>
        <p:nvSpPr>
          <p:cNvPr id="11" name="Oval 10"/>
          <p:cNvSpPr/>
          <p:nvPr/>
        </p:nvSpPr>
        <p:spPr>
          <a:xfrm>
            <a:off x="3246120" y="188874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3575303" y="1897888"/>
            <a:ext cx="5020055" cy="154432"/>
          </a:xfrm>
          <a:prstGeom prst="rect">
            <a:avLst/>
          </a:prstGeom>
          <a:noFill/>
        </p:spPr>
        <p:txBody>
          <a:bodyPr wrap="square" lIns="0" rIns="0" tIns="0" bIns="0" anchor="t">
            <a:spAutoFit/>
          </a:bodyPr>
          <a:lstStyle/>
          <a:p>
            <a:pPr algn="l"/>
            <a:r>
              <a:rPr sz="950" b="1" i="0">
                <a:solidFill>
                  <a:srgbClr val="1F2A37"/>
                </a:solidFill>
                <a:latin typeface="Roboto"/>
              </a:rPr>
              <a:t>« Charge actuelle » </a:t>
            </a:r>
            <a:r>
              <a:rPr sz="950" b="0" i="0">
                <a:solidFill>
                  <a:srgbClr val="1F2A37"/>
                </a:solidFill>
                <a:latin typeface="Roboto"/>
              </a:rPr>
              <a:t>: projets suivis par membre, et combien sont sans action.</a:t>
            </a:r>
          </a:p>
        </p:txBody>
      </p:sp>
      <p:sp>
        <p:nvSpPr>
          <p:cNvPr id="13" name="Rounded Rectangle 12"/>
          <p:cNvSpPr/>
          <p:nvPr/>
        </p:nvSpPr>
        <p:spPr>
          <a:xfrm>
            <a:off x="3246120" y="2514600"/>
            <a:ext cx="5349240" cy="210312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392424" y="2642616"/>
            <a:ext cx="5056631" cy="228600"/>
          </a:xfrm>
          <a:prstGeom prst="rect">
            <a:avLst/>
          </a:prstGeom>
          <a:noFill/>
        </p:spPr>
        <p:txBody>
          <a:bodyPr wrap="square" lIns="0" rIns="0" tIns="0" bIns="0" anchor="t">
            <a:spAutoFit/>
          </a:bodyPr>
          <a:lstStyle/>
          <a:p>
            <a:pPr algn="l"/>
            <a:r>
              <a:rPr sz="950" b="1" i="0">
                <a:solidFill>
                  <a:srgbClr val="003059"/>
                </a:solidFill>
                <a:latin typeface="Roboto"/>
              </a:rPr>
              <a:t>Comment se comptent les jours</a:t>
            </a:r>
          </a:p>
        </p:txBody>
      </p:sp>
      <p:sp>
        <p:nvSpPr>
          <p:cNvPr id="15" name="Oval 14"/>
          <p:cNvSpPr/>
          <p:nvPr/>
        </p:nvSpPr>
        <p:spPr>
          <a:xfrm>
            <a:off x="3392424" y="296494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575304" y="2916936"/>
            <a:ext cx="4873751" cy="292608"/>
          </a:xfrm>
          <a:prstGeom prst="rect">
            <a:avLst/>
          </a:prstGeom>
          <a:noFill/>
        </p:spPr>
        <p:txBody>
          <a:bodyPr wrap="square" lIns="0" rIns="0" tIns="0" bIns="0" anchor="t">
            <a:spAutoFit/>
          </a:bodyPr>
          <a:lstStyle/>
          <a:p>
            <a:pPr algn="l"/>
            <a:r>
              <a:rPr sz="900" b="0" i="0">
                <a:solidFill>
                  <a:srgbClr val="1F2A37"/>
                </a:solidFill>
                <a:latin typeface="Roboto"/>
              </a:rPr>
              <a:t>Jours ouvrés = lundi à vendredi ; les jours fériés ne sont pas pris en compte. 0 désactive le réglage.</a:t>
            </a:r>
          </a:p>
        </p:txBody>
      </p:sp>
      <p:sp>
        <p:nvSpPr>
          <p:cNvPr id="17" name="Oval 16"/>
          <p:cNvSpPr/>
          <p:nvPr/>
        </p:nvSpPr>
        <p:spPr>
          <a:xfrm>
            <a:off x="3392424" y="333070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575304" y="3282696"/>
            <a:ext cx="4873751" cy="292608"/>
          </a:xfrm>
          <a:prstGeom prst="rect">
            <a:avLst/>
          </a:prstGeom>
          <a:noFill/>
        </p:spPr>
        <p:txBody>
          <a:bodyPr wrap="square" lIns="0" rIns="0" tIns="0" bIns="0" anchor="t">
            <a:spAutoFit/>
          </a:bodyPr>
          <a:lstStyle/>
          <a:p>
            <a:pPr algn="l"/>
            <a:r>
              <a:rPr sz="900" b="0" i="0">
                <a:solidFill>
                  <a:srgbClr val="1F2A37"/>
                </a:solidFill>
                <a:latin typeface="Roboto"/>
              </a:rPr>
              <a:t>Le compteur repart à zéro à la prise en charge, à un changement de statut ou de commentaire, à un nouveau message du fil.</a:t>
            </a:r>
          </a:p>
        </p:txBody>
      </p:sp>
      <p:sp>
        <p:nvSpPr>
          <p:cNvPr id="19" name="Oval 18"/>
          <p:cNvSpPr/>
          <p:nvPr/>
        </p:nvSpPr>
        <p:spPr>
          <a:xfrm>
            <a:off x="3392424" y="3696461"/>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575304" y="3648456"/>
            <a:ext cx="4873751" cy="146304"/>
          </a:xfrm>
          <a:prstGeom prst="rect">
            <a:avLst/>
          </a:prstGeom>
          <a:noFill/>
        </p:spPr>
        <p:txBody>
          <a:bodyPr wrap="square" lIns="0" rIns="0" tIns="0" bIns="0" anchor="t">
            <a:spAutoFit/>
          </a:bodyPr>
          <a:lstStyle/>
          <a:p>
            <a:pPr algn="l"/>
            <a:r>
              <a:rPr sz="900" b="0" i="0">
                <a:solidFill>
                  <a:srgbClr val="1F2A37"/>
                </a:solidFill>
                <a:latin typeface="Roboto"/>
              </a:rPr>
              <a:t>Une seule relance par période d’inactivité. Rien n’est libéré automatiquement.</a:t>
            </a:r>
          </a:p>
        </p:txBody>
      </p:sp>
      <p:sp>
        <p:nvSpPr>
          <p:cNvPr id="21" name="Oval 20"/>
          <p:cNvSpPr/>
          <p:nvPr/>
        </p:nvSpPr>
        <p:spPr>
          <a:xfrm>
            <a:off x="3392424" y="391591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575304" y="3867911"/>
            <a:ext cx="4873751" cy="292608"/>
          </a:xfrm>
          <a:prstGeom prst="rect">
            <a:avLst/>
          </a:prstGeom>
          <a:noFill/>
        </p:spPr>
        <p:txBody>
          <a:bodyPr wrap="square" lIns="0" rIns="0" tIns="0" bIns="0" anchor="t">
            <a:spAutoFit/>
          </a:bodyPr>
          <a:lstStyle/>
          <a:p>
            <a:pPr algn="l"/>
            <a:r>
              <a:rPr sz="900" b="0" i="0">
                <a:solidFill>
                  <a:srgbClr val="1F2A37"/>
                </a:solidFill>
                <a:latin typeface="Roboto"/>
              </a:rPr>
              <a:t>Il n’y a pas de serveur : la vérification se fait quand un contact de l’équipe ouvre l’application.</a:t>
            </a:r>
          </a:p>
        </p:txBody>
      </p:sp>
      <p:sp>
        <p:nvSpPr>
          <p:cNvPr id="23" name="Oval 22"/>
          <p:cNvSpPr/>
          <p:nvPr/>
        </p:nvSpPr>
        <p:spPr>
          <a:xfrm>
            <a:off x="3392424" y="428167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575304" y="4233672"/>
            <a:ext cx="4873751" cy="292608"/>
          </a:xfrm>
          <a:prstGeom prst="rect">
            <a:avLst/>
          </a:prstGeom>
          <a:noFill/>
        </p:spPr>
        <p:txBody>
          <a:bodyPr wrap="square" lIns="0" rIns="0" tIns="0" bIns="0" anchor="t">
            <a:spAutoFit/>
          </a:bodyPr>
          <a:lstStyle/>
          <a:p>
            <a:pPr algn="l"/>
            <a:r>
              <a:rPr sz="900" b="0" i="0">
                <a:solidFill>
                  <a:srgbClr val="1F2A37"/>
                </a:solidFill>
                <a:latin typeface="Roboto"/>
              </a:rPr>
              <a:t>« Absence » à côté d’un membre : dates et suppléant, déclarables pour un collègue.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Relances par e-mail : qui reçoit quoi</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Carte 1"/>
          <p:cNvSpPr/>
          <p:nvPr/>
        </p:nvSpPr>
        <p:spPr>
          <a:xfrm>
            <a:off x="548640" y="1188720"/>
            <a:ext cx="3898000" cy="215000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694944" y="13167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1042416" y="1316736"/>
            <a:ext cx="3257920" cy="237744"/>
          </a:xfrm>
          <a:prstGeom prst="rect">
            <a:avLst/>
          </a:prstGeom>
          <a:noFill/>
        </p:spPr>
        <p:txBody>
          <a:bodyPr wrap="square" lIns="0" rIns="0" tIns="0" bIns="0" anchor="ctr">
            <a:spAutoFit/>
          </a:bodyPr>
          <a:lstStyle/>
          <a:p>
            <a:pPr algn="l"/>
            <a:r>
              <a:rPr sz="1100" b="1">
                <a:solidFill>
                  <a:srgbClr val="003059"/>
                </a:solidFill>
                <a:latin typeface="Roboto"/>
              </a:rPr>
              <a:t>Relance de prise en charge</a:t>
            </a:r>
          </a:p>
        </p:txBody>
      </p:sp>
      <p:sp>
        <p:nvSpPr>
          <p:cNvPr id="9" name="TextBox 8"/>
          <p:cNvSpPr txBox="1"/>
          <p:nvPr/>
        </p:nvSpPr>
        <p:spPr>
          <a:xfrm>
            <a:off x="694944" y="1668720"/>
            <a:ext cx="800000" cy="200000"/>
          </a:xfrm>
          <a:prstGeom prst="rect">
            <a:avLst/>
          </a:prstGeom>
          <a:noFill/>
        </p:spPr>
        <p:txBody>
          <a:bodyPr wrap="square" lIns="0" rIns="0" tIns="0" bIns="0" anchor="t">
            <a:spAutoFit/>
          </a:bodyPr>
          <a:lstStyle/>
          <a:p>
            <a:pPr algn="l"/>
            <a:r>
              <a:rPr sz="900" b="1">
                <a:solidFill>
                  <a:srgbClr val="0061B0"/>
                </a:solidFill>
                <a:latin typeface="Roboto"/>
              </a:rPr>
              <a:t>Qui reçoit</a:t>
            </a:r>
          </a:p>
        </p:txBody>
      </p:sp>
      <p:sp>
        <p:nvSpPr>
          <p:cNvPr id="10" name="TextBox 9"/>
          <p:cNvSpPr txBox="1"/>
          <p:nvPr/>
        </p:nvSpPr>
        <p:spPr>
          <a:xfrm>
            <a:off x="1474944" y="1668720"/>
            <a:ext cx="2825392" cy="330000"/>
          </a:xfrm>
          <a:prstGeom prst="rect">
            <a:avLst/>
          </a:prstGeom>
          <a:noFill/>
        </p:spPr>
        <p:txBody>
          <a:bodyPr wrap="square" lIns="0" rIns="0" tIns="0" bIns="0" anchor="t">
            <a:spAutoFit/>
          </a:bodyPr>
          <a:lstStyle/>
          <a:p>
            <a:pPr algn="l"/>
            <a:r>
              <a:rPr sz="950" b="0">
                <a:solidFill>
                  <a:srgbClr val="1F2A37"/>
                </a:solidFill>
                <a:latin typeface="Roboto"/>
              </a:rPr>
              <a:t>L’expert qui a pris le projet en charge, et lui seul.</a:t>
            </a:r>
          </a:p>
        </p:txBody>
      </p:sp>
      <p:sp>
        <p:nvSpPr>
          <p:cNvPr id="11" name="TextBox 10"/>
          <p:cNvSpPr txBox="1"/>
          <p:nvPr/>
        </p:nvSpPr>
        <p:spPr>
          <a:xfrm>
            <a:off x="694944" y="2038720"/>
            <a:ext cx="800000" cy="200000"/>
          </a:xfrm>
          <a:prstGeom prst="rect">
            <a:avLst/>
          </a:prstGeom>
          <a:noFill/>
        </p:spPr>
        <p:txBody>
          <a:bodyPr wrap="square" lIns="0" rIns="0" tIns="0" bIns="0" anchor="t">
            <a:spAutoFit/>
          </a:bodyPr>
          <a:lstStyle/>
          <a:p>
            <a:pPr algn="l"/>
            <a:r>
              <a:rPr sz="900" b="1">
                <a:solidFill>
                  <a:srgbClr val="0061B0"/>
                </a:solidFill>
                <a:latin typeface="Roboto"/>
              </a:rPr>
              <a:t>Quand</a:t>
            </a:r>
          </a:p>
        </p:txBody>
      </p:sp>
      <p:sp>
        <p:nvSpPr>
          <p:cNvPr id="12" name="TextBox 11"/>
          <p:cNvSpPr txBox="1"/>
          <p:nvPr/>
        </p:nvSpPr>
        <p:spPr>
          <a:xfrm>
            <a:off x="1474944" y="2038720"/>
            <a:ext cx="2825392" cy="640000"/>
          </a:xfrm>
          <a:prstGeom prst="rect">
            <a:avLst/>
          </a:prstGeom>
          <a:noFill/>
        </p:spPr>
        <p:txBody>
          <a:bodyPr wrap="square" lIns="0" rIns="0" tIns="0" bIns="0" anchor="t">
            <a:spAutoFit/>
          </a:bodyPr>
          <a:lstStyle/>
          <a:p>
            <a:pPr algn="l"/>
            <a:r>
              <a:rPr sz="950" b="0">
                <a:solidFill>
                  <a:srgbClr val="1F2A37"/>
                </a:solidFill>
                <a:latin typeface="Roboto"/>
              </a:rPr>
              <a:t>Après un nombre de jours ouvrés sans action sur le projet (3 par défaut).</a:t>
            </a:r>
          </a:p>
        </p:txBody>
      </p:sp>
      <p:sp>
        <p:nvSpPr>
          <p:cNvPr id="13" name="TextBox 12"/>
          <p:cNvSpPr txBox="1"/>
          <p:nvPr/>
        </p:nvSpPr>
        <p:spPr>
          <a:xfrm>
            <a:off x="694944" y="2718720"/>
            <a:ext cx="800000" cy="200000"/>
          </a:xfrm>
          <a:prstGeom prst="rect">
            <a:avLst/>
          </a:prstGeom>
          <a:noFill/>
        </p:spPr>
        <p:txBody>
          <a:bodyPr wrap="square" lIns="0" rIns="0" tIns="0" bIns="0" anchor="t">
            <a:spAutoFit/>
          </a:bodyPr>
          <a:lstStyle/>
          <a:p>
            <a:pPr algn="l"/>
            <a:r>
              <a:rPr sz="900" b="1">
                <a:solidFill>
                  <a:srgbClr val="0061B0"/>
                </a:solidFill>
                <a:latin typeface="Roboto"/>
              </a:rPr>
              <a:t>Réglage</a:t>
            </a:r>
          </a:p>
        </p:txBody>
      </p:sp>
      <p:sp>
        <p:nvSpPr>
          <p:cNvPr id="14" name="TextBox 13"/>
          <p:cNvSpPr txBox="1"/>
          <p:nvPr/>
        </p:nvSpPr>
        <p:spPr>
          <a:xfrm>
            <a:off x="1474944" y="2718720"/>
            <a:ext cx="2825392" cy="340000"/>
          </a:xfrm>
          <a:prstGeom prst="rect">
            <a:avLst/>
          </a:prstGeom>
          <a:noFill/>
        </p:spPr>
        <p:txBody>
          <a:bodyPr wrap="square" lIns="0" rIns="0" tIns="0" bIns="0" anchor="t">
            <a:spAutoFit/>
          </a:bodyPr>
          <a:lstStyle/>
          <a:p>
            <a:pPr algn="l"/>
            <a:r>
              <a:rPr sz="950" b="0">
                <a:solidFill>
                  <a:srgbClr val="1F2A37"/>
                </a:solidFill>
                <a:latin typeface="Roboto"/>
              </a:rPr>
              <a:t>« Envoyer un e-mail à l’expert qui a pris le projet en charge après ».</a:t>
            </a:r>
          </a:p>
        </p:txBody>
      </p:sp>
      <p:sp>
        <p:nvSpPr>
          <p:cNvPr id="15" name="Carte 2"/>
          <p:cNvSpPr/>
          <p:nvPr/>
        </p:nvSpPr>
        <p:spPr>
          <a:xfrm>
            <a:off x="4697360" y="1188720"/>
            <a:ext cx="3898000" cy="215000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4843664" y="13167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7" name="TextBox 16"/>
          <p:cNvSpPr txBox="1"/>
          <p:nvPr/>
        </p:nvSpPr>
        <p:spPr>
          <a:xfrm>
            <a:off x="5191136" y="1316736"/>
            <a:ext cx="3257920" cy="237744"/>
          </a:xfrm>
          <a:prstGeom prst="rect">
            <a:avLst/>
          </a:prstGeom>
          <a:noFill/>
        </p:spPr>
        <p:txBody>
          <a:bodyPr wrap="square" lIns="0" rIns="0" tIns="0" bIns="0" anchor="ctr">
            <a:spAutoFit/>
          </a:bodyPr>
          <a:lstStyle/>
          <a:p>
            <a:pPr algn="l"/>
            <a:r>
              <a:rPr sz="1100" b="1">
                <a:solidFill>
                  <a:srgbClr val="003059"/>
                </a:solidFill>
                <a:latin typeface="Roboto"/>
              </a:rPr>
              <a:t>Rappel avant lancement</a:t>
            </a:r>
          </a:p>
        </p:txBody>
      </p:sp>
      <p:sp>
        <p:nvSpPr>
          <p:cNvPr id="18" name="TextBox 17"/>
          <p:cNvSpPr txBox="1"/>
          <p:nvPr/>
        </p:nvSpPr>
        <p:spPr>
          <a:xfrm>
            <a:off x="4843664" y="1668720"/>
            <a:ext cx="800000" cy="200000"/>
          </a:xfrm>
          <a:prstGeom prst="rect">
            <a:avLst/>
          </a:prstGeom>
          <a:noFill/>
        </p:spPr>
        <p:txBody>
          <a:bodyPr wrap="square" lIns="0" rIns="0" tIns="0" bIns="0" anchor="t">
            <a:spAutoFit/>
          </a:bodyPr>
          <a:lstStyle/>
          <a:p>
            <a:pPr algn="l"/>
            <a:r>
              <a:rPr sz="900" b="1">
                <a:solidFill>
                  <a:srgbClr val="0061B0"/>
                </a:solidFill>
                <a:latin typeface="Roboto"/>
              </a:rPr>
              <a:t>Qui reçoit</a:t>
            </a:r>
          </a:p>
        </p:txBody>
      </p:sp>
      <p:sp>
        <p:nvSpPr>
          <p:cNvPr id="19" name="TextBox 18"/>
          <p:cNvSpPr txBox="1"/>
          <p:nvPr/>
        </p:nvSpPr>
        <p:spPr>
          <a:xfrm>
            <a:off x="5623664" y="1668720"/>
            <a:ext cx="2825392" cy="330000"/>
          </a:xfrm>
          <a:prstGeom prst="rect">
            <a:avLst/>
          </a:prstGeom>
          <a:noFill/>
        </p:spPr>
        <p:txBody>
          <a:bodyPr wrap="square" lIns="0" rIns="0" tIns="0" bIns="0" anchor="t">
            <a:spAutoFit/>
          </a:bodyPr>
          <a:lstStyle/>
          <a:p>
            <a:pPr algn="l"/>
            <a:r>
              <a:rPr sz="950" b="0">
                <a:solidFill>
                  <a:srgbClr val="1F2A37"/>
                </a:solidFill>
                <a:latin typeface="Roboto"/>
              </a:rPr>
              <a:t>Le porteur du projet, avec ses co-porteurs en copie.</a:t>
            </a:r>
          </a:p>
        </p:txBody>
      </p:sp>
      <p:sp>
        <p:nvSpPr>
          <p:cNvPr id="20" name="TextBox 19"/>
          <p:cNvSpPr txBox="1"/>
          <p:nvPr/>
        </p:nvSpPr>
        <p:spPr>
          <a:xfrm>
            <a:off x="4843664" y="2038720"/>
            <a:ext cx="800000" cy="200000"/>
          </a:xfrm>
          <a:prstGeom prst="rect">
            <a:avLst/>
          </a:prstGeom>
          <a:noFill/>
        </p:spPr>
        <p:txBody>
          <a:bodyPr wrap="square" lIns="0" rIns="0" tIns="0" bIns="0" anchor="t">
            <a:spAutoFit/>
          </a:bodyPr>
          <a:lstStyle/>
          <a:p>
            <a:pPr algn="l"/>
            <a:r>
              <a:rPr sz="900" b="1">
                <a:solidFill>
                  <a:srgbClr val="0061B0"/>
                </a:solidFill>
                <a:latin typeface="Roboto"/>
              </a:rPr>
              <a:t>Quand</a:t>
            </a:r>
          </a:p>
        </p:txBody>
      </p:sp>
      <p:sp>
        <p:nvSpPr>
          <p:cNvPr id="21" name="TextBox 20"/>
          <p:cNvSpPr txBox="1"/>
          <p:nvPr/>
        </p:nvSpPr>
        <p:spPr>
          <a:xfrm>
            <a:off x="5623664" y="2038720"/>
            <a:ext cx="2825392" cy="640000"/>
          </a:xfrm>
          <a:prstGeom prst="rect">
            <a:avLst/>
          </a:prstGeom>
          <a:noFill/>
        </p:spPr>
        <p:txBody>
          <a:bodyPr wrap="square" lIns="0" rIns="0" tIns="0" bIns="0" anchor="t">
            <a:spAutoFit/>
          </a:bodyPr>
          <a:lstStyle/>
          <a:p>
            <a:pPr algn="l"/>
            <a:r>
              <a:rPr sz="950" b="0">
                <a:solidFill>
                  <a:srgbClr val="1F2A37"/>
                </a:solidFill>
                <a:latin typeface="Roboto"/>
              </a:rPr>
              <a:t>Jusqu’à deux e-mails avant la date de lancement déclarée (30 puis 10 jours par défaut), tant que la confirmation finale n’a pas été demandée.</a:t>
            </a:r>
          </a:p>
        </p:txBody>
      </p:sp>
      <p:sp>
        <p:nvSpPr>
          <p:cNvPr id="22" name="TextBox 21"/>
          <p:cNvSpPr txBox="1"/>
          <p:nvPr/>
        </p:nvSpPr>
        <p:spPr>
          <a:xfrm>
            <a:off x="4843664" y="2718720"/>
            <a:ext cx="800000" cy="200000"/>
          </a:xfrm>
          <a:prstGeom prst="rect">
            <a:avLst/>
          </a:prstGeom>
          <a:noFill/>
        </p:spPr>
        <p:txBody>
          <a:bodyPr wrap="square" lIns="0" rIns="0" tIns="0" bIns="0" anchor="t">
            <a:spAutoFit/>
          </a:bodyPr>
          <a:lstStyle/>
          <a:p>
            <a:pPr algn="l"/>
            <a:r>
              <a:rPr sz="900" b="1">
                <a:solidFill>
                  <a:srgbClr val="0061B0"/>
                </a:solidFill>
                <a:latin typeface="Roboto"/>
              </a:rPr>
              <a:t>Réglage</a:t>
            </a:r>
          </a:p>
        </p:txBody>
      </p:sp>
      <p:sp>
        <p:nvSpPr>
          <p:cNvPr id="23" name="TextBox 22"/>
          <p:cNvSpPr txBox="1"/>
          <p:nvPr/>
        </p:nvSpPr>
        <p:spPr>
          <a:xfrm>
            <a:off x="5623664" y="2718720"/>
            <a:ext cx="2825392" cy="340000"/>
          </a:xfrm>
          <a:prstGeom prst="rect">
            <a:avLst/>
          </a:prstGeom>
          <a:noFill/>
        </p:spPr>
        <p:txBody>
          <a:bodyPr wrap="square" lIns="0" rIns="0" tIns="0" bIns="0" anchor="t">
            <a:spAutoFit/>
          </a:bodyPr>
          <a:lstStyle/>
          <a:p>
            <a:pPr algn="l"/>
            <a:r>
              <a:rPr sz="950" b="0">
                <a:solidFill>
                  <a:srgbClr val="1F2A37"/>
                </a:solidFill>
                <a:latin typeface="Roboto"/>
              </a:rPr>
              <a:t>« E-mails au porteur avant la date de lancement ».</a:t>
            </a:r>
          </a:p>
        </p:txBody>
      </p:sp>
      <p:sp>
        <p:nvSpPr>
          <p:cNvPr id="24" name="À savoir"/>
          <p:cNvSpPr/>
          <p:nvPr/>
        </p:nvSpPr>
        <p:spPr>
          <a:xfrm>
            <a:off x="548640" y="3468720"/>
            <a:ext cx="8046720" cy="1171280"/>
          </a:xfrm>
          <a:prstGeom prst="roundRect">
            <a:avLst>
              <a:gd name="adj" fmla="val 6000"/>
            </a:avLst>
          </a:prstGeom>
          <a:solidFill>
            <a:srgbClr val="FFFFFF"/>
          </a:solidFill>
          <a:ln w="9525">
            <a:solidFill>
              <a:srgbClr val="D5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94944" y="3558720"/>
            <a:ext cx="3000000" cy="200000"/>
          </a:xfrm>
          <a:prstGeom prst="rect">
            <a:avLst/>
          </a:prstGeom>
          <a:noFill/>
        </p:spPr>
        <p:txBody>
          <a:bodyPr wrap="square" lIns="0" rIns="0" tIns="0" bIns="0" anchor="t">
            <a:spAutoFit/>
          </a:bodyPr>
          <a:lstStyle/>
          <a:p>
            <a:pPr algn="l"/>
            <a:r>
              <a:rPr sz="950" b="1">
                <a:solidFill>
                  <a:srgbClr val="003059"/>
                </a:solidFill>
                <a:latin typeface="Roboto"/>
              </a:rPr>
              <a:t>À savoir</a:t>
            </a:r>
          </a:p>
        </p:txBody>
      </p:sp>
      <p:sp>
        <p:nvSpPr>
          <p:cNvPr id="26" name="Oval 25"/>
          <p:cNvSpPr/>
          <p:nvPr/>
        </p:nvSpPr>
        <p:spPr>
          <a:xfrm>
            <a:off x="694944" y="384872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77824" y="3808720"/>
            <a:ext cx="7571232" cy="300000"/>
          </a:xfrm>
          <a:prstGeom prst="rect">
            <a:avLst/>
          </a:prstGeom>
          <a:noFill/>
        </p:spPr>
        <p:txBody>
          <a:bodyPr wrap="square" lIns="0" rIns="0" tIns="0" bIns="0" anchor="t">
            <a:spAutoFit/>
          </a:bodyPr>
          <a:lstStyle/>
          <a:p>
            <a:pPr algn="l"/>
            <a:r>
              <a:rPr sz="950" b="1">
                <a:solidFill>
                  <a:srgbClr val="1F2A37"/>
                </a:solidFill>
                <a:latin typeface="Roboto"/>
              </a:rPr>
              <a:t>Un troisième réglage n’envoie rien : </a:t>
            </a:r>
            <a:r>
              <a:rPr sz="950" b="0">
                <a:solidFill>
                  <a:srgbClr val="1F2A37"/>
                </a:solidFill>
                <a:latin typeface="Roboto"/>
              </a:rPr>
              <a:t>« Afficher « Sans action depuis un moment » sur le projet après » (6 jours ouvrés par défaut) ne fait qu’afficher le badge.</a:t>
            </a:r>
          </a:p>
        </p:txBody>
      </p:sp>
      <p:sp>
        <p:nvSpPr>
          <p:cNvPr id="28" name="Oval 27"/>
          <p:cNvSpPr/>
          <p:nvPr/>
        </p:nvSpPr>
        <p:spPr>
          <a:xfrm>
            <a:off x="694944" y="418872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77824" y="4148720"/>
            <a:ext cx="7571232" cy="300000"/>
          </a:xfrm>
          <a:prstGeom prst="rect">
            <a:avLst/>
          </a:prstGeom>
          <a:noFill/>
        </p:spPr>
        <p:txBody>
          <a:bodyPr wrap="square" lIns="0" rIns="0" tIns="0" bIns="0" anchor="t">
            <a:spAutoFit/>
          </a:bodyPr>
          <a:lstStyle/>
          <a:p>
            <a:pPr algn="l"/>
            <a:r>
              <a:rPr sz="950" b="1">
                <a:solidFill>
                  <a:srgbClr val="1F2A37"/>
                </a:solidFill>
                <a:latin typeface="Roboto"/>
              </a:rPr>
              <a:t>0 désactive le réglage correspondant. </a:t>
            </a:r>
            <a:r>
              <a:rPr sz="950" b="0">
                <a:solidFill>
                  <a:srgbClr val="1F2A37"/>
                </a:solidFill>
                <a:latin typeface="Roboto"/>
              </a:rPr>
              <a:t>Une seule relance de prise en charge par période d’inactivité ; rien n’est libéré automatiquement.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Réattribuer, domaine d’expertise, langues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5-team-bottom_934.jpg"/>
          <p:cNvPicPr>
            <a:picLocks noChangeAspect="1"/>
          </p:cNvPicPr>
          <p:nvPr/>
        </p:nvPicPr>
        <p:blipFill>
          <a:blip r:embed="rId2"/>
          <a:stretch>
            <a:fillRect/>
          </a:stretch>
        </p:blipFill>
        <p:spPr>
          <a:xfrm>
            <a:off x="548640" y="1188720"/>
            <a:ext cx="3559507" cy="3520440"/>
          </a:xfrm>
          <a:prstGeom prst="rect">
            <a:avLst/>
          </a:prstGeom>
          <a:ln w="9525">
            <a:solidFill>
              <a:srgbClr val="D5DCE4"/>
            </a:solidFill>
          </a:ln>
        </p:spPr>
      </p:pic>
      <p:sp>
        <p:nvSpPr>
          <p:cNvPr id="7" name="Oval 6"/>
          <p:cNvSpPr/>
          <p:nvPr/>
        </p:nvSpPr>
        <p:spPr>
          <a:xfrm>
            <a:off x="43891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4718304" y="1234440"/>
            <a:ext cx="3877055" cy="512064"/>
          </a:xfrm>
          <a:prstGeom prst="rect">
            <a:avLst/>
          </a:prstGeom>
          <a:noFill/>
        </p:spPr>
        <p:txBody>
          <a:bodyPr wrap="square" lIns="0" rIns="0" tIns="0" bIns="0" anchor="t">
            <a:spAutoFit/>
          </a:bodyPr>
          <a:lstStyle/>
          <a:p>
            <a:pPr algn="l"/>
            <a:r>
              <a:rPr sz="1050" b="1" i="0">
                <a:solidFill>
                  <a:srgbClr val="1F2A37"/>
                </a:solidFill>
                <a:latin typeface="Roboto"/>
              </a:rPr>
              <a:t>« Réattribuer » </a:t>
            </a:r>
            <a:r>
              <a:rPr sz="1050" b="0" i="0">
                <a:solidFill>
                  <a:srgbClr val="1F2A37"/>
                </a:solidFill>
                <a:latin typeface="Roboto"/>
              </a:rPr>
              <a:t>: confie un projet suivi à un autre membre. La personne qui le suivait est prévenue, avec « Départ » comme motif.</a:t>
            </a:r>
          </a:p>
        </p:txBody>
      </p:sp>
      <p:sp>
        <p:nvSpPr>
          <p:cNvPr id="9" name="Oval 8"/>
          <p:cNvSpPr/>
          <p:nvPr/>
        </p:nvSpPr>
        <p:spPr>
          <a:xfrm>
            <a:off x="4389120" y="184708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4718304" y="1856232"/>
            <a:ext cx="3877055" cy="341375"/>
          </a:xfrm>
          <a:prstGeom prst="rect">
            <a:avLst/>
          </a:prstGeom>
          <a:noFill/>
        </p:spPr>
        <p:txBody>
          <a:bodyPr wrap="square" lIns="0" rIns="0" tIns="0" bIns="0" anchor="t">
            <a:spAutoFit/>
          </a:bodyPr>
          <a:lstStyle/>
          <a:p>
            <a:pPr algn="l"/>
            <a:r>
              <a:rPr sz="1050" b="1" i="0">
                <a:solidFill>
                  <a:srgbClr val="1F2A37"/>
                </a:solidFill>
                <a:latin typeface="Roboto"/>
              </a:rPr>
              <a:t>« Domaine d’expertise » </a:t>
            </a:r>
            <a:r>
              <a:rPr sz="1050" b="0" i="0">
                <a:solidFill>
                  <a:srgbClr val="1F2A37"/>
                </a:solidFill>
                <a:latin typeface="Roboto"/>
              </a:rPr>
              <a:t>: le texte qui présente votre équipe aux porteurs.</a:t>
            </a:r>
          </a:p>
        </p:txBody>
      </p:sp>
      <p:sp>
        <p:nvSpPr>
          <p:cNvPr id="11" name="Oval 10"/>
          <p:cNvSpPr/>
          <p:nvPr/>
        </p:nvSpPr>
        <p:spPr>
          <a:xfrm>
            <a:off x="4389120" y="229819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4718304" y="2307336"/>
            <a:ext cx="3877055" cy="512064"/>
          </a:xfrm>
          <a:prstGeom prst="rect">
            <a:avLst/>
          </a:prstGeom>
          <a:noFill/>
        </p:spPr>
        <p:txBody>
          <a:bodyPr wrap="square" lIns="0" rIns="0" tIns="0" bIns="0" anchor="t">
            <a:spAutoFit/>
          </a:bodyPr>
          <a:lstStyle/>
          <a:p>
            <a:pPr algn="l"/>
            <a:r>
              <a:rPr sz="1050" b="1" i="0">
                <a:solidFill>
                  <a:srgbClr val="1F2A37"/>
                </a:solidFill>
                <a:latin typeface="Roboto"/>
              </a:rPr>
              <a:t>« Langues de réponse acceptées » </a:t>
            </a:r>
            <a:r>
              <a:rPr sz="1050" b="0" i="0">
                <a:solidFill>
                  <a:srgbClr val="1F2A37"/>
                </a:solidFill>
                <a:latin typeface="Roboto"/>
              </a:rPr>
              <a:t>: les langues dans lesquelles vous acceptez d’échanger. Aucune case cochée = toutes.</a:t>
            </a:r>
          </a:p>
        </p:txBody>
      </p:sp>
      <p:sp>
        <p:nvSpPr>
          <p:cNvPr id="13" name="Rounded Rectangle 12"/>
          <p:cNvSpPr/>
          <p:nvPr/>
        </p:nvSpPr>
        <p:spPr>
          <a:xfrm>
            <a:off x="4389120" y="3566160"/>
            <a:ext cx="4206240" cy="920496"/>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35424" y="3694176"/>
            <a:ext cx="3913631"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5" name="TextBox 14"/>
          <p:cNvSpPr txBox="1"/>
          <p:nvPr/>
        </p:nvSpPr>
        <p:spPr>
          <a:xfrm>
            <a:off x="4535424" y="3968496"/>
            <a:ext cx="3913631" cy="426720"/>
          </a:xfrm>
          <a:prstGeom prst="rect">
            <a:avLst/>
          </a:prstGeom>
          <a:noFill/>
        </p:spPr>
        <p:txBody>
          <a:bodyPr wrap="square" lIns="0" rIns="0" tIns="0" bIns="0" anchor="t">
            <a:spAutoFit/>
          </a:bodyPr>
          <a:lstStyle/>
          <a:p>
            <a:pPr algn="l"/>
            <a:r>
              <a:rPr sz="950" b="0" i="0">
                <a:solidFill>
                  <a:srgbClr val="1F2A37"/>
                </a:solidFill>
                <a:latin typeface="Roboto"/>
              </a:rPr>
              <a:t>Retirer un contact qui suit encore des projets ouvre une fenêtre : réattribuez ses projets ou remettez-les dans « À traiter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Vos règles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6-rules_1344.jpg"/>
          <p:cNvPicPr>
            <a:picLocks noChangeAspect="1"/>
          </p:cNvPicPr>
          <p:nvPr/>
        </p:nvPicPr>
        <p:blipFill>
          <a:blip r:embed="rId2"/>
          <a:stretch>
            <a:fillRect/>
          </a:stretch>
        </p:blipFill>
        <p:spPr>
          <a:xfrm>
            <a:off x="548640" y="1188720"/>
            <a:ext cx="5120640" cy="2642910"/>
          </a:xfrm>
          <a:prstGeom prst="rect">
            <a:avLst/>
          </a:prstGeom>
          <a:ln w="9525">
            <a:solidFill>
              <a:srgbClr val="D5DCE4"/>
            </a:solidFill>
          </a:ln>
        </p:spPr>
      </p:pic>
      <p:sp>
        <p:nvSpPr>
          <p:cNvPr id="7" name="Oval 6"/>
          <p:cNvSpPr/>
          <p:nvPr/>
        </p:nvSpPr>
        <p:spPr>
          <a:xfrm>
            <a:off x="589788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6227064" y="1188720"/>
            <a:ext cx="2368296" cy="162560"/>
          </a:xfrm>
          <a:prstGeom prst="rect">
            <a:avLst/>
          </a:prstGeom>
          <a:noFill/>
        </p:spPr>
        <p:txBody>
          <a:bodyPr wrap="square" lIns="0" rIns="0" tIns="0" bIns="0" anchor="t">
            <a:spAutoFit/>
          </a:bodyPr>
          <a:lstStyle/>
          <a:p>
            <a:pPr algn="l"/>
            <a:r>
              <a:rPr sz="1000" b="1" i="0">
                <a:solidFill>
                  <a:srgbClr val="1F2A37"/>
                </a:solidFill>
                <a:latin typeface="Roboto"/>
              </a:rPr>
              <a:t>« Ajouter une règle »</a:t>
            </a:r>
            <a:r>
              <a:rPr sz="1000" b="0" i="0">
                <a:solidFill>
                  <a:srgbClr val="1F2A37"/>
                </a:solidFill>
                <a:latin typeface="Roboto"/>
              </a:rPr>
              <a:t/>
            </a:r>
          </a:p>
        </p:txBody>
      </p:sp>
      <p:sp>
        <p:nvSpPr>
          <p:cNvPr id="9" name="Oval 8"/>
          <p:cNvSpPr/>
          <p:nvPr/>
        </p:nvSpPr>
        <p:spPr>
          <a:xfrm>
            <a:off x="5897880" y="15453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6227064" y="1554480"/>
            <a:ext cx="2368296" cy="325120"/>
          </a:xfrm>
          <a:prstGeom prst="rect">
            <a:avLst/>
          </a:prstGeom>
          <a:noFill/>
        </p:spPr>
        <p:txBody>
          <a:bodyPr wrap="square" lIns="0" rIns="0" tIns="0" bIns="0" anchor="t">
            <a:spAutoFit/>
          </a:bodyPr>
          <a:lstStyle/>
          <a:p>
            <a:pPr algn="l"/>
            <a:r>
              <a:rPr sz="1000" b="1" i="0">
                <a:solidFill>
                  <a:srgbClr val="1F2A37"/>
                </a:solidFill>
                <a:latin typeface="Roboto"/>
              </a:rPr>
              <a:t>Filtres </a:t>
            </a:r>
            <a:r>
              <a:rPr sz="1000" b="0" i="0">
                <a:solidFill>
                  <a:srgbClr val="1F2A37"/>
                </a:solidFill>
                <a:latin typeface="Roboto"/>
              </a:rPr>
              <a:t>par titre et par équipe impliquée.</a:t>
            </a:r>
          </a:p>
        </p:txBody>
      </p:sp>
      <p:sp>
        <p:nvSpPr>
          <p:cNvPr id="11" name="Oval 10"/>
          <p:cNvSpPr/>
          <p:nvPr/>
        </p:nvSpPr>
        <p:spPr>
          <a:xfrm>
            <a:off x="5897880" y="19801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6227064" y="1989328"/>
            <a:ext cx="2368296" cy="325120"/>
          </a:xfrm>
          <a:prstGeom prst="rect">
            <a:avLst/>
          </a:prstGeom>
          <a:noFill/>
        </p:spPr>
        <p:txBody>
          <a:bodyPr wrap="square" lIns="0" rIns="0" tIns="0" bIns="0" anchor="t">
            <a:spAutoFit/>
          </a:bodyPr>
          <a:lstStyle/>
          <a:p>
            <a:pPr algn="l"/>
            <a:r>
              <a:rPr sz="1000" b="1" i="0">
                <a:solidFill>
                  <a:srgbClr val="1F2A37"/>
                </a:solidFill>
                <a:latin typeface="Roboto"/>
              </a:rPr>
              <a:t>Œil </a:t>
            </a:r>
            <a:r>
              <a:rPr sz="1000" b="0" i="0">
                <a:solidFill>
                  <a:srgbClr val="1F2A37"/>
                </a:solidFill>
                <a:latin typeface="Roboto"/>
              </a:rPr>
              <a:t>: « Afficher la règle » ouvre l’éditeur.</a:t>
            </a:r>
          </a:p>
        </p:txBody>
      </p:sp>
      <p:sp>
        <p:nvSpPr>
          <p:cNvPr id="13" name="Oval 12"/>
          <p:cNvSpPr/>
          <p:nvPr/>
        </p:nvSpPr>
        <p:spPr>
          <a:xfrm>
            <a:off x="5897880" y="241503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4" name="TextBox 13"/>
          <p:cNvSpPr txBox="1"/>
          <p:nvPr/>
        </p:nvSpPr>
        <p:spPr>
          <a:xfrm>
            <a:off x="6227064" y="2424176"/>
            <a:ext cx="2368296" cy="325120"/>
          </a:xfrm>
          <a:prstGeom prst="rect">
            <a:avLst/>
          </a:prstGeom>
          <a:noFill/>
        </p:spPr>
        <p:txBody>
          <a:bodyPr wrap="square" lIns="0" rIns="0" tIns="0" bIns="0" anchor="t">
            <a:spAutoFit/>
          </a:bodyPr>
          <a:lstStyle/>
          <a:p>
            <a:pPr algn="l"/>
            <a:r>
              <a:rPr sz="1000" b="1" i="0">
                <a:solidFill>
                  <a:srgbClr val="1F2A37"/>
                </a:solidFill>
                <a:latin typeface="Roboto"/>
              </a:rPr>
              <a:t>Dupliquer </a:t>
            </a:r>
            <a:r>
              <a:rPr sz="1000" b="0" i="0">
                <a:solidFill>
                  <a:srgbClr val="1F2A37"/>
                </a:solidFill>
                <a:latin typeface="Roboto"/>
              </a:rPr>
              <a:t>la règle. La corbeille rouge la supprime.</a:t>
            </a:r>
          </a:p>
        </p:txBody>
      </p:sp>
      <p:sp>
        <p:nvSpPr>
          <p:cNvPr id="15" name="Rounded Rectangle 14"/>
          <p:cNvSpPr/>
          <p:nvPr/>
        </p:nvSpPr>
        <p:spPr>
          <a:xfrm>
            <a:off x="548640" y="3931920"/>
            <a:ext cx="804672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4059935"/>
            <a:ext cx="7754112"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7" name="TextBox 16"/>
          <p:cNvSpPr txBox="1"/>
          <p:nvPr/>
        </p:nvSpPr>
        <p:spPr>
          <a:xfrm>
            <a:off x="694944" y="4334255"/>
            <a:ext cx="7754112" cy="272288"/>
          </a:xfrm>
          <a:prstGeom prst="rect">
            <a:avLst/>
          </a:prstGeom>
          <a:noFill/>
        </p:spPr>
        <p:txBody>
          <a:bodyPr wrap="square" lIns="0" rIns="0" tIns="0" bIns="0" anchor="t">
            <a:spAutoFit/>
          </a:bodyPr>
          <a:lstStyle/>
          <a:p>
            <a:pPr algn="l"/>
            <a:r>
              <a:rPr sz="950" b="0" i="0">
                <a:solidFill>
                  <a:srgbClr val="1F2A37"/>
                </a:solidFill>
                <a:latin typeface="Roboto"/>
              </a:rPr>
              <a:t>Vous ne voyez que les règles qui sollicitent votre équipe. Les modifications sont enregistrées immédiatement et s’appliquent à tous les projets : « Annuler (Ctrl+Z) », en haut du back-office, annule la dernière suppression.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Éditer une règle : déclenchement et équipes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7-rule-conditions_888.jpg"/>
          <p:cNvPicPr>
            <a:picLocks noChangeAspect="1"/>
          </p:cNvPicPr>
          <p:nvPr/>
        </p:nvPicPr>
        <p:blipFill>
          <a:blip r:embed="rId2"/>
          <a:stretch>
            <a:fillRect/>
          </a:stretch>
        </p:blipFill>
        <p:spPr>
          <a:xfrm>
            <a:off x="548640" y="1188720"/>
            <a:ext cx="3383280" cy="3316941"/>
          </a:xfrm>
          <a:prstGeom prst="rect">
            <a:avLst/>
          </a:prstGeom>
          <a:ln w="9525">
            <a:solidFill>
              <a:srgbClr val="D5DCE4"/>
            </a:solidFill>
          </a:ln>
        </p:spPr>
      </p:pic>
      <p:pic>
        <p:nvPicPr>
          <p:cNvPr id="7" name="Picture 6" descr="e38-rule-teams_720.jpg"/>
          <p:cNvPicPr>
            <a:picLocks noChangeAspect="1"/>
          </p:cNvPicPr>
          <p:nvPr/>
        </p:nvPicPr>
        <p:blipFill>
          <a:blip r:embed="rId3"/>
          <a:stretch>
            <a:fillRect/>
          </a:stretch>
        </p:blipFill>
        <p:spPr>
          <a:xfrm>
            <a:off x="4114800" y="1188720"/>
            <a:ext cx="2743200" cy="2689411"/>
          </a:xfrm>
          <a:prstGeom prst="rect">
            <a:avLst/>
          </a:prstGeom>
          <a:ln w="9525">
            <a:solidFill>
              <a:srgbClr val="D5DCE4"/>
            </a:solidFill>
          </a:ln>
        </p:spPr>
      </p:pic>
      <p:sp>
        <p:nvSpPr>
          <p:cNvPr id="8" name="TextBox 7"/>
          <p:cNvSpPr txBox="1"/>
          <p:nvPr/>
        </p:nvSpPr>
        <p:spPr>
          <a:xfrm>
            <a:off x="548640" y="4526280"/>
            <a:ext cx="3566160" cy="228600"/>
          </a:xfrm>
          <a:prstGeom prst="rect">
            <a:avLst/>
          </a:prstGeom>
          <a:noFill/>
        </p:spPr>
        <p:txBody>
          <a:bodyPr wrap="square" lIns="0" rIns="0" tIns="0" bIns="0" anchor="t">
            <a:spAutoFit/>
          </a:bodyPr>
          <a:lstStyle/>
          <a:p>
            <a:pPr algn="l"/>
            <a:r>
              <a:rPr sz="900" b="0" i="1">
                <a:solidFill>
                  <a:srgbClr val="5B6573"/>
                </a:solidFill>
                <a:latin typeface="Roboto"/>
              </a:rPr>
              <a:t>① « Conditions de déclenchement » ② « Ajouter un groupe » ③ « Annuler » ④ « Enregistrer »</a:t>
            </a:r>
          </a:p>
        </p:txBody>
      </p:sp>
      <p:sp>
        <p:nvSpPr>
          <p:cNvPr id="9" name="TextBox 8"/>
          <p:cNvSpPr txBox="1"/>
          <p:nvPr/>
        </p:nvSpPr>
        <p:spPr>
          <a:xfrm>
            <a:off x="4114800" y="3931920"/>
            <a:ext cx="2743200" cy="228600"/>
          </a:xfrm>
          <a:prstGeom prst="rect">
            <a:avLst/>
          </a:prstGeom>
          <a:noFill/>
        </p:spPr>
        <p:txBody>
          <a:bodyPr wrap="square" lIns="0" rIns="0" tIns="0" bIns="0" anchor="t">
            <a:spAutoFit/>
          </a:bodyPr>
          <a:lstStyle/>
          <a:p>
            <a:pPr algn="l"/>
            <a:r>
              <a:rPr sz="900" b="0" i="1">
                <a:solidFill>
                  <a:srgbClr val="5B6573"/>
                </a:solidFill>
                <a:latin typeface="Roboto"/>
              </a:rPr>
              <a:t>① « SME à déclencher » ② « Notifier l’équipe concernée… »</a:t>
            </a:r>
          </a:p>
        </p:txBody>
      </p:sp>
      <p:sp>
        <p:nvSpPr>
          <p:cNvPr id="10" name="TextBox 9"/>
          <p:cNvSpPr txBox="1"/>
          <p:nvPr/>
        </p:nvSpPr>
        <p:spPr>
          <a:xfrm>
            <a:off x="7040880" y="1234440"/>
            <a:ext cx="1554480" cy="1463040"/>
          </a:xfrm>
          <a:prstGeom prst="rect">
            <a:avLst/>
          </a:prstGeom>
          <a:noFill/>
        </p:spPr>
        <p:txBody>
          <a:bodyPr wrap="square" lIns="0" rIns="0" tIns="0" bIns="0" anchor="t">
            <a:spAutoFit/>
          </a:bodyPr>
          <a:lstStyle/>
          <a:p>
            <a:pPr algn="l"/>
            <a:r>
              <a:rPr sz="900" b="1" i="0">
                <a:solidFill>
                  <a:srgbClr val="1F2A37"/>
                </a:solidFill>
                <a:latin typeface="Roboto"/>
              </a:rPr>
              <a:t>Groupes : </a:t>
            </a:r>
            <a:r>
              <a:rPr sz="900" b="0" i="0">
                <a:solidFill>
                  <a:srgbClr val="1F2A37"/>
                </a:solidFill>
                <a:latin typeface="Roboto"/>
              </a:rPr>
              <a:t>la règle se déclenche quand chaque groupe est validé ; dans un groupe, toutes les conditions (ET) ou au moins une (OU).</a:t>
            </a:r>
          </a:p>
        </p:txBody>
      </p:sp>
      <p:sp>
        <p:nvSpPr>
          <p:cNvPr id="11" name="TextBox 10"/>
          <p:cNvSpPr txBox="1"/>
          <p:nvPr/>
        </p:nvSpPr>
        <p:spPr>
          <a:xfrm>
            <a:off x="7040880" y="2743200"/>
            <a:ext cx="1554480" cy="1463040"/>
          </a:xfrm>
          <a:prstGeom prst="rect">
            <a:avLst/>
          </a:prstGeom>
          <a:noFill/>
        </p:spPr>
        <p:txBody>
          <a:bodyPr wrap="square" lIns="0" rIns="0" tIns="0" bIns="0" anchor="t">
            <a:spAutoFit/>
          </a:bodyPr>
          <a:lstStyle/>
          <a:p>
            <a:pPr algn="l"/>
            <a:r>
              <a:rPr sz="900" b="1" i="0">
                <a:solidFill>
                  <a:srgbClr val="1F2A37"/>
                </a:solidFill>
                <a:latin typeface="Roboto"/>
              </a:rPr>
              <a:t>Case décochée : </a:t>
            </a:r>
            <a:r>
              <a:rPr sz="900" b="0" i="0">
                <a:solidFill>
                  <a:srgbClr val="1F2A37"/>
                </a:solidFill>
                <a:latin typeface="Roboto"/>
              </a:rPr>
              <a:t>personne n’est notifié, le projet est considéré « validé sous conditions » par l’équipe ; les questions à préparer tiennent lieu d’avis.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Éditer une règle : questions et risques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40-rule-risks_1248.jpg"/>
          <p:cNvPicPr>
            <a:picLocks noChangeAspect="1"/>
          </p:cNvPicPr>
          <p:nvPr/>
        </p:nvPicPr>
        <p:blipFill>
          <a:blip r:embed="rId2"/>
          <a:stretch>
            <a:fillRect/>
          </a:stretch>
        </p:blipFill>
        <p:spPr>
          <a:xfrm>
            <a:off x="548640" y="1188720"/>
            <a:ext cx="4754880" cy="2843604"/>
          </a:xfrm>
          <a:prstGeom prst="rect">
            <a:avLst/>
          </a:prstGeom>
          <a:ln w="9525">
            <a:solidFill>
              <a:srgbClr val="D5DCE4"/>
            </a:solidFill>
          </a:ln>
        </p:spPr>
      </p:pic>
      <p:sp>
        <p:nvSpPr>
          <p:cNvPr id="7" name="Oval 6"/>
          <p:cNvSpPr/>
          <p:nvPr/>
        </p:nvSpPr>
        <p:spPr>
          <a:xfrm>
            <a:off x="55321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5861304" y="1234440"/>
            <a:ext cx="2734056" cy="1024128"/>
          </a:xfrm>
          <a:prstGeom prst="rect">
            <a:avLst/>
          </a:prstGeom>
          <a:noFill/>
        </p:spPr>
        <p:txBody>
          <a:bodyPr wrap="square" lIns="0" rIns="0" tIns="0" bIns="0" anchor="t">
            <a:spAutoFit/>
          </a:bodyPr>
          <a:lstStyle/>
          <a:p>
            <a:pPr algn="l"/>
            <a:r>
              <a:rPr sz="1050" b="1" i="0">
                <a:solidFill>
                  <a:srgbClr val="1F2A37"/>
                </a:solidFill>
                <a:latin typeface="Roboto"/>
              </a:rPr>
              <a:t>« Questions à préparer par équipe » </a:t>
            </a:r>
            <a:r>
              <a:rPr sz="1050" b="0" i="0">
                <a:solidFill>
                  <a:srgbClr val="1F2A37"/>
                </a:solidFill>
                <a:latin typeface="Roboto"/>
              </a:rPr>
              <a:t>: ce sont les « Points à préparer » que les porteurs voient dans votre carte. « Ajouter une question » pour chaque question que vous posez à chaque fois par e-mail.</a:t>
            </a:r>
          </a:p>
        </p:txBody>
      </p:sp>
      <p:sp>
        <p:nvSpPr>
          <p:cNvPr id="9" name="Oval 8"/>
          <p:cNvSpPr/>
          <p:nvPr/>
        </p:nvSpPr>
        <p:spPr>
          <a:xfrm>
            <a:off x="5532120" y="23591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5861304" y="2368296"/>
            <a:ext cx="2734056" cy="512064"/>
          </a:xfrm>
          <a:prstGeom prst="rect">
            <a:avLst/>
          </a:prstGeom>
          <a:noFill/>
        </p:spPr>
        <p:txBody>
          <a:bodyPr wrap="square" lIns="0" rIns="0" tIns="0" bIns="0" anchor="t">
            <a:spAutoFit/>
          </a:bodyPr>
          <a:lstStyle/>
          <a:p>
            <a:pPr algn="l"/>
            <a:r>
              <a:rPr sz="1050" b="1" i="0">
                <a:solidFill>
                  <a:srgbClr val="1F2A37"/>
                </a:solidFill>
                <a:latin typeface="Roboto"/>
              </a:rPr>
              <a:t>« Risques associés » </a:t>
            </a:r>
            <a:r>
              <a:rPr sz="1050" b="0" i="0">
                <a:solidFill>
                  <a:srgbClr val="1F2A37"/>
                </a:solidFill>
                <a:latin typeface="Roboto"/>
              </a:rPr>
              <a:t>: description, criticité, actions de mitigation, avec « Ajouter un risque ».</a:t>
            </a:r>
          </a:p>
        </p:txBody>
      </p:sp>
      <p:sp>
        <p:nvSpPr>
          <p:cNvPr id="11" name="Rounded Rectangle 10"/>
          <p:cNvSpPr/>
          <p:nvPr/>
        </p:nvSpPr>
        <p:spPr>
          <a:xfrm>
            <a:off x="5532120" y="3291840"/>
            <a:ext cx="3063240" cy="920496"/>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678424" y="3419856"/>
            <a:ext cx="2770632"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3" name="TextBox 12"/>
          <p:cNvSpPr txBox="1"/>
          <p:nvPr/>
        </p:nvSpPr>
        <p:spPr>
          <a:xfrm>
            <a:off x="5678424" y="3694176"/>
            <a:ext cx="2770632" cy="426720"/>
          </a:xfrm>
          <a:prstGeom prst="rect">
            <a:avLst/>
          </a:prstGeom>
          <a:noFill/>
        </p:spPr>
        <p:txBody>
          <a:bodyPr wrap="square" lIns="0" rIns="0" tIns="0" bIns="0" anchor="t">
            <a:spAutoFit/>
          </a:bodyPr>
          <a:lstStyle/>
          <a:p>
            <a:pPr algn="l"/>
            <a:r>
              <a:rPr sz="950" b="0" i="0">
                <a:solidFill>
                  <a:srgbClr val="1F2A37"/>
                </a:solidFill>
                <a:latin typeface="Roboto"/>
              </a:rPr>
              <a:t>Une question peut être associée au non-respect d’un délai minimal entre deux dates du questionnaire.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Comités de validation</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41-committees_982.jpg"/>
          <p:cNvPicPr>
            <a:picLocks noChangeAspect="1"/>
          </p:cNvPicPr>
          <p:nvPr/>
        </p:nvPicPr>
        <p:blipFill>
          <a:blip r:embed="rId2"/>
          <a:stretch>
            <a:fillRect/>
          </a:stretch>
        </p:blipFill>
        <p:spPr>
          <a:xfrm>
            <a:off x="548640" y="1188720"/>
            <a:ext cx="3741724" cy="3017520"/>
          </a:xfrm>
          <a:prstGeom prst="rect">
            <a:avLst/>
          </a:prstGeom>
          <a:ln w="9525">
            <a:solidFill>
              <a:srgbClr val="D5DCE4"/>
            </a:solidFill>
          </a:ln>
        </p:spPr>
      </p:pic>
      <p:pic>
        <p:nvPicPr>
          <p:cNvPr id="7" name="Picture 6" descr="e42-committee-triggers_648.jpg"/>
          <p:cNvPicPr>
            <a:picLocks noChangeAspect="1"/>
          </p:cNvPicPr>
          <p:nvPr/>
        </p:nvPicPr>
        <p:blipFill>
          <a:blip r:embed="rId3"/>
          <a:stretch>
            <a:fillRect/>
          </a:stretch>
        </p:blipFill>
        <p:spPr>
          <a:xfrm>
            <a:off x="4480560" y="2743200"/>
            <a:ext cx="2468880" cy="1352722"/>
          </a:xfrm>
          <a:prstGeom prst="rect">
            <a:avLst/>
          </a:prstGeom>
          <a:ln w="9525">
            <a:solidFill>
              <a:srgbClr val="D5DCE4"/>
            </a:solidFill>
          </a:ln>
        </p:spPr>
      </p:pic>
      <p:sp>
        <p:nvSpPr>
          <p:cNvPr id="8" name="Oval 7"/>
          <p:cNvSpPr/>
          <p:nvPr/>
        </p:nvSpPr>
        <p:spPr>
          <a:xfrm>
            <a:off x="448056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9" name="TextBox 8"/>
          <p:cNvSpPr txBox="1"/>
          <p:nvPr/>
        </p:nvSpPr>
        <p:spPr>
          <a:xfrm>
            <a:off x="4809744" y="1188720"/>
            <a:ext cx="3785615" cy="292608"/>
          </a:xfrm>
          <a:prstGeom prst="rect">
            <a:avLst/>
          </a:prstGeom>
          <a:noFill/>
        </p:spPr>
        <p:txBody>
          <a:bodyPr wrap="square" lIns="0" rIns="0" tIns="0" bIns="0" anchor="t">
            <a:spAutoFit/>
          </a:bodyPr>
          <a:lstStyle/>
          <a:p>
            <a:pPr algn="l"/>
            <a:r>
              <a:rPr sz="900" b="1" i="0">
                <a:solidFill>
                  <a:srgbClr val="1F2A37"/>
                </a:solidFill>
                <a:latin typeface="Roboto"/>
              </a:rPr>
              <a:t>« Rappels avant lancement » </a:t>
            </a:r>
            <a:r>
              <a:rPr sz="900" b="0" i="0">
                <a:solidFill>
                  <a:srgbClr val="1F2A37"/>
                </a:solidFill>
                <a:latin typeface="Roboto"/>
              </a:rPr>
              <a:t>: au porteur, J-30 puis J-10 par défaut, s’il n’a pas demandé la confirmation finale.</a:t>
            </a:r>
          </a:p>
        </p:txBody>
      </p:sp>
      <p:sp>
        <p:nvSpPr>
          <p:cNvPr id="10" name="Oval 9"/>
          <p:cNvSpPr/>
          <p:nvPr/>
        </p:nvSpPr>
        <p:spPr>
          <a:xfrm>
            <a:off x="4480560" y="149961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1" name="TextBox 10"/>
          <p:cNvSpPr txBox="1"/>
          <p:nvPr/>
        </p:nvSpPr>
        <p:spPr>
          <a:xfrm>
            <a:off x="4809744" y="1508760"/>
            <a:ext cx="3785615" cy="146304"/>
          </a:xfrm>
          <a:prstGeom prst="rect">
            <a:avLst/>
          </a:prstGeom>
          <a:noFill/>
        </p:spPr>
        <p:txBody>
          <a:bodyPr wrap="square" lIns="0" rIns="0" tIns="0" bIns="0" anchor="t">
            <a:spAutoFit/>
          </a:bodyPr>
          <a:lstStyle/>
          <a:p>
            <a:pPr algn="l"/>
            <a:r>
              <a:rPr sz="900" b="1" i="0">
                <a:solidFill>
                  <a:srgbClr val="1F2A37"/>
                </a:solidFill>
                <a:latin typeface="Roboto"/>
              </a:rPr>
              <a:t>« Nom du comité »</a:t>
            </a:r>
            <a:r>
              <a:rPr sz="900" b="0" i="0">
                <a:solidFill>
                  <a:srgbClr val="1F2A37"/>
                </a:solidFill>
                <a:latin typeface="Roboto"/>
              </a:rPr>
              <a:t/>
            </a:r>
          </a:p>
        </p:txBody>
      </p:sp>
      <p:sp>
        <p:nvSpPr>
          <p:cNvPr id="12" name="Oval 11"/>
          <p:cNvSpPr/>
          <p:nvPr/>
        </p:nvSpPr>
        <p:spPr>
          <a:xfrm>
            <a:off x="4480560" y="178308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3" name="TextBox 12"/>
          <p:cNvSpPr txBox="1"/>
          <p:nvPr/>
        </p:nvSpPr>
        <p:spPr>
          <a:xfrm>
            <a:off x="4809744" y="1792224"/>
            <a:ext cx="3785615" cy="146304"/>
          </a:xfrm>
          <a:prstGeom prst="rect">
            <a:avLst/>
          </a:prstGeom>
          <a:noFill/>
        </p:spPr>
        <p:txBody>
          <a:bodyPr wrap="square" lIns="0" rIns="0" tIns="0" bIns="0" anchor="t">
            <a:spAutoFit/>
          </a:bodyPr>
          <a:lstStyle/>
          <a:p>
            <a:pPr algn="l"/>
            <a:r>
              <a:rPr sz="900" b="1" i="0">
                <a:solidFill>
                  <a:srgbClr val="1F2A37"/>
                </a:solidFill>
                <a:latin typeface="Roboto"/>
              </a:rPr>
              <a:t>« Adresses mail » </a:t>
            </a:r>
            <a:r>
              <a:rPr sz="900" b="0" i="0">
                <a:solidFill>
                  <a:srgbClr val="1F2A37"/>
                </a:solidFill>
                <a:latin typeface="Roboto"/>
              </a:rPr>
              <a:t>des membres.</a:t>
            </a:r>
          </a:p>
        </p:txBody>
      </p:sp>
      <p:sp>
        <p:nvSpPr>
          <p:cNvPr id="14" name="Oval 13"/>
          <p:cNvSpPr/>
          <p:nvPr/>
        </p:nvSpPr>
        <p:spPr>
          <a:xfrm>
            <a:off x="4480560" y="206654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5" name="TextBox 14"/>
          <p:cNvSpPr txBox="1"/>
          <p:nvPr/>
        </p:nvSpPr>
        <p:spPr>
          <a:xfrm>
            <a:off x="4809744" y="2075688"/>
            <a:ext cx="3785615" cy="146304"/>
          </a:xfrm>
          <a:prstGeom prst="rect">
            <a:avLst/>
          </a:prstGeom>
          <a:noFill/>
        </p:spPr>
        <p:txBody>
          <a:bodyPr wrap="square" lIns="0" rIns="0" tIns="0" bIns="0" anchor="t">
            <a:spAutoFit/>
          </a:bodyPr>
          <a:lstStyle/>
          <a:p>
            <a:pPr algn="l"/>
            <a:r>
              <a:rPr sz="900" b="1" i="0">
                <a:solidFill>
                  <a:srgbClr val="1F2A37"/>
                </a:solidFill>
                <a:latin typeface="Roboto"/>
              </a:rPr>
              <a:t>« Activer la demande de commentaire »</a:t>
            </a:r>
            <a:r>
              <a:rPr sz="900" b="0" i="0">
                <a:solidFill>
                  <a:srgbClr val="1F2A37"/>
                </a:solidFill>
                <a:latin typeface="Roboto"/>
              </a:rPr>
              <a:t/>
            </a:r>
          </a:p>
        </p:txBody>
      </p:sp>
      <p:sp>
        <p:nvSpPr>
          <p:cNvPr id="16" name="Oval 15"/>
          <p:cNvSpPr/>
          <p:nvPr/>
        </p:nvSpPr>
        <p:spPr>
          <a:xfrm>
            <a:off x="4480560" y="235000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17" name="TextBox 16"/>
          <p:cNvSpPr txBox="1"/>
          <p:nvPr/>
        </p:nvSpPr>
        <p:spPr>
          <a:xfrm>
            <a:off x="4809744" y="2359152"/>
            <a:ext cx="3785615" cy="146304"/>
          </a:xfrm>
          <a:prstGeom prst="rect">
            <a:avLst/>
          </a:prstGeom>
          <a:noFill/>
        </p:spPr>
        <p:txBody>
          <a:bodyPr wrap="square" lIns="0" rIns="0" tIns="0" bIns="0" anchor="t">
            <a:spAutoFit/>
          </a:bodyPr>
          <a:lstStyle/>
          <a:p>
            <a:pPr algn="l"/>
            <a:r>
              <a:rPr sz="900" b="1" i="0">
                <a:solidFill>
                  <a:srgbClr val="1F2A37"/>
                </a:solidFill>
                <a:latin typeface="Roboto"/>
              </a:rPr>
              <a:t>« Conditions de déclenchement » </a:t>
            </a:r>
            <a:r>
              <a:rPr sz="900" b="0" i="0">
                <a:solidFill>
                  <a:srgbClr val="1F2A37"/>
                </a:solidFill>
                <a:latin typeface="Roboto"/>
              </a:rPr>
              <a:t>sur les réponses.</a:t>
            </a:r>
          </a:p>
        </p:txBody>
      </p:sp>
      <p:sp>
        <p:nvSpPr>
          <p:cNvPr id="18" name="TextBox 17"/>
          <p:cNvSpPr txBox="1"/>
          <p:nvPr/>
        </p:nvSpPr>
        <p:spPr>
          <a:xfrm>
            <a:off x="7086600" y="2788920"/>
            <a:ext cx="1508760" cy="1463040"/>
          </a:xfrm>
          <a:prstGeom prst="rect">
            <a:avLst/>
          </a:prstGeom>
          <a:noFill/>
        </p:spPr>
        <p:txBody>
          <a:bodyPr wrap="square" lIns="0" rIns="0" tIns="0" bIns="0" anchor="t">
            <a:spAutoFit/>
          </a:bodyPr>
          <a:lstStyle/>
          <a:p>
            <a:pPr algn="l"/>
            <a:r>
              <a:rPr sz="850" b="0" i="1">
                <a:solidFill>
                  <a:srgbClr val="5B6573"/>
                </a:solidFill>
                <a:latin typeface="Roboto"/>
              </a:rPr>
              <a:t>Autres critères : « Règles ciblées », « Score de risque minimal », « Nombre minimal d’équipes ». Un seul critère rempli suffit.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Revue des règles : tester sans risque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43-bench_1056.jpg"/>
          <p:cNvPicPr>
            <a:picLocks noChangeAspect="1"/>
          </p:cNvPicPr>
          <p:nvPr/>
        </p:nvPicPr>
        <p:blipFill>
          <a:blip r:embed="rId2"/>
          <a:stretch>
            <a:fillRect/>
          </a:stretch>
        </p:blipFill>
        <p:spPr>
          <a:xfrm>
            <a:off x="548640" y="1188720"/>
            <a:ext cx="4023360" cy="3244645"/>
          </a:xfrm>
          <a:prstGeom prst="rect">
            <a:avLst/>
          </a:prstGeom>
          <a:ln w="9525">
            <a:solidFill>
              <a:srgbClr val="D5DCE4"/>
            </a:solidFill>
          </a:ln>
        </p:spPr>
      </p:pic>
      <p:sp>
        <p:nvSpPr>
          <p:cNvPr id="7" name="Oval 6"/>
          <p:cNvSpPr/>
          <p:nvPr/>
        </p:nvSpPr>
        <p:spPr>
          <a:xfrm>
            <a:off x="480060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5129784" y="1188720"/>
            <a:ext cx="3465576" cy="308864"/>
          </a:xfrm>
          <a:prstGeom prst="rect">
            <a:avLst/>
          </a:prstGeom>
          <a:noFill/>
        </p:spPr>
        <p:txBody>
          <a:bodyPr wrap="square" lIns="0" rIns="0" tIns="0" bIns="0" anchor="t">
            <a:spAutoFit/>
          </a:bodyPr>
          <a:lstStyle/>
          <a:p>
            <a:pPr algn="l"/>
            <a:r>
              <a:rPr sz="950" b="1" i="0">
                <a:solidFill>
                  <a:srgbClr val="1F2A37"/>
                </a:solidFill>
                <a:latin typeface="Roboto"/>
              </a:rPr>
              <a:t>« Projet type » </a:t>
            </a:r>
            <a:r>
              <a:rPr sz="950" b="0" i="0">
                <a:solidFill>
                  <a:srgbClr val="1F2A37"/>
                </a:solidFill>
                <a:latin typeface="Roboto"/>
              </a:rPr>
              <a:t>: partir d’un questionnaire vierge ou d’un projet type enregistré.</a:t>
            </a:r>
          </a:p>
        </p:txBody>
      </p:sp>
      <p:sp>
        <p:nvSpPr>
          <p:cNvPr id="9" name="Oval 8"/>
          <p:cNvSpPr/>
          <p:nvPr/>
        </p:nvSpPr>
        <p:spPr>
          <a:xfrm>
            <a:off x="4800600" y="15341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5129784" y="1543304"/>
            <a:ext cx="3465576" cy="154432"/>
          </a:xfrm>
          <a:prstGeom prst="rect">
            <a:avLst/>
          </a:prstGeom>
          <a:noFill/>
        </p:spPr>
        <p:txBody>
          <a:bodyPr wrap="square" lIns="0" rIns="0" tIns="0" bIns="0" anchor="t">
            <a:spAutoFit/>
          </a:bodyPr>
          <a:lstStyle/>
          <a:p>
            <a:pPr algn="l"/>
            <a:r>
              <a:rPr sz="950" b="1" i="0">
                <a:solidFill>
                  <a:srgbClr val="1F2A37"/>
                </a:solidFill>
                <a:latin typeface="Roboto"/>
              </a:rPr>
              <a:t>« Équipe SME à afficher »</a:t>
            </a:r>
            <a:r>
              <a:rPr sz="950" b="0" i="0">
                <a:solidFill>
                  <a:srgbClr val="1F2A37"/>
                </a:solidFill>
                <a:latin typeface="Roboto"/>
              </a:rPr>
              <a:t/>
            </a:r>
          </a:p>
        </p:txBody>
      </p:sp>
      <p:sp>
        <p:nvSpPr>
          <p:cNvPr id="11" name="Oval 10"/>
          <p:cNvSpPr/>
          <p:nvPr/>
        </p:nvSpPr>
        <p:spPr>
          <a:xfrm>
            <a:off x="4800600" y="183591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5129784" y="1845056"/>
            <a:ext cx="3465576" cy="154432"/>
          </a:xfrm>
          <a:prstGeom prst="rect">
            <a:avLst/>
          </a:prstGeom>
          <a:noFill/>
        </p:spPr>
        <p:txBody>
          <a:bodyPr wrap="square" lIns="0" rIns="0" tIns="0" bIns="0" anchor="t">
            <a:spAutoFit/>
          </a:bodyPr>
          <a:lstStyle/>
          <a:p>
            <a:pPr algn="l"/>
            <a:r>
              <a:rPr sz="950" b="1" i="0">
                <a:solidFill>
                  <a:srgbClr val="1F2A37"/>
                </a:solidFill>
                <a:latin typeface="Roboto"/>
              </a:rPr>
              <a:t>Le questionnaire </a:t>
            </a:r>
            <a:r>
              <a:rPr sz="950" b="0" i="0">
                <a:solidFill>
                  <a:srgbClr val="1F2A37"/>
                </a:solidFill>
                <a:latin typeface="Roboto"/>
              </a:rPr>
              <a:t>: modifiez les réponses librement.</a:t>
            </a:r>
          </a:p>
        </p:txBody>
      </p:sp>
      <p:sp>
        <p:nvSpPr>
          <p:cNvPr id="13" name="Oval 12"/>
          <p:cNvSpPr/>
          <p:nvPr/>
        </p:nvSpPr>
        <p:spPr>
          <a:xfrm>
            <a:off x="4800600" y="213766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4" name="TextBox 13"/>
          <p:cNvSpPr txBox="1"/>
          <p:nvPr/>
        </p:nvSpPr>
        <p:spPr>
          <a:xfrm>
            <a:off x="5129784" y="2146808"/>
            <a:ext cx="3465576" cy="308864"/>
          </a:xfrm>
          <a:prstGeom prst="rect">
            <a:avLst/>
          </a:prstGeom>
          <a:noFill/>
        </p:spPr>
        <p:txBody>
          <a:bodyPr wrap="square" lIns="0" rIns="0" tIns="0" bIns="0" anchor="t">
            <a:spAutoFit/>
          </a:bodyPr>
          <a:lstStyle/>
          <a:p>
            <a:pPr algn="l"/>
            <a:r>
              <a:rPr sz="950" b="1" i="0">
                <a:solidFill>
                  <a:srgbClr val="1F2A37"/>
                </a:solidFill>
                <a:latin typeface="Roboto"/>
              </a:rPr>
              <a:t>L’analyse </a:t>
            </a:r>
            <a:r>
              <a:rPr sz="950" b="0" i="0">
                <a:solidFill>
                  <a:srgbClr val="1F2A37"/>
                </a:solidFill>
                <a:latin typeface="Roboto"/>
              </a:rPr>
              <a:t>pour l’équipe : règles déclenchées, questions, risques, en direct.</a:t>
            </a:r>
          </a:p>
        </p:txBody>
      </p:sp>
      <p:sp>
        <p:nvSpPr>
          <p:cNvPr id="15" name="Oval 14"/>
          <p:cNvSpPr/>
          <p:nvPr/>
        </p:nvSpPr>
        <p:spPr>
          <a:xfrm>
            <a:off x="4800600" y="249224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16" name="TextBox 15"/>
          <p:cNvSpPr txBox="1"/>
          <p:nvPr/>
        </p:nvSpPr>
        <p:spPr>
          <a:xfrm>
            <a:off x="5129784" y="2501392"/>
            <a:ext cx="3465576" cy="154432"/>
          </a:xfrm>
          <a:prstGeom prst="rect">
            <a:avLst/>
          </a:prstGeom>
          <a:noFill/>
        </p:spPr>
        <p:txBody>
          <a:bodyPr wrap="square" lIns="0" rIns="0" tIns="0" bIns="0" anchor="t">
            <a:spAutoFit/>
          </a:bodyPr>
          <a:lstStyle/>
          <a:p>
            <a:pPr algn="l"/>
            <a:r>
              <a:rPr sz="950" b="1" i="0">
                <a:solidFill>
                  <a:srgbClr val="1F2A37"/>
                </a:solidFill>
                <a:latin typeface="Roboto"/>
              </a:rPr>
              <a:t>« Créer une règle à partir de ce projet »</a:t>
            </a:r>
            <a:r>
              <a:rPr sz="950" b="0" i="0">
                <a:solidFill>
                  <a:srgbClr val="1F2A37"/>
                </a:solidFill>
                <a:latin typeface="Roboto"/>
              </a:rPr>
              <a:t/>
            </a:r>
          </a:p>
        </p:txBody>
      </p:sp>
      <p:sp>
        <p:nvSpPr>
          <p:cNvPr id="17" name="Rounded Rectangle 16"/>
          <p:cNvSpPr/>
          <p:nvPr/>
        </p:nvSpPr>
        <p:spPr>
          <a:xfrm>
            <a:off x="4800600" y="3840480"/>
            <a:ext cx="3794760" cy="611632"/>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946904" y="3968496"/>
            <a:ext cx="3502152"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9" name="TextBox 18"/>
          <p:cNvSpPr txBox="1"/>
          <p:nvPr/>
        </p:nvSpPr>
        <p:spPr>
          <a:xfrm>
            <a:off x="4946904" y="4242816"/>
            <a:ext cx="3502152" cy="117856"/>
          </a:xfrm>
          <a:prstGeom prst="rect">
            <a:avLst/>
          </a:prstGeom>
          <a:noFill/>
        </p:spPr>
        <p:txBody>
          <a:bodyPr wrap="square" lIns="0" rIns="0" tIns="0" bIns="0" anchor="t">
            <a:spAutoFit/>
          </a:bodyPr>
          <a:lstStyle/>
          <a:p>
            <a:pPr algn="l"/>
            <a:r>
              <a:rPr sz="950" b="0" i="0">
                <a:solidFill>
                  <a:srgbClr val="1F2A37"/>
                </a:solidFill>
                <a:latin typeface="Roboto"/>
              </a:rPr>
              <a:t>Rien de ce qui se fait ici ne touche un projet réel.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Traductions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44-translations_1344.jpg"/>
          <p:cNvPicPr>
            <a:picLocks noChangeAspect="1"/>
          </p:cNvPicPr>
          <p:nvPr/>
        </p:nvPicPr>
        <p:blipFill>
          <a:blip r:embed="rId2"/>
          <a:stretch>
            <a:fillRect/>
          </a:stretch>
        </p:blipFill>
        <p:spPr>
          <a:xfrm>
            <a:off x="548640" y="1188720"/>
            <a:ext cx="5120640" cy="1901596"/>
          </a:xfrm>
          <a:prstGeom prst="rect">
            <a:avLst/>
          </a:prstGeom>
          <a:ln w="9525">
            <a:solidFill>
              <a:srgbClr val="D5DCE4"/>
            </a:solidFill>
          </a:ln>
        </p:spPr>
      </p:pic>
      <p:sp>
        <p:nvSpPr>
          <p:cNvPr id="7" name="Oval 6"/>
          <p:cNvSpPr/>
          <p:nvPr/>
        </p:nvSpPr>
        <p:spPr>
          <a:xfrm>
            <a:off x="5897880" y="128778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080760" y="1234440"/>
            <a:ext cx="2514600" cy="487680"/>
          </a:xfrm>
          <a:prstGeom prst="rect">
            <a:avLst/>
          </a:prstGeom>
          <a:noFill/>
        </p:spPr>
        <p:txBody>
          <a:bodyPr wrap="square" lIns="0" rIns="0" tIns="0" bIns="0" anchor="t">
            <a:spAutoFit/>
          </a:bodyPr>
          <a:lstStyle/>
          <a:p>
            <a:pPr algn="l"/>
            <a:r>
              <a:rPr sz="1000" b="0" i="0">
                <a:solidFill>
                  <a:srgbClr val="1F2A37"/>
                </a:solidFill>
                <a:latin typeface="Roboto"/>
              </a:rPr>
              <a:t>Le tableau liste les textes de votre équipe qui ne sont pas traduits dans les quatre langues de l’application.</a:t>
            </a:r>
          </a:p>
        </p:txBody>
      </p:sp>
      <p:sp>
        <p:nvSpPr>
          <p:cNvPr id="9" name="Oval 8"/>
          <p:cNvSpPr/>
          <p:nvPr/>
        </p:nvSpPr>
        <p:spPr>
          <a:xfrm>
            <a:off x="5897880" y="1848611"/>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080760" y="1795272"/>
            <a:ext cx="2514600" cy="325120"/>
          </a:xfrm>
          <a:prstGeom prst="rect">
            <a:avLst/>
          </a:prstGeom>
          <a:noFill/>
        </p:spPr>
        <p:txBody>
          <a:bodyPr wrap="square" lIns="0" rIns="0" tIns="0" bIns="0" anchor="t">
            <a:spAutoFit/>
          </a:bodyPr>
          <a:lstStyle/>
          <a:p>
            <a:pPr algn="l"/>
            <a:r>
              <a:rPr sz="1000" b="0" i="0">
                <a:solidFill>
                  <a:srgbClr val="1F2A37"/>
                </a:solidFill>
                <a:latin typeface="Roboto"/>
              </a:rPr>
              <a:t>Complétez-les directement dans le tableau, sans changer de langue.</a:t>
            </a:r>
          </a:p>
        </p:txBody>
      </p:sp>
      <p:sp>
        <p:nvSpPr>
          <p:cNvPr id="11" name="Oval 10"/>
          <p:cNvSpPr/>
          <p:nvPr/>
        </p:nvSpPr>
        <p:spPr>
          <a:xfrm>
            <a:off x="5897880" y="224688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080760" y="2193544"/>
            <a:ext cx="2514600" cy="487680"/>
          </a:xfrm>
          <a:prstGeom prst="rect">
            <a:avLst/>
          </a:prstGeom>
          <a:noFill/>
        </p:spPr>
        <p:txBody>
          <a:bodyPr wrap="square" lIns="0" rIns="0" tIns="0" bIns="0" anchor="t">
            <a:spAutoFit/>
          </a:bodyPr>
          <a:lstStyle/>
          <a:p>
            <a:pPr algn="l"/>
            <a:r>
              <a:rPr sz="1000" b="0" i="0">
                <a:solidFill>
                  <a:srgbClr val="1F2A37"/>
                </a:solidFill>
                <a:latin typeface="Roboto"/>
              </a:rPr>
              <a:t>Par exemple le nom de l’équipe et son domaine d’expertise ; « Type de contenu » filtre la liste.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Annexes</a:t>
            </a:r>
          </a:p>
        </p:txBody>
      </p:sp>
      <p:sp>
        <p:nvSpPr>
          <p:cNvPr id="9" name="Espace réservé du pied de page 8">
            <a:extLst>
              <a:ext uri="{FF2B5EF4-FFF2-40B4-BE49-F238E27FC236}">
                <a16:creationId xmlns:a16="http://schemas.microsoft.com/office/drawing/2014/main" id="{397EEB30-9265-4C06-98E2-6D60BF6DFFFC}"/>
              </a:ext>
            </a:extLst>
          </p:cNvPr>
          <p:cNvSpPr>
            <a:spLocks noGrp="1"/>
          </p:cNvSpPr>
          <p:nvPr>
            <p:ph type="ftr" sz="quarter" idx="10"/>
          </p:nvPr>
        </p:nvSpPr>
        <p:spPr/>
        <p:txBody>
          <a:bodyPr/>
          <a:lstStyle/>
          <a:p>
            <a:r>
              <a:rPr lang="fr-FR" sz="800">
                <a:latin typeface="Roboto"/>
              </a:rPr>
              <a:t>Annexes</a:t>
            </a:r>
          </a:p>
        </p:txBody>
      </p:sp>
      <p:sp>
        <p:nvSpPr>
          <p:cNvPr id="12" name="Espace réservé du numéro de diapositive 11">
            <a:extLst>
              <a:ext uri="{FF2B5EF4-FFF2-40B4-BE49-F238E27FC236}">
                <a16:creationId xmlns:a16="http://schemas.microsoft.com/office/drawing/2014/main" id="{D80F946F-E1DC-ED38-C4B3-D51ECAF5FB79}"/>
              </a:ext>
            </a:extLst>
          </p:cNvPr>
          <p:cNvSpPr>
            <a:spLocks noGrp="1"/>
          </p:cNvSpPr>
          <p:nvPr>
            <p:ph type="sldNum" sz="quarter" idx="11"/>
          </p:nvPr>
        </p:nvSpPr>
        <p:spPr/>
        <p:txBody>
          <a:bodyPr/>
          <a:lstStyle/>
          <a:p>
            <a:fld id="{B6F15528-21DE-4FAA-801E-634DDDAF4B2B}" type="slidenum">
              <a:rPr lang="fr-FR" sz="800"/>
              <a:t>‹N°›</a:t>
            </a:fld>
          </a:p>
        </p:txBody>
      </p:sp>
      <p:sp>
        <p:nvSpPr>
          <p:cNvPr id="13" name="TextBox 12">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14" name="TextBox 13"/>
          <p:cNvSpPr txBox="1"/>
          <p:nvPr/>
        </p:nvSpPr>
        <p:spPr>
          <a:xfrm>
            <a:off x="1069848" y="3108960"/>
            <a:ext cx="5943600" cy="274320"/>
          </a:xfrm>
          <a:prstGeom prst="rect">
            <a:avLst/>
          </a:prstGeom>
          <a:noFill/>
        </p:spPr>
        <p:txBody>
          <a:bodyPr wrap="square" lIns="0" rIns="0" tIns="0" bIns="0" anchor="t">
            <a:spAutoFit/>
          </a:bodyPr>
          <a:lstStyle/>
          <a:p>
            <a:pPr algn="l"/>
            <a:r>
              <a:rPr sz="1200" b="0" i="0">
                <a:solidFill>
                  <a:srgbClr val="5B6573"/>
                </a:solidFill>
                <a:latin typeface="Roboto"/>
              </a:rPr>
              <a:t>Je veux… · Qui reçoit quoi · Questions fréquentes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Je veux… (1/2)</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Annexes</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548640" y="1143000"/>
            <a:ext cx="3017520" cy="228600"/>
          </a:xfrm>
          <a:prstGeom prst="rect">
            <a:avLst/>
          </a:prstGeom>
          <a:noFill/>
        </p:spPr>
        <p:txBody>
          <a:bodyPr wrap="square" lIns="0" rIns="0" tIns="0" bIns="0" anchor="t">
            <a:spAutoFit/>
          </a:bodyPr>
          <a:lstStyle/>
          <a:p>
            <a:pPr algn="l"/>
            <a:r>
              <a:rPr sz="900" b="1" i="0">
                <a:solidFill>
                  <a:srgbClr val="996B14"/>
                </a:solidFill>
                <a:latin typeface="Roboto"/>
              </a:rPr>
              <a:t>Je veux…</a:t>
            </a:r>
          </a:p>
        </p:txBody>
      </p:sp>
      <p:sp>
        <p:nvSpPr>
          <p:cNvPr id="7" name="TextBox 6"/>
          <p:cNvSpPr txBox="1"/>
          <p:nvPr/>
        </p:nvSpPr>
        <p:spPr>
          <a:xfrm>
            <a:off x="3657600" y="1143000"/>
            <a:ext cx="4206240" cy="228600"/>
          </a:xfrm>
          <a:prstGeom prst="rect">
            <a:avLst/>
          </a:prstGeom>
          <a:noFill/>
        </p:spPr>
        <p:txBody>
          <a:bodyPr wrap="square" lIns="0" rIns="0" tIns="0" bIns="0" anchor="t">
            <a:spAutoFit/>
          </a:bodyPr>
          <a:lstStyle/>
          <a:p>
            <a:pPr algn="l"/>
            <a:r>
              <a:rPr sz="900" b="1" i="0">
                <a:solidFill>
                  <a:srgbClr val="996B14"/>
                </a:solidFill>
                <a:latin typeface="Roboto"/>
              </a:rPr>
              <a:t>Où cliquer</a:t>
            </a:r>
          </a:p>
        </p:txBody>
      </p:sp>
      <p:sp>
        <p:nvSpPr>
          <p:cNvPr id="8" name="TextBox 7"/>
          <p:cNvSpPr txBox="1"/>
          <p:nvPr/>
        </p:nvSpPr>
        <p:spPr>
          <a:xfrm>
            <a:off x="8001000" y="1143000"/>
            <a:ext cx="594360" cy="228600"/>
          </a:xfrm>
          <a:prstGeom prst="rect">
            <a:avLst/>
          </a:prstGeom>
          <a:noFill/>
        </p:spPr>
        <p:txBody>
          <a:bodyPr wrap="square" lIns="0" rIns="0" tIns="0" bIns="0" anchor="t">
            <a:spAutoFit/>
          </a:bodyPr>
          <a:lstStyle/>
          <a:p>
            <a:pPr algn="r"/>
            <a:r>
              <a:rPr sz="900" b="1" i="0">
                <a:solidFill>
                  <a:srgbClr val="996B14"/>
                </a:solidFill>
                <a:latin typeface="Roboto"/>
              </a:rPr>
              <a:t>Page</a:t>
            </a:r>
          </a:p>
        </p:txBody>
      </p:sp>
      <p:sp>
        <p:nvSpPr>
          <p:cNvPr id="9" name="Rectangle 8"/>
          <p:cNvSpPr/>
          <p:nvPr/>
        </p:nvSpPr>
        <p:spPr>
          <a:xfrm>
            <a:off x="457200" y="138074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a:hlinkClick action="ppaction://hlinksldjump" r:id="rId3"/>
          </p:cNvPr>
          <p:cNvSpPr txBox="1"/>
          <p:nvPr/>
        </p:nvSpPr>
        <p:spPr>
          <a:xfrm>
            <a:off x="548640" y="1417320"/>
            <a:ext cx="3017520" cy="228600"/>
          </a:xfrm>
          <a:prstGeom prst="rect">
            <a:avLst/>
          </a:prstGeom>
          <a:noFill/>
        </p:spPr>
        <p:txBody>
          <a:bodyPr wrap="square" lIns="0" rIns="0" tIns="0" bIns="0" anchor="t">
            <a:spAutoFit/>
          </a:bodyPr>
          <a:lstStyle/>
          <a:p>
            <a:pPr algn="l"/>
            <a:r>
              <a:rPr sz="950" b="1" i="0">
                <a:solidFill>
                  <a:srgbClr val="003059"/>
                </a:solidFill>
                <a:latin typeface="Roboto"/>
              </a:rPr>
              <a:t>Voir les projets à traiter</a:t>
            </a:r>
          </a:p>
        </p:txBody>
      </p:sp>
      <p:sp>
        <p:nvSpPr>
          <p:cNvPr id="11" name="TextBox 10"/>
          <p:cNvSpPr txBox="1"/>
          <p:nvPr/>
        </p:nvSpPr>
        <p:spPr>
          <a:xfrm>
            <a:off x="3657600" y="1417320"/>
            <a:ext cx="4206240" cy="228600"/>
          </a:xfrm>
          <a:prstGeom prst="rect">
            <a:avLst/>
          </a:prstGeom>
          <a:noFill/>
        </p:spPr>
        <p:txBody>
          <a:bodyPr wrap="square" lIns="0" rIns="0" tIns="0" bIns="0" anchor="t">
            <a:spAutoFit/>
          </a:bodyPr>
          <a:lstStyle/>
          <a:p>
            <a:pPr algn="l"/>
            <a:r>
              <a:rPr sz="950" b="0" i="0">
                <a:solidFill>
                  <a:srgbClr val="1F2A37"/>
                </a:solidFill>
                <a:latin typeface="Roboto"/>
              </a:rPr>
              <a:t>Accueil → « À traiter »</a:t>
            </a:r>
          </a:p>
        </p:txBody>
      </p:sp>
      <p:sp>
        <p:nvSpPr>
          <p:cNvPr id="12" name="TextBox 11">
            <a:hlinkClick action="ppaction://hlinksldjump" r:id="rId3"/>
          </p:cNvPr>
          <p:cNvSpPr txBox="1"/>
          <p:nvPr/>
        </p:nvSpPr>
        <p:spPr>
          <a:xfrm>
            <a:off x="8001000" y="1417320"/>
            <a:ext cx="594360" cy="228600"/>
          </a:xfrm>
          <a:prstGeom prst="rect">
            <a:avLst/>
          </a:prstGeom>
          <a:noFill/>
        </p:spPr>
        <p:txBody>
          <a:bodyPr wrap="square" lIns="0" rIns="0" tIns="0" bIns="0" anchor="t">
            <a:spAutoFit/>
          </a:bodyPr>
          <a:lstStyle/>
          <a:p>
            <a:pPr algn="r"/>
            <a:r>
              <a:rPr sz="950" b="1" i="0">
                <a:solidFill>
                  <a:srgbClr val="0061B0"/>
                </a:solidFill>
                <a:latin typeface="Roboto"/>
              </a:rPr>
              <a:t>6</a:t>
            </a:r>
          </a:p>
        </p:txBody>
      </p:sp>
      <p:sp>
        <p:nvSpPr>
          <p:cNvPr id="13" name="TextBox 12">
            <a:hlinkClick action="ppaction://hlinksldjump" r:id="rId4"/>
          </p:cNvPr>
          <p:cNvSpPr txBox="1"/>
          <p:nvPr/>
        </p:nvSpPr>
        <p:spPr>
          <a:xfrm>
            <a:off x="548640" y="1691640"/>
            <a:ext cx="3017520" cy="228600"/>
          </a:xfrm>
          <a:prstGeom prst="rect">
            <a:avLst/>
          </a:prstGeom>
          <a:noFill/>
        </p:spPr>
        <p:txBody>
          <a:bodyPr wrap="square" lIns="0" rIns="0" tIns="0" bIns="0" anchor="t">
            <a:spAutoFit/>
          </a:bodyPr>
          <a:lstStyle/>
          <a:p>
            <a:pPr algn="l"/>
            <a:r>
              <a:rPr sz="950" b="1" i="0">
                <a:solidFill>
                  <a:srgbClr val="003059"/>
                </a:solidFill>
                <a:latin typeface="Roboto"/>
              </a:rPr>
              <a:t>Prendre un projet en charge</a:t>
            </a:r>
          </a:p>
        </p:txBody>
      </p:sp>
      <p:sp>
        <p:nvSpPr>
          <p:cNvPr id="14" name="TextBox 13"/>
          <p:cNvSpPr txBox="1"/>
          <p:nvPr/>
        </p:nvSpPr>
        <p:spPr>
          <a:xfrm>
            <a:off x="3657600" y="1691640"/>
            <a:ext cx="4206240" cy="228600"/>
          </a:xfrm>
          <a:prstGeom prst="rect">
            <a:avLst/>
          </a:prstGeom>
          <a:noFill/>
        </p:spPr>
        <p:txBody>
          <a:bodyPr wrap="square" lIns="0" rIns="0" tIns="0" bIns="0" anchor="t">
            <a:spAutoFit/>
          </a:bodyPr>
          <a:lstStyle/>
          <a:p>
            <a:pPr algn="l"/>
            <a:r>
              <a:rPr sz="950" b="0" i="0">
                <a:solidFill>
                  <a:srgbClr val="1F2A37"/>
                </a:solidFill>
                <a:latin typeface="Roboto"/>
              </a:rPr>
              <a:t>« Je prends en charge »</a:t>
            </a:r>
          </a:p>
        </p:txBody>
      </p:sp>
      <p:sp>
        <p:nvSpPr>
          <p:cNvPr id="15" name="TextBox 14">
            <a:hlinkClick action="ppaction://hlinksldjump" r:id="rId4"/>
          </p:cNvPr>
          <p:cNvSpPr txBox="1"/>
          <p:nvPr/>
        </p:nvSpPr>
        <p:spPr>
          <a:xfrm>
            <a:off x="8001000" y="1691640"/>
            <a:ext cx="594360" cy="228600"/>
          </a:xfrm>
          <a:prstGeom prst="rect">
            <a:avLst/>
          </a:prstGeom>
          <a:noFill/>
        </p:spPr>
        <p:txBody>
          <a:bodyPr wrap="square" lIns="0" rIns="0" tIns="0" bIns="0" anchor="t">
            <a:spAutoFit/>
          </a:bodyPr>
          <a:lstStyle/>
          <a:p>
            <a:pPr algn="r"/>
            <a:r>
              <a:rPr sz="950" b="1" i="0">
                <a:solidFill>
                  <a:srgbClr val="0061B0"/>
                </a:solidFill>
                <a:latin typeface="Roboto"/>
              </a:rPr>
              <a:t>7</a:t>
            </a:r>
          </a:p>
        </p:txBody>
      </p:sp>
      <p:sp>
        <p:nvSpPr>
          <p:cNvPr id="16" name="Rectangle 15"/>
          <p:cNvSpPr/>
          <p:nvPr/>
        </p:nvSpPr>
        <p:spPr>
          <a:xfrm>
            <a:off x="457200" y="192938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action="ppaction://hlinksldjump" r:id="rId4"/>
          </p:cNvPr>
          <p:cNvSpPr txBox="1"/>
          <p:nvPr/>
        </p:nvSpPr>
        <p:spPr>
          <a:xfrm>
            <a:off x="548640" y="1965960"/>
            <a:ext cx="3017520" cy="228600"/>
          </a:xfrm>
          <a:prstGeom prst="rect">
            <a:avLst/>
          </a:prstGeom>
          <a:noFill/>
        </p:spPr>
        <p:txBody>
          <a:bodyPr wrap="square" lIns="0" rIns="0" tIns="0" bIns="0" anchor="t">
            <a:spAutoFit/>
          </a:bodyPr>
          <a:lstStyle/>
          <a:p>
            <a:pPr algn="l"/>
            <a:r>
              <a:rPr sz="950" b="1" i="0">
                <a:solidFill>
                  <a:srgbClr val="003059"/>
                </a:solidFill>
                <a:latin typeface="Roboto"/>
              </a:rPr>
              <a:t>Récupérer le projet d’un collègue</a:t>
            </a:r>
          </a:p>
        </p:txBody>
      </p:sp>
      <p:sp>
        <p:nvSpPr>
          <p:cNvPr id="18" name="TextBox 17"/>
          <p:cNvSpPr txBox="1"/>
          <p:nvPr/>
        </p:nvSpPr>
        <p:spPr>
          <a:xfrm>
            <a:off x="3657600" y="1965960"/>
            <a:ext cx="4206240" cy="228600"/>
          </a:xfrm>
          <a:prstGeom prst="rect">
            <a:avLst/>
          </a:prstGeom>
          <a:noFill/>
        </p:spPr>
        <p:txBody>
          <a:bodyPr wrap="square" lIns="0" rIns="0" tIns="0" bIns="0" anchor="t">
            <a:spAutoFit/>
          </a:bodyPr>
          <a:lstStyle/>
          <a:p>
            <a:pPr algn="l"/>
            <a:r>
              <a:rPr sz="950" b="0" i="0">
                <a:solidFill>
                  <a:srgbClr val="1F2A37"/>
                </a:solidFill>
                <a:latin typeface="Roboto"/>
              </a:rPr>
              <a:t>« Pris en charge par l’équipe » → « Reprendre »</a:t>
            </a:r>
          </a:p>
        </p:txBody>
      </p:sp>
      <p:sp>
        <p:nvSpPr>
          <p:cNvPr id="19" name="TextBox 18">
            <a:hlinkClick action="ppaction://hlinksldjump" r:id="rId4"/>
          </p:cNvPr>
          <p:cNvSpPr txBox="1"/>
          <p:nvPr/>
        </p:nvSpPr>
        <p:spPr>
          <a:xfrm>
            <a:off x="8001000" y="1965960"/>
            <a:ext cx="594360" cy="228600"/>
          </a:xfrm>
          <a:prstGeom prst="rect">
            <a:avLst/>
          </a:prstGeom>
          <a:noFill/>
        </p:spPr>
        <p:txBody>
          <a:bodyPr wrap="square" lIns="0" rIns="0" tIns="0" bIns="0" anchor="t">
            <a:spAutoFit/>
          </a:bodyPr>
          <a:lstStyle/>
          <a:p>
            <a:pPr algn="r"/>
            <a:r>
              <a:rPr sz="950" b="1" i="0">
                <a:solidFill>
                  <a:srgbClr val="0061B0"/>
                </a:solidFill>
                <a:latin typeface="Roboto"/>
              </a:rPr>
              <a:t>7</a:t>
            </a:r>
          </a:p>
        </p:txBody>
      </p:sp>
      <p:sp>
        <p:nvSpPr>
          <p:cNvPr id="20" name="TextBox 19">
            <a:hlinkClick action="ppaction://hlinksldjump" r:id="rId4"/>
          </p:cNvPr>
          <p:cNvSpPr txBox="1"/>
          <p:nvPr/>
        </p:nvSpPr>
        <p:spPr>
          <a:xfrm>
            <a:off x="548640" y="2240279"/>
            <a:ext cx="3017520" cy="228600"/>
          </a:xfrm>
          <a:prstGeom prst="rect">
            <a:avLst/>
          </a:prstGeom>
          <a:noFill/>
        </p:spPr>
        <p:txBody>
          <a:bodyPr wrap="square" lIns="0" rIns="0" tIns="0" bIns="0" anchor="t">
            <a:spAutoFit/>
          </a:bodyPr>
          <a:lstStyle/>
          <a:p>
            <a:pPr algn="l"/>
            <a:r>
              <a:rPr sz="950" b="1" i="0">
                <a:solidFill>
                  <a:srgbClr val="003059"/>
                </a:solidFill>
                <a:latin typeface="Roboto"/>
              </a:rPr>
              <a:t>Rendre un projet à l’équipe</a:t>
            </a:r>
          </a:p>
        </p:txBody>
      </p:sp>
      <p:sp>
        <p:nvSpPr>
          <p:cNvPr id="21" name="TextBox 20"/>
          <p:cNvSpPr txBox="1"/>
          <p:nvPr/>
        </p:nvSpPr>
        <p:spPr>
          <a:xfrm>
            <a:off x="3657600" y="2240279"/>
            <a:ext cx="4206240" cy="228600"/>
          </a:xfrm>
          <a:prstGeom prst="rect">
            <a:avLst/>
          </a:prstGeom>
          <a:noFill/>
        </p:spPr>
        <p:txBody>
          <a:bodyPr wrap="square" lIns="0" rIns="0" tIns="0" bIns="0" anchor="t">
            <a:spAutoFit/>
          </a:bodyPr>
          <a:lstStyle/>
          <a:p>
            <a:pPr algn="l"/>
            <a:r>
              <a:rPr sz="950" b="0" i="0">
                <a:solidFill>
                  <a:srgbClr val="1F2A37"/>
                </a:solidFill>
                <a:latin typeface="Roboto"/>
              </a:rPr>
              <a:t>« Libérer » / « Ne plus suivre »</a:t>
            </a:r>
          </a:p>
        </p:txBody>
      </p:sp>
      <p:sp>
        <p:nvSpPr>
          <p:cNvPr id="22" name="TextBox 21">
            <a:hlinkClick action="ppaction://hlinksldjump" r:id="rId4"/>
          </p:cNvPr>
          <p:cNvSpPr txBox="1"/>
          <p:nvPr/>
        </p:nvSpPr>
        <p:spPr>
          <a:xfrm>
            <a:off x="8001000" y="2240279"/>
            <a:ext cx="594360" cy="228600"/>
          </a:xfrm>
          <a:prstGeom prst="rect">
            <a:avLst/>
          </a:prstGeom>
          <a:noFill/>
        </p:spPr>
        <p:txBody>
          <a:bodyPr wrap="square" lIns="0" rIns="0" tIns="0" bIns="0" anchor="t">
            <a:spAutoFit/>
          </a:bodyPr>
          <a:lstStyle/>
          <a:p>
            <a:pPr algn="r"/>
            <a:r>
              <a:rPr sz="950" b="1" i="0">
                <a:solidFill>
                  <a:srgbClr val="0061B0"/>
                </a:solidFill>
                <a:latin typeface="Roboto"/>
              </a:rPr>
              <a:t>7</a:t>
            </a:r>
          </a:p>
        </p:txBody>
      </p:sp>
      <p:sp>
        <p:nvSpPr>
          <p:cNvPr id="23" name="Rectangle 22"/>
          <p:cNvSpPr/>
          <p:nvPr/>
        </p:nvSpPr>
        <p:spPr>
          <a:xfrm>
            <a:off x="457200" y="247802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a:hlinkClick action="ppaction://hlinksldjump" r:id="rId5"/>
          </p:cNvPr>
          <p:cNvSpPr txBox="1"/>
          <p:nvPr/>
        </p:nvSpPr>
        <p:spPr>
          <a:xfrm>
            <a:off x="548640" y="2514599"/>
            <a:ext cx="3017520" cy="228600"/>
          </a:xfrm>
          <a:prstGeom prst="rect">
            <a:avLst/>
          </a:prstGeom>
          <a:noFill/>
        </p:spPr>
        <p:txBody>
          <a:bodyPr wrap="square" lIns="0" rIns="0" tIns="0" bIns="0" anchor="t">
            <a:spAutoFit/>
          </a:bodyPr>
          <a:lstStyle/>
          <a:p>
            <a:pPr algn="l"/>
            <a:r>
              <a:rPr sz="950" b="1" i="0">
                <a:solidFill>
                  <a:srgbClr val="003059"/>
                </a:solidFill>
                <a:latin typeface="Roboto"/>
              </a:rPr>
              <a:t>Comprendre le projet rapidement</a:t>
            </a:r>
          </a:p>
        </p:txBody>
      </p:sp>
      <p:sp>
        <p:nvSpPr>
          <p:cNvPr id="25" name="TextBox 24"/>
          <p:cNvSpPr txBox="1"/>
          <p:nvPr/>
        </p:nvSpPr>
        <p:spPr>
          <a:xfrm>
            <a:off x="3657600" y="2514599"/>
            <a:ext cx="4206240" cy="228600"/>
          </a:xfrm>
          <a:prstGeom prst="rect">
            <a:avLst/>
          </a:prstGeom>
          <a:noFill/>
        </p:spPr>
        <p:txBody>
          <a:bodyPr wrap="square" lIns="0" rIns="0" tIns="0" bIns="0" anchor="t">
            <a:spAutoFit/>
          </a:bodyPr>
          <a:lstStyle/>
          <a:p>
            <a:pPr algn="l"/>
            <a:r>
              <a:rPr sz="950" b="0" i="0">
                <a:solidFill>
                  <a:srgbClr val="1F2A37"/>
                </a:solidFill>
                <a:latin typeface="Roboto"/>
              </a:rPr>
              <a:t>Enjeux → « Vitrine du projet »</a:t>
            </a:r>
          </a:p>
        </p:txBody>
      </p:sp>
      <p:sp>
        <p:nvSpPr>
          <p:cNvPr id="26" name="TextBox 25">
            <a:hlinkClick action="ppaction://hlinksldjump" r:id="rId5"/>
          </p:cNvPr>
          <p:cNvSpPr txBox="1"/>
          <p:nvPr/>
        </p:nvSpPr>
        <p:spPr>
          <a:xfrm>
            <a:off x="8001000" y="2514599"/>
            <a:ext cx="594360" cy="228600"/>
          </a:xfrm>
          <a:prstGeom prst="rect">
            <a:avLst/>
          </a:prstGeom>
          <a:noFill/>
        </p:spPr>
        <p:txBody>
          <a:bodyPr wrap="square" lIns="0" rIns="0" tIns="0" bIns="0" anchor="t">
            <a:spAutoFit/>
          </a:bodyPr>
          <a:lstStyle/>
          <a:p>
            <a:pPr algn="r"/>
            <a:r>
              <a:rPr sz="950" b="1" i="0">
                <a:solidFill>
                  <a:srgbClr val="0061B0"/>
                </a:solidFill>
                <a:latin typeface="Roboto"/>
              </a:rPr>
              <a:t>11</a:t>
            </a:r>
          </a:p>
        </p:txBody>
      </p:sp>
      <p:sp>
        <p:nvSpPr>
          <p:cNvPr id="27" name="TextBox 26">
            <a:hlinkClick action="ppaction://hlinksldjump" r:id="rId6"/>
          </p:cNvPr>
          <p:cNvSpPr txBox="1"/>
          <p:nvPr/>
        </p:nvSpPr>
        <p:spPr>
          <a:xfrm>
            <a:off x="548640" y="2788919"/>
            <a:ext cx="3017520" cy="228600"/>
          </a:xfrm>
          <a:prstGeom prst="rect">
            <a:avLst/>
          </a:prstGeom>
          <a:noFill/>
        </p:spPr>
        <p:txBody>
          <a:bodyPr wrap="square" lIns="0" rIns="0" tIns="0" bIns="0" anchor="t">
            <a:spAutoFit/>
          </a:bodyPr>
          <a:lstStyle/>
          <a:p>
            <a:pPr algn="l"/>
            <a:r>
              <a:rPr sz="950" b="1" i="0">
                <a:solidFill>
                  <a:srgbClr val="003059"/>
                </a:solidFill>
                <a:latin typeface="Roboto"/>
              </a:rPr>
              <a:t>Donner mon avis</a:t>
            </a:r>
          </a:p>
        </p:txBody>
      </p:sp>
      <p:sp>
        <p:nvSpPr>
          <p:cNvPr id="28" name="TextBox 27"/>
          <p:cNvSpPr txBox="1"/>
          <p:nvPr/>
        </p:nvSpPr>
        <p:spPr>
          <a:xfrm>
            <a:off x="3657600" y="2788919"/>
            <a:ext cx="4206240" cy="228600"/>
          </a:xfrm>
          <a:prstGeom prst="rect">
            <a:avLst/>
          </a:prstGeom>
          <a:noFill/>
        </p:spPr>
        <p:txBody>
          <a:bodyPr wrap="square" lIns="0" rIns="0" tIns="0" bIns="0" anchor="t">
            <a:spAutoFit/>
          </a:bodyPr>
          <a:lstStyle/>
          <a:p>
            <a:pPr algn="l"/>
            <a:r>
              <a:rPr sz="950" b="0" i="0">
                <a:solidFill>
                  <a:srgbClr val="1F2A37"/>
                </a:solidFill>
                <a:latin typeface="Roboto"/>
              </a:rPr>
              <a:t>Carte de l’équipe → crayon → « Enregistrer le commentaire »</a:t>
            </a:r>
          </a:p>
        </p:txBody>
      </p:sp>
      <p:sp>
        <p:nvSpPr>
          <p:cNvPr id="29" name="TextBox 28">
            <a:hlinkClick action="ppaction://hlinksldjump" r:id="rId6"/>
          </p:cNvPr>
          <p:cNvSpPr txBox="1"/>
          <p:nvPr/>
        </p:nvSpPr>
        <p:spPr>
          <a:xfrm>
            <a:off x="8001000" y="2788919"/>
            <a:ext cx="594360" cy="228600"/>
          </a:xfrm>
          <a:prstGeom prst="rect">
            <a:avLst/>
          </a:prstGeom>
          <a:noFill/>
        </p:spPr>
        <p:txBody>
          <a:bodyPr wrap="square" lIns="0" rIns="0" tIns="0" bIns="0" anchor="t">
            <a:spAutoFit/>
          </a:bodyPr>
          <a:lstStyle/>
          <a:p>
            <a:pPr algn="r"/>
            <a:r>
              <a:rPr sz="950" b="1" i="0">
                <a:solidFill>
                  <a:srgbClr val="0061B0"/>
                </a:solidFill>
                <a:latin typeface="Roboto"/>
              </a:rPr>
              <a:t>15</a:t>
            </a:r>
          </a:p>
        </p:txBody>
      </p:sp>
      <p:sp>
        <p:nvSpPr>
          <p:cNvPr id="30" name="Rectangle 29"/>
          <p:cNvSpPr/>
          <p:nvPr/>
        </p:nvSpPr>
        <p:spPr>
          <a:xfrm>
            <a:off x="457200" y="302666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548640" y="3063239"/>
            <a:ext cx="3017520" cy="228600"/>
          </a:xfrm>
          <a:prstGeom prst="rect">
            <a:avLst/>
          </a:prstGeom>
          <a:noFill/>
        </p:spPr>
        <p:txBody>
          <a:bodyPr wrap="square" lIns="0" rIns="0" tIns="0" bIns="0" anchor="t">
            <a:spAutoFit/>
          </a:bodyPr>
          <a:lstStyle/>
          <a:p>
            <a:pPr algn="l"/>
            <a:r>
              <a:rPr sz="950" b="1" i="0">
                <a:solidFill>
                  <a:srgbClr val="003059"/>
                </a:solidFill>
                <a:latin typeface="Roboto"/>
              </a:rPr>
              <a:t>Poser une question au porteur</a:t>
            </a:r>
          </a:p>
        </p:txBody>
      </p:sp>
      <p:sp>
        <p:nvSpPr>
          <p:cNvPr id="32" name="TextBox 31"/>
          <p:cNvSpPr txBox="1"/>
          <p:nvPr/>
        </p:nvSpPr>
        <p:spPr>
          <a:xfrm>
            <a:off x="3657600" y="3063239"/>
            <a:ext cx="4206240" cy="228600"/>
          </a:xfrm>
          <a:prstGeom prst="rect">
            <a:avLst/>
          </a:prstGeom>
          <a:noFill/>
        </p:spPr>
        <p:txBody>
          <a:bodyPr wrap="square" lIns="0" rIns="0" tIns="0" bIns="0" anchor="t">
            <a:spAutoFit/>
          </a:bodyPr>
          <a:lstStyle/>
          <a:p>
            <a:pPr algn="l"/>
            <a:r>
              <a:rPr sz="950" b="0" i="0">
                <a:solidFill>
                  <a:srgbClr val="1F2A37"/>
                </a:solidFill>
                <a:latin typeface="Roboto"/>
              </a:rPr>
              <a:t>Carte de l’équipe → « Répondre »</a:t>
            </a:r>
          </a:p>
        </p:txBody>
      </p:sp>
      <p:sp>
        <p:nvSpPr>
          <p:cNvPr id="33" name="TextBox 32">
            <a:hlinkClick action="ppaction://hlinksldjump" r:id="rId7"/>
          </p:cNvPr>
          <p:cNvSpPr txBox="1"/>
          <p:nvPr/>
        </p:nvSpPr>
        <p:spPr>
          <a:xfrm>
            <a:off x="8001000" y="3063239"/>
            <a:ext cx="594360" cy="228600"/>
          </a:xfrm>
          <a:prstGeom prst="rect">
            <a:avLst/>
          </a:prstGeom>
          <a:noFill/>
        </p:spPr>
        <p:txBody>
          <a:bodyPr wrap="square" lIns="0" rIns="0" tIns="0" bIns="0" anchor="t">
            <a:spAutoFit/>
          </a:bodyPr>
          <a:lstStyle/>
          <a:p>
            <a:pPr algn="r"/>
            <a:r>
              <a:rPr sz="950" b="1" i="0">
                <a:solidFill>
                  <a:srgbClr val="0061B0"/>
                </a:solidFill>
                <a:latin typeface="Roboto"/>
              </a:rPr>
              <a:t>17</a:t>
            </a:r>
          </a:p>
        </p:txBody>
      </p:sp>
      <p:sp>
        <p:nvSpPr>
          <p:cNvPr id="34" name="TextBox 33">
            <a:hlinkClick action="ppaction://hlinksldjump" r:id="rId8"/>
          </p:cNvPr>
          <p:cNvSpPr txBox="1"/>
          <p:nvPr/>
        </p:nvSpPr>
        <p:spPr>
          <a:xfrm>
            <a:off x="548640" y="3337559"/>
            <a:ext cx="3017520" cy="228600"/>
          </a:xfrm>
          <a:prstGeom prst="rect">
            <a:avLst/>
          </a:prstGeom>
          <a:noFill/>
        </p:spPr>
        <p:txBody>
          <a:bodyPr wrap="square" lIns="0" rIns="0" tIns="0" bIns="0" anchor="t">
            <a:spAutoFit/>
          </a:bodyPr>
          <a:lstStyle/>
          <a:p>
            <a:pPr algn="l"/>
            <a:r>
              <a:rPr sz="950" b="1" i="0">
                <a:solidFill>
                  <a:srgbClr val="003059"/>
                </a:solidFill>
                <a:latin typeface="Roboto"/>
              </a:rPr>
              <a:t>Ajouter une équipe oubliée</a:t>
            </a:r>
          </a:p>
        </p:txBody>
      </p:sp>
      <p:sp>
        <p:nvSpPr>
          <p:cNvPr id="35" name="TextBox 34"/>
          <p:cNvSpPr txBox="1"/>
          <p:nvPr/>
        </p:nvSpPr>
        <p:spPr>
          <a:xfrm>
            <a:off x="3657600" y="3337559"/>
            <a:ext cx="4206240" cy="228600"/>
          </a:xfrm>
          <a:prstGeom prst="rect">
            <a:avLst/>
          </a:prstGeom>
          <a:noFill/>
        </p:spPr>
        <p:txBody>
          <a:bodyPr wrap="square" lIns="0" rIns="0" tIns="0" bIns="0" anchor="t">
            <a:spAutoFit/>
          </a:bodyPr>
          <a:lstStyle/>
          <a:p>
            <a:pPr algn="l"/>
            <a:r>
              <a:rPr sz="950" b="0" i="0">
                <a:solidFill>
                  <a:srgbClr val="1F2A37"/>
                </a:solidFill>
                <a:latin typeface="Roboto"/>
              </a:rPr>
              <a:t>« Solliciter cette équipe »</a:t>
            </a:r>
          </a:p>
        </p:txBody>
      </p:sp>
      <p:sp>
        <p:nvSpPr>
          <p:cNvPr id="36" name="TextBox 35">
            <a:hlinkClick action="ppaction://hlinksldjump" r:id="rId8"/>
          </p:cNvPr>
          <p:cNvSpPr txBox="1"/>
          <p:nvPr/>
        </p:nvSpPr>
        <p:spPr>
          <a:xfrm>
            <a:off x="8001000" y="3337559"/>
            <a:ext cx="594360" cy="228600"/>
          </a:xfrm>
          <a:prstGeom prst="rect">
            <a:avLst/>
          </a:prstGeom>
          <a:noFill/>
        </p:spPr>
        <p:txBody>
          <a:bodyPr wrap="square" lIns="0" rIns="0" tIns="0" bIns="0" anchor="t">
            <a:spAutoFit/>
          </a:bodyPr>
          <a:lstStyle/>
          <a:p>
            <a:pPr algn="r"/>
            <a:r>
              <a:rPr sz="950" b="1" i="0">
                <a:solidFill>
                  <a:srgbClr val="0061B0"/>
                </a:solidFill>
                <a:latin typeface="Roboto"/>
              </a:rPr>
              <a:t>18</a:t>
            </a:r>
          </a:p>
        </p:txBody>
      </p:sp>
      <p:sp>
        <p:nvSpPr>
          <p:cNvPr id="37" name="Rectangle 36"/>
          <p:cNvSpPr/>
          <p:nvPr/>
        </p:nvSpPr>
        <p:spPr>
          <a:xfrm>
            <a:off x="457200" y="357530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a:hlinkClick action="ppaction://hlinksldjump" r:id="rId9"/>
          </p:cNvPr>
          <p:cNvSpPr txBox="1"/>
          <p:nvPr/>
        </p:nvSpPr>
        <p:spPr>
          <a:xfrm>
            <a:off x="548640" y="3611879"/>
            <a:ext cx="3017520" cy="228600"/>
          </a:xfrm>
          <a:prstGeom prst="rect">
            <a:avLst/>
          </a:prstGeom>
          <a:noFill/>
        </p:spPr>
        <p:txBody>
          <a:bodyPr wrap="square" lIns="0" rIns="0" tIns="0" bIns="0" anchor="t">
            <a:spAutoFit/>
          </a:bodyPr>
          <a:lstStyle/>
          <a:p>
            <a:pPr algn="l"/>
            <a:r>
              <a:rPr sz="950" b="1" i="0">
                <a:solidFill>
                  <a:srgbClr val="003059"/>
                </a:solidFill>
                <a:latin typeface="Roboto"/>
              </a:rPr>
              <a:t>Revoir un avis après une mise à jour</a:t>
            </a:r>
          </a:p>
        </p:txBody>
      </p:sp>
      <p:sp>
        <p:nvSpPr>
          <p:cNvPr id="39" name="TextBox 38"/>
          <p:cNvSpPr txBox="1"/>
          <p:nvPr/>
        </p:nvSpPr>
        <p:spPr>
          <a:xfrm>
            <a:off x="3657600" y="3611879"/>
            <a:ext cx="4206240" cy="228600"/>
          </a:xfrm>
          <a:prstGeom prst="rect">
            <a:avLst/>
          </a:prstGeom>
          <a:noFill/>
        </p:spPr>
        <p:txBody>
          <a:bodyPr wrap="square" lIns="0" rIns="0" tIns="0" bIns="0" anchor="t">
            <a:spAutoFit/>
          </a:bodyPr>
          <a:lstStyle/>
          <a:p>
            <a:pPr algn="l"/>
            <a:r>
              <a:rPr sz="950" b="0" i="0">
                <a:solidFill>
                  <a:srgbClr val="1F2A37"/>
                </a:solidFill>
                <a:latin typeface="Roboto"/>
              </a:rPr>
              <a:t>Carte « À ré-examiner »</a:t>
            </a:r>
          </a:p>
        </p:txBody>
      </p:sp>
      <p:sp>
        <p:nvSpPr>
          <p:cNvPr id="40" name="TextBox 39">
            <a:hlinkClick action="ppaction://hlinksldjump" r:id="rId9"/>
          </p:cNvPr>
          <p:cNvSpPr txBox="1"/>
          <p:nvPr/>
        </p:nvSpPr>
        <p:spPr>
          <a:xfrm>
            <a:off x="8001000" y="3611879"/>
            <a:ext cx="594360" cy="228600"/>
          </a:xfrm>
          <a:prstGeom prst="rect">
            <a:avLst/>
          </a:prstGeom>
          <a:noFill/>
        </p:spPr>
        <p:txBody>
          <a:bodyPr wrap="square" lIns="0" rIns="0" tIns="0" bIns="0" anchor="t">
            <a:spAutoFit/>
          </a:bodyPr>
          <a:lstStyle/>
          <a:p>
            <a:pPr algn="r"/>
            <a:r>
              <a:rPr sz="950" b="1" i="0">
                <a:solidFill>
                  <a:srgbClr val="0061B0"/>
                </a:solidFill>
                <a:latin typeface="Roboto"/>
              </a:rPr>
              <a:t>20</a:t>
            </a:r>
          </a:p>
        </p:txBody>
      </p:sp>
      <p:sp>
        <p:nvSpPr>
          <p:cNvPr id="41" name="TextBox 40">
            <a:hlinkClick action="ppaction://hlinksldjump" r:id="rId10"/>
          </p:cNvPr>
          <p:cNvSpPr txBox="1"/>
          <p:nvPr/>
        </p:nvSpPr>
        <p:spPr>
          <a:xfrm>
            <a:off x="548640" y="3886199"/>
            <a:ext cx="3017520" cy="228600"/>
          </a:xfrm>
          <a:prstGeom prst="rect">
            <a:avLst/>
          </a:prstGeom>
          <a:noFill/>
        </p:spPr>
        <p:txBody>
          <a:bodyPr wrap="square" lIns="0" rIns="0" tIns="0" bIns="0" anchor="t">
            <a:spAutoFit/>
          </a:bodyPr>
          <a:lstStyle/>
          <a:p>
            <a:pPr algn="l"/>
            <a:r>
              <a:rPr sz="950" b="1" i="0">
                <a:solidFill>
                  <a:srgbClr val="003059"/>
                </a:solidFill>
                <a:latin typeface="Roboto"/>
              </a:rPr>
              <a:t>Confirmer mon avis avant lancement</a:t>
            </a:r>
          </a:p>
        </p:txBody>
      </p:sp>
      <p:sp>
        <p:nvSpPr>
          <p:cNvPr id="42" name="TextBox 41"/>
          <p:cNvSpPr txBox="1"/>
          <p:nvPr/>
        </p:nvSpPr>
        <p:spPr>
          <a:xfrm>
            <a:off x="3657600" y="3886199"/>
            <a:ext cx="4206240" cy="228600"/>
          </a:xfrm>
          <a:prstGeom prst="rect">
            <a:avLst/>
          </a:prstGeom>
          <a:noFill/>
        </p:spPr>
        <p:txBody>
          <a:bodyPr wrap="square" lIns="0" rIns="0" tIns="0" bIns="0" anchor="t">
            <a:spAutoFit/>
          </a:bodyPr>
          <a:lstStyle/>
          <a:p>
            <a:pPr algn="l"/>
            <a:r>
              <a:rPr sz="950" b="0" i="0">
                <a:solidFill>
                  <a:srgbClr val="1F2A37"/>
                </a:solidFill>
                <a:latin typeface="Roboto"/>
              </a:rPr>
              <a:t>« Je confirme mon avis »</a:t>
            </a:r>
          </a:p>
        </p:txBody>
      </p:sp>
      <p:sp>
        <p:nvSpPr>
          <p:cNvPr id="43" name="TextBox 42">
            <a:hlinkClick action="ppaction://hlinksldjump" r:id="rId10"/>
          </p:cNvPr>
          <p:cNvSpPr txBox="1"/>
          <p:nvPr/>
        </p:nvSpPr>
        <p:spPr>
          <a:xfrm>
            <a:off x="8001000" y="3886199"/>
            <a:ext cx="594360" cy="228600"/>
          </a:xfrm>
          <a:prstGeom prst="rect">
            <a:avLst/>
          </a:prstGeom>
          <a:noFill/>
        </p:spPr>
        <p:txBody>
          <a:bodyPr wrap="square" lIns="0" rIns="0" tIns="0" bIns="0" anchor="t">
            <a:spAutoFit/>
          </a:bodyPr>
          <a:lstStyle/>
          <a:p>
            <a:pPr algn="r"/>
            <a:r>
              <a:rPr sz="950" b="1" i="0">
                <a:solidFill>
                  <a:srgbClr val="0061B0"/>
                </a:solidFill>
                <a:latin typeface="Roboto"/>
              </a:rPr>
              <a:t>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Je veux… (2/2)</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Annexes</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548640" y="1143000"/>
            <a:ext cx="3017520" cy="228600"/>
          </a:xfrm>
          <a:prstGeom prst="rect">
            <a:avLst/>
          </a:prstGeom>
          <a:noFill/>
        </p:spPr>
        <p:txBody>
          <a:bodyPr wrap="square" lIns="0" rIns="0" tIns="0" bIns="0" anchor="t">
            <a:spAutoFit/>
          </a:bodyPr>
          <a:lstStyle/>
          <a:p>
            <a:pPr algn="l"/>
            <a:r>
              <a:rPr sz="900" b="1" i="0">
                <a:solidFill>
                  <a:srgbClr val="996B14"/>
                </a:solidFill>
                <a:latin typeface="Roboto"/>
              </a:rPr>
              <a:t>Je veux…</a:t>
            </a:r>
          </a:p>
        </p:txBody>
      </p:sp>
      <p:sp>
        <p:nvSpPr>
          <p:cNvPr id="7" name="TextBox 6"/>
          <p:cNvSpPr txBox="1"/>
          <p:nvPr/>
        </p:nvSpPr>
        <p:spPr>
          <a:xfrm>
            <a:off x="3657600" y="1143000"/>
            <a:ext cx="4206240" cy="228600"/>
          </a:xfrm>
          <a:prstGeom prst="rect">
            <a:avLst/>
          </a:prstGeom>
          <a:noFill/>
        </p:spPr>
        <p:txBody>
          <a:bodyPr wrap="square" lIns="0" rIns="0" tIns="0" bIns="0" anchor="t">
            <a:spAutoFit/>
          </a:bodyPr>
          <a:lstStyle/>
          <a:p>
            <a:pPr algn="l"/>
            <a:r>
              <a:rPr sz="900" b="1" i="0">
                <a:solidFill>
                  <a:srgbClr val="996B14"/>
                </a:solidFill>
                <a:latin typeface="Roboto"/>
              </a:rPr>
              <a:t>Où cliquer</a:t>
            </a:r>
          </a:p>
        </p:txBody>
      </p:sp>
      <p:sp>
        <p:nvSpPr>
          <p:cNvPr id="8" name="TextBox 7"/>
          <p:cNvSpPr txBox="1"/>
          <p:nvPr/>
        </p:nvSpPr>
        <p:spPr>
          <a:xfrm>
            <a:off x="8001000" y="1143000"/>
            <a:ext cx="594360" cy="228600"/>
          </a:xfrm>
          <a:prstGeom prst="rect">
            <a:avLst/>
          </a:prstGeom>
          <a:noFill/>
        </p:spPr>
        <p:txBody>
          <a:bodyPr wrap="square" lIns="0" rIns="0" tIns="0" bIns="0" anchor="t">
            <a:spAutoFit/>
          </a:bodyPr>
          <a:lstStyle/>
          <a:p>
            <a:pPr algn="r"/>
            <a:r>
              <a:rPr sz="900" b="1" i="0">
                <a:solidFill>
                  <a:srgbClr val="996B14"/>
                </a:solidFill>
                <a:latin typeface="Roboto"/>
              </a:rPr>
              <a:t>Page</a:t>
            </a:r>
          </a:p>
        </p:txBody>
      </p:sp>
      <p:sp>
        <p:nvSpPr>
          <p:cNvPr id="9" name="Rectangle 8"/>
          <p:cNvSpPr/>
          <p:nvPr/>
        </p:nvSpPr>
        <p:spPr>
          <a:xfrm>
            <a:off x="457200" y="138074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a:hlinkClick action="ppaction://hlinksldjump" r:id="rId3"/>
          </p:cNvPr>
          <p:cNvSpPr txBox="1"/>
          <p:nvPr/>
        </p:nvSpPr>
        <p:spPr>
          <a:xfrm>
            <a:off x="548640" y="1417320"/>
            <a:ext cx="3017520" cy="228600"/>
          </a:xfrm>
          <a:prstGeom prst="rect">
            <a:avLst/>
          </a:prstGeom>
          <a:noFill/>
        </p:spPr>
        <p:txBody>
          <a:bodyPr wrap="square" lIns="0" rIns="0" tIns="0" bIns="0" anchor="t">
            <a:spAutoFit/>
          </a:bodyPr>
          <a:lstStyle/>
          <a:p>
            <a:pPr algn="l"/>
            <a:r>
              <a:rPr sz="950" b="1" i="0">
                <a:solidFill>
                  <a:srgbClr val="003059"/>
                </a:solidFill>
                <a:latin typeface="Roboto"/>
              </a:rPr>
              <a:t>Faire passer un projet en comité</a:t>
            </a:r>
          </a:p>
        </p:txBody>
      </p:sp>
      <p:sp>
        <p:nvSpPr>
          <p:cNvPr id="11" name="TextBox 10"/>
          <p:cNvSpPr txBox="1"/>
          <p:nvPr/>
        </p:nvSpPr>
        <p:spPr>
          <a:xfrm>
            <a:off x="3657600" y="1417320"/>
            <a:ext cx="4206240" cy="228600"/>
          </a:xfrm>
          <a:prstGeom prst="rect">
            <a:avLst/>
          </a:prstGeom>
          <a:noFill/>
        </p:spPr>
        <p:txBody>
          <a:bodyPr wrap="square" lIns="0" rIns="0" tIns="0" bIns="0" anchor="t">
            <a:spAutoFit/>
          </a:bodyPr>
          <a:lstStyle/>
          <a:p>
            <a:pPr algn="l"/>
            <a:r>
              <a:rPr sz="950" b="0" i="0">
                <a:solidFill>
                  <a:srgbClr val="1F2A37"/>
                </a:solidFill>
                <a:latin typeface="Roboto"/>
              </a:rPr>
              <a:t>« Réintégrer en comité »</a:t>
            </a:r>
          </a:p>
        </p:txBody>
      </p:sp>
      <p:sp>
        <p:nvSpPr>
          <p:cNvPr id="12" name="TextBox 11">
            <a:hlinkClick action="ppaction://hlinksldjump" r:id="rId3"/>
          </p:cNvPr>
          <p:cNvSpPr txBox="1"/>
          <p:nvPr/>
        </p:nvSpPr>
        <p:spPr>
          <a:xfrm>
            <a:off x="8001000" y="1417320"/>
            <a:ext cx="594360" cy="228600"/>
          </a:xfrm>
          <a:prstGeom prst="rect">
            <a:avLst/>
          </a:prstGeom>
          <a:noFill/>
        </p:spPr>
        <p:txBody>
          <a:bodyPr wrap="square" lIns="0" rIns="0" tIns="0" bIns="0" anchor="t">
            <a:spAutoFit/>
          </a:bodyPr>
          <a:lstStyle/>
          <a:p>
            <a:pPr algn="r"/>
            <a:r>
              <a:rPr sz="950" b="1" i="0">
                <a:solidFill>
                  <a:srgbClr val="0061B0"/>
                </a:solidFill>
                <a:latin typeface="Roboto"/>
              </a:rPr>
              <a:t>22</a:t>
            </a:r>
          </a:p>
        </p:txBody>
      </p:sp>
      <p:sp>
        <p:nvSpPr>
          <p:cNvPr id="13" name="TextBox 12">
            <a:hlinkClick action="ppaction://hlinksldjump" r:id="rId4"/>
          </p:cNvPr>
          <p:cNvSpPr txBox="1"/>
          <p:nvPr/>
        </p:nvSpPr>
        <p:spPr>
          <a:xfrm>
            <a:off x="548640" y="1691640"/>
            <a:ext cx="3017520" cy="228600"/>
          </a:xfrm>
          <a:prstGeom prst="rect">
            <a:avLst/>
          </a:prstGeom>
          <a:noFill/>
        </p:spPr>
        <p:txBody>
          <a:bodyPr wrap="square" lIns="0" rIns="0" tIns="0" bIns="0" anchor="t">
            <a:spAutoFit/>
          </a:bodyPr>
          <a:lstStyle/>
          <a:p>
            <a:pPr algn="l"/>
            <a:r>
              <a:rPr sz="950" b="1" i="0">
                <a:solidFill>
                  <a:srgbClr val="003059"/>
                </a:solidFill>
                <a:latin typeface="Roboto"/>
              </a:rPr>
              <a:t>Déclarer un projet lancé</a:t>
            </a:r>
          </a:p>
        </p:txBody>
      </p:sp>
      <p:sp>
        <p:nvSpPr>
          <p:cNvPr id="14" name="TextBox 13"/>
          <p:cNvSpPr txBox="1"/>
          <p:nvPr/>
        </p:nvSpPr>
        <p:spPr>
          <a:xfrm>
            <a:off x="3657600" y="1691640"/>
            <a:ext cx="4206240" cy="228600"/>
          </a:xfrm>
          <a:prstGeom prst="rect">
            <a:avLst/>
          </a:prstGeom>
          <a:noFill/>
        </p:spPr>
        <p:txBody>
          <a:bodyPr wrap="square" lIns="0" rIns="0" tIns="0" bIns="0" anchor="t">
            <a:spAutoFit/>
          </a:bodyPr>
          <a:lstStyle/>
          <a:p>
            <a:pPr algn="l"/>
            <a:r>
              <a:rPr sz="950" b="0" i="0">
                <a:solidFill>
                  <a:srgbClr val="1F2A37"/>
                </a:solidFill>
                <a:latin typeface="Roboto"/>
              </a:rPr>
              <a:t>« Déclarer le projet lancé »</a:t>
            </a:r>
          </a:p>
        </p:txBody>
      </p:sp>
      <p:sp>
        <p:nvSpPr>
          <p:cNvPr id="15" name="TextBox 14">
            <a:hlinkClick action="ppaction://hlinksldjump" r:id="rId4"/>
          </p:cNvPr>
          <p:cNvSpPr txBox="1"/>
          <p:nvPr/>
        </p:nvSpPr>
        <p:spPr>
          <a:xfrm>
            <a:off x="8001000" y="1691640"/>
            <a:ext cx="594360" cy="228600"/>
          </a:xfrm>
          <a:prstGeom prst="rect">
            <a:avLst/>
          </a:prstGeom>
          <a:noFill/>
        </p:spPr>
        <p:txBody>
          <a:bodyPr wrap="square" lIns="0" rIns="0" tIns="0" bIns="0" anchor="t">
            <a:spAutoFit/>
          </a:bodyPr>
          <a:lstStyle/>
          <a:p>
            <a:pPr algn="r"/>
            <a:r>
              <a:rPr sz="950" b="1" i="0">
                <a:solidFill>
                  <a:srgbClr val="0061B0"/>
                </a:solidFill>
                <a:latin typeface="Roboto"/>
              </a:rPr>
              <a:t>23</a:t>
            </a:r>
          </a:p>
        </p:txBody>
      </p:sp>
      <p:sp>
        <p:nvSpPr>
          <p:cNvPr id="16" name="Rectangle 15"/>
          <p:cNvSpPr/>
          <p:nvPr/>
        </p:nvSpPr>
        <p:spPr>
          <a:xfrm>
            <a:off x="457200" y="192938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action="ppaction://hlinksldjump" r:id="rId5"/>
          </p:cNvPr>
          <p:cNvSpPr txBox="1"/>
          <p:nvPr/>
        </p:nvSpPr>
        <p:spPr>
          <a:xfrm>
            <a:off x="548640" y="1965960"/>
            <a:ext cx="3017520" cy="228600"/>
          </a:xfrm>
          <a:prstGeom prst="rect">
            <a:avLst/>
          </a:prstGeom>
          <a:noFill/>
        </p:spPr>
        <p:txBody>
          <a:bodyPr wrap="square" lIns="0" rIns="0" tIns="0" bIns="0" anchor="t">
            <a:spAutoFit/>
          </a:bodyPr>
          <a:lstStyle/>
          <a:p>
            <a:pPr algn="l"/>
            <a:r>
              <a:rPr sz="950" b="1" i="0">
                <a:solidFill>
                  <a:srgbClr val="003059"/>
                </a:solidFill>
                <a:latin typeface="Roboto"/>
              </a:rPr>
              <a:t>Partir en congés</a:t>
            </a:r>
          </a:p>
        </p:txBody>
      </p:sp>
      <p:sp>
        <p:nvSpPr>
          <p:cNvPr id="18" name="TextBox 17"/>
          <p:cNvSpPr txBox="1"/>
          <p:nvPr/>
        </p:nvSpPr>
        <p:spPr>
          <a:xfrm>
            <a:off x="3657600" y="1965960"/>
            <a:ext cx="4206240" cy="228600"/>
          </a:xfrm>
          <a:prstGeom prst="rect">
            <a:avLst/>
          </a:prstGeom>
          <a:noFill/>
        </p:spPr>
        <p:txBody>
          <a:bodyPr wrap="square" lIns="0" rIns="0" tIns="0" bIns="0" anchor="t">
            <a:spAutoFit/>
          </a:bodyPr>
          <a:lstStyle/>
          <a:p>
            <a:pPr algn="l"/>
            <a:r>
              <a:rPr sz="950" b="0" i="0">
                <a:solidFill>
                  <a:srgbClr val="1F2A37"/>
                </a:solidFill>
                <a:latin typeface="Roboto"/>
              </a:rPr>
              <a:t>« Mon profil » → « Absence et suppléance »</a:t>
            </a:r>
          </a:p>
        </p:txBody>
      </p:sp>
      <p:sp>
        <p:nvSpPr>
          <p:cNvPr id="19" name="TextBox 18">
            <a:hlinkClick action="ppaction://hlinksldjump" r:id="rId5"/>
          </p:cNvPr>
          <p:cNvSpPr txBox="1"/>
          <p:nvPr/>
        </p:nvSpPr>
        <p:spPr>
          <a:xfrm>
            <a:off x="8001000" y="1965960"/>
            <a:ext cx="594360" cy="228600"/>
          </a:xfrm>
          <a:prstGeom prst="rect">
            <a:avLst/>
          </a:prstGeom>
          <a:noFill/>
        </p:spPr>
        <p:txBody>
          <a:bodyPr wrap="square" lIns="0" rIns="0" tIns="0" bIns="0" anchor="t">
            <a:spAutoFit/>
          </a:bodyPr>
          <a:lstStyle/>
          <a:p>
            <a:pPr algn="r"/>
            <a:r>
              <a:rPr sz="950" b="1" i="0">
                <a:solidFill>
                  <a:srgbClr val="0061B0"/>
                </a:solidFill>
                <a:latin typeface="Roboto"/>
              </a:rPr>
              <a:t>25</a:t>
            </a:r>
          </a:p>
        </p:txBody>
      </p:sp>
      <p:sp>
        <p:nvSpPr>
          <p:cNvPr id="20" name="TextBox 19">
            <a:hlinkClick action="ppaction://hlinksldjump" r:id="rId5"/>
          </p:cNvPr>
          <p:cNvSpPr txBox="1"/>
          <p:nvPr/>
        </p:nvSpPr>
        <p:spPr>
          <a:xfrm>
            <a:off x="548640" y="2240279"/>
            <a:ext cx="3017520" cy="228600"/>
          </a:xfrm>
          <a:prstGeom prst="rect">
            <a:avLst/>
          </a:prstGeom>
          <a:noFill/>
        </p:spPr>
        <p:txBody>
          <a:bodyPr wrap="square" lIns="0" rIns="0" tIns="0" bIns="0" anchor="t">
            <a:spAutoFit/>
          </a:bodyPr>
          <a:lstStyle/>
          <a:p>
            <a:pPr algn="l"/>
            <a:r>
              <a:rPr sz="950" b="1" i="0">
                <a:solidFill>
                  <a:srgbClr val="003059"/>
                </a:solidFill>
                <a:latin typeface="Roboto"/>
              </a:rPr>
              <a:t>Être prévenu des prises en charge</a:t>
            </a:r>
          </a:p>
        </p:txBody>
      </p:sp>
      <p:sp>
        <p:nvSpPr>
          <p:cNvPr id="21" name="TextBox 20"/>
          <p:cNvSpPr txBox="1"/>
          <p:nvPr/>
        </p:nvSpPr>
        <p:spPr>
          <a:xfrm>
            <a:off x="3657600" y="2240279"/>
            <a:ext cx="4206240" cy="228600"/>
          </a:xfrm>
          <a:prstGeom prst="rect">
            <a:avLst/>
          </a:prstGeom>
          <a:noFill/>
        </p:spPr>
        <p:txBody>
          <a:bodyPr wrap="square" lIns="0" rIns="0" tIns="0" bIns="0" anchor="t">
            <a:spAutoFit/>
          </a:bodyPr>
          <a:lstStyle/>
          <a:p>
            <a:pPr algn="l"/>
            <a:r>
              <a:rPr sz="950" b="0" i="0">
                <a:solidFill>
                  <a:srgbClr val="1F2A37"/>
                </a:solidFill>
                <a:latin typeface="Roboto"/>
              </a:rPr>
              <a:t>« Mon profil » → « Copies des prises en charge »</a:t>
            </a:r>
          </a:p>
        </p:txBody>
      </p:sp>
      <p:sp>
        <p:nvSpPr>
          <p:cNvPr id="22" name="TextBox 21">
            <a:hlinkClick action="ppaction://hlinksldjump" r:id="rId5"/>
          </p:cNvPr>
          <p:cNvSpPr txBox="1"/>
          <p:nvPr/>
        </p:nvSpPr>
        <p:spPr>
          <a:xfrm>
            <a:off x="8001000" y="2240279"/>
            <a:ext cx="594360" cy="228600"/>
          </a:xfrm>
          <a:prstGeom prst="rect">
            <a:avLst/>
          </a:prstGeom>
          <a:noFill/>
        </p:spPr>
        <p:txBody>
          <a:bodyPr wrap="square" lIns="0" rIns="0" tIns="0" bIns="0" anchor="t">
            <a:spAutoFit/>
          </a:bodyPr>
          <a:lstStyle/>
          <a:p>
            <a:pPr algn="r"/>
            <a:r>
              <a:rPr sz="950" b="1" i="0">
                <a:solidFill>
                  <a:srgbClr val="0061B0"/>
                </a:solidFill>
                <a:latin typeface="Roboto"/>
              </a:rPr>
              <a:t>25</a:t>
            </a:r>
          </a:p>
        </p:txBody>
      </p:sp>
      <p:sp>
        <p:nvSpPr>
          <p:cNvPr id="23" name="Rectangle 22"/>
          <p:cNvSpPr/>
          <p:nvPr/>
        </p:nvSpPr>
        <p:spPr>
          <a:xfrm>
            <a:off x="457200" y="247802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a:hlinkClick action="ppaction://hlinksldjump" r:id="rId6"/>
          </p:cNvPr>
          <p:cNvSpPr txBox="1"/>
          <p:nvPr/>
        </p:nvSpPr>
        <p:spPr>
          <a:xfrm>
            <a:off x="548640" y="2514599"/>
            <a:ext cx="3017520" cy="228600"/>
          </a:xfrm>
          <a:prstGeom prst="rect">
            <a:avLst/>
          </a:prstGeom>
          <a:noFill/>
        </p:spPr>
        <p:txBody>
          <a:bodyPr wrap="square" lIns="0" rIns="0" tIns="0" bIns="0" anchor="t">
            <a:spAutoFit/>
          </a:bodyPr>
          <a:lstStyle/>
          <a:p>
            <a:pPr algn="l"/>
            <a:r>
              <a:rPr sz="950" b="1" i="0">
                <a:solidFill>
                  <a:srgbClr val="003059"/>
                </a:solidFill>
                <a:latin typeface="Roboto"/>
              </a:rPr>
              <a:t>Ajouter un collègue à l’équipe</a:t>
            </a:r>
          </a:p>
        </p:txBody>
      </p:sp>
      <p:sp>
        <p:nvSpPr>
          <p:cNvPr id="25" name="TextBox 24"/>
          <p:cNvSpPr txBox="1"/>
          <p:nvPr/>
        </p:nvSpPr>
        <p:spPr>
          <a:xfrm>
            <a:off x="3657600" y="2514599"/>
            <a:ext cx="4206240" cy="228600"/>
          </a:xfrm>
          <a:prstGeom prst="rect">
            <a:avLst/>
          </a:prstGeom>
          <a:noFill/>
        </p:spPr>
        <p:txBody>
          <a:bodyPr wrap="square" lIns="0" rIns="0" tIns="0" bIns="0" anchor="t">
            <a:spAutoFit/>
          </a:bodyPr>
          <a:lstStyle/>
          <a:p>
            <a:pPr algn="l"/>
            <a:r>
              <a:rPr sz="950" b="0" i="0">
                <a:solidFill>
                  <a:srgbClr val="1F2A37"/>
                </a:solidFill>
                <a:latin typeface="Roboto"/>
              </a:rPr>
              <a:t>Back-office → « Équipes » → « Contacts e-mail »</a:t>
            </a:r>
          </a:p>
        </p:txBody>
      </p:sp>
      <p:sp>
        <p:nvSpPr>
          <p:cNvPr id="26" name="TextBox 25">
            <a:hlinkClick action="ppaction://hlinksldjump" r:id="rId6"/>
          </p:cNvPr>
          <p:cNvSpPr txBox="1"/>
          <p:nvPr/>
        </p:nvSpPr>
        <p:spPr>
          <a:xfrm>
            <a:off x="8001000" y="2514599"/>
            <a:ext cx="594360" cy="228600"/>
          </a:xfrm>
          <a:prstGeom prst="rect">
            <a:avLst/>
          </a:prstGeom>
          <a:noFill/>
        </p:spPr>
        <p:txBody>
          <a:bodyPr wrap="square" lIns="0" rIns="0" tIns="0" bIns="0" anchor="t">
            <a:spAutoFit/>
          </a:bodyPr>
          <a:lstStyle/>
          <a:p>
            <a:pPr algn="r"/>
            <a:r>
              <a:rPr sz="950" b="1" i="0">
                <a:solidFill>
                  <a:srgbClr val="0061B0"/>
                </a:solidFill>
                <a:latin typeface="Roboto"/>
              </a:rPr>
              <a:t>28</a:t>
            </a:r>
          </a:p>
        </p:txBody>
      </p:sp>
      <p:sp>
        <p:nvSpPr>
          <p:cNvPr id="27" name="TextBox 26">
            <a:hlinkClick action="ppaction://hlinksldjump" r:id="rId6"/>
          </p:cNvPr>
          <p:cNvSpPr txBox="1"/>
          <p:nvPr/>
        </p:nvSpPr>
        <p:spPr>
          <a:xfrm>
            <a:off x="548640" y="2788919"/>
            <a:ext cx="3017520" cy="228600"/>
          </a:xfrm>
          <a:prstGeom prst="rect">
            <a:avLst/>
          </a:prstGeom>
          <a:noFill/>
        </p:spPr>
        <p:txBody>
          <a:bodyPr wrap="square" lIns="0" rIns="0" tIns="0" bIns="0" anchor="t">
            <a:spAutoFit/>
          </a:bodyPr>
          <a:lstStyle/>
          <a:p>
            <a:pPr algn="l"/>
            <a:r>
              <a:rPr sz="950" b="1" i="0">
                <a:solidFill>
                  <a:srgbClr val="003059"/>
                </a:solidFill>
                <a:latin typeface="Roboto"/>
              </a:rPr>
              <a:t>Limiter les sollicitations d’un membre</a:t>
            </a:r>
          </a:p>
        </p:txBody>
      </p:sp>
      <p:sp>
        <p:nvSpPr>
          <p:cNvPr id="28" name="TextBox 27"/>
          <p:cNvSpPr txBox="1"/>
          <p:nvPr/>
        </p:nvSpPr>
        <p:spPr>
          <a:xfrm>
            <a:off x="3657600" y="2788919"/>
            <a:ext cx="4206240" cy="228600"/>
          </a:xfrm>
          <a:prstGeom prst="rect">
            <a:avLst/>
          </a:prstGeom>
          <a:noFill/>
        </p:spPr>
        <p:txBody>
          <a:bodyPr wrap="square" lIns="0" rIns="0" tIns="0" bIns="0" anchor="t">
            <a:spAutoFit/>
          </a:bodyPr>
          <a:lstStyle/>
          <a:p>
            <a:pPr algn="l"/>
            <a:r>
              <a:rPr sz="950" b="0" i="0">
                <a:solidFill>
                  <a:srgbClr val="1F2A37"/>
                </a:solidFill>
                <a:latin typeface="Roboto"/>
              </a:rPr>
              <a:t>« Équipes » → « Critères »</a:t>
            </a:r>
          </a:p>
        </p:txBody>
      </p:sp>
      <p:sp>
        <p:nvSpPr>
          <p:cNvPr id="29" name="TextBox 28">
            <a:hlinkClick action="ppaction://hlinksldjump" r:id="rId6"/>
          </p:cNvPr>
          <p:cNvSpPr txBox="1"/>
          <p:nvPr/>
        </p:nvSpPr>
        <p:spPr>
          <a:xfrm>
            <a:off x="8001000" y="2788919"/>
            <a:ext cx="594360" cy="228600"/>
          </a:xfrm>
          <a:prstGeom prst="rect">
            <a:avLst/>
          </a:prstGeom>
          <a:noFill/>
        </p:spPr>
        <p:txBody>
          <a:bodyPr wrap="square" lIns="0" rIns="0" tIns="0" bIns="0" anchor="t">
            <a:spAutoFit/>
          </a:bodyPr>
          <a:lstStyle/>
          <a:p>
            <a:pPr algn="r"/>
            <a:r>
              <a:rPr sz="950" b="1" i="0">
                <a:solidFill>
                  <a:srgbClr val="0061B0"/>
                </a:solidFill>
                <a:latin typeface="Roboto"/>
              </a:rPr>
              <a:t>28</a:t>
            </a:r>
          </a:p>
        </p:txBody>
      </p:sp>
      <p:sp>
        <p:nvSpPr>
          <p:cNvPr id="30" name="Rectangle 29"/>
          <p:cNvSpPr/>
          <p:nvPr/>
        </p:nvSpPr>
        <p:spPr>
          <a:xfrm>
            <a:off x="457200" y="302666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548640" y="3063239"/>
            <a:ext cx="3017520" cy="228600"/>
          </a:xfrm>
          <a:prstGeom prst="rect">
            <a:avLst/>
          </a:prstGeom>
          <a:noFill/>
        </p:spPr>
        <p:txBody>
          <a:bodyPr wrap="square" lIns="0" rIns="0" tIns="0" bIns="0" anchor="t">
            <a:spAutoFit/>
          </a:bodyPr>
          <a:lstStyle/>
          <a:p>
            <a:pPr algn="l"/>
            <a:r>
              <a:rPr sz="950" b="1" i="0">
                <a:solidFill>
                  <a:srgbClr val="003059"/>
                </a:solidFill>
                <a:latin typeface="Roboto"/>
              </a:rPr>
              <a:t>Régler les délais de relance</a:t>
            </a:r>
          </a:p>
        </p:txBody>
      </p:sp>
      <p:sp>
        <p:nvSpPr>
          <p:cNvPr id="32" name="TextBox 31"/>
          <p:cNvSpPr txBox="1"/>
          <p:nvPr/>
        </p:nvSpPr>
        <p:spPr>
          <a:xfrm>
            <a:off x="3657600" y="3063239"/>
            <a:ext cx="4206240" cy="228600"/>
          </a:xfrm>
          <a:prstGeom prst="rect">
            <a:avLst/>
          </a:prstGeom>
          <a:noFill/>
        </p:spPr>
        <p:txBody>
          <a:bodyPr wrap="square" lIns="0" rIns="0" tIns="0" bIns="0" anchor="t">
            <a:spAutoFit/>
          </a:bodyPr>
          <a:lstStyle/>
          <a:p>
            <a:pPr algn="l"/>
            <a:r>
              <a:rPr sz="950" b="0" i="0">
                <a:solidFill>
                  <a:srgbClr val="1F2A37"/>
                </a:solidFill>
                <a:latin typeface="Roboto"/>
              </a:rPr>
              <a:t>« Équipes » → « Prise en charge des projets »</a:t>
            </a:r>
          </a:p>
        </p:txBody>
      </p:sp>
      <p:sp>
        <p:nvSpPr>
          <p:cNvPr id="33" name="TextBox 32">
            <a:hlinkClick action="ppaction://hlinksldjump" r:id="rId7"/>
          </p:cNvPr>
          <p:cNvSpPr txBox="1"/>
          <p:nvPr/>
        </p:nvSpPr>
        <p:spPr>
          <a:xfrm>
            <a:off x="8001000" y="3063239"/>
            <a:ext cx="594360" cy="228600"/>
          </a:xfrm>
          <a:prstGeom prst="rect">
            <a:avLst/>
          </a:prstGeom>
          <a:noFill/>
        </p:spPr>
        <p:txBody>
          <a:bodyPr wrap="square" lIns="0" rIns="0" tIns="0" bIns="0" anchor="t">
            <a:spAutoFit/>
          </a:bodyPr>
          <a:lstStyle/>
          <a:p>
            <a:pPr algn="r"/>
            <a:r>
              <a:rPr sz="950" b="1" i="0">
                <a:solidFill>
                  <a:srgbClr val="0061B0"/>
                </a:solidFill>
                <a:latin typeface="Roboto"/>
              </a:rPr>
              <a:t>29</a:t>
            </a:r>
          </a:p>
        </p:txBody>
      </p:sp>
      <p:sp>
        <p:nvSpPr>
          <p:cNvPr id="34" name="TextBox 33">
            <a:hlinkClick action="ppaction://hlinksldjump" r:id="rId7"/>
          </p:cNvPr>
          <p:cNvSpPr txBox="1"/>
          <p:nvPr/>
        </p:nvSpPr>
        <p:spPr>
          <a:xfrm>
            <a:off x="548640" y="3337559"/>
            <a:ext cx="3017520" cy="228600"/>
          </a:xfrm>
          <a:prstGeom prst="rect">
            <a:avLst/>
          </a:prstGeom>
          <a:noFill/>
        </p:spPr>
        <p:txBody>
          <a:bodyPr wrap="square" lIns="0" rIns="0" tIns="0" bIns="0" anchor="t">
            <a:spAutoFit/>
          </a:bodyPr>
          <a:lstStyle/>
          <a:p>
            <a:pPr algn="l"/>
            <a:r>
              <a:rPr sz="950" b="1" i="0">
                <a:solidFill>
                  <a:srgbClr val="003059"/>
                </a:solidFill>
                <a:latin typeface="Roboto"/>
              </a:rPr>
              <a:t>Déclarer l’absence d’un collègue</a:t>
            </a:r>
          </a:p>
        </p:txBody>
      </p:sp>
      <p:sp>
        <p:nvSpPr>
          <p:cNvPr id="35" name="TextBox 34"/>
          <p:cNvSpPr txBox="1"/>
          <p:nvPr/>
        </p:nvSpPr>
        <p:spPr>
          <a:xfrm>
            <a:off x="3657600" y="3337559"/>
            <a:ext cx="4206240" cy="228600"/>
          </a:xfrm>
          <a:prstGeom prst="rect">
            <a:avLst/>
          </a:prstGeom>
          <a:noFill/>
        </p:spPr>
        <p:txBody>
          <a:bodyPr wrap="square" lIns="0" rIns="0" tIns="0" bIns="0" anchor="t">
            <a:spAutoFit/>
          </a:bodyPr>
          <a:lstStyle/>
          <a:p>
            <a:pPr algn="l"/>
            <a:r>
              <a:rPr sz="950" b="0" i="0">
                <a:solidFill>
                  <a:srgbClr val="1F2A37"/>
                </a:solidFill>
                <a:latin typeface="Roboto"/>
              </a:rPr>
              <a:t>« Équipes » → « Absence »</a:t>
            </a:r>
          </a:p>
        </p:txBody>
      </p:sp>
      <p:sp>
        <p:nvSpPr>
          <p:cNvPr id="36" name="TextBox 35">
            <a:hlinkClick action="ppaction://hlinksldjump" r:id="rId7"/>
          </p:cNvPr>
          <p:cNvSpPr txBox="1"/>
          <p:nvPr/>
        </p:nvSpPr>
        <p:spPr>
          <a:xfrm>
            <a:off x="8001000" y="3337559"/>
            <a:ext cx="594360" cy="228600"/>
          </a:xfrm>
          <a:prstGeom prst="rect">
            <a:avLst/>
          </a:prstGeom>
          <a:noFill/>
        </p:spPr>
        <p:txBody>
          <a:bodyPr wrap="square" lIns="0" rIns="0" tIns="0" bIns="0" anchor="t">
            <a:spAutoFit/>
          </a:bodyPr>
          <a:lstStyle/>
          <a:p>
            <a:pPr algn="r"/>
            <a:r>
              <a:rPr sz="950" b="1" i="0">
                <a:solidFill>
                  <a:srgbClr val="0061B0"/>
                </a:solidFill>
                <a:latin typeface="Roboto"/>
              </a:rPr>
              <a:t>29</a:t>
            </a:r>
          </a:p>
        </p:txBody>
      </p:sp>
      <p:sp>
        <p:nvSpPr>
          <p:cNvPr id="37" name="Rectangle 36"/>
          <p:cNvSpPr/>
          <p:nvPr/>
        </p:nvSpPr>
        <p:spPr>
          <a:xfrm>
            <a:off x="457200" y="357530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a:hlinkClick action="ppaction://hlinksldjump" r:id="rId8"/>
          </p:cNvPr>
          <p:cNvSpPr txBox="1"/>
          <p:nvPr/>
        </p:nvSpPr>
        <p:spPr>
          <a:xfrm>
            <a:off x="548640" y="3611879"/>
            <a:ext cx="3017520" cy="228600"/>
          </a:xfrm>
          <a:prstGeom prst="rect">
            <a:avLst/>
          </a:prstGeom>
          <a:noFill/>
        </p:spPr>
        <p:txBody>
          <a:bodyPr wrap="square" lIns="0" rIns="0" tIns="0" bIns="0" anchor="t">
            <a:spAutoFit/>
          </a:bodyPr>
          <a:lstStyle/>
          <a:p>
            <a:pPr algn="l"/>
            <a:r>
              <a:rPr sz="950" b="1" i="0">
                <a:solidFill>
                  <a:srgbClr val="003059"/>
                </a:solidFill>
                <a:latin typeface="Roboto"/>
              </a:rPr>
              <a:t>Modifier mes points à préparer</a:t>
            </a:r>
          </a:p>
        </p:txBody>
      </p:sp>
      <p:sp>
        <p:nvSpPr>
          <p:cNvPr id="39" name="TextBox 38"/>
          <p:cNvSpPr txBox="1"/>
          <p:nvPr/>
        </p:nvSpPr>
        <p:spPr>
          <a:xfrm>
            <a:off x="3657600" y="3611879"/>
            <a:ext cx="4206240" cy="228600"/>
          </a:xfrm>
          <a:prstGeom prst="rect">
            <a:avLst/>
          </a:prstGeom>
          <a:noFill/>
        </p:spPr>
        <p:txBody>
          <a:bodyPr wrap="square" lIns="0" rIns="0" tIns="0" bIns="0" anchor="t">
            <a:spAutoFit/>
          </a:bodyPr>
          <a:lstStyle/>
          <a:p>
            <a:pPr algn="l"/>
            <a:r>
              <a:rPr sz="950" b="0" i="0">
                <a:solidFill>
                  <a:srgbClr val="1F2A37"/>
                </a:solidFill>
                <a:latin typeface="Roboto"/>
              </a:rPr>
              <a:t>« Règles » → œil → « Questions à préparer par équipe »</a:t>
            </a:r>
          </a:p>
        </p:txBody>
      </p:sp>
      <p:sp>
        <p:nvSpPr>
          <p:cNvPr id="40" name="TextBox 39">
            <a:hlinkClick action="ppaction://hlinksldjump" r:id="rId8"/>
          </p:cNvPr>
          <p:cNvSpPr txBox="1"/>
          <p:nvPr/>
        </p:nvSpPr>
        <p:spPr>
          <a:xfrm>
            <a:off x="8001000" y="3611879"/>
            <a:ext cx="594360" cy="228600"/>
          </a:xfrm>
          <a:prstGeom prst="rect">
            <a:avLst/>
          </a:prstGeom>
          <a:noFill/>
        </p:spPr>
        <p:txBody>
          <a:bodyPr wrap="square" lIns="0" rIns="0" tIns="0" bIns="0" anchor="t">
            <a:spAutoFit/>
          </a:bodyPr>
          <a:lstStyle/>
          <a:p>
            <a:pPr algn="r"/>
            <a:r>
              <a:rPr sz="950" b="1" i="0">
                <a:solidFill>
                  <a:srgbClr val="0061B0"/>
                </a:solidFill>
                <a:latin typeface="Roboto"/>
              </a:rPr>
              <a:t>33</a:t>
            </a:r>
          </a:p>
        </p:txBody>
      </p:sp>
      <p:sp>
        <p:nvSpPr>
          <p:cNvPr id="41" name="TextBox 40">
            <a:hlinkClick action="ppaction://hlinksldjump" r:id="rId9"/>
          </p:cNvPr>
          <p:cNvSpPr txBox="1"/>
          <p:nvPr/>
        </p:nvSpPr>
        <p:spPr>
          <a:xfrm>
            <a:off x="548640" y="3886199"/>
            <a:ext cx="3017520" cy="228600"/>
          </a:xfrm>
          <a:prstGeom prst="rect">
            <a:avLst/>
          </a:prstGeom>
          <a:noFill/>
        </p:spPr>
        <p:txBody>
          <a:bodyPr wrap="square" lIns="0" rIns="0" tIns="0" bIns="0" anchor="t">
            <a:spAutoFit/>
          </a:bodyPr>
          <a:lstStyle/>
          <a:p>
            <a:pPr algn="l"/>
            <a:r>
              <a:rPr sz="950" b="1" i="0">
                <a:solidFill>
                  <a:srgbClr val="003059"/>
                </a:solidFill>
                <a:latin typeface="Roboto"/>
              </a:rPr>
              <a:t>Tester une règle</a:t>
            </a:r>
          </a:p>
        </p:txBody>
      </p:sp>
      <p:sp>
        <p:nvSpPr>
          <p:cNvPr id="42" name="TextBox 41"/>
          <p:cNvSpPr txBox="1"/>
          <p:nvPr/>
        </p:nvSpPr>
        <p:spPr>
          <a:xfrm>
            <a:off x="3657600" y="3886199"/>
            <a:ext cx="4206240" cy="228600"/>
          </a:xfrm>
          <a:prstGeom prst="rect">
            <a:avLst/>
          </a:prstGeom>
          <a:noFill/>
        </p:spPr>
        <p:txBody>
          <a:bodyPr wrap="square" lIns="0" rIns="0" tIns="0" bIns="0" anchor="t">
            <a:spAutoFit/>
          </a:bodyPr>
          <a:lstStyle/>
          <a:p>
            <a:pPr algn="l"/>
            <a:r>
              <a:rPr sz="950" b="0" i="0">
                <a:solidFill>
                  <a:srgbClr val="1F2A37"/>
                </a:solidFill>
                <a:latin typeface="Roboto"/>
              </a:rPr>
              <a:t>« Revue des règles »</a:t>
            </a:r>
          </a:p>
        </p:txBody>
      </p:sp>
      <p:sp>
        <p:nvSpPr>
          <p:cNvPr id="43" name="TextBox 42">
            <a:hlinkClick action="ppaction://hlinksldjump" r:id="rId9"/>
          </p:cNvPr>
          <p:cNvSpPr txBox="1"/>
          <p:nvPr/>
        </p:nvSpPr>
        <p:spPr>
          <a:xfrm>
            <a:off x="8001000" y="3886199"/>
            <a:ext cx="594360" cy="228600"/>
          </a:xfrm>
          <a:prstGeom prst="rect">
            <a:avLst/>
          </a:prstGeom>
          <a:noFill/>
        </p:spPr>
        <p:txBody>
          <a:bodyPr wrap="square" lIns="0" rIns="0" tIns="0" bIns="0" anchor="t">
            <a:spAutoFit/>
          </a:bodyPr>
          <a:lstStyle/>
          <a:p>
            <a:pPr algn="r"/>
            <a:r>
              <a:rPr sz="950" b="1" i="0">
                <a:solidFill>
                  <a:srgbClr val="0061B0"/>
                </a:solidFill>
                <a:latin typeface="Roboto"/>
              </a:rPr>
              <a:t>35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 reçoit quoi</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Annexes</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Rectangle 5"/>
          <p:cNvSpPr/>
          <p:nvPr/>
        </p:nvSpPr>
        <p:spPr>
          <a:xfrm>
            <a:off x="457200" y="11430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48640" y="1188720"/>
            <a:ext cx="2926080" cy="365760"/>
          </a:xfrm>
          <a:prstGeom prst="rect">
            <a:avLst/>
          </a:prstGeom>
          <a:noFill/>
        </p:spPr>
        <p:txBody>
          <a:bodyPr wrap="square" lIns="0" rIns="0" tIns="0" bIns="0" anchor="t">
            <a:spAutoFit/>
          </a:bodyPr>
          <a:lstStyle/>
          <a:p>
            <a:pPr algn="l"/>
            <a:r>
              <a:rPr sz="950" b="1" i="0">
                <a:solidFill>
                  <a:srgbClr val="003059"/>
                </a:solidFill>
                <a:latin typeface="Roboto"/>
              </a:rPr>
              <a:t>Première soumission d’un projet</a:t>
            </a:r>
          </a:p>
        </p:txBody>
      </p:sp>
      <p:sp>
        <p:nvSpPr>
          <p:cNvPr id="8" name="TextBox 7"/>
          <p:cNvSpPr txBox="1"/>
          <p:nvPr/>
        </p:nvSpPr>
        <p:spPr>
          <a:xfrm>
            <a:off x="3566160" y="1188720"/>
            <a:ext cx="5029200" cy="365760"/>
          </a:xfrm>
          <a:prstGeom prst="rect">
            <a:avLst/>
          </a:prstGeom>
          <a:noFill/>
        </p:spPr>
        <p:txBody>
          <a:bodyPr wrap="square" lIns="0" rIns="0" tIns="0" bIns="0" anchor="t">
            <a:spAutoFit/>
          </a:bodyPr>
          <a:lstStyle/>
          <a:p>
            <a:pPr algn="l"/>
            <a:r>
              <a:rPr sz="950" b="0" i="0">
                <a:solidFill>
                  <a:srgbClr val="1F2A37"/>
                </a:solidFill>
                <a:latin typeface="Roboto"/>
              </a:rPr>
              <a:t>Tous les contacts de l’équipe sollicités par les règles (le suppléant d’un membre absent à sa place).</a:t>
            </a:r>
          </a:p>
        </p:txBody>
      </p:sp>
      <p:sp>
        <p:nvSpPr>
          <p:cNvPr id="9" name="TextBox 8"/>
          <p:cNvSpPr txBox="1"/>
          <p:nvPr/>
        </p:nvSpPr>
        <p:spPr>
          <a:xfrm>
            <a:off x="548640" y="1645920"/>
            <a:ext cx="2926080" cy="365760"/>
          </a:xfrm>
          <a:prstGeom prst="rect">
            <a:avLst/>
          </a:prstGeom>
          <a:noFill/>
        </p:spPr>
        <p:txBody>
          <a:bodyPr wrap="square" lIns="0" rIns="0" tIns="0" bIns="0" anchor="t">
            <a:spAutoFit/>
          </a:bodyPr>
          <a:lstStyle/>
          <a:p>
            <a:pPr algn="l"/>
            <a:r>
              <a:rPr sz="950" b="1" i="0">
                <a:solidFill>
                  <a:srgbClr val="003059"/>
                </a:solidFill>
                <a:latin typeface="Roboto"/>
              </a:rPr>
              <a:t>Message du porteur, mise à jour qui touche votre périmètre</a:t>
            </a:r>
          </a:p>
        </p:txBody>
      </p:sp>
      <p:sp>
        <p:nvSpPr>
          <p:cNvPr id="10" name="TextBox 9"/>
          <p:cNvSpPr txBox="1"/>
          <p:nvPr/>
        </p:nvSpPr>
        <p:spPr>
          <a:xfrm>
            <a:off x="3566160" y="1645920"/>
            <a:ext cx="5029200" cy="365760"/>
          </a:xfrm>
          <a:prstGeom prst="rect">
            <a:avLst/>
          </a:prstGeom>
          <a:noFill/>
        </p:spPr>
        <p:txBody>
          <a:bodyPr wrap="square" lIns="0" rIns="0" tIns="0" bIns="0" anchor="t">
            <a:spAutoFit/>
          </a:bodyPr>
          <a:lstStyle/>
          <a:p>
            <a:pPr algn="l"/>
            <a:r>
              <a:rPr sz="950" b="0" i="0">
                <a:solidFill>
                  <a:srgbClr val="1F2A37"/>
                </a:solidFill>
                <a:latin typeface="Roboto"/>
              </a:rPr>
              <a:t>Le référent si le projet est pris en charge, sinon les contacts de l’équipe.</a:t>
            </a:r>
          </a:p>
        </p:txBody>
      </p:sp>
      <p:sp>
        <p:nvSpPr>
          <p:cNvPr id="11" name="Rectangle 10"/>
          <p:cNvSpPr/>
          <p:nvPr/>
        </p:nvSpPr>
        <p:spPr>
          <a:xfrm>
            <a:off x="457200" y="20574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48640" y="2103120"/>
            <a:ext cx="2926080" cy="365760"/>
          </a:xfrm>
          <a:prstGeom prst="rect">
            <a:avLst/>
          </a:prstGeom>
          <a:noFill/>
        </p:spPr>
        <p:txBody>
          <a:bodyPr wrap="square" lIns="0" rIns="0" tIns="0" bIns="0" anchor="t">
            <a:spAutoFit/>
          </a:bodyPr>
          <a:lstStyle/>
          <a:p>
            <a:pPr algn="l"/>
            <a:r>
              <a:rPr sz="950" b="1" i="0">
                <a:solidFill>
                  <a:srgbClr val="003059"/>
                </a:solidFill>
                <a:latin typeface="Roboto"/>
              </a:rPr>
              <a:t>Prise en charge par un collègue</a:t>
            </a:r>
          </a:p>
        </p:txBody>
      </p:sp>
      <p:sp>
        <p:nvSpPr>
          <p:cNvPr id="13" name="TextBox 12"/>
          <p:cNvSpPr txBox="1"/>
          <p:nvPr/>
        </p:nvSpPr>
        <p:spPr>
          <a:xfrm>
            <a:off x="3566160" y="2103120"/>
            <a:ext cx="5029200" cy="365760"/>
          </a:xfrm>
          <a:prstGeom prst="rect">
            <a:avLst/>
          </a:prstGeom>
          <a:noFill/>
        </p:spPr>
        <p:txBody>
          <a:bodyPr wrap="square" lIns="0" rIns="0" tIns="0" bIns="0" anchor="t">
            <a:spAutoFit/>
          </a:bodyPr>
          <a:lstStyle/>
          <a:p>
            <a:pPr algn="l"/>
            <a:r>
              <a:rPr sz="950" b="0" i="0">
                <a:solidFill>
                  <a:srgbClr val="1F2A37"/>
                </a:solidFill>
                <a:latin typeface="Roboto"/>
              </a:rPr>
              <a:t>Personne, sauf les membres qui ont coché « Copies des prises en charge ».</a:t>
            </a:r>
          </a:p>
        </p:txBody>
      </p:sp>
      <p:sp>
        <p:nvSpPr>
          <p:cNvPr id="14" name="TextBox 13"/>
          <p:cNvSpPr txBox="1"/>
          <p:nvPr/>
        </p:nvSpPr>
        <p:spPr>
          <a:xfrm>
            <a:off x="548640" y="2560320"/>
            <a:ext cx="2926080" cy="365760"/>
          </a:xfrm>
          <a:prstGeom prst="rect">
            <a:avLst/>
          </a:prstGeom>
          <a:noFill/>
        </p:spPr>
        <p:txBody>
          <a:bodyPr wrap="square" lIns="0" rIns="0" tIns="0" bIns="0" anchor="t">
            <a:spAutoFit/>
          </a:bodyPr>
          <a:lstStyle/>
          <a:p>
            <a:pPr algn="l"/>
            <a:r>
              <a:rPr sz="950" b="1" i="0">
                <a:solidFill>
                  <a:srgbClr val="003059"/>
                </a:solidFill>
                <a:latin typeface="Roboto"/>
              </a:rPr>
              <a:t>« Reprendre »</a:t>
            </a:r>
          </a:p>
        </p:txBody>
      </p:sp>
      <p:sp>
        <p:nvSpPr>
          <p:cNvPr id="15" name="TextBox 14"/>
          <p:cNvSpPr txBox="1"/>
          <p:nvPr/>
        </p:nvSpPr>
        <p:spPr>
          <a:xfrm>
            <a:off x="3566160" y="2560320"/>
            <a:ext cx="5029200" cy="365760"/>
          </a:xfrm>
          <a:prstGeom prst="rect">
            <a:avLst/>
          </a:prstGeom>
          <a:noFill/>
        </p:spPr>
        <p:txBody>
          <a:bodyPr wrap="square" lIns="0" rIns="0" tIns="0" bIns="0" anchor="t">
            <a:spAutoFit/>
          </a:bodyPr>
          <a:lstStyle/>
          <a:p>
            <a:pPr algn="l"/>
            <a:r>
              <a:rPr sz="950" b="0" i="0">
                <a:solidFill>
                  <a:srgbClr val="1F2A37"/>
                </a:solidFill>
                <a:latin typeface="Roboto"/>
              </a:rPr>
              <a:t>L’ancien référent et l’équipe (non désactivable).</a:t>
            </a:r>
          </a:p>
        </p:txBody>
      </p:sp>
      <p:sp>
        <p:nvSpPr>
          <p:cNvPr id="16" name="Rectangle 15"/>
          <p:cNvSpPr/>
          <p:nvPr/>
        </p:nvSpPr>
        <p:spPr>
          <a:xfrm>
            <a:off x="457200" y="29718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48640" y="3017520"/>
            <a:ext cx="2926080" cy="365760"/>
          </a:xfrm>
          <a:prstGeom prst="rect">
            <a:avLst/>
          </a:prstGeom>
          <a:noFill/>
        </p:spPr>
        <p:txBody>
          <a:bodyPr wrap="square" lIns="0" rIns="0" tIns="0" bIns="0" anchor="t">
            <a:spAutoFit/>
          </a:bodyPr>
          <a:lstStyle/>
          <a:p>
            <a:pPr algn="l"/>
            <a:r>
              <a:rPr sz="950" b="1" i="0">
                <a:solidFill>
                  <a:srgbClr val="003059"/>
                </a:solidFill>
                <a:latin typeface="Roboto"/>
              </a:rPr>
              <a:t>« Libérer »</a:t>
            </a:r>
          </a:p>
        </p:txBody>
      </p:sp>
      <p:sp>
        <p:nvSpPr>
          <p:cNvPr id="18" name="TextBox 17"/>
          <p:cNvSpPr txBox="1"/>
          <p:nvPr/>
        </p:nvSpPr>
        <p:spPr>
          <a:xfrm>
            <a:off x="3566160" y="3017520"/>
            <a:ext cx="5029200" cy="365760"/>
          </a:xfrm>
          <a:prstGeom prst="rect">
            <a:avLst/>
          </a:prstGeom>
          <a:noFill/>
        </p:spPr>
        <p:txBody>
          <a:bodyPr wrap="square" lIns="0" rIns="0" tIns="0" bIns="0" anchor="t">
            <a:spAutoFit/>
          </a:bodyPr>
          <a:lstStyle/>
          <a:p>
            <a:pPr algn="l"/>
            <a:r>
              <a:rPr sz="950" b="0" i="0">
                <a:solidFill>
                  <a:srgbClr val="1F2A37"/>
                </a:solidFill>
                <a:latin typeface="Roboto"/>
              </a:rPr>
              <a:t>L’équipe : le projet redevient l’affaire de tous.</a:t>
            </a:r>
          </a:p>
        </p:txBody>
      </p:sp>
      <p:sp>
        <p:nvSpPr>
          <p:cNvPr id="19" name="TextBox 18"/>
          <p:cNvSpPr txBox="1"/>
          <p:nvPr/>
        </p:nvSpPr>
        <p:spPr>
          <a:xfrm>
            <a:off x="548640" y="3474720"/>
            <a:ext cx="2926080" cy="365760"/>
          </a:xfrm>
          <a:prstGeom prst="rect">
            <a:avLst/>
          </a:prstGeom>
          <a:noFill/>
        </p:spPr>
        <p:txBody>
          <a:bodyPr wrap="square" lIns="0" rIns="0" tIns="0" bIns="0" anchor="t">
            <a:spAutoFit/>
          </a:bodyPr>
          <a:lstStyle/>
          <a:p>
            <a:pPr algn="l"/>
            <a:r>
              <a:rPr sz="950" b="1" i="0">
                <a:solidFill>
                  <a:srgbClr val="003059"/>
                </a:solidFill>
                <a:latin typeface="Roboto"/>
              </a:rPr>
              <a:t>Relance après N jours sans action</a:t>
            </a:r>
          </a:p>
        </p:txBody>
      </p:sp>
      <p:sp>
        <p:nvSpPr>
          <p:cNvPr id="20" name="TextBox 19"/>
          <p:cNvSpPr txBox="1"/>
          <p:nvPr/>
        </p:nvSpPr>
        <p:spPr>
          <a:xfrm>
            <a:off x="3566160" y="3474720"/>
            <a:ext cx="5029200" cy="365760"/>
          </a:xfrm>
          <a:prstGeom prst="rect">
            <a:avLst/>
          </a:prstGeom>
          <a:noFill/>
        </p:spPr>
        <p:txBody>
          <a:bodyPr wrap="square" lIns="0" rIns="0" tIns="0" bIns="0" anchor="t">
            <a:spAutoFit/>
          </a:bodyPr>
          <a:lstStyle/>
          <a:p>
            <a:pPr algn="l"/>
            <a:r>
              <a:rPr sz="950" b="0" i="0">
                <a:solidFill>
                  <a:srgbClr val="1F2A37"/>
                </a:solidFill>
                <a:latin typeface="Roboto"/>
              </a:rPr>
              <a:t>Le référent du projet uniquement.</a:t>
            </a:r>
          </a:p>
        </p:txBody>
      </p:sp>
      <p:sp>
        <p:nvSpPr>
          <p:cNvPr id="21" name="Rectangle 20"/>
          <p:cNvSpPr/>
          <p:nvPr/>
        </p:nvSpPr>
        <p:spPr>
          <a:xfrm>
            <a:off x="457200" y="38862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48640" y="3931920"/>
            <a:ext cx="2926080" cy="365760"/>
          </a:xfrm>
          <a:prstGeom prst="rect">
            <a:avLst/>
          </a:prstGeom>
          <a:noFill/>
        </p:spPr>
        <p:txBody>
          <a:bodyPr wrap="square" lIns="0" rIns="0" tIns="0" bIns="0" anchor="t">
            <a:spAutoFit/>
          </a:bodyPr>
          <a:lstStyle/>
          <a:p>
            <a:pPr algn="l"/>
            <a:r>
              <a:rPr sz="950" b="1" i="0">
                <a:solidFill>
                  <a:srgbClr val="003059"/>
                </a:solidFill>
                <a:latin typeface="Roboto"/>
              </a:rPr>
              <a:t>Rappels avant lancement</a:t>
            </a:r>
          </a:p>
        </p:txBody>
      </p:sp>
      <p:sp>
        <p:nvSpPr>
          <p:cNvPr id="23" name="TextBox 22"/>
          <p:cNvSpPr txBox="1"/>
          <p:nvPr/>
        </p:nvSpPr>
        <p:spPr>
          <a:xfrm>
            <a:off x="3566160" y="3931920"/>
            <a:ext cx="5029200" cy="365760"/>
          </a:xfrm>
          <a:prstGeom prst="rect">
            <a:avLst/>
          </a:prstGeom>
          <a:noFill/>
        </p:spPr>
        <p:txBody>
          <a:bodyPr wrap="square" lIns="0" rIns="0" tIns="0" bIns="0" anchor="t">
            <a:spAutoFit/>
          </a:bodyPr>
          <a:lstStyle/>
          <a:p>
            <a:pPr algn="l"/>
            <a:r>
              <a:rPr sz="950" b="0" i="0">
                <a:solidFill>
                  <a:srgbClr val="1F2A37"/>
                </a:solidFill>
                <a:latin typeface="Roboto"/>
              </a:rPr>
              <a:t>Le porteur, s’il n’a pas demandé la confirmation finale.</a:t>
            </a:r>
          </a:p>
        </p:txBody>
      </p:sp>
      <p:sp>
        <p:nvSpPr>
          <p:cNvPr id="24" name="TextBox 23"/>
          <p:cNvSpPr txBox="1"/>
          <p:nvPr/>
        </p:nvSpPr>
        <p:spPr>
          <a:xfrm>
            <a:off x="548640" y="4434840"/>
            <a:ext cx="8046720" cy="274320"/>
          </a:xfrm>
          <a:prstGeom prst="rect">
            <a:avLst/>
          </a:prstGeom>
          <a:noFill/>
        </p:spPr>
        <p:txBody>
          <a:bodyPr wrap="square" lIns="0" rIns="0" tIns="0" bIns="0" anchor="t">
            <a:spAutoFit/>
          </a:bodyPr>
          <a:lstStyle/>
          <a:p>
            <a:pPr algn="l"/>
            <a:r>
              <a:rPr sz="900" b="0" i="1">
                <a:solidFill>
                  <a:srgbClr val="5B6573"/>
                </a:solidFill>
                <a:latin typeface="Roboto"/>
              </a:rPr>
              <a:t>Les critères par membre (« Critères ») réduisent ces listes. Les e-mails partent par les flux Power Automate de votre organisation.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fréquentes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Annexes</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Rounded Rectangle 5"/>
          <p:cNvSpPr/>
          <p:nvPr/>
        </p:nvSpPr>
        <p:spPr>
          <a:xfrm>
            <a:off x="548640" y="1188720"/>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94944" y="1316736"/>
            <a:ext cx="3685031" cy="228600"/>
          </a:xfrm>
          <a:prstGeom prst="rect">
            <a:avLst/>
          </a:prstGeom>
          <a:noFill/>
        </p:spPr>
        <p:txBody>
          <a:bodyPr wrap="square" lIns="0" rIns="0" tIns="0" bIns="0" anchor="t">
            <a:spAutoFit/>
          </a:bodyPr>
          <a:lstStyle/>
          <a:p>
            <a:pPr algn="l"/>
            <a:r>
              <a:rPr sz="1050" b="1" i="0">
                <a:solidFill>
                  <a:srgbClr val="003059"/>
                </a:solidFill>
                <a:latin typeface="Roboto"/>
              </a:rPr>
              <a:t>Je ne reçois pas un projet qui me concerne.</a:t>
            </a:r>
          </a:p>
        </p:txBody>
      </p:sp>
      <p:sp>
        <p:nvSpPr>
          <p:cNvPr id="8" name="TextBox 7"/>
          <p:cNvSpPr txBox="1"/>
          <p:nvPr/>
        </p:nvSpPr>
        <p:spPr>
          <a:xfrm>
            <a:off x="694944" y="1591056"/>
            <a:ext cx="3685031" cy="576072"/>
          </a:xfrm>
          <a:prstGeom prst="rect">
            <a:avLst/>
          </a:prstGeom>
          <a:noFill/>
        </p:spPr>
        <p:txBody>
          <a:bodyPr wrap="square" lIns="0" rIns="0" tIns="0" bIns="0" anchor="t">
            <a:spAutoFit/>
          </a:bodyPr>
          <a:lstStyle/>
          <a:p>
            <a:pPr algn="l"/>
            <a:r>
              <a:rPr sz="1000" b="0" i="0">
                <a:solidFill>
                  <a:srgbClr val="1F2A37"/>
                </a:solidFill>
                <a:latin typeface="Roboto"/>
              </a:rPr>
              <a:t>Une règle manque, ou vos critères de membre vous excluent : onglets « Règles » et « Équipes » → « Critères ».</a:t>
            </a:r>
          </a:p>
        </p:txBody>
      </p:sp>
      <p:sp>
        <p:nvSpPr>
          <p:cNvPr id="9" name="Rounded Rectangle 8"/>
          <p:cNvSpPr/>
          <p:nvPr/>
        </p:nvSpPr>
        <p:spPr>
          <a:xfrm>
            <a:off x="4617720" y="1188720"/>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64024" y="1316736"/>
            <a:ext cx="3685031" cy="228600"/>
          </a:xfrm>
          <a:prstGeom prst="rect">
            <a:avLst/>
          </a:prstGeom>
          <a:noFill/>
        </p:spPr>
        <p:txBody>
          <a:bodyPr wrap="square" lIns="0" rIns="0" tIns="0" bIns="0" anchor="t">
            <a:spAutoFit/>
          </a:bodyPr>
          <a:lstStyle/>
          <a:p>
            <a:pPr algn="l"/>
            <a:r>
              <a:rPr sz="1050" b="1" i="0">
                <a:solidFill>
                  <a:srgbClr val="003059"/>
                </a:solidFill>
                <a:latin typeface="Roboto"/>
              </a:rPr>
              <a:t>Mon collègue et moi recevons les mêmes e-mails.</a:t>
            </a:r>
          </a:p>
        </p:txBody>
      </p:sp>
      <p:sp>
        <p:nvSpPr>
          <p:cNvPr id="11" name="TextBox 10"/>
          <p:cNvSpPr txBox="1"/>
          <p:nvPr/>
        </p:nvSpPr>
        <p:spPr>
          <a:xfrm>
            <a:off x="4764024" y="1591056"/>
            <a:ext cx="3685031" cy="576072"/>
          </a:xfrm>
          <a:prstGeom prst="rect">
            <a:avLst/>
          </a:prstGeom>
          <a:noFill/>
        </p:spPr>
        <p:txBody>
          <a:bodyPr wrap="square" lIns="0" rIns="0" tIns="0" bIns="0" anchor="t">
            <a:spAutoFit/>
          </a:bodyPr>
          <a:lstStyle/>
          <a:p>
            <a:pPr algn="l"/>
            <a:r>
              <a:rPr sz="1000" b="0" i="0">
                <a:solidFill>
                  <a:srgbClr val="1F2A37"/>
                </a:solidFill>
                <a:latin typeface="Roboto"/>
              </a:rPr>
              <a:t>Le premier qui prend le projet en charge, ou publie un avis, devient le référent : l’autre n’est plus notifié.</a:t>
            </a:r>
          </a:p>
        </p:txBody>
      </p:sp>
      <p:sp>
        <p:nvSpPr>
          <p:cNvPr id="12" name="Rounded Rectangle 11"/>
          <p:cNvSpPr/>
          <p:nvPr/>
        </p:nvSpPr>
        <p:spPr>
          <a:xfrm>
            <a:off x="548640" y="2350008"/>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94944" y="2478024"/>
            <a:ext cx="3685031" cy="228600"/>
          </a:xfrm>
          <a:prstGeom prst="rect">
            <a:avLst/>
          </a:prstGeom>
          <a:noFill/>
        </p:spPr>
        <p:txBody>
          <a:bodyPr wrap="square" lIns="0" rIns="0" tIns="0" bIns="0" anchor="t">
            <a:spAutoFit/>
          </a:bodyPr>
          <a:lstStyle/>
          <a:p>
            <a:pPr algn="l"/>
            <a:r>
              <a:rPr sz="1050" b="1" i="0">
                <a:solidFill>
                  <a:srgbClr val="003059"/>
                </a:solidFill>
                <a:latin typeface="Roboto"/>
              </a:rPr>
              <a:t>Je pars en congés.</a:t>
            </a:r>
          </a:p>
        </p:txBody>
      </p:sp>
      <p:sp>
        <p:nvSpPr>
          <p:cNvPr id="14" name="TextBox 13"/>
          <p:cNvSpPr txBox="1"/>
          <p:nvPr/>
        </p:nvSpPr>
        <p:spPr>
          <a:xfrm>
            <a:off x="694944" y="2752344"/>
            <a:ext cx="3685031" cy="576072"/>
          </a:xfrm>
          <a:prstGeom prst="rect">
            <a:avLst/>
          </a:prstGeom>
          <a:noFill/>
        </p:spPr>
        <p:txBody>
          <a:bodyPr wrap="square" lIns="0" rIns="0" tIns="0" bIns="0" anchor="t">
            <a:spAutoFit/>
          </a:bodyPr>
          <a:lstStyle/>
          <a:p>
            <a:pPr algn="l"/>
            <a:r>
              <a:rPr sz="1000" b="0" i="0">
                <a:solidFill>
                  <a:srgbClr val="1F2A37"/>
                </a:solidFill>
                <a:latin typeface="Roboto"/>
              </a:rPr>
              <a:t>Déclarez votre absence et un suppléant dans « Mon profil », ou faites-la déclarer dans le back-office.</a:t>
            </a:r>
          </a:p>
        </p:txBody>
      </p:sp>
      <p:sp>
        <p:nvSpPr>
          <p:cNvPr id="15" name="Rounded Rectangle 14"/>
          <p:cNvSpPr/>
          <p:nvPr/>
        </p:nvSpPr>
        <p:spPr>
          <a:xfrm>
            <a:off x="4617720" y="2350008"/>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64024" y="2478024"/>
            <a:ext cx="3685031" cy="228600"/>
          </a:xfrm>
          <a:prstGeom prst="rect">
            <a:avLst/>
          </a:prstGeom>
          <a:noFill/>
        </p:spPr>
        <p:txBody>
          <a:bodyPr wrap="square" lIns="0" rIns="0" tIns="0" bIns="0" anchor="t">
            <a:spAutoFit/>
          </a:bodyPr>
          <a:lstStyle/>
          <a:p>
            <a:pPr algn="l"/>
            <a:r>
              <a:rPr sz="1050" b="1" i="0">
                <a:solidFill>
                  <a:srgbClr val="003059"/>
                </a:solidFill>
                <a:latin typeface="Roboto"/>
              </a:rPr>
              <a:t>Le porteur a modifié son projet après mon avis.</a:t>
            </a:r>
          </a:p>
        </p:txBody>
      </p:sp>
      <p:sp>
        <p:nvSpPr>
          <p:cNvPr id="17" name="TextBox 16"/>
          <p:cNvSpPr txBox="1"/>
          <p:nvPr/>
        </p:nvSpPr>
        <p:spPr>
          <a:xfrm>
            <a:off x="4764024" y="2752344"/>
            <a:ext cx="3685031" cy="576072"/>
          </a:xfrm>
          <a:prstGeom prst="rect">
            <a:avLst/>
          </a:prstGeom>
          <a:noFill/>
        </p:spPr>
        <p:txBody>
          <a:bodyPr wrap="square" lIns="0" rIns="0" tIns="0" bIns="0" anchor="t">
            <a:spAutoFit/>
          </a:bodyPr>
          <a:lstStyle/>
          <a:p>
            <a:pPr algn="l"/>
            <a:r>
              <a:rPr sz="1000" b="0" i="0">
                <a:solidFill>
                  <a:srgbClr val="1F2A37"/>
                </a:solidFill>
                <a:latin typeface="Roboto"/>
              </a:rPr>
              <a:t>Seules les modifications qui touchent votre périmètre vous le renvoient, marqué « À ré-examiner ».</a:t>
            </a:r>
          </a:p>
        </p:txBody>
      </p:sp>
      <p:sp>
        <p:nvSpPr>
          <p:cNvPr id="18" name="Rounded Rectangle 17"/>
          <p:cNvSpPr/>
          <p:nvPr/>
        </p:nvSpPr>
        <p:spPr>
          <a:xfrm>
            <a:off x="548640" y="3511296"/>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94944" y="3639312"/>
            <a:ext cx="3685031" cy="228600"/>
          </a:xfrm>
          <a:prstGeom prst="rect">
            <a:avLst/>
          </a:prstGeom>
          <a:noFill/>
        </p:spPr>
        <p:txBody>
          <a:bodyPr wrap="square" lIns="0" rIns="0" tIns="0" bIns="0" anchor="t">
            <a:spAutoFit/>
          </a:bodyPr>
          <a:lstStyle/>
          <a:p>
            <a:pPr algn="l"/>
            <a:r>
              <a:rPr sz="1050" b="1" i="0">
                <a:solidFill>
                  <a:srgbClr val="003059"/>
                </a:solidFill>
                <a:latin typeface="Roboto"/>
              </a:rPr>
              <a:t>Le porteur n’écrit pas dans ma langue.</a:t>
            </a:r>
          </a:p>
        </p:txBody>
      </p:sp>
      <p:sp>
        <p:nvSpPr>
          <p:cNvPr id="20" name="TextBox 19"/>
          <p:cNvSpPr txBox="1"/>
          <p:nvPr/>
        </p:nvSpPr>
        <p:spPr>
          <a:xfrm>
            <a:off x="694944" y="3913632"/>
            <a:ext cx="3685031" cy="576071"/>
          </a:xfrm>
          <a:prstGeom prst="rect">
            <a:avLst/>
          </a:prstGeom>
          <a:noFill/>
        </p:spPr>
        <p:txBody>
          <a:bodyPr wrap="square" lIns="0" rIns="0" tIns="0" bIns="0" anchor="t">
            <a:spAutoFit/>
          </a:bodyPr>
          <a:lstStyle/>
          <a:p>
            <a:pPr algn="l"/>
            <a:r>
              <a:rPr sz="1000" b="0" i="0">
                <a:solidFill>
                  <a:srgbClr val="1F2A37"/>
                </a:solidFill>
                <a:latin typeface="Roboto"/>
              </a:rPr>
              <a:t>Cochez vos « Langues de réponse acceptées » dans le back-office : le porteur en est informé.</a:t>
            </a:r>
          </a:p>
        </p:txBody>
      </p:sp>
      <p:sp>
        <p:nvSpPr>
          <p:cNvPr id="21" name="Rounded Rectangle 20"/>
          <p:cNvSpPr/>
          <p:nvPr/>
        </p:nvSpPr>
        <p:spPr>
          <a:xfrm>
            <a:off x="4617720" y="3511296"/>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764024" y="3639312"/>
            <a:ext cx="3685031" cy="228600"/>
          </a:xfrm>
          <a:prstGeom prst="rect">
            <a:avLst/>
          </a:prstGeom>
          <a:noFill/>
        </p:spPr>
        <p:txBody>
          <a:bodyPr wrap="square" lIns="0" rIns="0" tIns="0" bIns="0" anchor="t">
            <a:spAutoFit/>
          </a:bodyPr>
          <a:lstStyle/>
          <a:p>
            <a:pPr algn="l"/>
            <a:r>
              <a:rPr sz="1050" b="1" i="0">
                <a:solidFill>
                  <a:srgbClr val="003059"/>
                </a:solidFill>
                <a:latin typeface="Roboto"/>
              </a:rPr>
              <a:t>Un projet a disparu de mes listes.</a:t>
            </a:r>
          </a:p>
        </p:txBody>
      </p:sp>
      <p:sp>
        <p:nvSpPr>
          <p:cNvPr id="23" name="TextBox 22"/>
          <p:cNvSpPr txBox="1"/>
          <p:nvPr/>
        </p:nvSpPr>
        <p:spPr>
          <a:xfrm>
            <a:off x="4764024" y="3913632"/>
            <a:ext cx="3685031" cy="576071"/>
          </a:xfrm>
          <a:prstGeom prst="rect">
            <a:avLst/>
          </a:prstGeom>
          <a:noFill/>
        </p:spPr>
        <p:txBody>
          <a:bodyPr wrap="square" lIns="0" rIns="0" tIns="0" bIns="0" anchor="t">
            <a:spAutoFit/>
          </a:bodyPr>
          <a:lstStyle/>
          <a:p>
            <a:pPr algn="l"/>
            <a:r>
              <a:rPr sz="1000" b="0" i="0">
                <a:solidFill>
                  <a:srgbClr val="1F2A37"/>
                </a:solidFill>
                <a:latin typeface="Roboto"/>
              </a:rPr>
              <a:t>Son porteur l’a peut-être supprimé : s’il avait reçu une réponse de votre équipe, il est dans « Abandonnés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Bonne utilisation de Project Navigator</a:t>
            </a:r>
          </a:p>
        </p:txBody>
      </p:sp>
      <p:sp>
        <p:nvSpPr>
          <p:cNvPr id="9" name="Espace réservé du pied de page 8">
            <a:extLst>
              <a:ext uri="{FF2B5EF4-FFF2-40B4-BE49-F238E27FC236}">
                <a16:creationId xmlns:a16="http://schemas.microsoft.com/office/drawing/2014/main" id="{397EEB30-9265-4C06-98E2-6D60BF6DFFFC}"/>
              </a:ext>
            </a:extLst>
          </p:cNvPr>
          <p:cNvSpPr>
            <a:spLocks noGrp="1"/>
          </p:cNvSpPr>
          <p:nvPr>
            <p:ph type="ftr" sz="quarter" idx="10"/>
          </p:nvPr>
        </p:nvSpPr>
        <p:spPr/>
        <p:txBody>
          <a:bodyPr/>
          <a:lstStyle/>
          <a:p>
            <a:r>
              <a:rPr lang="fr-FR" sz="800">
                <a:latin typeface="Roboto"/>
              </a:rPr>
              <a:t>Project Navigator · Manuel de l’expert</a:t>
            </a:r>
          </a:p>
        </p:txBody>
      </p:sp>
      <p:sp>
        <p:nvSpPr>
          <p:cNvPr id="12" name="Espace réservé du numéro de diapositive 11">
            <a:extLst>
              <a:ext uri="{FF2B5EF4-FFF2-40B4-BE49-F238E27FC236}">
                <a16:creationId xmlns:a16="http://schemas.microsoft.com/office/drawing/2014/main" id="{D80F946F-E1DC-ED38-C4B3-D51ECAF5FB79}"/>
              </a:ext>
            </a:extLst>
          </p:cNvPr>
          <p:cNvSpPr>
            <a:spLocks noGrp="1"/>
          </p:cNvSpPr>
          <p:nvPr>
            <p:ph type="sldNum" sz="quarter" idx="11"/>
          </p:nvPr>
        </p:nvSpPr>
        <p:spPr/>
        <p:txBody>
          <a:bodyPr/>
          <a:lstStyle/>
          <a:p>
            <a:fld id="{B6F15528-21DE-4FAA-801E-634DDDAF4B2B}" type="slidenum">
              <a:rPr lang="fr-FR" sz="800"/>
              <a:t>‹N°›</a:t>
            </a:fld>
          </a:p>
        </p:txBody>
      </p:sp>
      <p:sp>
        <p:nvSpPr>
          <p:cNvPr id="13" name="TextBox 12">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14" name="TextBox 13"/>
          <p:cNvSpPr txBox="1"/>
          <p:nvPr/>
        </p:nvSpPr>
        <p:spPr>
          <a:xfrm>
            <a:off x="1069848" y="3108960"/>
            <a:ext cx="6035040" cy="274320"/>
          </a:xfrm>
          <a:prstGeom prst="rect">
            <a:avLst/>
          </a:prstGeom>
          <a:noFill/>
        </p:spPr>
        <p:txBody>
          <a:bodyPr wrap="square" lIns="0" rIns="0" tIns="0" bIns="0" anchor="t">
            <a:spAutoFit/>
          </a:bodyPr>
          <a:lstStyle/>
          <a:p>
            <a:pPr algn="l"/>
            <a:r>
              <a:rPr sz="1200" b="0" i="0">
                <a:solidFill>
                  <a:srgbClr val="5B6573"/>
                </a:solidFill>
                <a:latin typeface="Roboto"/>
              </a:rPr>
              <a:t>Une question sur l’outil ? « Partagez votre avis », sur l’accueil.</a:t>
            </a:r>
          </a:p>
        </p:txBody>
      </p:sp>
    </p:spTree>
  </p:cSld>
  <p:clrMapOvr>
    <a:masterClrMapping/>
  </p:clrMapOvr>
</p:sld>
</file>

<file path=ppt/theme/theme1.xml><?xml version="1.0" encoding="utf-8"?>
<a:theme xmlns:a="http://schemas.openxmlformats.org/drawingml/2006/main" name="3_Office Theme">
  <a:themeElements>
    <a:clrScheme name="LFB-2026">
      <a:dk1>
        <a:srgbClr val="003059"/>
      </a:dk1>
      <a:lt1>
        <a:sysClr val="window" lastClr="FFFFFF"/>
      </a:lt1>
      <a:dk2>
        <a:srgbClr val="003059"/>
      </a:dk2>
      <a:lt2>
        <a:srgbClr val="E8D4AB"/>
      </a:lt2>
      <a:accent1>
        <a:srgbClr val="003059"/>
      </a:accent1>
      <a:accent2>
        <a:srgbClr val="0061B0"/>
      </a:accent2>
      <a:accent3>
        <a:srgbClr val="6BB0CF"/>
      </a:accent3>
      <a:accent4>
        <a:srgbClr val="37290C"/>
      </a:accent4>
      <a:accent5>
        <a:srgbClr val="996B14"/>
      </a:accent5>
      <a:accent6>
        <a:srgbClr val="E2C386"/>
      </a:accent6>
      <a:hlink>
        <a:srgbClr val="6BB0CF"/>
      </a:hlink>
      <a:folHlink>
        <a:srgbClr val="996B14"/>
      </a:folHlink>
    </a:clrScheme>
    <a:fontScheme name="MasqueLFB">
      <a:majorFont>
        <a:latin typeface="Roboto Light"/>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dirty="0">
            <a:solidFill>
              <a:schemeClr val="tx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f005565-df45-469f-9667-e24999810575">
      <Terms xmlns="http://schemas.microsoft.com/office/infopath/2007/PartnerControls"/>
    </lcf76f155ced4ddcb4097134ff3c332f>
    <TaxCatchAll xmlns="a9adc06b-4697-48c7-a036-8e5d61601cc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A680F56D598AF48895FD65636B7099C" ma:contentTypeVersion="11" ma:contentTypeDescription="Crée un document." ma:contentTypeScope="" ma:versionID="c10cc5aa533382c2bf377b5cc7daa35e">
  <xsd:schema xmlns:xsd="http://www.w3.org/2001/XMLSchema" xmlns:xs="http://www.w3.org/2001/XMLSchema" xmlns:p="http://schemas.microsoft.com/office/2006/metadata/properties" xmlns:ns2="3f005565-df45-469f-9667-e24999810575" xmlns:ns3="a9adc06b-4697-48c7-a036-8e5d61601ccd" targetNamespace="http://schemas.microsoft.com/office/2006/metadata/properties" ma:root="true" ma:fieldsID="16621fbe1258d010bf7125c946bb7000" ns2:_="" ns3:_="">
    <xsd:import namespace="3f005565-df45-469f-9667-e24999810575"/>
    <xsd:import namespace="a9adc06b-4697-48c7-a036-8e5d61601cc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005565-df45-469f-9667-e249998105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6f3cd56c-c2c5-47c6-80d7-a62c1de3238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9adc06b-4697-48c7-a036-8e5d61601cc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b442f2d-0dee-4b4e-ac57-f12d8d2405db}" ma:internalName="TaxCatchAll" ma:showField="CatchAllData" ma:web="a9adc06b-4697-48c7-a036-8e5d61601c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9DA977-7A93-49E1-B926-3A4C91BC8CA9}">
  <ds:schemaRefs>
    <ds:schemaRef ds:uri="3f005565-df45-469f-9667-e24999810575"/>
    <ds:schemaRef ds:uri="a9adc06b-4697-48c7-a036-8e5d61601c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854A56A-71C2-41A8-AEF7-D5A89594EF27}">
  <ds:schemaRefs>
    <ds:schemaRef ds:uri="3f005565-df45-469f-9667-e24999810575"/>
    <ds:schemaRef ds:uri="a9adc06b-4697-48c7-a036-8e5d61601c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31C3163-3B6B-4CF1-96A4-93514C5C90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0</Words>
  <Application>Microsoft Office PowerPoint</Application>
  <PresentationFormat>Affichage à l'écran (16:9)</PresentationFormat>
  <Paragraphs>0</Paragraphs>
  <Slides>0</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0</vt:i4>
      </vt:variant>
    </vt:vector>
  </HeadingPairs>
  <TitlesOfParts>
    <vt:vector size="9" baseType="lpstr">
      <vt:lpstr>Arial</vt:lpstr>
      <vt:lpstr>Roboto</vt:lpstr>
      <vt:lpstr>Roboto Black</vt:lpstr>
      <vt:lpstr>Roboto Bold</vt:lpstr>
      <vt:lpstr>Roboto Light</vt:lpstr>
      <vt:lpstr>Roboto Thin</vt:lpstr>
      <vt:lpstr>Times New Roman</vt:lpstr>
      <vt:lpstr>Wingdings</vt:lpstr>
      <vt:lpstr>3_Office Theme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LASSAUGE Antoine</cp:lastModifiedBy>
  <cp:revision>2</cp:revision>
  <dcterms:created xsi:type="dcterms:W3CDTF">2025-06-02T07:25:18Z</dcterms:created>
  <dcterms:modified xsi:type="dcterms:W3CDTF">2026-10-16T07:54:22Z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2025-05-23T00:00:00Z</vt:filetime>
  </property>
  <property fmtid="{D5CDD505-2E9C-101B-9397-08002B2CF9AE}" pid="3" name="Creator">
    <vt:lpwstr>Adobe InDesign 20.3 (Windows)</vt:lpwstr>
  </property>
  <property fmtid="{D5CDD505-2E9C-101B-9397-08002B2CF9AE}" pid="4" name="LastSaved">
    <vt:filetime>2025-06-02T00:00:00Z</vt:filetime>
  </property>
  <property fmtid="{D5CDD505-2E9C-101B-9397-08002B2CF9AE}" pid="5" name="Producer">
    <vt:lpwstr>Adobe PDF Library 17.0</vt:lpwstr>
  </property>
  <property fmtid="{D5CDD505-2E9C-101B-9397-08002B2CF9AE}" pid="6" name="ContentTypeId">
    <vt:lpwstr>0x0101002A680F56D598AF48895FD65636B7099C</vt:lpwstr>
  </property>
  <property fmtid="{D5CDD505-2E9C-101B-9397-08002B2CF9AE}" pid="7" name="MediaServiceImageTags">
    <vt:lpwstr/>
  </property>
</Properties>
</file>